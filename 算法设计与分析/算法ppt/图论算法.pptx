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14"/>
  </p:notesMasterIdLst>
  <p:sldIdLst>
    <p:sldId id="1022" r:id="rId2"/>
    <p:sldId id="1023" r:id="rId3"/>
    <p:sldId id="848" r:id="rId4"/>
    <p:sldId id="849" r:id="rId5"/>
    <p:sldId id="850" r:id="rId6"/>
    <p:sldId id="851" r:id="rId7"/>
    <p:sldId id="852" r:id="rId8"/>
    <p:sldId id="853" r:id="rId9"/>
    <p:sldId id="854" r:id="rId10"/>
    <p:sldId id="856" r:id="rId11"/>
    <p:sldId id="857" r:id="rId12"/>
    <p:sldId id="858" r:id="rId13"/>
    <p:sldId id="861" r:id="rId14"/>
    <p:sldId id="862" r:id="rId15"/>
    <p:sldId id="863" r:id="rId16"/>
    <p:sldId id="864" r:id="rId17"/>
    <p:sldId id="865" r:id="rId18"/>
    <p:sldId id="866" r:id="rId19"/>
    <p:sldId id="867" r:id="rId20"/>
    <p:sldId id="869" r:id="rId21"/>
    <p:sldId id="909" r:id="rId22"/>
    <p:sldId id="871" r:id="rId23"/>
    <p:sldId id="873" r:id="rId24"/>
    <p:sldId id="874" r:id="rId25"/>
    <p:sldId id="877" r:id="rId26"/>
    <p:sldId id="878" r:id="rId27"/>
    <p:sldId id="880" r:id="rId28"/>
    <p:sldId id="881" r:id="rId29"/>
    <p:sldId id="1063" r:id="rId30"/>
    <p:sldId id="882" r:id="rId31"/>
    <p:sldId id="1065" r:id="rId32"/>
    <p:sldId id="933" r:id="rId33"/>
    <p:sldId id="934" r:id="rId34"/>
    <p:sldId id="888" r:id="rId35"/>
    <p:sldId id="910" r:id="rId36"/>
    <p:sldId id="911" r:id="rId37"/>
    <p:sldId id="912" r:id="rId38"/>
    <p:sldId id="893" r:id="rId39"/>
    <p:sldId id="1064" r:id="rId40"/>
    <p:sldId id="906" r:id="rId41"/>
    <p:sldId id="916" r:id="rId42"/>
    <p:sldId id="1025" r:id="rId43"/>
    <p:sldId id="1027" r:id="rId44"/>
    <p:sldId id="923" r:id="rId45"/>
    <p:sldId id="892" r:id="rId46"/>
    <p:sldId id="895" r:id="rId47"/>
    <p:sldId id="1029" r:id="rId48"/>
    <p:sldId id="1030" r:id="rId49"/>
    <p:sldId id="896" r:id="rId50"/>
    <p:sldId id="904" r:id="rId51"/>
    <p:sldId id="905" r:id="rId52"/>
    <p:sldId id="903" r:id="rId53"/>
    <p:sldId id="1028" r:id="rId54"/>
    <p:sldId id="898" r:id="rId55"/>
    <p:sldId id="918" r:id="rId56"/>
    <p:sldId id="902" r:id="rId57"/>
    <p:sldId id="919" r:id="rId58"/>
    <p:sldId id="921" r:id="rId59"/>
    <p:sldId id="929" r:id="rId60"/>
    <p:sldId id="928" r:id="rId61"/>
    <p:sldId id="930" r:id="rId62"/>
    <p:sldId id="1066" r:id="rId63"/>
    <p:sldId id="1067" r:id="rId64"/>
    <p:sldId id="1068" r:id="rId65"/>
    <p:sldId id="1069" r:id="rId66"/>
    <p:sldId id="1031" r:id="rId67"/>
    <p:sldId id="940" r:id="rId68"/>
    <p:sldId id="941" r:id="rId69"/>
    <p:sldId id="944" r:id="rId70"/>
    <p:sldId id="945" r:id="rId71"/>
    <p:sldId id="942" r:id="rId72"/>
    <p:sldId id="943" r:id="rId73"/>
    <p:sldId id="982" r:id="rId74"/>
    <p:sldId id="983" r:id="rId75"/>
    <p:sldId id="984" r:id="rId76"/>
    <p:sldId id="985" r:id="rId77"/>
    <p:sldId id="1039" r:id="rId78"/>
    <p:sldId id="1040" r:id="rId79"/>
    <p:sldId id="1041" r:id="rId80"/>
    <p:sldId id="989" r:id="rId81"/>
    <p:sldId id="990" r:id="rId82"/>
    <p:sldId id="991" r:id="rId83"/>
    <p:sldId id="992" r:id="rId84"/>
    <p:sldId id="1047" r:id="rId85"/>
    <p:sldId id="1042" r:id="rId86"/>
    <p:sldId id="1032" r:id="rId87"/>
    <p:sldId id="1045" r:id="rId88"/>
    <p:sldId id="999" r:id="rId89"/>
    <p:sldId id="1034" r:id="rId90"/>
    <p:sldId id="1035" r:id="rId91"/>
    <p:sldId id="1036" r:id="rId92"/>
    <p:sldId id="1037" r:id="rId93"/>
    <p:sldId id="1038" r:id="rId94"/>
    <p:sldId id="1055" r:id="rId95"/>
    <p:sldId id="1056" r:id="rId96"/>
    <p:sldId id="1057" r:id="rId97"/>
    <p:sldId id="1062" r:id="rId98"/>
    <p:sldId id="1058" r:id="rId99"/>
    <p:sldId id="1059" r:id="rId100"/>
    <p:sldId id="1060" r:id="rId101"/>
    <p:sldId id="1061" r:id="rId102"/>
    <p:sldId id="1013" r:id="rId103"/>
    <p:sldId id="1014" r:id="rId104"/>
    <p:sldId id="1015" r:id="rId105"/>
    <p:sldId id="1024" r:id="rId106"/>
    <p:sldId id="1048" r:id="rId107"/>
    <p:sldId id="1016" r:id="rId108"/>
    <p:sldId id="1017" r:id="rId109"/>
    <p:sldId id="1018" r:id="rId110"/>
    <p:sldId id="1019" r:id="rId111"/>
    <p:sldId id="1020" r:id="rId112"/>
    <p:sldId id="1021" r:id="rId113"/>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itchFamily="18" charset="0"/>
        <a:ea typeface="+mn-ea"/>
        <a:cs typeface="+mn-cs"/>
      </a:defRPr>
    </a:lvl5pPr>
    <a:lvl6pPr marL="2286000" algn="l" defTabSz="914400" rtl="0" eaLnBrk="1" latinLnBrk="0" hangingPunct="1">
      <a:defRPr sz="2000" b="1" kern="1200">
        <a:solidFill>
          <a:schemeClr val="tx1"/>
        </a:solidFill>
        <a:latin typeface="Times New Roman" pitchFamily="18" charset="0"/>
        <a:ea typeface="+mn-ea"/>
        <a:cs typeface="+mn-cs"/>
      </a:defRPr>
    </a:lvl6pPr>
    <a:lvl7pPr marL="2743200" algn="l" defTabSz="914400" rtl="0" eaLnBrk="1" latinLnBrk="0" hangingPunct="1">
      <a:defRPr sz="2000" b="1" kern="1200">
        <a:solidFill>
          <a:schemeClr val="tx1"/>
        </a:solidFill>
        <a:latin typeface="Times New Roman" pitchFamily="18" charset="0"/>
        <a:ea typeface="+mn-ea"/>
        <a:cs typeface="+mn-cs"/>
      </a:defRPr>
    </a:lvl7pPr>
    <a:lvl8pPr marL="3200400" algn="l" defTabSz="914400" rtl="0" eaLnBrk="1" latinLnBrk="0" hangingPunct="1">
      <a:defRPr sz="2000" b="1" kern="1200">
        <a:solidFill>
          <a:schemeClr val="tx1"/>
        </a:solidFill>
        <a:latin typeface="Times New Roman" pitchFamily="18" charset="0"/>
        <a:ea typeface="+mn-ea"/>
        <a:cs typeface="+mn-cs"/>
      </a:defRPr>
    </a:lvl8pPr>
    <a:lvl9pPr marL="3657600" algn="l" defTabSz="914400" rtl="0" eaLnBrk="1" latinLnBrk="0" hangingPunct="1">
      <a:defRPr sz="20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FF0000"/>
    <a:srgbClr val="0000CC"/>
    <a:srgbClr val="3333FF"/>
    <a:srgbClr val="00009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99" autoAdjust="0"/>
    <p:restoredTop sz="83273" autoAdjust="0"/>
  </p:normalViewPr>
  <p:slideViewPr>
    <p:cSldViewPr>
      <p:cViewPr varScale="1">
        <p:scale>
          <a:sx n="131" d="100"/>
          <a:sy n="131" d="100"/>
        </p:scale>
        <p:origin x="160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0"/>
    </p:cViewPr>
  </p:sorterViewPr>
  <p:notesViewPr>
    <p:cSldViewPr>
      <p:cViewPr varScale="1">
        <p:scale>
          <a:sx n="46" d="100"/>
          <a:sy n="46" d="100"/>
        </p:scale>
        <p:origin x="-1426" y="-6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409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09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409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0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C554E34-F0A9-43E7-A75E-6363291F165A}" type="slidenum">
              <a:rPr lang="en-US"/>
              <a:pPr>
                <a:defRPr/>
              </a:pPr>
              <a:t>‹#›</a:t>
            </a:fld>
            <a:endParaRPr lang="en-US"/>
          </a:p>
        </p:txBody>
      </p:sp>
    </p:spTree>
    <p:extLst>
      <p:ext uri="{BB962C8B-B14F-4D97-AF65-F5344CB8AC3E}">
        <p14:creationId xmlns:p14="http://schemas.microsoft.com/office/powerpoint/2010/main" val="11592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itchFamily="18" charset="0"/>
              </a:defRPr>
            </a:lvl1pPr>
            <a:lvl2pPr marL="742950" indent="-285750">
              <a:defRPr sz="2000" b="1">
                <a:solidFill>
                  <a:schemeClr val="tx1"/>
                </a:solidFill>
                <a:latin typeface="Times New Roman" pitchFamily="18" charset="0"/>
              </a:defRPr>
            </a:lvl2pPr>
            <a:lvl3pPr marL="1143000" indent="-228600">
              <a:defRPr sz="2000" b="1">
                <a:solidFill>
                  <a:schemeClr val="tx1"/>
                </a:solidFill>
                <a:latin typeface="Times New Roman" pitchFamily="18" charset="0"/>
              </a:defRPr>
            </a:lvl3pPr>
            <a:lvl4pPr marL="1600200" indent="-228600">
              <a:defRPr sz="2000" b="1">
                <a:solidFill>
                  <a:schemeClr val="tx1"/>
                </a:solidFill>
                <a:latin typeface="Times New Roman" pitchFamily="18" charset="0"/>
              </a:defRPr>
            </a:lvl4pPr>
            <a:lvl5pPr marL="2057400" indent="-22860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fld id="{063CE9B8-0533-402F-8F19-F84F9DC6C589}" type="slidenum">
              <a:rPr lang="en-US" sz="1200" smtClean="0"/>
              <a:pPr/>
              <a:t>1</a:t>
            </a:fld>
            <a:endParaRPr lang="en-US" sz="12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52525" y="682625"/>
            <a:ext cx="4554538" cy="3416300"/>
          </a:xfrm>
          <a:ln/>
        </p:spPr>
      </p:sp>
      <p:sp>
        <p:nvSpPr>
          <p:cNvPr id="64515"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069D7934-B352-43F9-979B-C7EF2C1B2E50}" type="slidenum">
              <a:rPr lang="en-US"/>
              <a:pPr/>
              <a:t>4</a:t>
            </a:fld>
            <a:endParaRPr lang="en-US"/>
          </a:p>
        </p:txBody>
      </p:sp>
      <p:sp>
        <p:nvSpPr>
          <p:cNvPr id="65539"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65540"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F68900E-7C35-405A-88D9-05B18F154F92}" type="slidenum">
              <a:rPr lang="en-US"/>
              <a:pPr/>
              <a:t>5</a:t>
            </a:fld>
            <a:endParaRPr lang="en-US"/>
          </a:p>
        </p:txBody>
      </p:sp>
      <p:sp>
        <p:nvSpPr>
          <p:cNvPr id="66563"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66564"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52525" y="682625"/>
            <a:ext cx="4554538" cy="3416300"/>
          </a:xfrm>
          <a:ln/>
        </p:spPr>
      </p:sp>
      <p:sp>
        <p:nvSpPr>
          <p:cNvPr id="6758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7</a:t>
            </a:fld>
            <a:endParaRPr lang="en-US"/>
          </a:p>
        </p:txBody>
      </p:sp>
    </p:spTree>
    <p:extLst>
      <p:ext uri="{BB962C8B-B14F-4D97-AF65-F5344CB8AC3E}">
        <p14:creationId xmlns:p14="http://schemas.microsoft.com/office/powerpoint/2010/main" val="1971170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52525" y="682625"/>
            <a:ext cx="4554538" cy="3416300"/>
          </a:xfrm>
          <a:ln/>
        </p:spPr>
      </p:sp>
      <p:sp>
        <p:nvSpPr>
          <p:cNvPr id="68611"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Discussion point</a:t>
            </a:r>
            <a:r>
              <a:rPr lang="en-US" baseline="0" dirty="0"/>
              <a:t> for weights: probability from u to v in traffic flow, similarity between two nodes in document clustering, co-occurrences between to words in word clustering (topic analysis), etc.</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9</a:t>
            </a:fld>
            <a:endParaRPr lang="en-US"/>
          </a:p>
        </p:txBody>
      </p:sp>
    </p:spTree>
    <p:extLst>
      <p:ext uri="{BB962C8B-B14F-4D97-AF65-F5344CB8AC3E}">
        <p14:creationId xmlns:p14="http://schemas.microsoft.com/office/powerpoint/2010/main" val="262658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Times New Roman" pitchFamily="18" charset="0"/>
                <a:ea typeface="+mn-ea"/>
                <a:cs typeface="+mn-cs"/>
              </a:rPr>
              <a:t>Six Degrees of Kevin Bacon</a:t>
            </a:r>
            <a:r>
              <a:rPr lang="en-US" sz="1200" b="0" i="0" kern="1200" dirty="0">
                <a:solidFill>
                  <a:schemeClr val="tx1"/>
                </a:solidFill>
                <a:effectLst/>
                <a:latin typeface="Times New Roman" pitchFamily="18" charset="0"/>
                <a:ea typeface="+mn-ea"/>
                <a:cs typeface="+mn-cs"/>
              </a:rPr>
              <a:t> is a parlor game based on the "six degrees of separation" concept, which posits that any two people on Earth are, on average, about six acquaintance links apart. That idea eventually morphed into this parlor game, wherein movie buffs challenge each other to find the shortest path between an arbitrary actor and veteran Hollywood character actor Kevin Bacon. It rests on the assumption that any individual involved in the Hollywood, California film industry can be linked through his or her film roles to Kevin Bacon within six steps.</a:t>
            </a:r>
            <a:endParaRPr lang="en-US" dirty="0">
              <a:solidFill>
                <a:schemeClr val="tx1"/>
              </a:solidFill>
            </a:endParaRPr>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10</a:t>
            </a:fld>
            <a:endParaRPr lang="en-US"/>
          </a:p>
        </p:txBody>
      </p:sp>
    </p:spTree>
    <p:extLst>
      <p:ext uri="{BB962C8B-B14F-4D97-AF65-F5344CB8AC3E}">
        <p14:creationId xmlns:p14="http://schemas.microsoft.com/office/powerpoint/2010/main" val="2184013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11</a:t>
            </a:fld>
            <a:endParaRPr lang="en-US"/>
          </a:p>
        </p:txBody>
      </p:sp>
    </p:spTree>
    <p:extLst>
      <p:ext uri="{BB962C8B-B14F-4D97-AF65-F5344CB8AC3E}">
        <p14:creationId xmlns:p14="http://schemas.microsoft.com/office/powerpoint/2010/main" val="1023840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43000" y="685800"/>
            <a:ext cx="4572000" cy="3429000"/>
          </a:xfrm>
          <a:ln/>
        </p:spPr>
      </p:sp>
      <p:sp>
        <p:nvSpPr>
          <p:cNvPr id="69635"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9A53BFB-1AC3-4CDC-9A67-D56E8671746A}" type="slidenum">
              <a:rPr lang="en-US"/>
              <a:pPr/>
              <a:t>13</a:t>
            </a:fld>
            <a:endParaRPr lang="en-US"/>
          </a:p>
        </p:txBody>
      </p:sp>
      <p:sp>
        <p:nvSpPr>
          <p:cNvPr id="72707"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2708"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820FCE1-7EBF-40B7-97AC-D917A8D059A3}" type="slidenum">
              <a:rPr lang="en-US"/>
              <a:pPr/>
              <a:t>14</a:t>
            </a:fld>
            <a:endParaRPr lang="en-US"/>
          </a:p>
        </p:txBody>
      </p:sp>
      <p:sp>
        <p:nvSpPr>
          <p:cNvPr id="73731"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3732"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r>
              <a:rPr lang="en-US" dirty="0"/>
              <a:t>Bipartite graphs in practice:</a:t>
            </a:r>
            <a:r>
              <a:rPr lang="en-US" baseline="0" dirty="0"/>
              <a:t> </a:t>
            </a:r>
          </a:p>
          <a:p>
            <a:r>
              <a:rPr lang="en-US" baseline="0" dirty="0"/>
              <a:t>Homogeneous nodes: managers and non-manager employees</a:t>
            </a:r>
          </a:p>
          <a:p>
            <a:r>
              <a:rPr lang="en-US" baseline="0" dirty="0"/>
              <a:t>Heterogeneous nodes: authors and books</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2FF4620-B6D8-4B87-B35C-3473734DC688}" type="slidenum">
              <a:rPr lang="en-US"/>
              <a:pPr/>
              <a:t>15</a:t>
            </a:fld>
            <a:endParaRPr lang="en-US"/>
          </a:p>
        </p:txBody>
      </p:sp>
      <p:sp>
        <p:nvSpPr>
          <p:cNvPr id="74755"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4756"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29FB42A5-573E-47BC-BD53-E4CD3B87B781}" type="slidenum">
              <a:rPr lang="en-US"/>
              <a:pPr/>
              <a:t>16</a:t>
            </a:fld>
            <a:endParaRPr lang="en-US"/>
          </a:p>
        </p:txBody>
      </p:sp>
      <p:sp>
        <p:nvSpPr>
          <p:cNvPr id="75779"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5780"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52525" y="682625"/>
            <a:ext cx="4554538" cy="3416300"/>
          </a:xfrm>
          <a:ln/>
        </p:spPr>
      </p:sp>
      <p:sp>
        <p:nvSpPr>
          <p:cNvPr id="76803"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52525" y="682625"/>
            <a:ext cx="4554538" cy="3416300"/>
          </a:xfrm>
          <a:ln/>
        </p:spPr>
      </p:sp>
      <p:sp>
        <p:nvSpPr>
          <p:cNvPr id="7782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52525" y="682625"/>
            <a:ext cx="4554538" cy="3416300"/>
          </a:xfrm>
          <a:ln/>
        </p:spPr>
      </p:sp>
      <p:sp>
        <p:nvSpPr>
          <p:cNvPr id="78851"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52525" y="682625"/>
            <a:ext cx="4554538" cy="3416300"/>
          </a:xfrm>
          <a:ln/>
        </p:spPr>
      </p:sp>
      <p:sp>
        <p:nvSpPr>
          <p:cNvPr id="80899"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52525" y="682625"/>
            <a:ext cx="4554538" cy="3416300"/>
          </a:xfrm>
          <a:ln/>
        </p:spPr>
      </p:sp>
      <p:sp>
        <p:nvSpPr>
          <p:cNvPr id="80899"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52525" y="682625"/>
            <a:ext cx="4554538" cy="3416300"/>
          </a:xfrm>
          <a:ln/>
        </p:spPr>
      </p:sp>
      <p:sp>
        <p:nvSpPr>
          <p:cNvPr id="8294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23</a:t>
            </a:fld>
            <a:endParaRPr lang="en-US"/>
          </a:p>
        </p:txBody>
      </p:sp>
    </p:spTree>
    <p:extLst>
      <p:ext uri="{BB962C8B-B14F-4D97-AF65-F5344CB8AC3E}">
        <p14:creationId xmlns:p14="http://schemas.microsoft.com/office/powerpoint/2010/main" val="38452430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24</a:t>
            </a:fld>
            <a:endParaRPr lang="en-US"/>
          </a:p>
        </p:txBody>
      </p:sp>
    </p:spTree>
    <p:extLst>
      <p:ext uri="{BB962C8B-B14F-4D97-AF65-F5344CB8AC3E}">
        <p14:creationId xmlns:p14="http://schemas.microsoft.com/office/powerpoint/2010/main" val="1108717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25</a:t>
            </a:fld>
            <a:endParaRPr lang="en-US"/>
          </a:p>
        </p:txBody>
      </p:sp>
    </p:spTree>
    <p:extLst>
      <p:ext uri="{BB962C8B-B14F-4D97-AF65-F5344CB8AC3E}">
        <p14:creationId xmlns:p14="http://schemas.microsoft.com/office/powerpoint/2010/main" val="2070303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26</a:t>
            </a:fld>
            <a:endParaRPr lang="en-US"/>
          </a:p>
        </p:txBody>
      </p:sp>
    </p:spTree>
    <p:extLst>
      <p:ext uri="{BB962C8B-B14F-4D97-AF65-F5344CB8AC3E}">
        <p14:creationId xmlns:p14="http://schemas.microsoft.com/office/powerpoint/2010/main" val="622525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27</a:t>
            </a:fld>
            <a:endParaRPr lang="en-US"/>
          </a:p>
        </p:txBody>
      </p:sp>
    </p:spTree>
    <p:extLst>
      <p:ext uri="{BB962C8B-B14F-4D97-AF65-F5344CB8AC3E}">
        <p14:creationId xmlns:p14="http://schemas.microsoft.com/office/powerpoint/2010/main" val="3821817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28</a:t>
            </a:fld>
            <a:endParaRPr lang="en-US"/>
          </a:p>
        </p:txBody>
      </p:sp>
    </p:spTree>
    <p:extLst>
      <p:ext uri="{BB962C8B-B14F-4D97-AF65-F5344CB8AC3E}">
        <p14:creationId xmlns:p14="http://schemas.microsoft.com/office/powerpoint/2010/main" val="40523133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29</a:t>
            </a:fld>
            <a:endParaRPr lang="en-US"/>
          </a:p>
        </p:txBody>
      </p:sp>
    </p:spTree>
    <p:extLst>
      <p:ext uri="{BB962C8B-B14F-4D97-AF65-F5344CB8AC3E}">
        <p14:creationId xmlns:p14="http://schemas.microsoft.com/office/powerpoint/2010/main" val="4103598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30</a:t>
            </a:fld>
            <a:endParaRPr lang="en-US"/>
          </a:p>
        </p:txBody>
      </p:sp>
    </p:spTree>
    <p:extLst>
      <p:ext uri="{BB962C8B-B14F-4D97-AF65-F5344CB8AC3E}">
        <p14:creationId xmlns:p14="http://schemas.microsoft.com/office/powerpoint/2010/main" val="20219644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prstClr val="black"/>
                </a:solidFill>
              </a:rPr>
              <a:pPr>
                <a:defRPr/>
              </a:pPr>
              <a:t>31</a:t>
            </a:fld>
            <a:endParaRPr lang="en-US">
              <a:solidFill>
                <a:prstClr val="black"/>
              </a:solidFill>
            </a:endParaRPr>
          </a:p>
        </p:txBody>
      </p:sp>
    </p:spTree>
    <p:extLst>
      <p:ext uri="{BB962C8B-B14F-4D97-AF65-F5344CB8AC3E}">
        <p14:creationId xmlns:p14="http://schemas.microsoft.com/office/powerpoint/2010/main" val="13286860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32</a:t>
            </a:fld>
            <a:endParaRPr lang="en-US"/>
          </a:p>
        </p:txBody>
      </p:sp>
    </p:spTree>
    <p:extLst>
      <p:ext uri="{BB962C8B-B14F-4D97-AF65-F5344CB8AC3E}">
        <p14:creationId xmlns:p14="http://schemas.microsoft.com/office/powerpoint/2010/main" val="25828226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33</a:t>
            </a:fld>
            <a:endParaRPr lang="en-US"/>
          </a:p>
        </p:txBody>
      </p:sp>
    </p:spTree>
    <p:extLst>
      <p:ext uri="{BB962C8B-B14F-4D97-AF65-F5344CB8AC3E}">
        <p14:creationId xmlns:p14="http://schemas.microsoft.com/office/powerpoint/2010/main" val="4150955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34</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35</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36</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37</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38</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1152525" y="692150"/>
            <a:ext cx="4554538" cy="3416300"/>
          </a:xfrm>
          <a:ln cap="flat"/>
        </p:spPr>
      </p:sp>
      <p:sp>
        <p:nvSpPr>
          <p:cNvPr id="8397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1" tIns="46031" rIns="92061" bIns="46031"/>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40</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41</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44</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45</a:t>
            </a:fld>
            <a:endParaRPr lang="en-US"/>
          </a:p>
        </p:txBody>
      </p:sp>
    </p:spTree>
    <p:extLst>
      <p:ext uri="{BB962C8B-B14F-4D97-AF65-F5344CB8AC3E}">
        <p14:creationId xmlns:p14="http://schemas.microsoft.com/office/powerpoint/2010/main" val="21157050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46</a:t>
            </a:fld>
            <a:endParaRPr lang="en-US"/>
          </a:p>
        </p:txBody>
      </p:sp>
    </p:spTree>
    <p:extLst>
      <p:ext uri="{BB962C8B-B14F-4D97-AF65-F5344CB8AC3E}">
        <p14:creationId xmlns:p14="http://schemas.microsoft.com/office/powerpoint/2010/main" val="22149832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143000" y="685800"/>
            <a:ext cx="4572000" cy="3429000"/>
          </a:xfrm>
          <a:ln/>
        </p:spPr>
      </p:sp>
      <p:sp>
        <p:nvSpPr>
          <p:cNvPr id="8601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54</a:t>
            </a:fld>
            <a:endParaRPr lang="en-US"/>
          </a:p>
        </p:txBody>
      </p:sp>
    </p:spTree>
    <p:extLst>
      <p:ext uri="{BB962C8B-B14F-4D97-AF65-F5344CB8AC3E}">
        <p14:creationId xmlns:p14="http://schemas.microsoft.com/office/powerpoint/2010/main" val="11650612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67</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68</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69</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70</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71</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72</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73</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74</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75</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76</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77</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78</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79</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80</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81</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82</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83</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84</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85</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87</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88</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94</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95</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96</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98</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99</a:t>
            </a:fld>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100</a:t>
            </a:fld>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101</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102</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103</a:t>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104</a:t>
            </a:fld>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107</a:t>
            </a:fld>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108</a:t>
            </a:fld>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109</a:t>
            </a:fld>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110</a:t>
            </a:fld>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111</a:t>
            </a:fld>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FD6B5BC-2097-459A-BEAF-07896CD9F0E7}" type="slidenum">
              <a:rPr lang="en-US"/>
              <a:pPr>
                <a:defRPr/>
              </a:pPr>
              <a:t>‹#›</a:t>
            </a:fld>
            <a:endParaRPr lang="en-US"/>
          </a:p>
        </p:txBody>
      </p:sp>
    </p:spTree>
    <p:extLst>
      <p:ext uri="{BB962C8B-B14F-4D97-AF65-F5344CB8AC3E}">
        <p14:creationId xmlns:p14="http://schemas.microsoft.com/office/powerpoint/2010/main" val="301291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F7C3E25-4F81-42B3-9AF8-17F95D817C40}" type="slidenum">
              <a:rPr lang="en-US"/>
              <a:pPr>
                <a:defRPr/>
              </a:pPr>
              <a:t>‹#›</a:t>
            </a:fld>
            <a:endParaRPr lang="en-US"/>
          </a:p>
        </p:txBody>
      </p:sp>
    </p:spTree>
    <p:extLst>
      <p:ext uri="{BB962C8B-B14F-4D97-AF65-F5344CB8AC3E}">
        <p14:creationId xmlns:p14="http://schemas.microsoft.com/office/powerpoint/2010/main" val="3118692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24B03A-E222-49E2-9A91-D7D25B6ED348}" type="slidenum">
              <a:rPr lang="en-US"/>
              <a:pPr>
                <a:defRPr/>
              </a:pPr>
              <a:t>‹#›</a:t>
            </a:fld>
            <a:endParaRPr lang="en-US"/>
          </a:p>
        </p:txBody>
      </p:sp>
    </p:spTree>
    <p:extLst>
      <p:ext uri="{BB962C8B-B14F-4D97-AF65-F5344CB8AC3E}">
        <p14:creationId xmlns:p14="http://schemas.microsoft.com/office/powerpoint/2010/main" val="1735844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E47D9F1-DE92-47CE-A239-FDF56621384E}" type="slidenum">
              <a:rPr lang="en-US"/>
              <a:pPr>
                <a:defRPr/>
              </a:pPr>
              <a:t>‹#›</a:t>
            </a:fld>
            <a:endParaRPr lang="en-US"/>
          </a:p>
        </p:txBody>
      </p:sp>
    </p:spTree>
    <p:extLst>
      <p:ext uri="{BB962C8B-B14F-4D97-AF65-F5344CB8AC3E}">
        <p14:creationId xmlns:p14="http://schemas.microsoft.com/office/powerpoint/2010/main" val="105928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6370B29-0D5F-4B90-B471-5FBD91E591A1}" type="slidenum">
              <a:rPr lang="en-US"/>
              <a:pPr>
                <a:defRPr/>
              </a:pPr>
              <a:t>‹#›</a:t>
            </a:fld>
            <a:endParaRPr lang="en-US"/>
          </a:p>
        </p:txBody>
      </p:sp>
    </p:spTree>
    <p:extLst>
      <p:ext uri="{BB962C8B-B14F-4D97-AF65-F5344CB8AC3E}">
        <p14:creationId xmlns:p14="http://schemas.microsoft.com/office/powerpoint/2010/main" val="2992109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D559721-1D86-4419-8089-AD0BB1C2A2A4}" type="slidenum">
              <a:rPr lang="en-US"/>
              <a:pPr>
                <a:defRPr/>
              </a:pPr>
              <a:t>‹#›</a:t>
            </a:fld>
            <a:endParaRPr lang="en-US"/>
          </a:p>
        </p:txBody>
      </p:sp>
    </p:spTree>
    <p:extLst>
      <p:ext uri="{BB962C8B-B14F-4D97-AF65-F5344CB8AC3E}">
        <p14:creationId xmlns:p14="http://schemas.microsoft.com/office/powerpoint/2010/main" val="2725835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6F4A282-15B5-4BD2-B169-6A8C7BAE9A7D}" type="slidenum">
              <a:rPr lang="en-US"/>
              <a:pPr>
                <a:defRPr/>
              </a:pPr>
              <a:t>‹#›</a:t>
            </a:fld>
            <a:endParaRPr lang="en-US"/>
          </a:p>
        </p:txBody>
      </p:sp>
    </p:spTree>
    <p:extLst>
      <p:ext uri="{BB962C8B-B14F-4D97-AF65-F5344CB8AC3E}">
        <p14:creationId xmlns:p14="http://schemas.microsoft.com/office/powerpoint/2010/main" val="62075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6C51CD2-7B79-46D7-B801-1C8F0C1E3816}" type="slidenum">
              <a:rPr lang="en-US"/>
              <a:pPr>
                <a:defRPr/>
              </a:pPr>
              <a:t>‹#›</a:t>
            </a:fld>
            <a:endParaRPr lang="en-US"/>
          </a:p>
        </p:txBody>
      </p:sp>
    </p:spTree>
    <p:extLst>
      <p:ext uri="{BB962C8B-B14F-4D97-AF65-F5344CB8AC3E}">
        <p14:creationId xmlns:p14="http://schemas.microsoft.com/office/powerpoint/2010/main" val="2640437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F2524E2-0801-4885-99E2-281673BE76DB}" type="slidenum">
              <a:rPr lang="en-US"/>
              <a:pPr>
                <a:defRPr/>
              </a:pPr>
              <a:t>‹#›</a:t>
            </a:fld>
            <a:endParaRPr lang="en-US"/>
          </a:p>
        </p:txBody>
      </p:sp>
    </p:spTree>
    <p:extLst>
      <p:ext uri="{BB962C8B-B14F-4D97-AF65-F5344CB8AC3E}">
        <p14:creationId xmlns:p14="http://schemas.microsoft.com/office/powerpoint/2010/main" val="1653882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62913C-209A-41E3-B52C-17AA648745F5}" type="slidenum">
              <a:rPr lang="en-US"/>
              <a:pPr>
                <a:defRPr/>
              </a:pPr>
              <a:t>‹#›</a:t>
            </a:fld>
            <a:endParaRPr lang="en-US"/>
          </a:p>
        </p:txBody>
      </p:sp>
    </p:spTree>
    <p:extLst>
      <p:ext uri="{BB962C8B-B14F-4D97-AF65-F5344CB8AC3E}">
        <p14:creationId xmlns:p14="http://schemas.microsoft.com/office/powerpoint/2010/main" val="813813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3EB8F4B-4594-4F0C-A18C-996BD4805962}" type="slidenum">
              <a:rPr lang="en-US"/>
              <a:pPr>
                <a:defRPr/>
              </a:pPr>
              <a:t>‹#›</a:t>
            </a:fld>
            <a:endParaRPr lang="en-US"/>
          </a:p>
        </p:txBody>
      </p:sp>
    </p:spTree>
    <p:extLst>
      <p:ext uri="{BB962C8B-B14F-4D97-AF65-F5344CB8AC3E}">
        <p14:creationId xmlns:p14="http://schemas.microsoft.com/office/powerpoint/2010/main" val="2913095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pPr>
              <a:defRPr/>
            </a:pPr>
            <a:fld id="{788F243E-17DC-457A-A8A2-016C58323037}" type="slidenum">
              <a:rPr lang="en-US"/>
              <a:pPr>
                <a:defRPr/>
              </a:pPr>
              <a:t>‹#›</a:t>
            </a:fld>
            <a:endParaRPr lang="en-US"/>
          </a:p>
        </p:txBody>
      </p:sp>
      <p:sp>
        <p:nvSpPr>
          <p:cNvPr id="1031" name="Line 7"/>
          <p:cNvSpPr>
            <a:spLocks noChangeShapeType="1"/>
          </p:cNvSpPr>
          <p:nvPr userDrawn="1"/>
        </p:nvSpPr>
        <p:spPr bwMode="auto">
          <a:xfrm>
            <a:off x="533400" y="1295400"/>
            <a:ext cx="8229600" cy="0"/>
          </a:xfrm>
          <a:prstGeom prst="line">
            <a:avLst/>
          </a:prstGeom>
          <a:noFill/>
          <a:ln w="57150" cmpd="thinThick">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22.w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23.w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6.bin"/><Relationship Id="rId4" Type="http://schemas.openxmlformats.org/officeDocument/2006/relationships/image" Target="../media/image24.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26.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27.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28.wmf"/></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29.wmf"/></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31.wmf"/></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32.wmf"/></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33.wmf"/></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37.wmf"/></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92.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wmf"/></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body" idx="1"/>
          </p:nvPr>
        </p:nvSpPr>
        <p:spPr>
          <a:xfrm>
            <a:off x="228600" y="3505200"/>
            <a:ext cx="8686800" cy="3048000"/>
          </a:xfrm>
        </p:spPr>
        <p:txBody>
          <a:bodyPr/>
          <a:lstStyle/>
          <a:p>
            <a:pPr algn="ctr">
              <a:buFont typeface="Wingdings" pitchFamily="2" charset="2"/>
              <a:buNone/>
            </a:pPr>
            <a:r>
              <a:rPr lang="zh-CN" altLang="en-US" b="1" dirty="0"/>
              <a:t>算法设计与分析课程组</a:t>
            </a:r>
            <a:endParaRPr lang="en-US" altLang="zh-CN" b="1" dirty="0"/>
          </a:p>
          <a:p>
            <a:pPr algn="ctr">
              <a:buFont typeface="Wingdings" pitchFamily="2" charset="2"/>
              <a:buNone/>
            </a:pPr>
            <a:endParaRPr lang="en-US" b="1" dirty="0"/>
          </a:p>
          <a:p>
            <a:pPr algn="ctr">
              <a:buFont typeface="Wingdings" pitchFamily="2" charset="2"/>
              <a:buNone/>
            </a:pPr>
            <a:r>
              <a:rPr lang="zh-CN" altLang="en-US" sz="2000" b="1" dirty="0"/>
              <a:t>深圳大学计算机与软件学院</a:t>
            </a:r>
            <a:endParaRPr lang="en-US" altLang="zh-CN" sz="2000" b="1" dirty="0"/>
          </a:p>
          <a:p>
            <a:pPr algn="ctr">
              <a:buFont typeface="Wingdings" pitchFamily="2" charset="2"/>
              <a:buNone/>
            </a:pPr>
            <a:endParaRPr lang="en-US" sz="2000" b="1" dirty="0"/>
          </a:p>
        </p:txBody>
      </p:sp>
      <p:sp>
        <p:nvSpPr>
          <p:cNvPr id="2052" name="Rectangle 4"/>
          <p:cNvSpPr>
            <a:spLocks noChangeArrowheads="1"/>
          </p:cNvSpPr>
          <p:nvPr/>
        </p:nvSpPr>
        <p:spPr bwMode="auto">
          <a:xfrm>
            <a:off x="304800" y="1143000"/>
            <a:ext cx="86106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050" name="Rectangle 2"/>
          <p:cNvSpPr>
            <a:spLocks noGrp="1" noChangeArrowheads="1"/>
          </p:cNvSpPr>
          <p:nvPr>
            <p:ph type="title"/>
          </p:nvPr>
        </p:nvSpPr>
        <p:spPr>
          <a:xfrm>
            <a:off x="685800" y="457200"/>
            <a:ext cx="7772400" cy="2895600"/>
          </a:xfrm>
        </p:spPr>
        <p:txBody>
          <a:bodyPr/>
          <a:lstStyle/>
          <a:p>
            <a:br>
              <a:rPr lang="en-US" sz="3200" b="1" dirty="0">
                <a:solidFill>
                  <a:srgbClr val="0000CC"/>
                </a:solidFill>
              </a:rPr>
            </a:br>
            <a:r>
              <a:rPr lang="zh-CN" altLang="en-US" sz="4000" b="1" dirty="0">
                <a:solidFill>
                  <a:srgbClr val="0000CC"/>
                </a:solidFill>
              </a:rPr>
              <a:t>图论算法</a:t>
            </a:r>
            <a:endParaRPr lang="en-US" sz="4000" b="1" dirty="0">
              <a:solidFill>
                <a:srgbClr val="0000CC"/>
              </a:solidFill>
            </a:endParaRPr>
          </a:p>
        </p:txBody>
      </p:sp>
    </p:spTree>
    <p:extLst>
      <p:ext uri="{BB962C8B-B14F-4D97-AF65-F5344CB8AC3E}">
        <p14:creationId xmlns:p14="http://schemas.microsoft.com/office/powerpoint/2010/main" val="2818658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685800" y="381000"/>
            <a:ext cx="7772400" cy="838200"/>
          </a:xfrm>
        </p:spPr>
        <p:txBody>
          <a:bodyPr/>
          <a:lstStyle/>
          <a:p>
            <a:r>
              <a:rPr lang="zh-CN" altLang="en-US" sz="3600" b="1" dirty="0">
                <a:solidFill>
                  <a:srgbClr val="0000CC"/>
                </a:solidFill>
              </a:rPr>
              <a:t>大纲</a:t>
            </a:r>
            <a:endParaRPr lang="en-US" sz="3600" b="1" dirty="0">
              <a:solidFill>
                <a:srgbClr val="0000CC"/>
              </a:solidFill>
            </a:endParaRPr>
          </a:p>
        </p:txBody>
      </p:sp>
      <p:sp>
        <p:nvSpPr>
          <p:cNvPr id="7171" name="Rectangle 3"/>
          <p:cNvSpPr>
            <a:spLocks noGrp="1" noChangeArrowheads="1"/>
          </p:cNvSpPr>
          <p:nvPr>
            <p:ph type="body" idx="4294967295"/>
          </p:nvPr>
        </p:nvSpPr>
        <p:spPr>
          <a:xfrm>
            <a:off x="457200" y="1447799"/>
            <a:ext cx="3733800" cy="5029201"/>
          </a:xfrm>
        </p:spPr>
        <p:txBody>
          <a:bodyPr>
            <a:normAutofit/>
          </a:bodyPr>
          <a:lstStyle/>
          <a:p>
            <a:r>
              <a:rPr lang="zh-CN" altLang="en-US" sz="2400" b="1" dirty="0"/>
              <a:t>图的基本概念</a:t>
            </a:r>
            <a:endParaRPr lang="en-US" sz="2400" b="1" dirty="0"/>
          </a:p>
          <a:p>
            <a:r>
              <a:rPr lang="zh-CN" altLang="en-US" sz="2400" b="1" dirty="0"/>
              <a:t>图的实现</a:t>
            </a:r>
            <a:endParaRPr lang="en-US" sz="2400" b="1" dirty="0"/>
          </a:p>
          <a:p>
            <a:pPr lvl="1"/>
            <a:r>
              <a:rPr lang="zh-CN" altLang="en-US" sz="2200" b="1" dirty="0"/>
              <a:t>邻接表</a:t>
            </a:r>
            <a:endParaRPr lang="en-US" sz="2200" b="1" dirty="0"/>
          </a:p>
          <a:p>
            <a:pPr lvl="1"/>
            <a:r>
              <a:rPr lang="zh-CN" altLang="en-US" sz="2200" b="1" dirty="0"/>
              <a:t>邻接矩阵</a:t>
            </a:r>
            <a:endParaRPr lang="en-US" sz="2200" b="1" dirty="0"/>
          </a:p>
          <a:p>
            <a:r>
              <a:rPr lang="zh-CN" altLang="en-US" sz="2400" b="1" dirty="0"/>
              <a:t>图的遍历</a:t>
            </a:r>
            <a:endParaRPr lang="en-US" sz="2400" b="1" dirty="0"/>
          </a:p>
          <a:p>
            <a:pPr lvl="1"/>
            <a:r>
              <a:rPr lang="zh-CN" altLang="en-US" sz="2200" b="1" dirty="0"/>
              <a:t>广度优先搜索</a:t>
            </a:r>
            <a:endParaRPr lang="en-US" sz="2200" b="1" dirty="0"/>
          </a:p>
          <a:p>
            <a:pPr lvl="1"/>
            <a:r>
              <a:rPr lang="zh-CN" altLang="en-US" sz="2200" b="1" dirty="0"/>
              <a:t>深度优先搜索</a:t>
            </a:r>
            <a:endParaRPr lang="en-US" sz="2200" b="1" dirty="0"/>
          </a:p>
          <a:p>
            <a:pPr lvl="1"/>
            <a:r>
              <a:rPr lang="zh-CN" altLang="en-US" sz="2200" b="1" dirty="0"/>
              <a:t>拓扑排序</a:t>
            </a:r>
            <a:endParaRPr lang="en-US" altLang="zh-CN" sz="2200" b="1" dirty="0"/>
          </a:p>
          <a:p>
            <a:pPr lvl="1"/>
            <a:r>
              <a:rPr lang="zh-CN" altLang="en-US" sz="2000" b="1" dirty="0"/>
              <a:t>强连通分支</a:t>
            </a:r>
            <a:endParaRPr lang="en-US" sz="2200" b="1" dirty="0"/>
          </a:p>
          <a:p>
            <a:endParaRPr lang="en-US" sz="2400" b="1" dirty="0"/>
          </a:p>
        </p:txBody>
      </p:sp>
      <p:sp>
        <p:nvSpPr>
          <p:cNvPr id="4" name="矩形 3"/>
          <p:cNvSpPr/>
          <p:nvPr/>
        </p:nvSpPr>
        <p:spPr>
          <a:xfrm>
            <a:off x="4114800" y="1447800"/>
            <a:ext cx="4572000" cy="2086725"/>
          </a:xfrm>
          <a:prstGeom prst="rect">
            <a:avLst/>
          </a:prstGeom>
        </p:spPr>
        <p:txBody>
          <a:bodyPr>
            <a:spAutoFit/>
          </a:bodyPr>
          <a:lstStyle/>
          <a:p>
            <a:pPr marL="342900" indent="-342900">
              <a:spcBef>
                <a:spcPct val="20000"/>
              </a:spcBef>
              <a:buFont typeface="Wingdings" pitchFamily="2" charset="2"/>
              <a:buChar char="§"/>
            </a:pPr>
            <a:r>
              <a:rPr lang="zh-CN" altLang="en-US" sz="2400" dirty="0">
                <a:latin typeface="+mn-lt"/>
              </a:rPr>
              <a:t>网络流算法</a:t>
            </a:r>
            <a:endParaRPr lang="en-US" altLang="zh-CN" sz="2400" dirty="0">
              <a:latin typeface="+mn-lt"/>
            </a:endParaRPr>
          </a:p>
          <a:p>
            <a:pPr marL="742950" lvl="1" indent="-285750">
              <a:spcBef>
                <a:spcPct val="20000"/>
              </a:spcBef>
              <a:buClr>
                <a:srgbClr val="FF0000"/>
              </a:buClr>
              <a:buFont typeface="Wingdings" pitchFamily="2" charset="2"/>
              <a:buChar char="§"/>
            </a:pPr>
            <a:r>
              <a:rPr lang="zh-CN" altLang="en-US" sz="2200" dirty="0">
                <a:latin typeface="+mn-lt"/>
              </a:rPr>
              <a:t>流网络</a:t>
            </a:r>
            <a:endParaRPr lang="en-US" altLang="zh-CN" sz="2200" dirty="0">
              <a:latin typeface="+mn-lt"/>
            </a:endParaRPr>
          </a:p>
          <a:p>
            <a:pPr marL="742950" lvl="1" indent="-285750">
              <a:spcBef>
                <a:spcPct val="20000"/>
              </a:spcBef>
              <a:buClr>
                <a:srgbClr val="FF0000"/>
              </a:buClr>
              <a:buFont typeface="Wingdings" pitchFamily="2" charset="2"/>
              <a:buChar char="§"/>
            </a:pPr>
            <a:r>
              <a:rPr lang="en-US" altLang="zh-CN" sz="2200" dirty="0">
                <a:latin typeface="+mn-lt"/>
              </a:rPr>
              <a:t>Ford-Fulkerson</a:t>
            </a:r>
            <a:r>
              <a:rPr lang="zh-CN" altLang="en-US" sz="2200" dirty="0">
                <a:latin typeface="+mn-lt"/>
              </a:rPr>
              <a:t>方法</a:t>
            </a:r>
            <a:endParaRPr lang="en-US" altLang="zh-CN" sz="2200" dirty="0">
              <a:latin typeface="+mn-lt"/>
            </a:endParaRPr>
          </a:p>
          <a:p>
            <a:pPr marL="742950" lvl="1" indent="-285750">
              <a:spcBef>
                <a:spcPct val="20000"/>
              </a:spcBef>
              <a:buClr>
                <a:srgbClr val="FF0000"/>
              </a:buClr>
              <a:buFont typeface="Wingdings" pitchFamily="2" charset="2"/>
              <a:buChar char="§"/>
            </a:pPr>
            <a:r>
              <a:rPr lang="en-US" altLang="zh-CN" sz="2200" dirty="0">
                <a:latin typeface="+mn-lt"/>
              </a:rPr>
              <a:t>Edmonds-Karp</a:t>
            </a:r>
            <a:r>
              <a:rPr lang="zh-CN" altLang="en-US" sz="2200" dirty="0">
                <a:latin typeface="+mn-lt"/>
              </a:rPr>
              <a:t>算法</a:t>
            </a:r>
          </a:p>
          <a:p>
            <a:pPr marL="742950" lvl="1" indent="-285750">
              <a:spcBef>
                <a:spcPct val="20000"/>
              </a:spcBef>
              <a:buClr>
                <a:srgbClr val="FF0000"/>
              </a:buClr>
              <a:buFont typeface="Wingdings" pitchFamily="2" charset="2"/>
              <a:buChar char="§"/>
            </a:pPr>
            <a:r>
              <a:rPr lang="zh-CN" altLang="en-US" sz="2200" dirty="0">
                <a:latin typeface="+mn-lt"/>
              </a:rPr>
              <a:t>最大二分匹配</a:t>
            </a:r>
          </a:p>
        </p:txBody>
      </p:sp>
    </p:spTree>
    <p:extLst>
      <p:ext uri="{BB962C8B-B14F-4D97-AF65-F5344CB8AC3E}">
        <p14:creationId xmlns:p14="http://schemas.microsoft.com/office/powerpoint/2010/main" val="4294793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什么是图</a:t>
            </a:r>
            <a:r>
              <a:rPr lang="en-US" sz="3600" b="1" dirty="0">
                <a:solidFill>
                  <a:srgbClr val="0000CC"/>
                </a:solidFill>
              </a:rPr>
              <a:t>?</a:t>
            </a:r>
          </a:p>
        </p:txBody>
      </p:sp>
      <p:sp>
        <p:nvSpPr>
          <p:cNvPr id="6147" name="Rectangle 3"/>
          <p:cNvSpPr>
            <a:spLocks noGrp="1" noChangeArrowheads="1"/>
          </p:cNvSpPr>
          <p:nvPr>
            <p:ph type="body" idx="1"/>
          </p:nvPr>
        </p:nvSpPr>
        <p:spPr>
          <a:xfrm>
            <a:off x="533400" y="1600200"/>
            <a:ext cx="7924800" cy="4495800"/>
          </a:xfrm>
        </p:spPr>
        <p:txBody>
          <a:bodyPr/>
          <a:lstStyle/>
          <a:p>
            <a:r>
              <a:rPr lang="zh-CN" altLang="en-US" b="1" dirty="0"/>
              <a:t>一个</a:t>
            </a:r>
            <a:r>
              <a:rPr lang="zh-CN" altLang="en-US" b="1" i="1" dirty="0">
                <a:solidFill>
                  <a:srgbClr val="C00000"/>
                </a:solidFill>
              </a:rPr>
              <a:t>图</a:t>
            </a:r>
            <a:r>
              <a:rPr lang="zh-CN" altLang="en-US" b="1" dirty="0"/>
              <a:t>是由一系列的</a:t>
            </a:r>
            <a:r>
              <a:rPr lang="zh-CN" altLang="en-US" b="1" i="1" dirty="0">
                <a:solidFill>
                  <a:srgbClr val="C00000"/>
                </a:solidFill>
              </a:rPr>
              <a:t>节点</a:t>
            </a:r>
            <a:r>
              <a:rPr lang="zh-CN" altLang="en-US" b="1" dirty="0"/>
              <a:t>和</a:t>
            </a:r>
            <a:r>
              <a:rPr lang="zh-CN" altLang="en-US" b="1" i="1" dirty="0">
                <a:solidFill>
                  <a:srgbClr val="C00000"/>
                </a:solidFill>
              </a:rPr>
              <a:t>边</a:t>
            </a:r>
            <a:r>
              <a:rPr lang="zh-CN" altLang="en-US" b="1" dirty="0"/>
              <a:t>组成</a:t>
            </a:r>
            <a:r>
              <a:rPr lang="en-US" b="1" dirty="0"/>
              <a:t>.</a:t>
            </a:r>
          </a:p>
        </p:txBody>
      </p:sp>
      <p:sp>
        <p:nvSpPr>
          <p:cNvPr id="6148" name="Oval 4"/>
          <p:cNvSpPr>
            <a:spLocks noChangeArrowheads="1"/>
          </p:cNvSpPr>
          <p:nvPr/>
        </p:nvSpPr>
        <p:spPr bwMode="auto">
          <a:xfrm>
            <a:off x="9906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49" name="Oval 5"/>
          <p:cNvSpPr>
            <a:spLocks noChangeArrowheads="1"/>
          </p:cNvSpPr>
          <p:nvPr/>
        </p:nvSpPr>
        <p:spPr bwMode="auto">
          <a:xfrm>
            <a:off x="990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0" name="Oval 6"/>
          <p:cNvSpPr>
            <a:spLocks noChangeArrowheads="1"/>
          </p:cNvSpPr>
          <p:nvPr/>
        </p:nvSpPr>
        <p:spPr bwMode="auto">
          <a:xfrm>
            <a:off x="22860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1" name="Oval 7"/>
          <p:cNvSpPr>
            <a:spLocks noChangeArrowheads="1"/>
          </p:cNvSpPr>
          <p:nvPr/>
        </p:nvSpPr>
        <p:spPr bwMode="auto">
          <a:xfrm>
            <a:off x="22860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2" name="Oval 8"/>
          <p:cNvSpPr>
            <a:spLocks noChangeArrowheads="1"/>
          </p:cNvSpPr>
          <p:nvPr/>
        </p:nvSpPr>
        <p:spPr bwMode="auto">
          <a:xfrm>
            <a:off x="32766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3" name="Oval 9"/>
          <p:cNvSpPr>
            <a:spLocks noChangeArrowheads="1"/>
          </p:cNvSpPr>
          <p:nvPr/>
        </p:nvSpPr>
        <p:spPr bwMode="auto">
          <a:xfrm>
            <a:off x="54102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4" name="Oval 10"/>
          <p:cNvSpPr>
            <a:spLocks noChangeArrowheads="1"/>
          </p:cNvSpPr>
          <p:nvPr/>
        </p:nvSpPr>
        <p:spPr bwMode="auto">
          <a:xfrm>
            <a:off x="54102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5" name="Oval 11"/>
          <p:cNvSpPr>
            <a:spLocks noChangeArrowheads="1"/>
          </p:cNvSpPr>
          <p:nvPr/>
        </p:nvSpPr>
        <p:spPr bwMode="auto">
          <a:xfrm>
            <a:off x="67056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6" name="Oval 12"/>
          <p:cNvSpPr>
            <a:spLocks noChangeArrowheads="1"/>
          </p:cNvSpPr>
          <p:nvPr/>
        </p:nvSpPr>
        <p:spPr bwMode="auto">
          <a:xfrm>
            <a:off x="6705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7" name="Oval 13"/>
          <p:cNvSpPr>
            <a:spLocks noChangeArrowheads="1"/>
          </p:cNvSpPr>
          <p:nvPr/>
        </p:nvSpPr>
        <p:spPr bwMode="auto">
          <a:xfrm>
            <a:off x="76962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8" name="Oval 14"/>
          <p:cNvSpPr>
            <a:spLocks noChangeArrowheads="1"/>
          </p:cNvSpPr>
          <p:nvPr/>
        </p:nvSpPr>
        <p:spPr bwMode="auto">
          <a:xfrm>
            <a:off x="76962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9" name="Oval 15"/>
          <p:cNvSpPr>
            <a:spLocks noChangeArrowheads="1"/>
          </p:cNvSpPr>
          <p:nvPr/>
        </p:nvSpPr>
        <p:spPr bwMode="auto">
          <a:xfrm>
            <a:off x="3276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0" name="Line 16"/>
          <p:cNvSpPr>
            <a:spLocks noChangeShapeType="1"/>
          </p:cNvSpPr>
          <p:nvPr/>
        </p:nvSpPr>
        <p:spPr bwMode="auto">
          <a:xfrm flipV="1">
            <a:off x="1219200" y="36576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1" name="Line 17"/>
          <p:cNvSpPr>
            <a:spLocks noChangeShapeType="1"/>
          </p:cNvSpPr>
          <p:nvPr/>
        </p:nvSpPr>
        <p:spPr bwMode="auto">
          <a:xfrm>
            <a:off x="1447800" y="34290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2" name="Line 18"/>
          <p:cNvSpPr>
            <a:spLocks noChangeShapeType="1"/>
          </p:cNvSpPr>
          <p:nvPr/>
        </p:nvSpPr>
        <p:spPr bwMode="auto">
          <a:xfrm flipH="1">
            <a:off x="1447800" y="35814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3" name="Freeform 19"/>
          <p:cNvSpPr>
            <a:spLocks/>
          </p:cNvSpPr>
          <p:nvPr/>
        </p:nvSpPr>
        <p:spPr bwMode="auto">
          <a:xfrm>
            <a:off x="2273300" y="2870200"/>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4" name="Freeform 20"/>
          <p:cNvSpPr>
            <a:spLocks/>
          </p:cNvSpPr>
          <p:nvPr/>
        </p:nvSpPr>
        <p:spPr bwMode="auto">
          <a:xfrm>
            <a:off x="1447800" y="42545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5" name="Freeform 21"/>
          <p:cNvSpPr>
            <a:spLocks/>
          </p:cNvSpPr>
          <p:nvPr/>
        </p:nvSpPr>
        <p:spPr bwMode="auto">
          <a:xfrm>
            <a:off x="1447800" y="46482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6" name="Line 22"/>
          <p:cNvSpPr>
            <a:spLocks noChangeShapeType="1"/>
          </p:cNvSpPr>
          <p:nvPr/>
        </p:nvSpPr>
        <p:spPr bwMode="auto">
          <a:xfrm flipV="1">
            <a:off x="3505200" y="36576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7" name="Text Box 23"/>
          <p:cNvSpPr txBox="1">
            <a:spLocks noChangeArrowheads="1"/>
          </p:cNvSpPr>
          <p:nvPr/>
        </p:nvSpPr>
        <p:spPr bwMode="auto">
          <a:xfrm>
            <a:off x="1074738" y="32004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6168" name="Text Box 24"/>
          <p:cNvSpPr txBox="1">
            <a:spLocks noChangeArrowheads="1"/>
          </p:cNvSpPr>
          <p:nvPr/>
        </p:nvSpPr>
        <p:spPr bwMode="auto">
          <a:xfrm>
            <a:off x="5494338" y="3124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endParaRPr lang="en-US" sz="1600">
              <a:solidFill>
                <a:schemeClr val="tx1"/>
              </a:solidFill>
              <a:latin typeface="Times New Roman" pitchFamily="18" charset="0"/>
            </a:endParaRPr>
          </a:p>
        </p:txBody>
      </p:sp>
      <p:sp>
        <p:nvSpPr>
          <p:cNvPr id="6169" name="Text Box 25"/>
          <p:cNvSpPr txBox="1">
            <a:spLocks noChangeArrowheads="1"/>
          </p:cNvSpPr>
          <p:nvPr/>
        </p:nvSpPr>
        <p:spPr bwMode="auto">
          <a:xfrm>
            <a:off x="2381250" y="32766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6170" name="Text Box 26"/>
          <p:cNvSpPr txBox="1">
            <a:spLocks noChangeArrowheads="1"/>
          </p:cNvSpPr>
          <p:nvPr/>
        </p:nvSpPr>
        <p:spPr bwMode="auto">
          <a:xfrm>
            <a:off x="3352800" y="32448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6171" name="Text Box 27"/>
          <p:cNvSpPr txBox="1">
            <a:spLocks noChangeArrowheads="1"/>
          </p:cNvSpPr>
          <p:nvPr/>
        </p:nvSpPr>
        <p:spPr bwMode="auto">
          <a:xfrm>
            <a:off x="1074738" y="4267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6172" name="Text Box 28"/>
          <p:cNvSpPr txBox="1">
            <a:spLocks noChangeArrowheads="1"/>
          </p:cNvSpPr>
          <p:nvPr/>
        </p:nvSpPr>
        <p:spPr bwMode="auto">
          <a:xfrm>
            <a:off x="5486400" y="43116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6173" name="Text Box 29"/>
          <p:cNvSpPr txBox="1">
            <a:spLocks noChangeArrowheads="1"/>
          </p:cNvSpPr>
          <p:nvPr/>
        </p:nvSpPr>
        <p:spPr bwMode="auto">
          <a:xfrm>
            <a:off x="2362200" y="43434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6174" name="Text Box 30"/>
          <p:cNvSpPr txBox="1">
            <a:spLocks noChangeArrowheads="1"/>
          </p:cNvSpPr>
          <p:nvPr/>
        </p:nvSpPr>
        <p:spPr bwMode="auto">
          <a:xfrm>
            <a:off x="6781800" y="43434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6175" name="Text Box 31"/>
          <p:cNvSpPr txBox="1">
            <a:spLocks noChangeArrowheads="1"/>
          </p:cNvSpPr>
          <p:nvPr/>
        </p:nvSpPr>
        <p:spPr bwMode="auto">
          <a:xfrm>
            <a:off x="3352800" y="43434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6176" name="Text Box 32"/>
          <p:cNvSpPr txBox="1">
            <a:spLocks noChangeArrowheads="1"/>
          </p:cNvSpPr>
          <p:nvPr/>
        </p:nvSpPr>
        <p:spPr bwMode="auto">
          <a:xfrm>
            <a:off x="7780338" y="43434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6177" name="Text Box 33"/>
          <p:cNvSpPr txBox="1">
            <a:spLocks noChangeArrowheads="1"/>
          </p:cNvSpPr>
          <p:nvPr/>
        </p:nvSpPr>
        <p:spPr bwMode="auto">
          <a:xfrm>
            <a:off x="6800850" y="31242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6178" name="Text Box 34"/>
          <p:cNvSpPr txBox="1">
            <a:spLocks noChangeArrowheads="1"/>
          </p:cNvSpPr>
          <p:nvPr/>
        </p:nvSpPr>
        <p:spPr bwMode="auto">
          <a:xfrm>
            <a:off x="7772400" y="31242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6179" name="Line 35"/>
          <p:cNvSpPr>
            <a:spLocks noChangeShapeType="1"/>
          </p:cNvSpPr>
          <p:nvPr/>
        </p:nvSpPr>
        <p:spPr bwMode="auto">
          <a:xfrm>
            <a:off x="5791200" y="3429000"/>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80" name="Line 36"/>
          <p:cNvSpPr>
            <a:spLocks noChangeShapeType="1"/>
          </p:cNvSpPr>
          <p:nvPr/>
        </p:nvSpPr>
        <p:spPr bwMode="auto">
          <a:xfrm>
            <a:off x="5867400" y="32766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81" name="Line 37"/>
          <p:cNvSpPr>
            <a:spLocks noChangeShapeType="1"/>
          </p:cNvSpPr>
          <p:nvPr/>
        </p:nvSpPr>
        <p:spPr bwMode="auto">
          <a:xfrm flipV="1">
            <a:off x="6934200" y="35052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82" name="Line 38"/>
          <p:cNvSpPr>
            <a:spLocks noChangeShapeType="1"/>
          </p:cNvSpPr>
          <p:nvPr/>
        </p:nvSpPr>
        <p:spPr bwMode="auto">
          <a:xfrm flipH="1" flipV="1">
            <a:off x="7924800" y="35052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914565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61169" y="1143000"/>
            <a:ext cx="8225631" cy="1905000"/>
          </a:xfrm>
        </p:spPr>
        <p:txBody>
          <a:bodyPr/>
          <a:lstStyle/>
          <a:p>
            <a:pPr marL="320040" indent="-320040" algn="l">
              <a:spcBef>
                <a:spcPts val="300"/>
              </a:spcBef>
              <a:buFont typeface="Wingdings" pitchFamily="2" charset="2"/>
              <a:buChar char="§"/>
            </a:pPr>
            <a:r>
              <a:rPr lang="zh-CN" altLang="en-US" sz="2400" b="1" dirty="0">
                <a:solidFill>
                  <a:schemeClr val="tx1"/>
                </a:solidFill>
              </a:rPr>
              <a:t>一个</a:t>
            </a:r>
            <a:r>
              <a:rPr lang="zh-CN" altLang="en-US" sz="2400" b="1" i="1" dirty="0">
                <a:solidFill>
                  <a:srgbClr val="FF0000"/>
                </a:solidFill>
              </a:rPr>
              <a:t>有向图</a:t>
            </a:r>
            <a:r>
              <a:rPr lang="en-US" sz="2400" b="1" i="1" dirty="0">
                <a:solidFill>
                  <a:schemeClr val="tx1"/>
                </a:solidFill>
              </a:rPr>
              <a:t>G</a:t>
            </a:r>
            <a:r>
              <a:rPr lang="en-US" sz="2400" b="1" dirty="0">
                <a:solidFill>
                  <a:schemeClr val="tx1"/>
                </a:solidFill>
              </a:rPr>
              <a:t>= (</a:t>
            </a:r>
            <a:r>
              <a:rPr lang="en-US" sz="2400" b="1" i="1" dirty="0">
                <a:solidFill>
                  <a:schemeClr val="tx1"/>
                </a:solidFill>
              </a:rPr>
              <a:t>V</a:t>
            </a:r>
            <a:r>
              <a:rPr lang="en-US" sz="2400" b="1" dirty="0">
                <a:solidFill>
                  <a:schemeClr val="tx1"/>
                </a:solidFill>
              </a:rPr>
              <a:t>, </a:t>
            </a:r>
            <a:r>
              <a:rPr lang="en-US" sz="2400" b="1" i="1" dirty="0">
                <a:solidFill>
                  <a:schemeClr val="tx1"/>
                </a:solidFill>
              </a:rPr>
              <a:t>E</a:t>
            </a:r>
            <a:r>
              <a:rPr lang="en-US" sz="2400" b="1" dirty="0">
                <a:solidFill>
                  <a:schemeClr val="tx1"/>
                </a:solidFill>
              </a:rPr>
              <a:t>),  </a:t>
            </a:r>
            <a:r>
              <a:rPr lang="zh-CN" altLang="en-US" sz="2400" b="1" dirty="0">
                <a:solidFill>
                  <a:schemeClr val="tx1"/>
                </a:solidFill>
              </a:rPr>
              <a:t>其中</a:t>
            </a:r>
            <a:r>
              <a:rPr lang="en-US" sz="2400" b="1" i="1" dirty="0">
                <a:solidFill>
                  <a:schemeClr val="tx1"/>
                </a:solidFill>
              </a:rPr>
              <a:t>V</a:t>
            </a:r>
            <a:r>
              <a:rPr lang="en-US" sz="2400" b="1" dirty="0">
                <a:solidFill>
                  <a:schemeClr val="tx1"/>
                </a:solidFill>
              </a:rPr>
              <a:t> </a:t>
            </a:r>
            <a:r>
              <a:rPr lang="zh-CN" altLang="en-US" sz="2400" b="1" dirty="0">
                <a:solidFill>
                  <a:schemeClr val="tx1"/>
                </a:solidFill>
              </a:rPr>
              <a:t>为节点的集合，</a:t>
            </a:r>
            <a:r>
              <a:rPr lang="en-US" altLang="zh-CN" sz="2400" b="1" i="1" dirty="0">
                <a:solidFill>
                  <a:schemeClr val="tx1"/>
                </a:solidFill>
              </a:rPr>
              <a:t>E</a:t>
            </a:r>
            <a:r>
              <a:rPr lang="zh-CN" altLang="en-US" sz="2400" b="1" dirty="0">
                <a:solidFill>
                  <a:schemeClr val="tx1"/>
                </a:solidFill>
              </a:rPr>
              <a:t>为</a:t>
            </a:r>
            <a:r>
              <a:rPr lang="en-US" sz="2400" b="1" i="1" dirty="0">
                <a:solidFill>
                  <a:schemeClr val="tx1"/>
                </a:solidFill>
              </a:rPr>
              <a:t>V</a:t>
            </a:r>
            <a:r>
              <a:rPr lang="zh-CN" altLang="en-US" sz="2400" b="1" dirty="0">
                <a:solidFill>
                  <a:schemeClr val="tx1"/>
                </a:solidFill>
              </a:rPr>
              <a:t>中节点之间的边的集合。</a:t>
            </a:r>
            <a:r>
              <a:rPr lang="en-US" sz="2400" b="1" i="1" dirty="0">
                <a:solidFill>
                  <a:schemeClr val="tx1"/>
                </a:solidFill>
              </a:rPr>
              <a:t>E</a:t>
            </a:r>
            <a:r>
              <a:rPr lang="zh-CN" altLang="en-US" sz="2400" b="1" dirty="0">
                <a:solidFill>
                  <a:schemeClr val="tx1"/>
                </a:solidFill>
              </a:rPr>
              <a:t>中每条</a:t>
            </a:r>
            <a:r>
              <a:rPr lang="en-US" sz="2400" b="1" dirty="0">
                <a:solidFill>
                  <a:schemeClr val="tx1"/>
                </a:solidFill>
              </a:rPr>
              <a:t> </a:t>
            </a:r>
            <a:r>
              <a:rPr lang="zh-CN" altLang="en-US" sz="2400" b="1" dirty="0">
                <a:solidFill>
                  <a:schemeClr val="tx1"/>
                </a:solidFill>
              </a:rPr>
              <a:t>边为</a:t>
            </a:r>
            <a:r>
              <a:rPr lang="en-US" altLang="zh-CN" sz="2400" b="1" i="1" dirty="0">
                <a:solidFill>
                  <a:schemeClr val="tx1"/>
                </a:solidFill>
              </a:rPr>
              <a:t>V</a:t>
            </a:r>
            <a:r>
              <a:rPr lang="zh-CN" altLang="en-US" sz="2400" b="1" dirty="0">
                <a:solidFill>
                  <a:schemeClr val="tx1"/>
                </a:solidFill>
              </a:rPr>
              <a:t>上一个二值关系</a:t>
            </a:r>
            <a:r>
              <a:rPr lang="en-US" sz="2400" b="1" dirty="0">
                <a:solidFill>
                  <a:schemeClr val="tx1"/>
                </a:solidFill>
              </a:rPr>
              <a:t>: </a:t>
            </a:r>
            <a:r>
              <a:rPr lang="zh-CN" altLang="en-US" sz="2400" b="1" dirty="0">
                <a:solidFill>
                  <a:schemeClr val="tx1"/>
                </a:solidFill>
              </a:rPr>
              <a:t>一条从</a:t>
            </a:r>
            <a:r>
              <a:rPr lang="en-US" altLang="zh-CN" sz="2400" b="1" i="1" dirty="0">
                <a:solidFill>
                  <a:schemeClr val="tx1"/>
                </a:solidFill>
              </a:rPr>
              <a:t>a</a:t>
            </a:r>
            <a:r>
              <a:rPr lang="zh-CN" altLang="en-US" sz="2400" b="1" dirty="0">
                <a:solidFill>
                  <a:schemeClr val="tx1"/>
                </a:solidFill>
              </a:rPr>
              <a:t>出发连向</a:t>
            </a:r>
            <a:r>
              <a:rPr lang="en-US" altLang="zh-CN" sz="2400" b="1" i="1" dirty="0">
                <a:solidFill>
                  <a:schemeClr val="tx1"/>
                </a:solidFill>
              </a:rPr>
              <a:t>b</a:t>
            </a:r>
            <a:r>
              <a:rPr lang="zh-CN" altLang="en-US" sz="2400" b="1" dirty="0">
                <a:solidFill>
                  <a:schemeClr val="tx1"/>
                </a:solidFill>
              </a:rPr>
              <a:t>边</a:t>
            </a:r>
            <a:r>
              <a:rPr lang="en-US" altLang="zh-CN" sz="2400" b="1" i="1" dirty="0">
                <a:solidFill>
                  <a:schemeClr val="tx1"/>
                </a:solidFill>
              </a:rPr>
              <a:t>e</a:t>
            </a:r>
            <a:r>
              <a:rPr lang="zh-CN" altLang="en-US" sz="2400" b="1" dirty="0">
                <a:solidFill>
                  <a:schemeClr val="tx1"/>
                </a:solidFill>
              </a:rPr>
              <a:t>可以表示为一个有序的节点对</a:t>
            </a:r>
            <a:r>
              <a:rPr lang="en-US" sz="2400" b="1" dirty="0">
                <a:solidFill>
                  <a:schemeClr val="tx1"/>
                </a:solidFill>
              </a:rPr>
              <a:t> </a:t>
            </a:r>
            <a:r>
              <a:rPr lang="en-US" sz="2400" b="1" i="1" dirty="0">
                <a:solidFill>
                  <a:schemeClr val="tx1"/>
                </a:solidFill>
              </a:rPr>
              <a:t>e</a:t>
            </a:r>
            <a:r>
              <a:rPr lang="en-US" sz="2400" b="1" dirty="0">
                <a:solidFill>
                  <a:schemeClr val="tx1"/>
                </a:solidFill>
              </a:rPr>
              <a:t> = (</a:t>
            </a:r>
            <a:r>
              <a:rPr lang="en-US" sz="2400" b="1" i="1" dirty="0">
                <a:solidFill>
                  <a:schemeClr val="tx1"/>
                </a:solidFill>
              </a:rPr>
              <a:t>a</a:t>
            </a:r>
            <a:r>
              <a:rPr lang="en-US" sz="2400" b="1" dirty="0">
                <a:solidFill>
                  <a:schemeClr val="tx1"/>
                </a:solidFill>
              </a:rPr>
              <a:t>, </a:t>
            </a:r>
            <a:r>
              <a:rPr lang="en-US" sz="2400" b="1" i="1" dirty="0">
                <a:solidFill>
                  <a:schemeClr val="tx1"/>
                </a:solidFill>
              </a:rPr>
              <a:t>b</a:t>
            </a:r>
            <a:r>
              <a:rPr lang="en-US" sz="2400" b="1" dirty="0">
                <a:solidFill>
                  <a:schemeClr val="tx1"/>
                </a:solidFill>
              </a:rPr>
              <a:t>)</a:t>
            </a:r>
            <a:r>
              <a:rPr lang="zh-CN" altLang="en-US" sz="2400" b="1" dirty="0">
                <a:solidFill>
                  <a:schemeClr val="tx1"/>
                </a:solidFill>
              </a:rPr>
              <a:t>。</a:t>
            </a:r>
            <a:endParaRPr lang="en-US" sz="2400" b="1" dirty="0">
              <a:solidFill>
                <a:schemeClr val="tx1"/>
              </a:solidFill>
            </a:endParaRPr>
          </a:p>
        </p:txBody>
      </p:sp>
      <p:grpSp>
        <p:nvGrpSpPr>
          <p:cNvPr id="2" name="Group 1"/>
          <p:cNvGrpSpPr/>
          <p:nvPr/>
        </p:nvGrpSpPr>
        <p:grpSpPr>
          <a:xfrm>
            <a:off x="914400" y="3200400"/>
            <a:ext cx="7162800" cy="3149263"/>
            <a:chOff x="762000" y="3124200"/>
            <a:chExt cx="7162800" cy="3149263"/>
          </a:xfrm>
        </p:grpSpPr>
        <p:sp>
          <p:nvSpPr>
            <p:cNvPr id="7171" name="Oval 3"/>
            <p:cNvSpPr>
              <a:spLocks noChangeArrowheads="1"/>
            </p:cNvSpPr>
            <p:nvPr/>
          </p:nvSpPr>
          <p:spPr bwMode="auto">
            <a:xfrm>
              <a:off x="7620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2" name="Oval 4"/>
            <p:cNvSpPr>
              <a:spLocks noChangeArrowheads="1"/>
            </p:cNvSpPr>
            <p:nvPr/>
          </p:nvSpPr>
          <p:spPr bwMode="auto">
            <a:xfrm>
              <a:off x="7620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3" name="Oval 5"/>
            <p:cNvSpPr>
              <a:spLocks noChangeArrowheads="1"/>
            </p:cNvSpPr>
            <p:nvPr/>
          </p:nvSpPr>
          <p:spPr bwMode="auto">
            <a:xfrm>
              <a:off x="20574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4" name="Oval 6"/>
            <p:cNvSpPr>
              <a:spLocks noChangeArrowheads="1"/>
            </p:cNvSpPr>
            <p:nvPr/>
          </p:nvSpPr>
          <p:spPr bwMode="auto">
            <a:xfrm>
              <a:off x="20574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5" name="Oval 7"/>
            <p:cNvSpPr>
              <a:spLocks noChangeArrowheads="1"/>
            </p:cNvSpPr>
            <p:nvPr/>
          </p:nvSpPr>
          <p:spPr bwMode="auto">
            <a:xfrm>
              <a:off x="30480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6" name="Oval 8"/>
            <p:cNvSpPr>
              <a:spLocks noChangeArrowheads="1"/>
            </p:cNvSpPr>
            <p:nvPr/>
          </p:nvSpPr>
          <p:spPr bwMode="auto">
            <a:xfrm>
              <a:off x="30480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7" name="Line 9"/>
            <p:cNvSpPr>
              <a:spLocks noChangeShapeType="1"/>
            </p:cNvSpPr>
            <p:nvPr/>
          </p:nvSpPr>
          <p:spPr bwMode="auto">
            <a:xfrm flipV="1">
              <a:off x="990600" y="4278313"/>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78" name="Line 10"/>
            <p:cNvSpPr>
              <a:spLocks noChangeShapeType="1"/>
            </p:cNvSpPr>
            <p:nvPr/>
          </p:nvSpPr>
          <p:spPr bwMode="auto">
            <a:xfrm>
              <a:off x="1219200" y="4049713"/>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79" name="Line 11"/>
            <p:cNvSpPr>
              <a:spLocks noChangeShapeType="1"/>
            </p:cNvSpPr>
            <p:nvPr/>
          </p:nvSpPr>
          <p:spPr bwMode="auto">
            <a:xfrm flipH="1">
              <a:off x="1219200" y="4202113"/>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80" name="Freeform 12"/>
            <p:cNvSpPr>
              <a:spLocks/>
            </p:cNvSpPr>
            <p:nvPr/>
          </p:nvSpPr>
          <p:spPr bwMode="auto">
            <a:xfrm>
              <a:off x="2044700" y="3490913"/>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1" name="Freeform 13"/>
            <p:cNvSpPr>
              <a:spLocks/>
            </p:cNvSpPr>
            <p:nvPr/>
          </p:nvSpPr>
          <p:spPr bwMode="auto">
            <a:xfrm>
              <a:off x="1219200" y="4875213"/>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2" name="Freeform 14"/>
            <p:cNvSpPr>
              <a:spLocks/>
            </p:cNvSpPr>
            <p:nvPr/>
          </p:nvSpPr>
          <p:spPr bwMode="auto">
            <a:xfrm>
              <a:off x="1219200" y="5268913"/>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3" name="Line 15"/>
            <p:cNvSpPr>
              <a:spLocks noChangeShapeType="1"/>
            </p:cNvSpPr>
            <p:nvPr/>
          </p:nvSpPr>
          <p:spPr bwMode="auto">
            <a:xfrm flipV="1">
              <a:off x="3276600" y="4278313"/>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84" name="Text Box 16"/>
            <p:cNvSpPr txBox="1">
              <a:spLocks noChangeArrowheads="1"/>
            </p:cNvSpPr>
            <p:nvPr/>
          </p:nvSpPr>
          <p:spPr bwMode="auto">
            <a:xfrm>
              <a:off x="846138" y="3886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1</a:t>
              </a:r>
            </a:p>
          </p:txBody>
        </p:sp>
        <p:sp>
          <p:nvSpPr>
            <p:cNvPr id="7185" name="Text Box 17"/>
            <p:cNvSpPr txBox="1">
              <a:spLocks noChangeArrowheads="1"/>
            </p:cNvSpPr>
            <p:nvPr/>
          </p:nvSpPr>
          <p:spPr bwMode="auto">
            <a:xfrm>
              <a:off x="2152650" y="3897313"/>
              <a:ext cx="298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2</a:t>
              </a:r>
            </a:p>
          </p:txBody>
        </p:sp>
        <p:sp>
          <p:nvSpPr>
            <p:cNvPr id="7186" name="Text Box 18"/>
            <p:cNvSpPr txBox="1">
              <a:spLocks noChangeArrowheads="1"/>
            </p:cNvSpPr>
            <p:nvPr/>
          </p:nvSpPr>
          <p:spPr bwMode="auto">
            <a:xfrm>
              <a:off x="3124200" y="386556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p>
          </p:txBody>
        </p:sp>
        <p:sp>
          <p:nvSpPr>
            <p:cNvPr id="7187" name="Text Box 19"/>
            <p:cNvSpPr txBox="1">
              <a:spLocks noChangeArrowheads="1"/>
            </p:cNvSpPr>
            <p:nvPr/>
          </p:nvSpPr>
          <p:spPr bwMode="auto">
            <a:xfrm>
              <a:off x="846138" y="49212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4</a:t>
              </a:r>
            </a:p>
          </p:txBody>
        </p:sp>
        <p:sp>
          <p:nvSpPr>
            <p:cNvPr id="7188" name="Text Box 20"/>
            <p:cNvSpPr txBox="1">
              <a:spLocks noChangeArrowheads="1"/>
            </p:cNvSpPr>
            <p:nvPr/>
          </p:nvSpPr>
          <p:spPr bwMode="auto">
            <a:xfrm>
              <a:off x="2133600" y="49641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p>
          </p:txBody>
        </p:sp>
        <p:sp>
          <p:nvSpPr>
            <p:cNvPr id="7189" name="Text Box 21"/>
            <p:cNvSpPr txBox="1">
              <a:spLocks noChangeArrowheads="1"/>
            </p:cNvSpPr>
            <p:nvPr/>
          </p:nvSpPr>
          <p:spPr bwMode="auto">
            <a:xfrm>
              <a:off x="3124200" y="49641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p>
          </p:txBody>
        </p:sp>
        <p:sp>
          <p:nvSpPr>
            <p:cNvPr id="7190" name="Text Box 22"/>
            <p:cNvSpPr txBox="1">
              <a:spLocks noChangeArrowheads="1"/>
            </p:cNvSpPr>
            <p:nvPr/>
          </p:nvSpPr>
          <p:spPr bwMode="auto">
            <a:xfrm>
              <a:off x="4611358" y="4419600"/>
              <a:ext cx="262764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V</a:t>
              </a:r>
              <a:r>
                <a:rPr lang="en-US" sz="2000" dirty="0">
                  <a:solidFill>
                    <a:schemeClr val="tx1"/>
                  </a:solidFill>
                  <a:latin typeface="+mj-lt"/>
                </a:rPr>
                <a:t> = { 1, 2, 3, 4, 5, 6, 7 }</a:t>
              </a:r>
              <a:br>
                <a:rPr lang="en-US" sz="2000" dirty="0">
                  <a:solidFill>
                    <a:schemeClr val="tx1"/>
                  </a:solidFill>
                  <a:latin typeface="+mj-lt"/>
                </a:rPr>
              </a:b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 = 7</a:t>
              </a:r>
              <a:endParaRPr lang="en-US" sz="2000" i="1" dirty="0">
                <a:solidFill>
                  <a:schemeClr val="tx1"/>
                </a:solidFill>
                <a:latin typeface="+mj-lt"/>
              </a:endParaRPr>
            </a:p>
          </p:txBody>
        </p:sp>
        <p:sp>
          <p:nvSpPr>
            <p:cNvPr id="7191" name="Text Box 23"/>
            <p:cNvSpPr txBox="1">
              <a:spLocks noChangeArrowheads="1"/>
            </p:cNvSpPr>
            <p:nvPr/>
          </p:nvSpPr>
          <p:spPr bwMode="auto">
            <a:xfrm>
              <a:off x="4654353" y="5257800"/>
              <a:ext cx="327044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E</a:t>
              </a:r>
              <a:r>
                <a:rPr lang="en-US" sz="2000" dirty="0">
                  <a:solidFill>
                    <a:schemeClr val="tx1"/>
                  </a:solidFill>
                  <a:latin typeface="+mj-lt"/>
                </a:rPr>
                <a:t> = { (1,2), (2,2), (2,4), (4,5), </a:t>
              </a:r>
            </a:p>
            <a:p>
              <a:r>
                <a:rPr lang="en-US" sz="2000" dirty="0">
                  <a:solidFill>
                    <a:schemeClr val="tx1"/>
                  </a:solidFill>
                  <a:latin typeface="+mj-lt"/>
                </a:rPr>
                <a:t>          (4,1), (5,4),(6,3) }</a:t>
              </a:r>
              <a:br>
                <a:rPr lang="en-US" sz="2000" dirty="0">
                  <a:solidFill>
                    <a:schemeClr val="tx1"/>
                  </a:solidFill>
                  <a:latin typeface="+mj-lt"/>
                </a:rPr>
              </a:br>
              <a:r>
                <a:rPr lang="en-US" sz="2000" dirty="0">
                  <a:solidFill>
                    <a:schemeClr val="tx1"/>
                  </a:solidFill>
                  <a:latin typeface="+mj-lt"/>
                </a:rPr>
                <a:t>| </a:t>
              </a:r>
              <a:r>
                <a:rPr lang="en-US" sz="2000" i="1" dirty="0">
                  <a:solidFill>
                    <a:schemeClr val="tx1"/>
                  </a:solidFill>
                  <a:latin typeface="+mj-lt"/>
                </a:rPr>
                <a:t>E</a:t>
              </a:r>
              <a:r>
                <a:rPr lang="en-US" sz="2000" dirty="0">
                  <a:solidFill>
                    <a:schemeClr val="tx1"/>
                  </a:solidFill>
                  <a:latin typeface="+mj-lt"/>
                </a:rPr>
                <a:t> | = 7</a:t>
              </a:r>
              <a:endParaRPr lang="en-US" sz="2000" i="1" dirty="0">
                <a:solidFill>
                  <a:schemeClr val="tx1"/>
                </a:solidFill>
                <a:latin typeface="+mj-lt"/>
              </a:endParaRPr>
            </a:p>
          </p:txBody>
        </p:sp>
        <p:sp>
          <p:nvSpPr>
            <p:cNvPr id="7192" name="Line 24"/>
            <p:cNvSpPr>
              <a:spLocks noChangeShapeType="1"/>
            </p:cNvSpPr>
            <p:nvPr/>
          </p:nvSpPr>
          <p:spPr bwMode="auto">
            <a:xfrm flipH="1">
              <a:off x="2590800" y="3414713"/>
              <a:ext cx="13716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93" name="Text Box 25"/>
            <p:cNvSpPr txBox="1">
              <a:spLocks noChangeArrowheads="1"/>
            </p:cNvSpPr>
            <p:nvPr/>
          </p:nvSpPr>
          <p:spPr bwMode="auto">
            <a:xfrm>
              <a:off x="3886200" y="31242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a:solidFill>
                    <a:schemeClr val="tx1"/>
                  </a:solidFill>
                  <a:latin typeface="+mj-lt"/>
                </a:rPr>
                <a:t>自环</a:t>
              </a:r>
              <a:endParaRPr lang="en-US" sz="2000" dirty="0">
                <a:solidFill>
                  <a:schemeClr val="tx1"/>
                </a:solidFill>
                <a:latin typeface="+mj-lt"/>
              </a:endParaRPr>
            </a:p>
          </p:txBody>
        </p:sp>
        <p:sp>
          <p:nvSpPr>
            <p:cNvPr id="7194" name="Oval 26"/>
            <p:cNvSpPr>
              <a:spLocks noChangeArrowheads="1"/>
            </p:cNvSpPr>
            <p:nvPr/>
          </p:nvSpPr>
          <p:spPr bwMode="auto">
            <a:xfrm>
              <a:off x="3886200" y="37957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95" name="Text Box 27"/>
            <p:cNvSpPr txBox="1">
              <a:spLocks noChangeArrowheads="1"/>
            </p:cNvSpPr>
            <p:nvPr/>
          </p:nvSpPr>
          <p:spPr bwMode="auto">
            <a:xfrm>
              <a:off x="3962400" y="38719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7</a:t>
              </a:r>
            </a:p>
          </p:txBody>
        </p:sp>
        <p:sp>
          <p:nvSpPr>
            <p:cNvPr id="7196" name="Line 28"/>
            <p:cNvSpPr>
              <a:spLocks noChangeShapeType="1"/>
            </p:cNvSpPr>
            <p:nvPr/>
          </p:nvSpPr>
          <p:spPr bwMode="auto">
            <a:xfrm>
              <a:off x="4419600" y="4024313"/>
              <a:ext cx="12954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7" name="Text Box 29"/>
            <p:cNvSpPr txBox="1">
              <a:spLocks noChangeArrowheads="1"/>
            </p:cNvSpPr>
            <p:nvPr/>
          </p:nvSpPr>
          <p:spPr bwMode="auto">
            <a:xfrm>
              <a:off x="5775325" y="3806825"/>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a:solidFill>
                    <a:schemeClr val="tx1"/>
                  </a:solidFill>
                  <a:latin typeface="+mj-lt"/>
                </a:rPr>
                <a:t>孤立节点</a:t>
              </a:r>
              <a:endParaRPr lang="en-US" sz="2000" dirty="0">
                <a:solidFill>
                  <a:schemeClr val="tx1"/>
                </a:solidFill>
                <a:latin typeface="+mj-lt"/>
              </a:endParaRPr>
            </a:p>
          </p:txBody>
        </p:sp>
      </p:grpSp>
      <p:sp>
        <p:nvSpPr>
          <p:cNvPr id="30" name="Rectangle 2"/>
          <p:cNvSpPr txBox="1">
            <a:spLocks noChangeArrowheads="1"/>
          </p:cNvSpPr>
          <p:nvPr/>
        </p:nvSpPr>
        <p:spPr bwMode="auto">
          <a:xfrm>
            <a:off x="685800" y="3810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a:solidFill>
                  <a:srgbClr val="0000CC"/>
                </a:solidFill>
              </a:rPr>
              <a:t>有向图</a:t>
            </a:r>
            <a:endParaRPr lang="en-US" sz="3600" b="1" dirty="0">
              <a:solidFill>
                <a:srgbClr val="0000CC"/>
              </a:solidFill>
            </a:endParaRPr>
          </a:p>
        </p:txBody>
      </p:sp>
    </p:spTree>
    <p:extLst>
      <p:ext uri="{BB962C8B-B14F-4D97-AF65-F5344CB8AC3E}">
        <p14:creationId xmlns:p14="http://schemas.microsoft.com/office/powerpoint/2010/main" val="47046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95300" y="1371600"/>
            <a:ext cx="8153400" cy="1219200"/>
          </a:xfrm>
        </p:spPr>
        <p:txBody>
          <a:bodyPr/>
          <a:lstStyle/>
          <a:p>
            <a:pPr marL="320040" indent="-320040" algn="l">
              <a:buFont typeface="Wingdings" pitchFamily="2" charset="2"/>
              <a:buChar char="§"/>
            </a:pPr>
            <a:r>
              <a:rPr lang="zh-CN" altLang="en-US" sz="2400" b="1" dirty="0"/>
              <a:t>一个</a:t>
            </a:r>
            <a:r>
              <a:rPr lang="zh-CN" altLang="en-US" sz="2400" b="1" i="1" dirty="0">
                <a:solidFill>
                  <a:srgbClr val="FF0000"/>
                </a:solidFill>
              </a:rPr>
              <a:t>无向图</a:t>
            </a:r>
            <a:r>
              <a:rPr lang="en-US" sz="2400" b="1" i="1" dirty="0">
                <a:solidFill>
                  <a:srgbClr val="C00000"/>
                </a:solidFill>
              </a:rPr>
              <a:t> </a:t>
            </a:r>
            <a:r>
              <a:rPr lang="en-US" sz="2400" b="1" i="1" dirty="0">
                <a:solidFill>
                  <a:schemeClr val="tx1"/>
                </a:solidFill>
              </a:rPr>
              <a:t>G</a:t>
            </a:r>
            <a:r>
              <a:rPr lang="en-US" sz="2400" b="1" dirty="0">
                <a:solidFill>
                  <a:schemeClr val="tx1"/>
                </a:solidFill>
              </a:rPr>
              <a:t> = (</a:t>
            </a:r>
            <a:r>
              <a:rPr lang="en-US" sz="2400" b="1" i="1" dirty="0">
                <a:solidFill>
                  <a:schemeClr val="tx1"/>
                </a:solidFill>
              </a:rPr>
              <a:t>V, E</a:t>
            </a:r>
            <a:r>
              <a:rPr lang="en-US" sz="2400" b="1" dirty="0">
                <a:solidFill>
                  <a:schemeClr val="tx1"/>
                </a:solidFill>
              </a:rPr>
              <a:t>) , </a:t>
            </a:r>
            <a:r>
              <a:rPr lang="zh-CN" altLang="en-US" sz="2400" b="1" dirty="0">
                <a:solidFill>
                  <a:schemeClr val="tx1"/>
                </a:solidFill>
              </a:rPr>
              <a:t>其中</a:t>
            </a:r>
            <a:r>
              <a:rPr lang="en-US" altLang="zh-CN" sz="2400" b="1" i="1" dirty="0">
                <a:solidFill>
                  <a:schemeClr val="tx1"/>
                </a:solidFill>
              </a:rPr>
              <a:t>V</a:t>
            </a:r>
            <a:r>
              <a:rPr lang="en-US" altLang="zh-CN" sz="2400" b="1" dirty="0">
                <a:solidFill>
                  <a:schemeClr val="tx1"/>
                </a:solidFill>
              </a:rPr>
              <a:t> </a:t>
            </a:r>
            <a:r>
              <a:rPr lang="zh-CN" altLang="en-US" sz="2400" b="1" dirty="0">
                <a:solidFill>
                  <a:schemeClr val="tx1"/>
                </a:solidFill>
              </a:rPr>
              <a:t>为节点的集合，</a:t>
            </a:r>
            <a:r>
              <a:rPr lang="en-US" altLang="zh-CN" sz="2400" b="1" i="1" dirty="0">
                <a:solidFill>
                  <a:schemeClr val="tx1"/>
                </a:solidFill>
              </a:rPr>
              <a:t>E</a:t>
            </a:r>
            <a:r>
              <a:rPr lang="zh-CN" altLang="en-US" sz="2400" b="1" dirty="0">
                <a:solidFill>
                  <a:schemeClr val="tx1"/>
                </a:solidFill>
              </a:rPr>
              <a:t>为</a:t>
            </a:r>
            <a:r>
              <a:rPr lang="en-US" altLang="zh-CN" sz="2400" b="1" i="1" dirty="0">
                <a:solidFill>
                  <a:schemeClr val="tx1"/>
                </a:solidFill>
              </a:rPr>
              <a:t>V</a:t>
            </a:r>
            <a:r>
              <a:rPr lang="zh-CN" altLang="en-US" sz="2400" b="1" dirty="0">
                <a:solidFill>
                  <a:schemeClr val="tx1"/>
                </a:solidFill>
              </a:rPr>
              <a:t>中节点之间的边的集合。</a:t>
            </a:r>
            <a:r>
              <a:rPr lang="en-US" sz="2400" b="1" dirty="0">
                <a:solidFill>
                  <a:schemeClr val="tx1"/>
                </a:solidFill>
              </a:rPr>
              <a:t> </a:t>
            </a:r>
            <a:r>
              <a:rPr lang="en-US" sz="2400" b="1" i="1" dirty="0">
                <a:solidFill>
                  <a:schemeClr val="tx1"/>
                </a:solidFill>
              </a:rPr>
              <a:t>E</a:t>
            </a:r>
            <a:r>
              <a:rPr lang="en-US" sz="2400" b="1" dirty="0">
                <a:solidFill>
                  <a:schemeClr val="tx1"/>
                </a:solidFill>
              </a:rPr>
              <a:t> </a:t>
            </a:r>
            <a:r>
              <a:rPr lang="zh-CN" altLang="en-US" sz="2400" b="1" dirty="0">
                <a:solidFill>
                  <a:schemeClr val="tx1"/>
                </a:solidFill>
              </a:rPr>
              <a:t>中每条边</a:t>
            </a:r>
            <a:r>
              <a:rPr lang="en-US" altLang="zh-CN" sz="2400" b="1" dirty="0">
                <a:solidFill>
                  <a:schemeClr val="tx1"/>
                </a:solidFill>
              </a:rPr>
              <a:t>e</a:t>
            </a:r>
            <a:r>
              <a:rPr lang="zh-CN" altLang="en-US" sz="2400" b="1" dirty="0">
                <a:solidFill>
                  <a:schemeClr val="tx1"/>
                </a:solidFill>
              </a:rPr>
              <a:t>都可以无序的节点对。</a:t>
            </a:r>
            <a:endParaRPr lang="en-US" sz="2400" b="1" dirty="0">
              <a:solidFill>
                <a:schemeClr val="tx1"/>
              </a:solidFill>
            </a:endParaRPr>
          </a:p>
        </p:txBody>
      </p:sp>
      <p:grpSp>
        <p:nvGrpSpPr>
          <p:cNvPr id="2" name="Group 1"/>
          <p:cNvGrpSpPr/>
          <p:nvPr/>
        </p:nvGrpSpPr>
        <p:grpSpPr>
          <a:xfrm>
            <a:off x="990600" y="4354512"/>
            <a:ext cx="7371775" cy="1741488"/>
            <a:chOff x="1143000" y="4191000"/>
            <a:chExt cx="7371775" cy="1741488"/>
          </a:xfrm>
        </p:grpSpPr>
        <p:sp>
          <p:nvSpPr>
            <p:cNvPr id="8195" name="Oval 3"/>
            <p:cNvSpPr>
              <a:spLocks noChangeArrowheads="1"/>
            </p:cNvSpPr>
            <p:nvPr/>
          </p:nvSpPr>
          <p:spPr bwMode="auto">
            <a:xfrm>
              <a:off x="11430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6" name="Oval 4"/>
            <p:cNvSpPr>
              <a:spLocks noChangeArrowheads="1"/>
            </p:cNvSpPr>
            <p:nvPr/>
          </p:nvSpPr>
          <p:spPr bwMode="auto">
            <a:xfrm>
              <a:off x="11430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7" name="Oval 5"/>
            <p:cNvSpPr>
              <a:spLocks noChangeArrowheads="1"/>
            </p:cNvSpPr>
            <p:nvPr/>
          </p:nvSpPr>
          <p:spPr bwMode="auto">
            <a:xfrm>
              <a:off x="24384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8" name="Oval 6"/>
            <p:cNvSpPr>
              <a:spLocks noChangeArrowheads="1"/>
            </p:cNvSpPr>
            <p:nvPr/>
          </p:nvSpPr>
          <p:spPr bwMode="auto">
            <a:xfrm>
              <a:off x="24384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9" name="Oval 7"/>
            <p:cNvSpPr>
              <a:spLocks noChangeArrowheads="1"/>
            </p:cNvSpPr>
            <p:nvPr/>
          </p:nvSpPr>
          <p:spPr bwMode="auto">
            <a:xfrm>
              <a:off x="34290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200" name="Oval 8"/>
            <p:cNvSpPr>
              <a:spLocks noChangeArrowheads="1"/>
            </p:cNvSpPr>
            <p:nvPr/>
          </p:nvSpPr>
          <p:spPr bwMode="auto">
            <a:xfrm>
              <a:off x="34290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201" name="Text Box 9"/>
            <p:cNvSpPr txBox="1">
              <a:spLocks noChangeArrowheads="1"/>
            </p:cNvSpPr>
            <p:nvPr/>
          </p:nvSpPr>
          <p:spPr bwMode="auto">
            <a:xfrm>
              <a:off x="1227138" y="4332288"/>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p>
          </p:txBody>
        </p:sp>
        <p:sp>
          <p:nvSpPr>
            <p:cNvPr id="8202" name="Text Box 10"/>
            <p:cNvSpPr txBox="1">
              <a:spLocks noChangeArrowheads="1"/>
            </p:cNvSpPr>
            <p:nvPr/>
          </p:nvSpPr>
          <p:spPr bwMode="auto">
            <a:xfrm>
              <a:off x="1219200" y="5519738"/>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8203" name="Text Box 11"/>
            <p:cNvSpPr txBox="1">
              <a:spLocks noChangeArrowheads="1"/>
            </p:cNvSpPr>
            <p:nvPr/>
          </p:nvSpPr>
          <p:spPr bwMode="auto">
            <a:xfrm>
              <a:off x="2514600" y="5553075"/>
              <a:ext cx="320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E</a:t>
              </a:r>
            </a:p>
          </p:txBody>
        </p:sp>
        <p:sp>
          <p:nvSpPr>
            <p:cNvPr id="8204" name="Text Box 12"/>
            <p:cNvSpPr txBox="1">
              <a:spLocks noChangeArrowheads="1"/>
            </p:cNvSpPr>
            <p:nvPr/>
          </p:nvSpPr>
          <p:spPr bwMode="auto">
            <a:xfrm>
              <a:off x="3513138" y="5551488"/>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F</a:t>
              </a:r>
            </a:p>
          </p:txBody>
        </p:sp>
        <p:sp>
          <p:nvSpPr>
            <p:cNvPr id="8205" name="Text Box 13"/>
            <p:cNvSpPr txBox="1">
              <a:spLocks noChangeArrowheads="1"/>
            </p:cNvSpPr>
            <p:nvPr/>
          </p:nvSpPr>
          <p:spPr bwMode="auto">
            <a:xfrm>
              <a:off x="2533650" y="4332288"/>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8206" name="Text Box 14"/>
            <p:cNvSpPr txBox="1">
              <a:spLocks noChangeArrowheads="1"/>
            </p:cNvSpPr>
            <p:nvPr/>
          </p:nvSpPr>
          <p:spPr bwMode="auto">
            <a:xfrm>
              <a:off x="3505200" y="4333875"/>
              <a:ext cx="3317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C</a:t>
              </a:r>
            </a:p>
          </p:txBody>
        </p:sp>
        <p:sp>
          <p:nvSpPr>
            <p:cNvPr id="8207" name="Line 15"/>
            <p:cNvSpPr>
              <a:spLocks noChangeShapeType="1"/>
            </p:cNvSpPr>
            <p:nvPr/>
          </p:nvSpPr>
          <p:spPr bwMode="auto">
            <a:xfrm>
              <a:off x="1524000" y="4637088"/>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08" name="Line 16"/>
            <p:cNvSpPr>
              <a:spLocks noChangeShapeType="1"/>
            </p:cNvSpPr>
            <p:nvPr/>
          </p:nvSpPr>
          <p:spPr bwMode="auto">
            <a:xfrm>
              <a:off x="1600200" y="4484688"/>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09" name="Line 17"/>
            <p:cNvSpPr>
              <a:spLocks noChangeShapeType="1"/>
            </p:cNvSpPr>
            <p:nvPr/>
          </p:nvSpPr>
          <p:spPr bwMode="auto">
            <a:xfrm flipV="1">
              <a:off x="2667000" y="4713288"/>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10" name="Line 18"/>
            <p:cNvSpPr>
              <a:spLocks noChangeShapeType="1"/>
            </p:cNvSpPr>
            <p:nvPr/>
          </p:nvSpPr>
          <p:spPr bwMode="auto">
            <a:xfrm flipH="1" flipV="1">
              <a:off x="3657600" y="4713288"/>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11" name="Text Box 19"/>
            <p:cNvSpPr txBox="1">
              <a:spLocks noChangeArrowheads="1"/>
            </p:cNvSpPr>
            <p:nvPr/>
          </p:nvSpPr>
          <p:spPr bwMode="auto">
            <a:xfrm>
              <a:off x="4479925" y="4191000"/>
              <a:ext cx="263604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V</a:t>
              </a:r>
              <a:r>
                <a:rPr lang="en-US" sz="2000" dirty="0">
                  <a:solidFill>
                    <a:schemeClr val="tx1"/>
                  </a:solidFill>
                  <a:latin typeface="+mj-lt"/>
                </a:rPr>
                <a:t> = { A, B, C, D, E, F }</a:t>
              </a:r>
              <a:br>
                <a:rPr lang="en-US" sz="2000" dirty="0">
                  <a:solidFill>
                    <a:schemeClr val="tx1"/>
                  </a:solidFill>
                  <a:latin typeface="+mj-lt"/>
                </a:rPr>
              </a:b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 = 6</a:t>
              </a:r>
              <a:endParaRPr lang="en-US" sz="2000" i="1" dirty="0">
                <a:solidFill>
                  <a:schemeClr val="tx1"/>
                </a:solidFill>
                <a:latin typeface="+mj-lt"/>
              </a:endParaRPr>
            </a:p>
          </p:txBody>
        </p:sp>
        <p:sp>
          <p:nvSpPr>
            <p:cNvPr id="8212" name="Text Box 20"/>
            <p:cNvSpPr txBox="1">
              <a:spLocks noChangeArrowheads="1"/>
            </p:cNvSpPr>
            <p:nvPr/>
          </p:nvSpPr>
          <p:spPr bwMode="auto">
            <a:xfrm>
              <a:off x="4175125" y="5029200"/>
              <a:ext cx="43396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     E</a:t>
              </a:r>
              <a:r>
                <a:rPr lang="en-US" sz="2000" dirty="0">
                  <a:solidFill>
                    <a:schemeClr val="tx1"/>
                  </a:solidFill>
                  <a:latin typeface="+mj-lt"/>
                </a:rPr>
                <a:t> = { {A, B}, {A,E}, {B,E}, {C,F} }</a:t>
              </a:r>
            </a:p>
            <a:p>
              <a:r>
                <a:rPr lang="en-US" sz="2000" dirty="0">
                  <a:solidFill>
                    <a:schemeClr val="tx1"/>
                  </a:solidFill>
                  <a:latin typeface="+mj-lt"/>
                </a:rPr>
                <a:t>     |</a:t>
              </a:r>
              <a:r>
                <a:rPr lang="en-US" sz="2000" i="1" dirty="0">
                  <a:solidFill>
                    <a:schemeClr val="tx1"/>
                  </a:solidFill>
                  <a:latin typeface="+mj-lt"/>
                </a:rPr>
                <a:t>E</a:t>
              </a:r>
              <a:r>
                <a:rPr lang="en-US" sz="2000" dirty="0">
                  <a:solidFill>
                    <a:schemeClr val="tx1"/>
                  </a:solidFill>
                  <a:latin typeface="+mj-lt"/>
                </a:rPr>
                <a:t> | = 4</a:t>
              </a:r>
              <a:endParaRPr lang="en-US" sz="2000" i="1" dirty="0">
                <a:solidFill>
                  <a:schemeClr val="tx1"/>
                </a:solidFill>
                <a:latin typeface="+mj-lt"/>
              </a:endParaRPr>
            </a:p>
          </p:txBody>
        </p:sp>
      </p:grpSp>
      <p:sp>
        <p:nvSpPr>
          <p:cNvPr id="22" name="Rectangle 2"/>
          <p:cNvSpPr txBox="1">
            <a:spLocks noChangeArrowheads="1"/>
          </p:cNvSpPr>
          <p:nvPr/>
        </p:nvSpPr>
        <p:spPr bwMode="auto">
          <a:xfrm>
            <a:off x="685800" y="3810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a:solidFill>
                  <a:srgbClr val="0000CC"/>
                </a:solidFill>
              </a:rPr>
              <a:t>无向图</a:t>
            </a:r>
            <a:endParaRPr lang="en-US" sz="3600" b="1" dirty="0">
              <a:solidFill>
                <a:srgbClr val="0000CC"/>
              </a:solidFill>
            </a:endParaRPr>
          </a:p>
        </p:txBody>
      </p:sp>
      <p:sp>
        <p:nvSpPr>
          <p:cNvPr id="24" name="Rectangle 2"/>
          <p:cNvSpPr txBox="1">
            <a:spLocks noChangeArrowheads="1"/>
          </p:cNvSpPr>
          <p:nvPr/>
        </p:nvSpPr>
        <p:spPr bwMode="auto">
          <a:xfrm>
            <a:off x="381000" y="2590800"/>
            <a:ext cx="83820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182880" marR="0" lvl="0" indent="-320040" algn="l" defTabSz="914400" rtl="0" eaLnBrk="0" fontAlgn="base" latinLnBrk="0" hangingPunct="0">
              <a:lnSpc>
                <a:spcPct val="100000"/>
              </a:lnSpc>
              <a:spcBef>
                <a:spcPct val="0"/>
              </a:spcBef>
              <a:spcAft>
                <a:spcPct val="0"/>
              </a:spcAft>
              <a:buClrTx/>
              <a:buSzTx/>
              <a:tabLst/>
              <a:defRPr/>
            </a:pP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zh-CN" altLang="en-US" sz="2400" b="1" i="0" u="none" strike="noStrike" kern="0" cap="none" spc="0" normalizeH="0" baseline="0" noProof="0" dirty="0">
                <a:ln>
                  <a:noFill/>
                </a:ln>
                <a:solidFill>
                  <a:schemeClr val="tx1"/>
                </a:solidFill>
                <a:effectLst/>
                <a:uLnTx/>
                <a:uFillTx/>
                <a:latin typeface="+mj-lt"/>
                <a:ea typeface="+mj-ea"/>
                <a:cs typeface="+mj-cs"/>
              </a:rPr>
              <a:t>符号</a:t>
            </a:r>
            <a:r>
              <a:rPr kumimoji="0" lang="en-US" sz="2400" b="1" i="0" u="none" strike="noStrike" kern="0" cap="none" spc="0" normalizeH="0" baseline="0" noProof="0" dirty="0">
                <a:ln>
                  <a:noFill/>
                </a:ln>
                <a:solidFill>
                  <a:schemeClr val="tx1"/>
                </a:solidFill>
                <a:effectLst/>
                <a:uLnTx/>
                <a:uFillTx/>
                <a:latin typeface="+mj-lt"/>
                <a:ea typeface="+mj-ea"/>
                <a:cs typeface="+mj-cs"/>
              </a:rPr>
              <a:t>: </a:t>
            </a:r>
            <a:br>
              <a:rPr kumimoji="0" lang="en-US" sz="2400" b="1" i="0" u="none" strike="noStrike" kern="0" cap="none" spc="0" normalizeH="0" baseline="0" noProof="0" dirty="0">
                <a:ln>
                  <a:noFill/>
                </a:ln>
                <a:solidFill>
                  <a:schemeClr val="tx1"/>
                </a:solidFill>
                <a:effectLst/>
                <a:uLnTx/>
                <a:uFillTx/>
                <a:latin typeface="+mj-lt"/>
                <a:ea typeface="+mj-ea"/>
                <a:cs typeface="+mj-cs"/>
              </a:rPr>
            </a:b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en-US" sz="2400" b="1" i="1" u="none" strike="noStrike" kern="0" cap="none" spc="0" normalizeH="0" baseline="0" noProof="0" dirty="0">
                <a:ln>
                  <a:noFill/>
                </a:ln>
                <a:solidFill>
                  <a:schemeClr val="tx1"/>
                </a:solidFill>
                <a:effectLst/>
                <a:uLnTx/>
                <a:uFillTx/>
                <a:latin typeface="+mj-lt"/>
                <a:ea typeface="+mj-ea"/>
                <a:cs typeface="+mj-cs"/>
              </a:rPr>
              <a:t>a,</a:t>
            </a: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en-US" sz="2400" b="1" i="1" u="none" strike="noStrike" kern="0" cap="none" spc="0" normalizeH="0" baseline="0" noProof="0" dirty="0">
                <a:ln>
                  <a:noFill/>
                </a:ln>
                <a:solidFill>
                  <a:schemeClr val="tx1"/>
                </a:solidFill>
                <a:effectLst/>
                <a:uLnTx/>
                <a:uFillTx/>
                <a:latin typeface="+mj-lt"/>
                <a:ea typeface="+mj-ea"/>
                <a:cs typeface="+mj-cs"/>
              </a:rPr>
              <a:t>b</a:t>
            </a: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zh-CN" altLang="en-US" sz="2400" b="1" i="0" u="none" strike="noStrike" kern="0" cap="none" spc="0" normalizeH="0" baseline="0" noProof="0" dirty="0">
                <a:ln>
                  <a:noFill/>
                </a:ln>
                <a:solidFill>
                  <a:schemeClr val="tx1"/>
                </a:solidFill>
                <a:effectLst/>
                <a:uLnTx/>
                <a:uFillTx/>
                <a:latin typeface="+mj-lt"/>
                <a:ea typeface="+mj-ea"/>
                <a:cs typeface="+mj-cs"/>
              </a:rPr>
              <a:t>代表从</a:t>
            </a: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en-US" sz="2400" b="1" i="1" u="none" strike="noStrike" kern="0" cap="none" spc="0" normalizeH="0" baseline="0" noProof="0" dirty="0">
                <a:ln>
                  <a:noFill/>
                </a:ln>
                <a:solidFill>
                  <a:schemeClr val="tx1"/>
                </a:solidFill>
                <a:effectLst/>
                <a:uLnTx/>
                <a:uFillTx/>
                <a:latin typeface="+mj-lt"/>
                <a:ea typeface="+mj-ea"/>
                <a:cs typeface="+mj-cs"/>
              </a:rPr>
              <a:t>a</a:t>
            </a:r>
            <a:r>
              <a:rPr kumimoji="0" lang="zh-CN" altLang="en-US" sz="2400" b="1" u="none" strike="noStrike" kern="0" cap="none" spc="0" normalizeH="0" baseline="0" noProof="0" dirty="0">
                <a:ln>
                  <a:noFill/>
                </a:ln>
                <a:solidFill>
                  <a:schemeClr val="tx1"/>
                </a:solidFill>
                <a:effectLst/>
                <a:uLnTx/>
                <a:uFillTx/>
                <a:latin typeface="+mj-lt"/>
                <a:ea typeface="+mj-ea"/>
                <a:cs typeface="+mj-cs"/>
              </a:rPr>
              <a:t>到</a:t>
            </a:r>
            <a:r>
              <a:rPr kumimoji="0" lang="en-US" altLang="zh-CN" sz="2400" b="1" i="1" u="none" strike="noStrike" kern="0" cap="none" spc="0" normalizeH="0" baseline="0" noProof="0" dirty="0">
                <a:ln>
                  <a:noFill/>
                </a:ln>
                <a:solidFill>
                  <a:schemeClr val="tx1"/>
                </a:solidFill>
                <a:effectLst/>
                <a:uLnTx/>
                <a:uFillTx/>
                <a:latin typeface="+mj-lt"/>
                <a:ea typeface="+mj-ea"/>
                <a:cs typeface="+mj-cs"/>
              </a:rPr>
              <a:t>b</a:t>
            </a:r>
            <a:r>
              <a:rPr kumimoji="0" lang="zh-CN" altLang="en-US" sz="2400" b="1" u="none" strike="noStrike" kern="0" cap="none" spc="0" normalizeH="0" baseline="0" noProof="0" dirty="0">
                <a:ln>
                  <a:noFill/>
                </a:ln>
                <a:solidFill>
                  <a:schemeClr val="tx1"/>
                </a:solidFill>
                <a:effectLst/>
                <a:uLnTx/>
                <a:uFillTx/>
                <a:latin typeface="+mj-lt"/>
                <a:ea typeface="+mj-ea"/>
                <a:cs typeface="+mj-cs"/>
              </a:rPr>
              <a:t>的有向边</a:t>
            </a:r>
            <a:br>
              <a:rPr kumimoji="0" lang="en-US" sz="2400" b="1" i="0" u="none" strike="noStrike" kern="0" cap="none" spc="0" normalizeH="0" baseline="0" noProof="0" dirty="0">
                <a:ln>
                  <a:noFill/>
                </a:ln>
                <a:solidFill>
                  <a:schemeClr val="tx1"/>
                </a:solidFill>
                <a:effectLst/>
                <a:uLnTx/>
                <a:uFillTx/>
                <a:latin typeface="+mj-lt"/>
                <a:ea typeface="+mj-ea"/>
                <a:cs typeface="+mj-cs"/>
              </a:rPr>
            </a:b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en-US" sz="2400" b="1" i="1" u="none" strike="noStrike" kern="0" cap="none" spc="0" normalizeH="0" baseline="0" noProof="0" dirty="0">
                <a:ln>
                  <a:noFill/>
                </a:ln>
                <a:solidFill>
                  <a:schemeClr val="tx1"/>
                </a:solidFill>
                <a:effectLst/>
                <a:uLnTx/>
                <a:uFillTx/>
                <a:latin typeface="+mj-lt"/>
                <a:ea typeface="+mj-ea"/>
                <a:cs typeface="+mj-cs"/>
              </a:rPr>
              <a:t>a</a:t>
            </a: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en-US" sz="2400" b="1" i="1" u="none" strike="noStrike" kern="0" cap="none" spc="0" normalizeH="0" baseline="0" noProof="0" dirty="0">
                <a:ln>
                  <a:noFill/>
                </a:ln>
                <a:solidFill>
                  <a:schemeClr val="tx1"/>
                </a:solidFill>
                <a:effectLst/>
                <a:uLnTx/>
                <a:uFillTx/>
                <a:latin typeface="+mj-lt"/>
                <a:ea typeface="+mj-ea"/>
                <a:cs typeface="+mj-cs"/>
              </a:rPr>
              <a:t>b</a:t>
            </a: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zh-CN" altLang="en-US" sz="2400" b="1" i="0" u="none" strike="noStrike" kern="0" cap="none" spc="0" normalizeH="0" baseline="0" noProof="0" dirty="0">
                <a:ln>
                  <a:noFill/>
                </a:ln>
                <a:solidFill>
                  <a:schemeClr val="tx1"/>
                </a:solidFill>
                <a:effectLst/>
                <a:uLnTx/>
                <a:uFillTx/>
                <a:latin typeface="+mj-lt"/>
                <a:ea typeface="+mj-ea"/>
                <a:cs typeface="+mj-cs"/>
              </a:rPr>
              <a:t>节点</a:t>
            </a:r>
            <a:r>
              <a:rPr kumimoji="0" lang="en-US" sz="2400" b="1" i="1" u="none" strike="noStrike" kern="0" cap="none" spc="0" normalizeH="0" baseline="0" noProof="0" dirty="0">
                <a:ln>
                  <a:noFill/>
                </a:ln>
                <a:solidFill>
                  <a:schemeClr val="tx1"/>
                </a:solidFill>
                <a:effectLst/>
                <a:uLnTx/>
                <a:uFillTx/>
                <a:latin typeface="+mj-lt"/>
                <a:ea typeface="+mj-ea"/>
                <a:cs typeface="+mj-cs"/>
              </a:rPr>
              <a:t>a</a:t>
            </a:r>
            <a:r>
              <a:rPr kumimoji="0" lang="zh-CN" altLang="en-US" sz="2400" b="1" u="none" strike="noStrike" kern="0" cap="none" spc="0" normalizeH="0" baseline="0" noProof="0" dirty="0">
                <a:ln>
                  <a:noFill/>
                </a:ln>
                <a:solidFill>
                  <a:schemeClr val="tx1"/>
                </a:solidFill>
                <a:effectLst/>
                <a:uLnTx/>
                <a:uFillTx/>
                <a:latin typeface="+mj-lt"/>
                <a:ea typeface="+mj-ea"/>
                <a:cs typeface="+mj-cs"/>
              </a:rPr>
              <a:t>到节点</a:t>
            </a:r>
            <a:r>
              <a:rPr kumimoji="0" lang="en-US" altLang="zh-CN" sz="2400" b="1" i="1" u="none" strike="noStrike" kern="0" cap="none" spc="0" normalizeH="0" baseline="0" noProof="0" dirty="0">
                <a:ln>
                  <a:noFill/>
                </a:ln>
                <a:solidFill>
                  <a:schemeClr val="tx1"/>
                </a:solidFill>
                <a:effectLst/>
                <a:uLnTx/>
                <a:uFillTx/>
                <a:latin typeface="+mj-lt"/>
                <a:ea typeface="+mj-ea"/>
                <a:cs typeface="+mj-cs"/>
              </a:rPr>
              <a:t>b</a:t>
            </a:r>
            <a:r>
              <a:rPr kumimoji="0" lang="zh-CN" altLang="en-US" sz="2400" b="1" u="none" strike="noStrike" kern="0" cap="none" spc="0" normalizeH="0" baseline="0" noProof="0" dirty="0">
                <a:ln>
                  <a:noFill/>
                </a:ln>
                <a:solidFill>
                  <a:schemeClr val="tx1"/>
                </a:solidFill>
                <a:effectLst/>
                <a:uLnTx/>
                <a:uFillTx/>
                <a:latin typeface="+mj-lt"/>
                <a:ea typeface="+mj-ea"/>
                <a:cs typeface="+mj-cs"/>
              </a:rPr>
              <a:t>的无向边</a:t>
            </a:r>
            <a:br>
              <a:rPr kumimoji="0" lang="en-US" sz="2400" b="1" i="1" u="none" strike="noStrike" kern="0" cap="none" spc="0" normalizeH="0" baseline="0" noProof="0" dirty="0">
                <a:ln>
                  <a:noFill/>
                </a:ln>
                <a:solidFill>
                  <a:schemeClr val="tx1"/>
                </a:solidFill>
                <a:effectLst/>
                <a:uLnTx/>
                <a:uFillTx/>
                <a:latin typeface="+mj-lt"/>
                <a:ea typeface="+mj-ea"/>
                <a:cs typeface="+mj-cs"/>
              </a:rPr>
            </a:br>
            <a:r>
              <a:rPr kumimoji="0" lang="en-US" sz="2400" b="1" i="1" u="none" strike="noStrike" kern="0" cap="none" spc="0" normalizeH="0" baseline="0" noProof="0" dirty="0">
                <a:ln>
                  <a:noFill/>
                </a:ln>
                <a:solidFill>
                  <a:schemeClr val="tx1"/>
                </a:solidFill>
                <a:effectLst/>
                <a:uLnTx/>
                <a:uFillTx/>
                <a:latin typeface="+mj-lt"/>
                <a:ea typeface="+mj-ea"/>
                <a:cs typeface="+mj-cs"/>
              </a:rPr>
              <a:t>             </a:t>
            </a:r>
            <a:r>
              <a:rPr kumimoji="0" lang="en-US" sz="2400" b="1" i="0" u="none" strike="noStrike" kern="0" cap="none" spc="0" normalizeH="0" baseline="0" noProof="0" dirty="0">
                <a:ln>
                  <a:noFill/>
                </a:ln>
                <a:solidFill>
                  <a:schemeClr val="tx1"/>
                </a:solidFill>
                <a:effectLst/>
                <a:uLnTx/>
                <a:uFillTx/>
                <a:latin typeface="+mj-lt"/>
                <a:ea typeface="+mj-ea"/>
                <a:cs typeface="+mj-cs"/>
              </a:rPr>
              <a:t>(</a:t>
            </a:r>
            <a:r>
              <a:rPr kumimoji="0" lang="zh-CN" altLang="en-US" sz="2400" b="1" i="0" u="none" strike="noStrike" kern="0" cap="none" spc="0" normalizeH="0" baseline="0" noProof="0" dirty="0">
                <a:ln>
                  <a:noFill/>
                </a:ln>
                <a:solidFill>
                  <a:schemeClr val="tx1"/>
                </a:solidFill>
                <a:effectLst/>
                <a:uLnTx/>
                <a:uFillTx/>
                <a:latin typeface="+mj-lt"/>
                <a:ea typeface="+mj-ea"/>
                <a:cs typeface="+mj-cs"/>
              </a:rPr>
              <a:t>课本上也用</a:t>
            </a:r>
            <a:r>
              <a:rPr kumimoji="0" lang="en-US" sz="2400" b="1" i="0" u="none" strike="noStrike" kern="0" cap="none" spc="0" normalizeH="0" baseline="0" noProof="0" dirty="0">
                <a:ln>
                  <a:noFill/>
                </a:ln>
                <a:solidFill>
                  <a:schemeClr val="tx1"/>
                </a:solidFill>
                <a:effectLst/>
                <a:uLnTx/>
                <a:uFillTx/>
                <a:latin typeface="+mj-lt"/>
                <a:ea typeface="+mj-ea"/>
                <a:cs typeface="+mj-cs"/>
              </a:rPr>
              <a:t>(a, b) </a:t>
            </a:r>
            <a:r>
              <a:rPr kumimoji="0" lang="zh-CN" altLang="en-US" sz="2400" b="1" i="0" u="none" strike="noStrike" kern="0" cap="none" spc="0" normalizeH="0" baseline="0" noProof="0" dirty="0">
                <a:ln>
                  <a:noFill/>
                </a:ln>
                <a:solidFill>
                  <a:schemeClr val="tx1"/>
                </a:solidFill>
                <a:effectLst/>
                <a:uLnTx/>
                <a:uFillTx/>
                <a:latin typeface="+mj-lt"/>
                <a:ea typeface="+mj-ea"/>
                <a:cs typeface="+mj-cs"/>
              </a:rPr>
              <a:t>表示无向边</a:t>
            </a:r>
            <a:r>
              <a:rPr kumimoji="0" lang="en-US" sz="2400" b="1" i="0" u="none" strike="noStrike" kern="0" cap="none" spc="0" normalizeH="0" baseline="0" noProof="0" dirty="0">
                <a:ln>
                  <a:noFill/>
                </a:ln>
                <a:solidFill>
                  <a:schemeClr val="tx1"/>
                </a:solidFill>
                <a:effectLst/>
                <a:uLnTx/>
                <a:uFillTx/>
                <a:latin typeface="+mj-lt"/>
                <a:ea typeface="+mj-ea"/>
                <a:cs typeface="+mj-cs"/>
              </a:rPr>
              <a:t>). </a:t>
            </a:r>
          </a:p>
        </p:txBody>
      </p:sp>
    </p:spTree>
    <p:extLst>
      <p:ext uri="{BB962C8B-B14F-4D97-AF65-F5344CB8AC3E}">
        <p14:creationId xmlns:p14="http://schemas.microsoft.com/office/powerpoint/2010/main" val="429400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533400" y="1371600"/>
            <a:ext cx="8305800" cy="762000"/>
          </a:xfrm>
        </p:spPr>
        <p:txBody>
          <a:bodyPr/>
          <a:lstStyle/>
          <a:p>
            <a:pPr marL="342900" indent="-342900" algn="l">
              <a:buFont typeface="Wingdings" pitchFamily="2" charset="2"/>
              <a:buChar char="§"/>
            </a:pPr>
            <a:r>
              <a:rPr lang="zh-CN" altLang="en-US" sz="2400" b="1" dirty="0"/>
              <a:t>在一个无向图中</a:t>
            </a:r>
            <a:r>
              <a:rPr lang="en-US" sz="2400" b="1" dirty="0"/>
              <a:t>, </a:t>
            </a:r>
            <a:r>
              <a:rPr lang="zh-CN" altLang="en-US" sz="2400" b="1" dirty="0"/>
              <a:t>节点的</a:t>
            </a:r>
            <a:r>
              <a:rPr lang="zh-CN" altLang="en-US" sz="2400" b="1" i="1" dirty="0">
                <a:solidFill>
                  <a:srgbClr val="FF0000"/>
                </a:solidFill>
              </a:rPr>
              <a:t>度</a:t>
            </a:r>
            <a:r>
              <a:rPr lang="zh-CN" altLang="en-US" sz="2400" b="1" dirty="0"/>
              <a:t>指的是该节点连出去的边的条数</a:t>
            </a:r>
            <a:r>
              <a:rPr lang="en-US" sz="2400" b="1" dirty="0"/>
              <a:t>.</a:t>
            </a:r>
          </a:p>
        </p:txBody>
      </p:sp>
      <p:grpSp>
        <p:nvGrpSpPr>
          <p:cNvPr id="42" name="Group 41"/>
          <p:cNvGrpSpPr/>
          <p:nvPr/>
        </p:nvGrpSpPr>
        <p:grpSpPr>
          <a:xfrm>
            <a:off x="914400" y="3308628"/>
            <a:ext cx="7234983" cy="2928998"/>
            <a:chOff x="990600" y="3200400"/>
            <a:chExt cx="7234983" cy="2928998"/>
          </a:xfrm>
        </p:grpSpPr>
        <p:sp>
          <p:nvSpPr>
            <p:cNvPr id="9219" name="Oval 3"/>
            <p:cNvSpPr>
              <a:spLocks noChangeArrowheads="1"/>
            </p:cNvSpPr>
            <p:nvPr/>
          </p:nvSpPr>
          <p:spPr bwMode="auto">
            <a:xfrm>
              <a:off x="11430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0" name="Oval 4"/>
            <p:cNvSpPr>
              <a:spLocks noChangeArrowheads="1"/>
            </p:cNvSpPr>
            <p:nvPr/>
          </p:nvSpPr>
          <p:spPr bwMode="auto">
            <a:xfrm>
              <a:off x="11430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1" name="Oval 5"/>
            <p:cNvSpPr>
              <a:spLocks noChangeArrowheads="1"/>
            </p:cNvSpPr>
            <p:nvPr/>
          </p:nvSpPr>
          <p:spPr bwMode="auto">
            <a:xfrm>
              <a:off x="24384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2" name="Oval 6"/>
            <p:cNvSpPr>
              <a:spLocks noChangeArrowheads="1"/>
            </p:cNvSpPr>
            <p:nvPr/>
          </p:nvSpPr>
          <p:spPr bwMode="auto">
            <a:xfrm>
              <a:off x="24384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3" name="Oval 7"/>
            <p:cNvSpPr>
              <a:spLocks noChangeArrowheads="1"/>
            </p:cNvSpPr>
            <p:nvPr/>
          </p:nvSpPr>
          <p:spPr bwMode="auto">
            <a:xfrm>
              <a:off x="34290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4" name="Oval 8"/>
            <p:cNvSpPr>
              <a:spLocks noChangeArrowheads="1"/>
            </p:cNvSpPr>
            <p:nvPr/>
          </p:nvSpPr>
          <p:spPr bwMode="auto">
            <a:xfrm>
              <a:off x="34290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5" name="Text Box 9"/>
            <p:cNvSpPr txBox="1">
              <a:spLocks noChangeArrowheads="1"/>
            </p:cNvSpPr>
            <p:nvPr/>
          </p:nvSpPr>
          <p:spPr bwMode="auto">
            <a:xfrm>
              <a:off x="1227138" y="368940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endParaRPr lang="en-US" sz="1600">
                <a:solidFill>
                  <a:schemeClr val="tx1"/>
                </a:solidFill>
                <a:latin typeface="Times New Roman" pitchFamily="18" charset="0"/>
              </a:endParaRPr>
            </a:p>
          </p:txBody>
        </p:sp>
        <p:sp>
          <p:nvSpPr>
            <p:cNvPr id="9226" name="Text Box 10"/>
            <p:cNvSpPr txBox="1">
              <a:spLocks noChangeArrowheads="1"/>
            </p:cNvSpPr>
            <p:nvPr/>
          </p:nvSpPr>
          <p:spPr bwMode="auto">
            <a:xfrm>
              <a:off x="1219200" y="487685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endParaRPr lang="en-US" sz="1600">
                <a:solidFill>
                  <a:schemeClr val="tx1"/>
                </a:solidFill>
                <a:latin typeface="Times New Roman" pitchFamily="18" charset="0"/>
              </a:endParaRPr>
            </a:p>
          </p:txBody>
        </p:sp>
        <p:sp>
          <p:nvSpPr>
            <p:cNvPr id="9227" name="Text Box 11"/>
            <p:cNvSpPr txBox="1">
              <a:spLocks noChangeArrowheads="1"/>
            </p:cNvSpPr>
            <p:nvPr/>
          </p:nvSpPr>
          <p:spPr bwMode="auto">
            <a:xfrm>
              <a:off x="2514600" y="4910193"/>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E</a:t>
              </a:r>
            </a:p>
          </p:txBody>
        </p:sp>
        <p:sp>
          <p:nvSpPr>
            <p:cNvPr id="9228" name="Text Box 12"/>
            <p:cNvSpPr txBox="1">
              <a:spLocks noChangeArrowheads="1"/>
            </p:cNvSpPr>
            <p:nvPr/>
          </p:nvSpPr>
          <p:spPr bwMode="auto">
            <a:xfrm>
              <a:off x="3513138" y="4908605"/>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F</a:t>
              </a:r>
              <a:endParaRPr lang="en-US" sz="1600">
                <a:solidFill>
                  <a:schemeClr val="tx1"/>
                </a:solidFill>
                <a:latin typeface="Times New Roman" pitchFamily="18" charset="0"/>
              </a:endParaRPr>
            </a:p>
          </p:txBody>
        </p:sp>
        <p:sp>
          <p:nvSpPr>
            <p:cNvPr id="9229" name="Text Box 13"/>
            <p:cNvSpPr txBox="1">
              <a:spLocks noChangeArrowheads="1"/>
            </p:cNvSpPr>
            <p:nvPr/>
          </p:nvSpPr>
          <p:spPr bwMode="auto">
            <a:xfrm>
              <a:off x="2533650" y="3689405"/>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B</a:t>
              </a:r>
            </a:p>
          </p:txBody>
        </p:sp>
        <p:sp>
          <p:nvSpPr>
            <p:cNvPr id="9230" name="Text Box 14"/>
            <p:cNvSpPr txBox="1">
              <a:spLocks noChangeArrowheads="1"/>
            </p:cNvSpPr>
            <p:nvPr/>
          </p:nvSpPr>
          <p:spPr bwMode="auto">
            <a:xfrm>
              <a:off x="3505200" y="3690993"/>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C</a:t>
              </a:r>
            </a:p>
          </p:txBody>
        </p:sp>
        <p:sp>
          <p:nvSpPr>
            <p:cNvPr id="9231" name="Line 15"/>
            <p:cNvSpPr>
              <a:spLocks noChangeShapeType="1"/>
            </p:cNvSpPr>
            <p:nvPr/>
          </p:nvSpPr>
          <p:spPr bwMode="auto">
            <a:xfrm>
              <a:off x="1524000" y="3994205"/>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2" name="Line 16"/>
            <p:cNvSpPr>
              <a:spLocks noChangeShapeType="1"/>
            </p:cNvSpPr>
            <p:nvPr/>
          </p:nvSpPr>
          <p:spPr bwMode="auto">
            <a:xfrm>
              <a:off x="1600200" y="3841805"/>
              <a:ext cx="8382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3" name="Line 17"/>
            <p:cNvSpPr>
              <a:spLocks noChangeShapeType="1"/>
            </p:cNvSpPr>
            <p:nvPr/>
          </p:nvSpPr>
          <p:spPr bwMode="auto">
            <a:xfrm flipV="1">
              <a:off x="2667000" y="4070405"/>
              <a:ext cx="1588"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4" name="Line 18"/>
            <p:cNvSpPr>
              <a:spLocks noChangeShapeType="1"/>
            </p:cNvSpPr>
            <p:nvPr/>
          </p:nvSpPr>
          <p:spPr bwMode="auto">
            <a:xfrm flipH="1" flipV="1">
              <a:off x="3657600" y="4070405"/>
              <a:ext cx="1588"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5" name="Text Box 19"/>
            <p:cNvSpPr txBox="1">
              <a:spLocks noChangeArrowheads="1"/>
            </p:cNvSpPr>
            <p:nvPr/>
          </p:nvSpPr>
          <p:spPr bwMode="auto">
            <a:xfrm>
              <a:off x="1143000" y="5729288"/>
              <a:ext cx="13227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dirty="0">
                  <a:solidFill>
                    <a:schemeClr val="tx1"/>
                  </a:solidFill>
                  <a:latin typeface="+mj-lt"/>
                </a:rPr>
                <a:t>B </a:t>
              </a:r>
              <a:r>
                <a:rPr lang="zh-CN" altLang="en-US" sz="2000" dirty="0">
                  <a:solidFill>
                    <a:schemeClr val="tx1"/>
                  </a:solidFill>
                  <a:latin typeface="+mj-lt"/>
                </a:rPr>
                <a:t>的度为</a:t>
              </a:r>
              <a:r>
                <a:rPr lang="en-US" sz="2000" dirty="0">
                  <a:solidFill>
                    <a:schemeClr val="tx1"/>
                  </a:solidFill>
                  <a:latin typeface="+mj-lt"/>
                </a:rPr>
                <a:t>2</a:t>
              </a:r>
            </a:p>
          </p:txBody>
        </p:sp>
        <p:sp>
          <p:nvSpPr>
            <p:cNvPr id="9236" name="Oval 20"/>
            <p:cNvSpPr>
              <a:spLocks noChangeArrowheads="1"/>
            </p:cNvSpPr>
            <p:nvPr/>
          </p:nvSpPr>
          <p:spPr bwMode="auto">
            <a:xfrm>
              <a:off x="5105400" y="36957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37" name="Oval 21"/>
            <p:cNvSpPr>
              <a:spLocks noChangeArrowheads="1"/>
            </p:cNvSpPr>
            <p:nvPr/>
          </p:nvSpPr>
          <p:spPr bwMode="auto">
            <a:xfrm>
              <a:off x="5105400" y="47625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38" name="Oval 22"/>
            <p:cNvSpPr>
              <a:spLocks noChangeArrowheads="1"/>
            </p:cNvSpPr>
            <p:nvPr/>
          </p:nvSpPr>
          <p:spPr bwMode="auto">
            <a:xfrm>
              <a:off x="6400800" y="36957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39" name="Oval 23"/>
            <p:cNvSpPr>
              <a:spLocks noChangeArrowheads="1"/>
            </p:cNvSpPr>
            <p:nvPr/>
          </p:nvSpPr>
          <p:spPr bwMode="auto">
            <a:xfrm>
              <a:off x="6400800" y="47625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0" name="Line 24"/>
            <p:cNvSpPr>
              <a:spLocks noChangeShapeType="1"/>
            </p:cNvSpPr>
            <p:nvPr/>
          </p:nvSpPr>
          <p:spPr bwMode="auto">
            <a:xfrm flipV="1">
              <a:off x="5334000" y="4152900"/>
              <a:ext cx="1588"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41" name="Line 25"/>
            <p:cNvSpPr>
              <a:spLocks noChangeShapeType="1"/>
            </p:cNvSpPr>
            <p:nvPr/>
          </p:nvSpPr>
          <p:spPr bwMode="auto">
            <a:xfrm>
              <a:off x="5562600" y="3924300"/>
              <a:ext cx="83820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42" name="Line 26"/>
            <p:cNvSpPr>
              <a:spLocks noChangeShapeType="1"/>
            </p:cNvSpPr>
            <p:nvPr/>
          </p:nvSpPr>
          <p:spPr bwMode="auto">
            <a:xfrm flipH="1">
              <a:off x="5562600" y="40767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43" name="Freeform 27"/>
            <p:cNvSpPr>
              <a:spLocks/>
            </p:cNvSpPr>
            <p:nvPr/>
          </p:nvSpPr>
          <p:spPr bwMode="auto">
            <a:xfrm>
              <a:off x="6388100" y="3365500"/>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4" name="Freeform 28"/>
            <p:cNvSpPr>
              <a:spLocks/>
            </p:cNvSpPr>
            <p:nvPr/>
          </p:nvSpPr>
          <p:spPr bwMode="auto">
            <a:xfrm>
              <a:off x="5562600" y="47498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5" name="Freeform 29"/>
            <p:cNvSpPr>
              <a:spLocks/>
            </p:cNvSpPr>
            <p:nvPr/>
          </p:nvSpPr>
          <p:spPr bwMode="auto">
            <a:xfrm>
              <a:off x="5562600" y="51435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6" name="Text Box 30"/>
            <p:cNvSpPr txBox="1">
              <a:spLocks noChangeArrowheads="1"/>
            </p:cNvSpPr>
            <p:nvPr/>
          </p:nvSpPr>
          <p:spPr bwMode="auto">
            <a:xfrm>
              <a:off x="5189538" y="36957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9247" name="Text Box 31"/>
            <p:cNvSpPr txBox="1">
              <a:spLocks noChangeArrowheads="1"/>
            </p:cNvSpPr>
            <p:nvPr/>
          </p:nvSpPr>
          <p:spPr bwMode="auto">
            <a:xfrm>
              <a:off x="6496050" y="37719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9248" name="Text Box 32"/>
            <p:cNvSpPr txBox="1">
              <a:spLocks noChangeArrowheads="1"/>
            </p:cNvSpPr>
            <p:nvPr/>
          </p:nvSpPr>
          <p:spPr bwMode="auto">
            <a:xfrm>
              <a:off x="5189538" y="47625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9249" name="Text Box 33"/>
            <p:cNvSpPr txBox="1">
              <a:spLocks noChangeArrowheads="1"/>
            </p:cNvSpPr>
            <p:nvPr/>
          </p:nvSpPr>
          <p:spPr bwMode="auto">
            <a:xfrm>
              <a:off x="6477000" y="48387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9250" name="Text Box 34"/>
            <p:cNvSpPr txBox="1">
              <a:spLocks noChangeArrowheads="1"/>
            </p:cNvSpPr>
            <p:nvPr/>
          </p:nvSpPr>
          <p:spPr bwMode="auto">
            <a:xfrm>
              <a:off x="4800600" y="5660886"/>
              <a:ext cx="32784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a:solidFill>
                    <a:schemeClr val="tx1"/>
                  </a:solidFill>
                  <a:latin typeface="+mj-lt"/>
                </a:rPr>
                <a:t>节点</a:t>
              </a:r>
              <a:r>
                <a:rPr lang="en-US" sz="2000" dirty="0">
                  <a:solidFill>
                    <a:schemeClr val="tx1"/>
                  </a:solidFill>
                  <a:latin typeface="+mj-lt"/>
                </a:rPr>
                <a:t>2</a:t>
              </a:r>
              <a:r>
                <a:rPr lang="zh-CN" altLang="en-US" sz="2000" dirty="0">
                  <a:solidFill>
                    <a:schemeClr val="tx1"/>
                  </a:solidFill>
                  <a:latin typeface="+mj-lt"/>
                </a:rPr>
                <a:t>的入度为</a:t>
              </a:r>
              <a:r>
                <a:rPr lang="en-US" sz="2000" dirty="0">
                  <a:solidFill>
                    <a:schemeClr val="tx1"/>
                  </a:solidFill>
                  <a:latin typeface="+mj-lt"/>
                </a:rPr>
                <a:t>2 </a:t>
              </a:r>
              <a:r>
                <a:rPr lang="zh-CN" altLang="en-US" sz="2000" dirty="0">
                  <a:solidFill>
                    <a:schemeClr val="tx1"/>
                  </a:solidFill>
                  <a:latin typeface="+mj-lt"/>
                </a:rPr>
                <a:t>，出度为</a:t>
              </a:r>
              <a:r>
                <a:rPr lang="en-US" sz="2000" dirty="0">
                  <a:solidFill>
                    <a:schemeClr val="tx1"/>
                  </a:solidFill>
                  <a:latin typeface="+mj-lt"/>
                </a:rPr>
                <a:t>3</a:t>
              </a:r>
            </a:p>
          </p:txBody>
        </p:sp>
        <p:sp>
          <p:nvSpPr>
            <p:cNvPr id="9251" name="Line 35"/>
            <p:cNvSpPr>
              <a:spLocks noChangeShapeType="1"/>
            </p:cNvSpPr>
            <p:nvPr/>
          </p:nvSpPr>
          <p:spPr bwMode="auto">
            <a:xfrm>
              <a:off x="6629400" y="4127500"/>
              <a:ext cx="1588"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52" name="Rectangle 36"/>
            <p:cNvSpPr>
              <a:spLocks noChangeArrowheads="1"/>
            </p:cNvSpPr>
            <p:nvPr/>
          </p:nvSpPr>
          <p:spPr bwMode="auto">
            <a:xfrm>
              <a:off x="990600" y="3460805"/>
              <a:ext cx="3048000" cy="1981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53" name="Rectangle 37"/>
            <p:cNvSpPr>
              <a:spLocks noChangeArrowheads="1"/>
            </p:cNvSpPr>
            <p:nvPr/>
          </p:nvSpPr>
          <p:spPr bwMode="auto">
            <a:xfrm>
              <a:off x="4953000" y="3200400"/>
              <a:ext cx="2381250" cy="2362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54" name="Line 38"/>
            <p:cNvSpPr>
              <a:spLocks noChangeShapeType="1"/>
            </p:cNvSpPr>
            <p:nvPr/>
          </p:nvSpPr>
          <p:spPr bwMode="auto">
            <a:xfrm flipH="1">
              <a:off x="7010400" y="3582988"/>
              <a:ext cx="7810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55" name="Text Box 39"/>
            <p:cNvSpPr txBox="1">
              <a:spLocks noChangeArrowheads="1"/>
            </p:cNvSpPr>
            <p:nvPr/>
          </p:nvSpPr>
          <p:spPr bwMode="auto">
            <a:xfrm>
              <a:off x="7524750" y="36794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a:solidFill>
                    <a:schemeClr val="tx1"/>
                  </a:solidFill>
                  <a:latin typeface="+mj-lt"/>
                </a:rPr>
                <a:t>自环</a:t>
              </a:r>
              <a:endParaRPr lang="en-US" sz="2000" dirty="0">
                <a:solidFill>
                  <a:schemeClr val="tx1"/>
                </a:solidFill>
                <a:latin typeface="+mj-lt"/>
              </a:endParaRPr>
            </a:p>
          </p:txBody>
        </p:sp>
      </p:grpSp>
      <p:sp>
        <p:nvSpPr>
          <p:cNvPr id="41" name="Rectangle 2"/>
          <p:cNvSpPr txBox="1">
            <a:spLocks noChangeArrowheads="1"/>
          </p:cNvSpPr>
          <p:nvPr/>
        </p:nvSpPr>
        <p:spPr bwMode="auto">
          <a:xfrm>
            <a:off x="457200" y="3810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a:solidFill>
                  <a:srgbClr val="0000CC"/>
                </a:solidFill>
              </a:rPr>
              <a:t>节点的度、出度、入度</a:t>
            </a:r>
            <a:endParaRPr lang="en-US" sz="3600" b="1" dirty="0">
              <a:solidFill>
                <a:srgbClr val="0000CC"/>
              </a:solidFill>
            </a:endParaRPr>
          </a:p>
        </p:txBody>
      </p:sp>
      <p:sp>
        <p:nvSpPr>
          <p:cNvPr id="43" name="Rectangle 2"/>
          <p:cNvSpPr txBox="1">
            <a:spLocks noChangeArrowheads="1"/>
          </p:cNvSpPr>
          <p:nvPr/>
        </p:nvSpPr>
        <p:spPr bwMode="auto">
          <a:xfrm>
            <a:off x="533400" y="2152705"/>
            <a:ext cx="8305800" cy="1123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marL="342900" indent="-342900" algn="l">
              <a:buFont typeface="Wingdings" pitchFamily="2" charset="2"/>
              <a:buChar char="§"/>
            </a:pPr>
            <a:r>
              <a:rPr lang="zh-CN" altLang="en-US" sz="2400" b="1" kern="0" dirty="0"/>
              <a:t>在一个有向图中</a:t>
            </a:r>
            <a:r>
              <a:rPr lang="en-US" sz="2400" b="1" kern="0" dirty="0"/>
              <a:t>, </a:t>
            </a:r>
            <a:r>
              <a:rPr lang="zh-CN" altLang="en-US" sz="2400" b="1" kern="0" dirty="0"/>
              <a:t>节点的</a:t>
            </a:r>
            <a:r>
              <a:rPr lang="zh-CN" altLang="en-US" sz="2400" b="1" i="1" kern="0" dirty="0">
                <a:solidFill>
                  <a:srgbClr val="FF0000"/>
                </a:solidFill>
              </a:rPr>
              <a:t>出度</a:t>
            </a:r>
            <a:r>
              <a:rPr lang="zh-CN" altLang="en-US" sz="2400" b="1" kern="0" dirty="0"/>
              <a:t>指的是该节点连出去的边的条数，节点的</a:t>
            </a:r>
            <a:r>
              <a:rPr lang="zh-CN" altLang="en-US" sz="2400" b="1" i="1" kern="0" dirty="0">
                <a:solidFill>
                  <a:srgbClr val="FF0000"/>
                </a:solidFill>
              </a:rPr>
              <a:t>入度</a:t>
            </a:r>
            <a:r>
              <a:rPr lang="zh-CN" altLang="en-US" sz="2400" b="1" kern="0" dirty="0"/>
              <a:t>指的是连向该节点的边的条数。</a:t>
            </a:r>
            <a:endParaRPr lang="en-US" sz="2400" b="1" kern="0" dirty="0"/>
          </a:p>
        </p:txBody>
      </p:sp>
    </p:spTree>
    <p:extLst>
      <p:ext uri="{BB962C8B-B14F-4D97-AF65-F5344CB8AC3E}">
        <p14:creationId xmlns:p14="http://schemas.microsoft.com/office/powerpoint/2010/main" val="99052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27075" y="304800"/>
            <a:ext cx="7772400" cy="914400"/>
          </a:xfrm>
        </p:spPr>
        <p:txBody>
          <a:bodyPr/>
          <a:lstStyle/>
          <a:p>
            <a:r>
              <a:rPr lang="zh-CN" altLang="en-US" sz="3600" b="1" kern="1200" dirty="0">
                <a:solidFill>
                  <a:srgbClr val="0000CC"/>
                </a:solidFill>
              </a:rPr>
              <a:t>简单图</a:t>
            </a:r>
            <a:endParaRPr lang="en-US" sz="3600" b="1" kern="1200" dirty="0">
              <a:solidFill>
                <a:srgbClr val="0000CC"/>
              </a:solidFill>
            </a:endParaRPr>
          </a:p>
        </p:txBody>
      </p:sp>
      <p:sp>
        <p:nvSpPr>
          <p:cNvPr id="10243" name="Rectangle 3"/>
          <p:cNvSpPr>
            <a:spLocks noGrp="1" noChangeArrowheads="1"/>
          </p:cNvSpPr>
          <p:nvPr>
            <p:ph type="body" idx="1"/>
          </p:nvPr>
        </p:nvSpPr>
        <p:spPr>
          <a:xfrm>
            <a:off x="685800" y="1447800"/>
            <a:ext cx="7772400" cy="4572000"/>
          </a:xfrm>
        </p:spPr>
        <p:txBody>
          <a:bodyPr/>
          <a:lstStyle/>
          <a:p>
            <a:r>
              <a:rPr lang="zh-CN" altLang="en-US" sz="2400" b="1" i="1" dirty="0">
                <a:solidFill>
                  <a:srgbClr val="C00000"/>
                </a:solidFill>
              </a:rPr>
              <a:t>简单图</a:t>
            </a:r>
            <a:r>
              <a:rPr lang="zh-CN" altLang="en-US" sz="2400" b="1" dirty="0"/>
              <a:t>是指没有多重边（两个节点之间有多条边）且没有自环的图</a:t>
            </a:r>
            <a:endParaRPr lang="en-US" sz="2400" b="1" dirty="0"/>
          </a:p>
          <a:p>
            <a:pPr lvl="1"/>
            <a:r>
              <a:rPr lang="zh-CN" altLang="en-US" sz="2200" b="1" dirty="0"/>
              <a:t>在本门课中，我们只考虑简单图</a:t>
            </a:r>
            <a:r>
              <a:rPr lang="en-US" sz="2200" b="1" dirty="0"/>
              <a:t>.</a:t>
            </a:r>
            <a:br>
              <a:rPr lang="en-US" sz="2000" b="1" dirty="0"/>
            </a:br>
            <a:endParaRPr lang="en-US" sz="2000" b="1" dirty="0"/>
          </a:p>
          <a:p>
            <a:pPr>
              <a:lnSpc>
                <a:spcPct val="90000"/>
              </a:lnSpc>
              <a:buFont typeface="Monotype Sorts" pitchFamily="2" charset="2"/>
              <a:buNone/>
            </a:pPr>
            <a:r>
              <a:rPr lang="zh-CN" altLang="en-US" sz="2400" b="1" dirty="0">
                <a:solidFill>
                  <a:srgbClr val="C00000"/>
                </a:solidFill>
              </a:rPr>
              <a:t>命题</a:t>
            </a:r>
            <a:r>
              <a:rPr lang="en-US" sz="2400" b="1" dirty="0"/>
              <a:t>:  </a:t>
            </a:r>
            <a:r>
              <a:rPr lang="zh-CN" altLang="en-US" sz="2400" b="1" dirty="0"/>
              <a:t>如果</a:t>
            </a:r>
            <a:r>
              <a:rPr lang="en-US" sz="2400" b="1" i="1" dirty="0"/>
              <a:t>G </a:t>
            </a:r>
            <a:r>
              <a:rPr lang="en-US" sz="2400" b="1" dirty="0"/>
              <a:t> </a:t>
            </a:r>
            <a:r>
              <a:rPr lang="zh-CN" altLang="en-US" sz="2400" b="1" dirty="0"/>
              <a:t>是一个无向图，则</a:t>
            </a:r>
            <a:br>
              <a:rPr lang="en-US" sz="2400" b="1" dirty="0"/>
            </a:br>
            <a:r>
              <a:rPr lang="en-US" sz="2400" b="1" dirty="0"/>
              <a:t>			</a:t>
            </a:r>
          </a:p>
          <a:p>
            <a:pPr>
              <a:lnSpc>
                <a:spcPct val="90000"/>
              </a:lnSpc>
              <a:buFont typeface="Monotype Sorts" pitchFamily="2" charset="2"/>
              <a:buNone/>
            </a:pPr>
            <a:endParaRPr lang="en-US" sz="2400" b="1" dirty="0"/>
          </a:p>
          <a:p>
            <a:pPr>
              <a:spcBef>
                <a:spcPts val="1800"/>
              </a:spcBef>
              <a:buFont typeface="Monotype Sorts" pitchFamily="2" charset="2"/>
              <a:buNone/>
            </a:pPr>
            <a:r>
              <a:rPr lang="zh-CN" altLang="en-US" sz="2400" b="1" dirty="0">
                <a:solidFill>
                  <a:srgbClr val="C00000"/>
                </a:solidFill>
              </a:rPr>
              <a:t>命题</a:t>
            </a:r>
            <a:r>
              <a:rPr lang="en-US" sz="2400" b="1" dirty="0"/>
              <a:t>:</a:t>
            </a:r>
            <a:r>
              <a:rPr lang="zh-CN" altLang="en-US" sz="2400" b="1" dirty="0"/>
              <a:t>如果</a:t>
            </a:r>
            <a:r>
              <a:rPr lang="en-US" altLang="zh-CN" sz="2400" b="1" i="1" dirty="0"/>
              <a:t>G </a:t>
            </a:r>
            <a:r>
              <a:rPr lang="en-US" altLang="zh-CN" sz="2400" b="1" dirty="0"/>
              <a:t> </a:t>
            </a:r>
            <a:r>
              <a:rPr lang="zh-CN" altLang="en-US" sz="2400" b="1" dirty="0"/>
              <a:t>是一个有向图，则</a:t>
            </a:r>
            <a:br>
              <a:rPr lang="en-US" altLang="zh-CN" sz="2400" b="1" dirty="0"/>
            </a:br>
            <a:br>
              <a:rPr lang="en-US" sz="2400" b="1" dirty="0"/>
            </a:br>
            <a:r>
              <a:rPr lang="en-US" sz="2400" b="1" dirty="0"/>
              <a:t>	</a:t>
            </a:r>
          </a:p>
        </p:txBody>
      </p:sp>
      <p:graphicFrame>
        <p:nvGraphicFramePr>
          <p:cNvPr id="2" name="Object 1"/>
          <p:cNvGraphicFramePr>
            <a:graphicFrameLocks noChangeAspect="1"/>
          </p:cNvGraphicFramePr>
          <p:nvPr>
            <p:extLst>
              <p:ext uri="{D42A27DB-BD31-4B8C-83A1-F6EECF244321}">
                <p14:modId xmlns:p14="http://schemas.microsoft.com/office/powerpoint/2010/main" val="2952256991"/>
              </p:ext>
            </p:extLst>
          </p:nvPr>
        </p:nvGraphicFramePr>
        <p:xfrm>
          <a:off x="3148013" y="3429000"/>
          <a:ext cx="2859087" cy="763587"/>
        </p:xfrm>
        <a:graphic>
          <a:graphicData uri="http://schemas.openxmlformats.org/presentationml/2006/ole">
            <mc:AlternateContent xmlns:mc="http://schemas.openxmlformats.org/markup-compatibility/2006">
              <mc:Choice xmlns:v="urn:schemas-microsoft-com:vml" Requires="v">
                <p:oleObj name="Equation" r:id="rId3" imgW="1282700" imgH="342900" progId="">
                  <p:embed/>
                </p:oleObj>
              </mc:Choice>
              <mc:Fallback>
                <p:oleObj name="Equation" r:id="rId3" imgW="1282700" imgH="342900" progId="">
                  <p:embed/>
                  <p:pic>
                    <p:nvPicPr>
                      <p:cNvPr id="0" name="Picture 4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8013" y="3429000"/>
                        <a:ext cx="2859087"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870366720"/>
              </p:ext>
            </p:extLst>
          </p:nvPr>
        </p:nvGraphicFramePr>
        <p:xfrm>
          <a:off x="2076450" y="4953000"/>
          <a:ext cx="5376863" cy="763587"/>
        </p:xfrm>
        <a:graphic>
          <a:graphicData uri="http://schemas.openxmlformats.org/presentationml/2006/ole">
            <mc:AlternateContent xmlns:mc="http://schemas.openxmlformats.org/markup-compatibility/2006">
              <mc:Choice xmlns:v="urn:schemas-microsoft-com:vml" Requires="v">
                <p:oleObj name="Equation" r:id="rId5" imgW="2413000" imgH="342900" progId="">
                  <p:embed/>
                </p:oleObj>
              </mc:Choice>
              <mc:Fallback>
                <p:oleObj name="Equation" r:id="rId5" imgW="2413000" imgH="342900" progId="">
                  <p:embed/>
                  <p:pic>
                    <p:nvPicPr>
                      <p:cNvPr id="0" name="Picture 49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6450" y="4953000"/>
                        <a:ext cx="5376863"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2819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228600" y="1371600"/>
            <a:ext cx="8686801" cy="838200"/>
          </a:xfrm>
        </p:spPr>
        <p:txBody>
          <a:bodyPr/>
          <a:lstStyle/>
          <a:p>
            <a:pPr marL="320040" indent="-320040" algn="l">
              <a:buFont typeface="Wingdings" pitchFamily="2" charset="2"/>
              <a:buChar char="§"/>
            </a:pPr>
            <a:r>
              <a:rPr lang="zh-CN" altLang="en-US" sz="2400" b="1" i="1" dirty="0">
                <a:solidFill>
                  <a:srgbClr val="FF0000"/>
                </a:solidFill>
              </a:rPr>
              <a:t>加权图</a:t>
            </a:r>
            <a:r>
              <a:rPr lang="zh-CN" altLang="en-US" sz="2400" b="1" dirty="0"/>
              <a:t>指的是每天边都有一个权值的图，通常有一个边</a:t>
            </a:r>
            <a:r>
              <a:rPr lang="zh-CN" altLang="en-US" sz="2400" b="1" i="1" dirty="0">
                <a:solidFill>
                  <a:srgbClr val="FF0000"/>
                </a:solidFill>
              </a:rPr>
              <a:t>加权函数</a:t>
            </a:r>
            <a:r>
              <a:rPr lang="en-US" sz="2400" b="1" dirty="0"/>
              <a:t> </a:t>
            </a:r>
            <a:r>
              <a:rPr lang="en-US" sz="2400" b="1" i="1" dirty="0"/>
              <a:t>w: E</a:t>
            </a:r>
            <a:r>
              <a:rPr lang="en-US" sz="2400" b="1" dirty="0"/>
              <a:t> </a:t>
            </a:r>
            <a:r>
              <a:rPr lang="en-US" sz="2400" b="1" dirty="0">
                <a:sym typeface="Symbol" pitchFamily="18" charset="2"/>
              </a:rPr>
              <a:t> </a:t>
            </a:r>
            <a:r>
              <a:rPr lang="en-US" sz="2400" b="1" i="1" dirty="0">
                <a:effectLst>
                  <a:outerShdw blurRad="38100" dist="38100" dir="2700000" algn="tl">
                    <a:srgbClr val="000000">
                      <a:alpha val="43137"/>
                    </a:srgbClr>
                  </a:outerShdw>
                </a:effectLst>
                <a:sym typeface="Symbol" pitchFamily="18" charset="2"/>
              </a:rPr>
              <a:t>R</a:t>
            </a:r>
            <a:endParaRPr lang="en-US" sz="2400" b="1" dirty="0"/>
          </a:p>
        </p:txBody>
      </p:sp>
      <p:grpSp>
        <p:nvGrpSpPr>
          <p:cNvPr id="51" name="Group 50"/>
          <p:cNvGrpSpPr/>
          <p:nvPr/>
        </p:nvGrpSpPr>
        <p:grpSpPr>
          <a:xfrm>
            <a:off x="880475" y="2309813"/>
            <a:ext cx="6965950" cy="2414587"/>
            <a:chOff x="381000" y="3657600"/>
            <a:chExt cx="8229600" cy="2667000"/>
          </a:xfrm>
        </p:grpSpPr>
        <p:sp>
          <p:nvSpPr>
            <p:cNvPr id="11267" name="Oval 3"/>
            <p:cNvSpPr>
              <a:spLocks noChangeArrowheads="1"/>
            </p:cNvSpPr>
            <p:nvPr/>
          </p:nvSpPr>
          <p:spPr bwMode="auto">
            <a:xfrm>
              <a:off x="9906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68" name="Oval 4"/>
            <p:cNvSpPr>
              <a:spLocks noChangeArrowheads="1"/>
            </p:cNvSpPr>
            <p:nvPr/>
          </p:nvSpPr>
          <p:spPr bwMode="auto">
            <a:xfrm>
              <a:off x="9906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69" name="Oval 5"/>
            <p:cNvSpPr>
              <a:spLocks noChangeArrowheads="1"/>
            </p:cNvSpPr>
            <p:nvPr/>
          </p:nvSpPr>
          <p:spPr bwMode="auto">
            <a:xfrm>
              <a:off x="22860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0" name="Oval 6"/>
            <p:cNvSpPr>
              <a:spLocks noChangeArrowheads="1"/>
            </p:cNvSpPr>
            <p:nvPr/>
          </p:nvSpPr>
          <p:spPr bwMode="auto">
            <a:xfrm>
              <a:off x="22860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1" name="Oval 7"/>
            <p:cNvSpPr>
              <a:spLocks noChangeArrowheads="1"/>
            </p:cNvSpPr>
            <p:nvPr/>
          </p:nvSpPr>
          <p:spPr bwMode="auto">
            <a:xfrm>
              <a:off x="32766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2" name="Oval 8"/>
            <p:cNvSpPr>
              <a:spLocks noChangeArrowheads="1"/>
            </p:cNvSpPr>
            <p:nvPr/>
          </p:nvSpPr>
          <p:spPr bwMode="auto">
            <a:xfrm>
              <a:off x="32766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3" name="Line 9"/>
            <p:cNvSpPr>
              <a:spLocks noChangeShapeType="1"/>
            </p:cNvSpPr>
            <p:nvPr/>
          </p:nvSpPr>
          <p:spPr bwMode="auto">
            <a:xfrm flipV="1">
              <a:off x="1219200" y="4521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4" name="Line 10"/>
            <p:cNvSpPr>
              <a:spLocks noChangeShapeType="1"/>
            </p:cNvSpPr>
            <p:nvPr/>
          </p:nvSpPr>
          <p:spPr bwMode="auto">
            <a:xfrm>
              <a:off x="1447800" y="42926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5" name="Line 11"/>
            <p:cNvSpPr>
              <a:spLocks noChangeShapeType="1"/>
            </p:cNvSpPr>
            <p:nvPr/>
          </p:nvSpPr>
          <p:spPr bwMode="auto">
            <a:xfrm flipH="1">
              <a:off x="1447800" y="44450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6" name="Freeform 12"/>
            <p:cNvSpPr>
              <a:spLocks/>
            </p:cNvSpPr>
            <p:nvPr/>
          </p:nvSpPr>
          <p:spPr bwMode="auto">
            <a:xfrm>
              <a:off x="1447800" y="51181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7" name="Freeform 13"/>
            <p:cNvSpPr>
              <a:spLocks/>
            </p:cNvSpPr>
            <p:nvPr/>
          </p:nvSpPr>
          <p:spPr bwMode="auto">
            <a:xfrm>
              <a:off x="1447800" y="55118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8" name="Line 14"/>
            <p:cNvSpPr>
              <a:spLocks noChangeShapeType="1"/>
            </p:cNvSpPr>
            <p:nvPr/>
          </p:nvSpPr>
          <p:spPr bwMode="auto">
            <a:xfrm flipV="1">
              <a:off x="3505200" y="4521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9" name="Text Box 15"/>
            <p:cNvSpPr txBox="1">
              <a:spLocks noChangeArrowheads="1"/>
            </p:cNvSpPr>
            <p:nvPr/>
          </p:nvSpPr>
          <p:spPr bwMode="auto">
            <a:xfrm>
              <a:off x="1074738" y="40640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11280" name="Text Box 16"/>
            <p:cNvSpPr txBox="1">
              <a:spLocks noChangeArrowheads="1"/>
            </p:cNvSpPr>
            <p:nvPr/>
          </p:nvSpPr>
          <p:spPr bwMode="auto">
            <a:xfrm>
              <a:off x="2381250" y="41402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11281" name="Text Box 17"/>
            <p:cNvSpPr txBox="1">
              <a:spLocks noChangeArrowheads="1"/>
            </p:cNvSpPr>
            <p:nvPr/>
          </p:nvSpPr>
          <p:spPr bwMode="auto">
            <a:xfrm>
              <a:off x="3352800" y="41084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11282" name="Text Box 18"/>
            <p:cNvSpPr txBox="1">
              <a:spLocks noChangeArrowheads="1"/>
            </p:cNvSpPr>
            <p:nvPr/>
          </p:nvSpPr>
          <p:spPr bwMode="auto">
            <a:xfrm>
              <a:off x="1074738" y="51308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11283" name="Text Box 19"/>
            <p:cNvSpPr txBox="1">
              <a:spLocks noChangeArrowheads="1"/>
            </p:cNvSpPr>
            <p:nvPr/>
          </p:nvSpPr>
          <p:spPr bwMode="auto">
            <a:xfrm>
              <a:off x="2362200" y="52070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11284" name="Text Box 20"/>
            <p:cNvSpPr txBox="1">
              <a:spLocks noChangeArrowheads="1"/>
            </p:cNvSpPr>
            <p:nvPr/>
          </p:nvSpPr>
          <p:spPr bwMode="auto">
            <a:xfrm>
              <a:off x="3352800" y="52070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11285" name="Text Box 21"/>
            <p:cNvSpPr txBox="1">
              <a:spLocks noChangeArrowheads="1"/>
            </p:cNvSpPr>
            <p:nvPr/>
          </p:nvSpPr>
          <p:spPr bwMode="auto">
            <a:xfrm>
              <a:off x="822325" y="46926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.5</a:t>
              </a:r>
              <a:endParaRPr lang="en-US" sz="2400">
                <a:solidFill>
                  <a:schemeClr val="tx1"/>
                </a:solidFill>
                <a:latin typeface="Times New Roman" pitchFamily="18" charset="0"/>
              </a:endParaRPr>
            </a:p>
          </p:txBody>
        </p:sp>
        <p:sp>
          <p:nvSpPr>
            <p:cNvPr id="11286" name="Text Box 22"/>
            <p:cNvSpPr txBox="1">
              <a:spLocks noChangeArrowheads="1"/>
            </p:cNvSpPr>
            <p:nvPr/>
          </p:nvSpPr>
          <p:spPr bwMode="auto">
            <a:xfrm>
              <a:off x="1644650" y="3910013"/>
              <a:ext cx="522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1.2</a:t>
              </a:r>
              <a:endParaRPr lang="en-US" sz="2400">
                <a:solidFill>
                  <a:schemeClr val="tx1"/>
                </a:solidFill>
                <a:latin typeface="Times New Roman" pitchFamily="18" charset="0"/>
              </a:endParaRPr>
            </a:p>
          </p:txBody>
        </p:sp>
        <p:sp>
          <p:nvSpPr>
            <p:cNvPr id="11287" name="Text Box 23"/>
            <p:cNvSpPr txBox="1">
              <a:spLocks noChangeArrowheads="1"/>
            </p:cNvSpPr>
            <p:nvPr/>
          </p:nvSpPr>
          <p:spPr bwMode="auto">
            <a:xfrm>
              <a:off x="1644650" y="44958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.2</a:t>
              </a:r>
              <a:endParaRPr lang="en-US" sz="2400">
                <a:solidFill>
                  <a:schemeClr val="tx1"/>
                </a:solidFill>
                <a:latin typeface="Times New Roman" pitchFamily="18" charset="0"/>
              </a:endParaRPr>
            </a:p>
          </p:txBody>
        </p:sp>
        <p:sp>
          <p:nvSpPr>
            <p:cNvPr id="11288" name="Text Box 24"/>
            <p:cNvSpPr txBox="1">
              <a:spLocks noChangeArrowheads="1"/>
            </p:cNvSpPr>
            <p:nvPr/>
          </p:nvSpPr>
          <p:spPr bwMode="auto">
            <a:xfrm>
              <a:off x="1676400" y="588168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.5</a:t>
              </a:r>
              <a:endParaRPr lang="en-US" sz="2400">
                <a:solidFill>
                  <a:schemeClr val="tx1"/>
                </a:solidFill>
                <a:latin typeface="Times New Roman" pitchFamily="18" charset="0"/>
              </a:endParaRPr>
            </a:p>
          </p:txBody>
        </p:sp>
        <p:sp>
          <p:nvSpPr>
            <p:cNvPr id="11289" name="Text Box 25"/>
            <p:cNvSpPr txBox="1">
              <a:spLocks noChangeArrowheads="1"/>
            </p:cNvSpPr>
            <p:nvPr/>
          </p:nvSpPr>
          <p:spPr bwMode="auto">
            <a:xfrm>
              <a:off x="3505200" y="4648200"/>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1.5</a:t>
              </a:r>
              <a:endParaRPr lang="en-US" sz="2400">
                <a:solidFill>
                  <a:schemeClr val="tx1"/>
                </a:solidFill>
                <a:latin typeface="Times New Roman" pitchFamily="18" charset="0"/>
              </a:endParaRPr>
            </a:p>
          </p:txBody>
        </p:sp>
        <p:sp>
          <p:nvSpPr>
            <p:cNvPr id="11290" name="Text Box 26"/>
            <p:cNvSpPr txBox="1">
              <a:spLocks noChangeArrowheads="1"/>
            </p:cNvSpPr>
            <p:nvPr/>
          </p:nvSpPr>
          <p:spPr bwMode="auto">
            <a:xfrm>
              <a:off x="1720850" y="48006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.3</a:t>
              </a:r>
              <a:endParaRPr lang="en-US" sz="2400">
                <a:solidFill>
                  <a:schemeClr val="tx1"/>
                </a:solidFill>
                <a:latin typeface="Times New Roman" pitchFamily="18" charset="0"/>
              </a:endParaRPr>
            </a:p>
          </p:txBody>
        </p:sp>
        <p:sp>
          <p:nvSpPr>
            <p:cNvPr id="11291" name="Oval 27"/>
            <p:cNvSpPr>
              <a:spLocks noChangeArrowheads="1"/>
            </p:cNvSpPr>
            <p:nvPr/>
          </p:nvSpPr>
          <p:spPr bwMode="auto">
            <a:xfrm>
              <a:off x="50292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2" name="Oval 28"/>
            <p:cNvSpPr>
              <a:spLocks noChangeArrowheads="1"/>
            </p:cNvSpPr>
            <p:nvPr/>
          </p:nvSpPr>
          <p:spPr bwMode="auto">
            <a:xfrm>
              <a:off x="50292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3" name="Oval 29"/>
            <p:cNvSpPr>
              <a:spLocks noChangeArrowheads="1"/>
            </p:cNvSpPr>
            <p:nvPr/>
          </p:nvSpPr>
          <p:spPr bwMode="auto">
            <a:xfrm>
              <a:off x="63246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4" name="Oval 30"/>
            <p:cNvSpPr>
              <a:spLocks noChangeArrowheads="1"/>
            </p:cNvSpPr>
            <p:nvPr/>
          </p:nvSpPr>
          <p:spPr bwMode="auto">
            <a:xfrm>
              <a:off x="63246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5" name="Oval 31"/>
            <p:cNvSpPr>
              <a:spLocks noChangeArrowheads="1"/>
            </p:cNvSpPr>
            <p:nvPr/>
          </p:nvSpPr>
          <p:spPr bwMode="auto">
            <a:xfrm>
              <a:off x="73152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6" name="Oval 32"/>
            <p:cNvSpPr>
              <a:spLocks noChangeArrowheads="1"/>
            </p:cNvSpPr>
            <p:nvPr/>
          </p:nvSpPr>
          <p:spPr bwMode="auto">
            <a:xfrm>
              <a:off x="73152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7" name="Text Box 33"/>
            <p:cNvSpPr txBox="1">
              <a:spLocks noChangeArrowheads="1"/>
            </p:cNvSpPr>
            <p:nvPr/>
          </p:nvSpPr>
          <p:spPr bwMode="auto">
            <a:xfrm>
              <a:off x="5113338" y="41148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endParaRPr lang="en-US" sz="1600">
                <a:solidFill>
                  <a:schemeClr val="tx1"/>
                </a:solidFill>
                <a:latin typeface="Times New Roman" pitchFamily="18" charset="0"/>
              </a:endParaRPr>
            </a:p>
          </p:txBody>
        </p:sp>
        <p:sp>
          <p:nvSpPr>
            <p:cNvPr id="11298" name="Text Box 34"/>
            <p:cNvSpPr txBox="1">
              <a:spLocks noChangeArrowheads="1"/>
            </p:cNvSpPr>
            <p:nvPr/>
          </p:nvSpPr>
          <p:spPr bwMode="auto">
            <a:xfrm>
              <a:off x="5105400" y="53022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11299" name="Text Box 35"/>
            <p:cNvSpPr txBox="1">
              <a:spLocks noChangeArrowheads="1"/>
            </p:cNvSpPr>
            <p:nvPr/>
          </p:nvSpPr>
          <p:spPr bwMode="auto">
            <a:xfrm>
              <a:off x="6400800" y="53340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11300" name="Text Box 36"/>
            <p:cNvSpPr txBox="1">
              <a:spLocks noChangeArrowheads="1"/>
            </p:cNvSpPr>
            <p:nvPr/>
          </p:nvSpPr>
          <p:spPr bwMode="auto">
            <a:xfrm>
              <a:off x="7399338" y="53340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11301" name="Text Box 37"/>
            <p:cNvSpPr txBox="1">
              <a:spLocks noChangeArrowheads="1"/>
            </p:cNvSpPr>
            <p:nvPr/>
          </p:nvSpPr>
          <p:spPr bwMode="auto">
            <a:xfrm>
              <a:off x="6419850" y="41148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11302" name="Text Box 38"/>
            <p:cNvSpPr txBox="1">
              <a:spLocks noChangeArrowheads="1"/>
            </p:cNvSpPr>
            <p:nvPr/>
          </p:nvSpPr>
          <p:spPr bwMode="auto">
            <a:xfrm>
              <a:off x="7391400" y="41148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11303" name="Line 39"/>
            <p:cNvSpPr>
              <a:spLocks noChangeShapeType="1"/>
            </p:cNvSpPr>
            <p:nvPr/>
          </p:nvSpPr>
          <p:spPr bwMode="auto">
            <a:xfrm>
              <a:off x="5410200" y="4419600"/>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4" name="Line 40"/>
            <p:cNvSpPr>
              <a:spLocks noChangeShapeType="1"/>
            </p:cNvSpPr>
            <p:nvPr/>
          </p:nvSpPr>
          <p:spPr bwMode="auto">
            <a:xfrm>
              <a:off x="5486400" y="42672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5" name="Line 41"/>
            <p:cNvSpPr>
              <a:spLocks noChangeShapeType="1"/>
            </p:cNvSpPr>
            <p:nvPr/>
          </p:nvSpPr>
          <p:spPr bwMode="auto">
            <a:xfrm flipV="1">
              <a:off x="6553200" y="44958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6" name="Line 42"/>
            <p:cNvSpPr>
              <a:spLocks noChangeShapeType="1"/>
            </p:cNvSpPr>
            <p:nvPr/>
          </p:nvSpPr>
          <p:spPr bwMode="auto">
            <a:xfrm flipH="1" flipV="1">
              <a:off x="7543800" y="44958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7" name="Text Box 43"/>
            <p:cNvSpPr txBox="1">
              <a:spLocks noChangeArrowheads="1"/>
            </p:cNvSpPr>
            <p:nvPr/>
          </p:nvSpPr>
          <p:spPr bwMode="auto">
            <a:xfrm>
              <a:off x="5622925" y="3878263"/>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2</a:t>
              </a:r>
              <a:endParaRPr lang="en-US" sz="1800">
                <a:solidFill>
                  <a:schemeClr val="tx1"/>
                </a:solidFill>
                <a:latin typeface="Arial Black" pitchFamily="34" charset="0"/>
              </a:endParaRPr>
            </a:p>
          </p:txBody>
        </p:sp>
        <p:sp>
          <p:nvSpPr>
            <p:cNvPr id="11308" name="Text Box 44"/>
            <p:cNvSpPr txBox="1">
              <a:spLocks noChangeArrowheads="1"/>
            </p:cNvSpPr>
            <p:nvPr/>
          </p:nvSpPr>
          <p:spPr bwMode="auto">
            <a:xfrm>
              <a:off x="5562600" y="4845050"/>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1</a:t>
              </a:r>
              <a:endParaRPr lang="en-US" sz="1800">
                <a:solidFill>
                  <a:schemeClr val="tx1"/>
                </a:solidFill>
                <a:latin typeface="Arial Black" pitchFamily="34" charset="0"/>
              </a:endParaRPr>
            </a:p>
          </p:txBody>
        </p:sp>
        <p:sp>
          <p:nvSpPr>
            <p:cNvPr id="11309" name="Text Box 45"/>
            <p:cNvSpPr txBox="1">
              <a:spLocks noChangeArrowheads="1"/>
            </p:cNvSpPr>
            <p:nvPr/>
          </p:nvSpPr>
          <p:spPr bwMode="auto">
            <a:xfrm>
              <a:off x="7605713" y="4692650"/>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3</a:t>
              </a:r>
              <a:endParaRPr lang="en-US" sz="1800">
                <a:solidFill>
                  <a:schemeClr val="tx1"/>
                </a:solidFill>
                <a:latin typeface="Arial Black" pitchFamily="34" charset="0"/>
              </a:endParaRPr>
            </a:p>
          </p:txBody>
        </p:sp>
        <p:sp>
          <p:nvSpPr>
            <p:cNvPr id="11310" name="Text Box 46"/>
            <p:cNvSpPr txBox="1">
              <a:spLocks noChangeArrowheads="1"/>
            </p:cNvSpPr>
            <p:nvPr/>
          </p:nvSpPr>
          <p:spPr bwMode="auto">
            <a:xfrm>
              <a:off x="6615113" y="4648200"/>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5</a:t>
              </a:r>
              <a:endParaRPr lang="en-US" sz="1800">
                <a:solidFill>
                  <a:schemeClr val="tx1"/>
                </a:solidFill>
                <a:latin typeface="Arial Black" pitchFamily="34" charset="0"/>
              </a:endParaRPr>
            </a:p>
          </p:txBody>
        </p:sp>
        <p:sp>
          <p:nvSpPr>
            <p:cNvPr id="11311" name="Rectangle 47"/>
            <p:cNvSpPr>
              <a:spLocks noChangeArrowheads="1"/>
            </p:cNvSpPr>
            <p:nvPr/>
          </p:nvSpPr>
          <p:spPr bwMode="auto">
            <a:xfrm>
              <a:off x="4495800" y="3657600"/>
              <a:ext cx="4114800" cy="2667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12" name="Rectangle 48"/>
            <p:cNvSpPr>
              <a:spLocks noChangeArrowheads="1"/>
            </p:cNvSpPr>
            <p:nvPr/>
          </p:nvSpPr>
          <p:spPr bwMode="auto">
            <a:xfrm>
              <a:off x="381000" y="3657600"/>
              <a:ext cx="3886200" cy="2667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49" name="Rectangle 2"/>
          <p:cNvSpPr txBox="1">
            <a:spLocks noChangeArrowheads="1"/>
          </p:cNvSpPr>
          <p:nvPr/>
        </p:nvSpPr>
        <p:spPr>
          <a:xfrm>
            <a:off x="727075" y="304800"/>
            <a:ext cx="7772400" cy="9144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kern="1200" dirty="0">
                <a:solidFill>
                  <a:srgbClr val="0000CC"/>
                </a:solidFill>
              </a:rPr>
              <a:t>加权图</a:t>
            </a:r>
            <a:endParaRPr lang="en-US" sz="3600" b="1" kern="1200" dirty="0">
              <a:solidFill>
                <a:srgbClr val="0000CC"/>
              </a:solidFill>
            </a:endParaRPr>
          </a:p>
        </p:txBody>
      </p:sp>
    </p:spTree>
    <p:extLst>
      <p:ext uri="{BB962C8B-B14F-4D97-AF65-F5344CB8AC3E}">
        <p14:creationId xmlns:p14="http://schemas.microsoft.com/office/powerpoint/2010/main" val="122023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381000"/>
            <a:ext cx="7772400" cy="762000"/>
          </a:xfrm>
        </p:spPr>
        <p:txBody>
          <a:bodyPr/>
          <a:lstStyle/>
          <a:p>
            <a:r>
              <a:rPr lang="zh-CN" altLang="en-US" sz="3600" b="1" dirty="0">
                <a:solidFill>
                  <a:srgbClr val="0000CC"/>
                </a:solidFill>
              </a:rPr>
              <a:t>路径</a:t>
            </a:r>
            <a:endParaRPr lang="en-US" sz="3600" b="1" dirty="0">
              <a:solidFill>
                <a:srgbClr val="0000CC"/>
              </a:solidFill>
            </a:endParaRPr>
          </a:p>
        </p:txBody>
      </p:sp>
      <p:sp>
        <p:nvSpPr>
          <p:cNvPr id="12291" name="Rectangle 3"/>
          <p:cNvSpPr>
            <a:spLocks noGrp="1" noChangeArrowheads="1"/>
          </p:cNvSpPr>
          <p:nvPr>
            <p:ph type="body" idx="1"/>
          </p:nvPr>
        </p:nvSpPr>
        <p:spPr>
          <a:xfrm>
            <a:off x="457200" y="1524000"/>
            <a:ext cx="8153400" cy="4572000"/>
          </a:xfrm>
        </p:spPr>
        <p:txBody>
          <a:bodyPr/>
          <a:lstStyle/>
          <a:p>
            <a:r>
              <a:rPr lang="zh-CN" altLang="en-US" sz="2400" b="1" dirty="0"/>
              <a:t>一条</a:t>
            </a:r>
            <a:r>
              <a:rPr lang="zh-CN" altLang="en-US" sz="2400" b="1" i="1" dirty="0">
                <a:solidFill>
                  <a:srgbClr val="FF0000"/>
                </a:solidFill>
              </a:rPr>
              <a:t>路径</a:t>
            </a:r>
            <a:r>
              <a:rPr lang="zh-CN" altLang="en-US" sz="2400" b="1" dirty="0"/>
              <a:t>由一系列的节点组成，并且相邻两个节点之间有一条边相连</a:t>
            </a:r>
            <a:r>
              <a:rPr lang="en-US" sz="2400" b="1" dirty="0"/>
              <a:t>  </a:t>
            </a:r>
          </a:p>
          <a:p>
            <a:r>
              <a:rPr lang="zh-CN" altLang="en-US" sz="2400" b="1" dirty="0"/>
              <a:t>对于一条路径，如果它所包含的节点没有重复，则称之为一条</a:t>
            </a:r>
            <a:r>
              <a:rPr lang="zh-CN" altLang="en-US" sz="2400" b="1" i="1" dirty="0">
                <a:solidFill>
                  <a:srgbClr val="FF0000"/>
                </a:solidFill>
              </a:rPr>
              <a:t>简单路径</a:t>
            </a:r>
            <a:r>
              <a:rPr lang="zh-CN" altLang="en-US" sz="2400" b="1" dirty="0"/>
              <a:t>（在简单路径中，任何一个节点都不会被访问</a:t>
            </a:r>
            <a:r>
              <a:rPr lang="en-US" altLang="zh-CN" sz="2400" b="1" dirty="0"/>
              <a:t>2</a:t>
            </a:r>
            <a:r>
              <a:rPr lang="zh-CN" altLang="en-US" sz="2400" b="1" dirty="0"/>
              <a:t>次以上）</a:t>
            </a:r>
            <a:endParaRPr lang="en-US" sz="2400" b="1" dirty="0"/>
          </a:p>
          <a:p>
            <a:r>
              <a:rPr lang="zh-CN" altLang="en-US" sz="2400" b="1" dirty="0"/>
              <a:t>如果一条路径的起点和终点一致，则称之为</a:t>
            </a:r>
            <a:r>
              <a:rPr lang="zh-CN" altLang="en-US" sz="2400" b="1" i="1" dirty="0">
                <a:solidFill>
                  <a:srgbClr val="FF0000"/>
                </a:solidFill>
              </a:rPr>
              <a:t>环</a:t>
            </a:r>
            <a:r>
              <a:rPr lang="en-US" sz="2400" b="1" dirty="0"/>
              <a:t>     </a:t>
            </a:r>
            <a:r>
              <a:rPr lang="en-US" sz="2400" b="1" i="1" dirty="0">
                <a:solidFill>
                  <a:srgbClr val="C00000"/>
                </a:solidFill>
              </a:rPr>
              <a:t>Example</a:t>
            </a:r>
            <a:r>
              <a:rPr lang="en-US" sz="2400" b="1" dirty="0"/>
              <a:t>: </a:t>
            </a:r>
            <a:r>
              <a:rPr lang="en-US" sz="2400" b="1" i="1" dirty="0"/>
              <a:t>v</a:t>
            </a:r>
            <a:r>
              <a:rPr lang="en-US" sz="2400" b="1" baseline="-25000" dirty="0"/>
              <a:t>1</a:t>
            </a:r>
            <a:r>
              <a:rPr lang="en-US" sz="2400" b="1" dirty="0"/>
              <a:t> </a:t>
            </a:r>
            <a:r>
              <a:rPr lang="en-US" sz="2400" b="1" dirty="0">
                <a:sym typeface="Wingdings" charset="2"/>
              </a:rPr>
              <a:t> </a:t>
            </a:r>
            <a:r>
              <a:rPr lang="en-US" sz="2400" b="1" i="1" dirty="0"/>
              <a:t>v</a:t>
            </a:r>
            <a:r>
              <a:rPr lang="en-US" sz="2400" b="1" baseline="-25000" dirty="0"/>
              <a:t>2</a:t>
            </a:r>
            <a:r>
              <a:rPr lang="en-US" sz="2400" b="1" dirty="0"/>
              <a:t> </a:t>
            </a:r>
            <a:r>
              <a:rPr lang="en-US" sz="2400" b="1" dirty="0">
                <a:sym typeface="Wingdings" charset="2"/>
              </a:rPr>
              <a:t> </a:t>
            </a:r>
            <a:r>
              <a:rPr lang="en-US" sz="2400" b="1" i="1" dirty="0"/>
              <a:t>v</a:t>
            </a:r>
            <a:r>
              <a:rPr lang="en-US" sz="2400" b="1" baseline="-25000" dirty="0"/>
              <a:t>4</a:t>
            </a:r>
            <a:r>
              <a:rPr lang="en-US" sz="2400" b="1" dirty="0"/>
              <a:t> </a:t>
            </a:r>
            <a:r>
              <a:rPr lang="en-US" sz="2400" b="1" dirty="0">
                <a:sym typeface="Wingdings" charset="2"/>
              </a:rPr>
              <a:t></a:t>
            </a:r>
            <a:r>
              <a:rPr lang="en-US" sz="2400" b="1" dirty="0"/>
              <a:t> </a:t>
            </a:r>
            <a:r>
              <a:rPr lang="en-US" sz="2400" b="1" i="1" dirty="0"/>
              <a:t>v</a:t>
            </a:r>
            <a:r>
              <a:rPr lang="en-US" sz="2400" b="1" baseline="-25000" dirty="0"/>
              <a:t>1</a:t>
            </a:r>
          </a:p>
          <a:p>
            <a:pPr marL="0" indent="0">
              <a:buNone/>
            </a:pPr>
            <a:endParaRPr lang="en-US" sz="2400" b="1" dirty="0"/>
          </a:p>
          <a:p>
            <a:pPr marL="0" indent="0">
              <a:buNone/>
            </a:pPr>
            <a:endParaRPr lang="en-US" sz="2400" b="1" dirty="0"/>
          </a:p>
          <a:p>
            <a:r>
              <a:rPr lang="zh-CN" altLang="en-US" sz="2400" b="1" dirty="0"/>
              <a:t>如果一个图包含了一个环，则称之为</a:t>
            </a:r>
            <a:r>
              <a:rPr lang="zh-CN" altLang="en-US" sz="2400" b="1" i="1" dirty="0">
                <a:solidFill>
                  <a:srgbClr val="FF0000"/>
                </a:solidFill>
              </a:rPr>
              <a:t>有环图</a:t>
            </a:r>
            <a:r>
              <a:rPr lang="zh-CN" altLang="en-US" sz="2400" b="1" dirty="0"/>
              <a:t>，</a:t>
            </a:r>
            <a:endParaRPr lang="en-US" altLang="zh-CN" sz="2400" b="1" dirty="0"/>
          </a:p>
          <a:p>
            <a:pPr marL="0" indent="0">
              <a:buNone/>
            </a:pPr>
            <a:r>
              <a:rPr lang="en-US" altLang="zh-CN" sz="2400" b="1" dirty="0"/>
              <a:t>    </a:t>
            </a:r>
            <a:r>
              <a:rPr lang="zh-CN" altLang="en-US" sz="2400" b="1" dirty="0"/>
              <a:t>否则称之为</a:t>
            </a:r>
            <a:r>
              <a:rPr lang="zh-CN" altLang="en-US" sz="2400" b="1" i="1" dirty="0">
                <a:solidFill>
                  <a:srgbClr val="FF0000"/>
                </a:solidFill>
              </a:rPr>
              <a:t>无环图</a:t>
            </a:r>
            <a:endParaRPr lang="en-US" sz="2400" b="1" i="1" dirty="0">
              <a:solidFill>
                <a:srgbClr val="FF0000"/>
              </a:solidFill>
            </a:endParaRPr>
          </a:p>
        </p:txBody>
      </p:sp>
      <p:grpSp>
        <p:nvGrpSpPr>
          <p:cNvPr id="4" name="Group 3"/>
          <p:cNvGrpSpPr/>
          <p:nvPr/>
        </p:nvGrpSpPr>
        <p:grpSpPr>
          <a:xfrm>
            <a:off x="7086600" y="4038600"/>
            <a:ext cx="1752600" cy="1714500"/>
            <a:chOff x="7010400" y="2362200"/>
            <a:chExt cx="1752600" cy="1714500"/>
          </a:xfrm>
        </p:grpSpPr>
        <p:sp>
          <p:nvSpPr>
            <p:cNvPr id="5" name="Oval 7"/>
            <p:cNvSpPr>
              <a:spLocks noChangeArrowheads="1"/>
            </p:cNvSpPr>
            <p:nvPr/>
          </p:nvSpPr>
          <p:spPr bwMode="auto">
            <a:xfrm>
              <a:off x="7010400" y="2362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 name="Oval 8"/>
            <p:cNvSpPr>
              <a:spLocks noChangeArrowheads="1"/>
            </p:cNvSpPr>
            <p:nvPr/>
          </p:nvSpPr>
          <p:spPr bwMode="auto">
            <a:xfrm>
              <a:off x="7010400" y="3429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 name="Oval 9"/>
            <p:cNvSpPr>
              <a:spLocks noChangeArrowheads="1"/>
            </p:cNvSpPr>
            <p:nvPr/>
          </p:nvSpPr>
          <p:spPr bwMode="auto">
            <a:xfrm>
              <a:off x="8305800" y="2362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Oval 10"/>
            <p:cNvSpPr>
              <a:spLocks noChangeArrowheads="1"/>
            </p:cNvSpPr>
            <p:nvPr/>
          </p:nvSpPr>
          <p:spPr bwMode="auto">
            <a:xfrm>
              <a:off x="8305800" y="3429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Line 11"/>
            <p:cNvSpPr>
              <a:spLocks noChangeShapeType="1"/>
            </p:cNvSpPr>
            <p:nvPr/>
          </p:nvSpPr>
          <p:spPr bwMode="auto">
            <a:xfrm flipV="1">
              <a:off x="7239000" y="28194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12"/>
            <p:cNvSpPr>
              <a:spLocks noChangeShapeType="1"/>
            </p:cNvSpPr>
            <p:nvPr/>
          </p:nvSpPr>
          <p:spPr bwMode="auto">
            <a:xfrm>
              <a:off x="7467600" y="25908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3"/>
            <p:cNvSpPr>
              <a:spLocks noChangeShapeType="1"/>
            </p:cNvSpPr>
            <p:nvPr/>
          </p:nvSpPr>
          <p:spPr bwMode="auto">
            <a:xfrm flipH="1">
              <a:off x="7467600" y="27432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Freeform 15"/>
            <p:cNvSpPr>
              <a:spLocks/>
            </p:cNvSpPr>
            <p:nvPr/>
          </p:nvSpPr>
          <p:spPr bwMode="auto">
            <a:xfrm>
              <a:off x="7467600" y="34163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Freeform 16"/>
            <p:cNvSpPr>
              <a:spLocks/>
            </p:cNvSpPr>
            <p:nvPr/>
          </p:nvSpPr>
          <p:spPr bwMode="auto">
            <a:xfrm>
              <a:off x="7467600" y="38100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Text Box 17"/>
            <p:cNvSpPr txBox="1">
              <a:spLocks noChangeArrowheads="1"/>
            </p:cNvSpPr>
            <p:nvPr/>
          </p:nvSpPr>
          <p:spPr bwMode="auto">
            <a:xfrm>
              <a:off x="7094538" y="2362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15" name="Text Box 18"/>
            <p:cNvSpPr txBox="1">
              <a:spLocks noChangeArrowheads="1"/>
            </p:cNvSpPr>
            <p:nvPr/>
          </p:nvSpPr>
          <p:spPr bwMode="auto">
            <a:xfrm>
              <a:off x="8401050" y="2438400"/>
              <a:ext cx="298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2</a:t>
              </a:r>
            </a:p>
          </p:txBody>
        </p:sp>
        <p:sp>
          <p:nvSpPr>
            <p:cNvPr id="16" name="Text Box 19"/>
            <p:cNvSpPr txBox="1">
              <a:spLocks noChangeArrowheads="1"/>
            </p:cNvSpPr>
            <p:nvPr/>
          </p:nvSpPr>
          <p:spPr bwMode="auto">
            <a:xfrm>
              <a:off x="7094538" y="34290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p>
          </p:txBody>
        </p:sp>
        <p:sp>
          <p:nvSpPr>
            <p:cNvPr id="17" name="Text Box 20"/>
            <p:cNvSpPr txBox="1">
              <a:spLocks noChangeArrowheads="1"/>
            </p:cNvSpPr>
            <p:nvPr/>
          </p:nvSpPr>
          <p:spPr bwMode="auto">
            <a:xfrm>
              <a:off x="8382000" y="35052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p>
          </p:txBody>
        </p:sp>
        <p:sp>
          <p:nvSpPr>
            <p:cNvPr id="18" name="Line 21"/>
            <p:cNvSpPr>
              <a:spLocks noChangeShapeType="1"/>
            </p:cNvSpPr>
            <p:nvPr/>
          </p:nvSpPr>
          <p:spPr bwMode="auto">
            <a:xfrm>
              <a:off x="8534400" y="27940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3239383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609600" y="1524000"/>
            <a:ext cx="7848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spcBef>
                <a:spcPct val="20000"/>
              </a:spcBef>
              <a:buSzPct val="100000"/>
              <a:buFont typeface="Wingdings" pitchFamily="2" charset="2"/>
              <a:buChar char="§"/>
            </a:pPr>
            <a:r>
              <a:rPr lang="en-US" sz="2400" i="1" dirty="0">
                <a:solidFill>
                  <a:srgbClr val="C00000"/>
                </a:solidFill>
              </a:rPr>
              <a:t>s-t </a:t>
            </a:r>
            <a:r>
              <a:rPr lang="zh-CN" altLang="en-US" sz="2400" i="1" dirty="0">
                <a:solidFill>
                  <a:srgbClr val="C00000"/>
                </a:solidFill>
              </a:rPr>
              <a:t>连通问题</a:t>
            </a:r>
            <a:r>
              <a:rPr lang="en-US" sz="2400" dirty="0"/>
              <a:t>:</a:t>
            </a:r>
            <a:r>
              <a:rPr lang="en-US" sz="2400" dirty="0">
                <a:solidFill>
                  <a:schemeClr val="tx1"/>
                </a:solidFill>
              </a:rPr>
              <a:t>  </a:t>
            </a:r>
            <a:r>
              <a:rPr lang="zh-CN" altLang="en-US" sz="2400" dirty="0">
                <a:solidFill>
                  <a:schemeClr val="tx1"/>
                </a:solidFill>
              </a:rPr>
              <a:t>给定</a:t>
            </a:r>
            <a:r>
              <a:rPr lang="en-US" altLang="zh-CN" sz="2400" dirty="0">
                <a:solidFill>
                  <a:schemeClr val="tx1"/>
                </a:solidFill>
              </a:rPr>
              <a:t>2</a:t>
            </a:r>
            <a:r>
              <a:rPr lang="zh-CN" altLang="en-US" sz="2400" dirty="0">
                <a:solidFill>
                  <a:schemeClr val="tx1"/>
                </a:solidFill>
              </a:rPr>
              <a:t>个节点</a:t>
            </a:r>
            <a:r>
              <a:rPr lang="en-US" sz="2400" dirty="0">
                <a:solidFill>
                  <a:schemeClr val="tx1"/>
                </a:solidFill>
              </a:rPr>
              <a:t> </a:t>
            </a:r>
            <a:r>
              <a:rPr lang="en-US" sz="2400" i="1" dirty="0">
                <a:solidFill>
                  <a:schemeClr val="tx1"/>
                </a:solidFill>
              </a:rPr>
              <a:t>s</a:t>
            </a:r>
            <a:r>
              <a:rPr lang="en-US" sz="2400" dirty="0">
                <a:solidFill>
                  <a:schemeClr val="tx1"/>
                </a:solidFill>
              </a:rPr>
              <a:t> </a:t>
            </a:r>
            <a:r>
              <a:rPr lang="zh-CN" altLang="en-US" sz="2400" dirty="0"/>
              <a:t>和</a:t>
            </a:r>
            <a:r>
              <a:rPr lang="en-US" sz="2400" i="1" dirty="0">
                <a:solidFill>
                  <a:schemeClr val="tx1"/>
                </a:solidFill>
              </a:rPr>
              <a:t>t</a:t>
            </a:r>
            <a:r>
              <a:rPr lang="en-US" sz="2400" dirty="0">
                <a:solidFill>
                  <a:schemeClr val="tx1"/>
                </a:solidFill>
              </a:rPr>
              <a:t>, </a:t>
            </a:r>
            <a:r>
              <a:rPr lang="zh-CN" altLang="en-US" sz="2400" dirty="0">
                <a:solidFill>
                  <a:schemeClr val="tx1"/>
                </a:solidFill>
              </a:rPr>
              <a:t>是否存在一条</a:t>
            </a:r>
            <a:r>
              <a:rPr lang="en-US" sz="2400" i="1" dirty="0">
                <a:solidFill>
                  <a:schemeClr val="tx1"/>
                </a:solidFill>
              </a:rPr>
              <a:t>s</a:t>
            </a:r>
            <a:r>
              <a:rPr lang="en-US" sz="2400" dirty="0">
                <a:solidFill>
                  <a:schemeClr val="tx1"/>
                </a:solidFill>
              </a:rPr>
              <a:t> </a:t>
            </a:r>
            <a:r>
              <a:rPr lang="zh-CN" altLang="en-US" sz="2400" dirty="0">
                <a:solidFill>
                  <a:schemeClr val="tx1"/>
                </a:solidFill>
              </a:rPr>
              <a:t>到</a:t>
            </a:r>
            <a:r>
              <a:rPr lang="en-US" sz="2400" i="1" dirty="0">
                <a:solidFill>
                  <a:schemeClr val="tx1"/>
                </a:solidFill>
              </a:rPr>
              <a:t>t</a:t>
            </a:r>
            <a:r>
              <a:rPr lang="zh-CN" altLang="en-US" sz="2400" dirty="0">
                <a:solidFill>
                  <a:schemeClr val="tx1"/>
                </a:solidFill>
              </a:rPr>
              <a:t>的路径</a:t>
            </a:r>
            <a:r>
              <a:rPr lang="en-US" sz="2400" dirty="0">
                <a:solidFill>
                  <a:schemeClr val="tx1"/>
                </a:solidFill>
              </a:rPr>
              <a:t>?</a:t>
            </a:r>
          </a:p>
          <a:p>
            <a:pPr marL="342900" indent="-342900">
              <a:spcBef>
                <a:spcPct val="20000"/>
              </a:spcBef>
              <a:buSzPct val="100000"/>
              <a:buFont typeface="Wingdings" pitchFamily="2" charset="2"/>
              <a:buChar char="§"/>
            </a:pPr>
            <a:r>
              <a:rPr lang="en-US" sz="2400" i="1" dirty="0">
                <a:solidFill>
                  <a:srgbClr val="C00000"/>
                </a:solidFill>
              </a:rPr>
              <a:t>s-t </a:t>
            </a:r>
            <a:r>
              <a:rPr lang="zh-CN" altLang="en-US" sz="2400" i="1" dirty="0">
                <a:solidFill>
                  <a:srgbClr val="C00000"/>
                </a:solidFill>
              </a:rPr>
              <a:t>最短路径问题</a:t>
            </a:r>
            <a:r>
              <a:rPr lang="en-US" sz="2400" dirty="0">
                <a:solidFill>
                  <a:schemeClr val="tx1"/>
                </a:solidFill>
              </a:rPr>
              <a:t>:  </a:t>
            </a:r>
            <a:r>
              <a:rPr lang="zh-CN" altLang="en-US" sz="2400" dirty="0">
                <a:solidFill>
                  <a:schemeClr val="tx1"/>
                </a:solidFill>
              </a:rPr>
              <a:t>给定</a:t>
            </a:r>
            <a:r>
              <a:rPr lang="en-US" altLang="zh-CN" sz="2400" dirty="0">
                <a:solidFill>
                  <a:schemeClr val="tx1"/>
                </a:solidFill>
              </a:rPr>
              <a:t>2</a:t>
            </a:r>
            <a:r>
              <a:rPr lang="zh-CN" altLang="en-US" sz="2400" dirty="0"/>
              <a:t>个节点</a:t>
            </a:r>
            <a:r>
              <a:rPr lang="en-US" sz="2400" i="1" dirty="0">
                <a:solidFill>
                  <a:schemeClr val="tx1"/>
                </a:solidFill>
              </a:rPr>
              <a:t>s</a:t>
            </a:r>
            <a:r>
              <a:rPr lang="en-US" sz="2400" dirty="0">
                <a:solidFill>
                  <a:schemeClr val="tx1"/>
                </a:solidFill>
              </a:rPr>
              <a:t> </a:t>
            </a:r>
            <a:r>
              <a:rPr lang="zh-CN" altLang="en-US" sz="2400" dirty="0">
                <a:solidFill>
                  <a:schemeClr val="tx1"/>
                </a:solidFill>
              </a:rPr>
              <a:t>和</a:t>
            </a:r>
            <a:r>
              <a:rPr lang="en-US" sz="2400" i="1" dirty="0">
                <a:solidFill>
                  <a:schemeClr val="tx1"/>
                </a:solidFill>
              </a:rPr>
              <a:t>t</a:t>
            </a:r>
            <a:r>
              <a:rPr lang="en-US" sz="2400" dirty="0">
                <a:solidFill>
                  <a:schemeClr val="tx1"/>
                </a:solidFill>
              </a:rPr>
              <a:t>, </a:t>
            </a:r>
            <a:r>
              <a:rPr lang="zh-CN" altLang="en-US" sz="2400" dirty="0">
                <a:solidFill>
                  <a:schemeClr val="tx1"/>
                </a:solidFill>
              </a:rPr>
              <a:t>试问</a:t>
            </a:r>
            <a:r>
              <a:rPr lang="en-US" sz="2400" i="1" dirty="0">
                <a:solidFill>
                  <a:schemeClr val="tx1"/>
                </a:solidFill>
              </a:rPr>
              <a:t>s</a:t>
            </a:r>
            <a:r>
              <a:rPr lang="zh-CN" altLang="en-US" sz="2400" dirty="0">
                <a:solidFill>
                  <a:schemeClr val="tx1"/>
                </a:solidFill>
              </a:rPr>
              <a:t>到</a:t>
            </a:r>
            <a:r>
              <a:rPr lang="en-US" sz="2400" i="1" dirty="0">
                <a:solidFill>
                  <a:schemeClr val="tx1"/>
                </a:solidFill>
              </a:rPr>
              <a:t>t</a:t>
            </a:r>
            <a:r>
              <a:rPr lang="zh-CN" altLang="en-US" sz="2400" dirty="0">
                <a:solidFill>
                  <a:schemeClr val="tx1"/>
                </a:solidFill>
              </a:rPr>
              <a:t>的最短路径的长度为多少</a:t>
            </a:r>
            <a:r>
              <a:rPr lang="en-US" sz="2400" dirty="0">
                <a:solidFill>
                  <a:schemeClr val="tx1"/>
                </a:solidFill>
              </a:rPr>
              <a:t>?</a:t>
            </a:r>
          </a:p>
        </p:txBody>
      </p:sp>
      <p:sp>
        <p:nvSpPr>
          <p:cNvPr id="14340" name="Rectangle 4"/>
          <p:cNvSpPr>
            <a:spLocks noGrp="1" noChangeArrowheads="1"/>
          </p:cNvSpPr>
          <p:nvPr>
            <p:ph type="title"/>
          </p:nvPr>
        </p:nvSpPr>
        <p:spPr>
          <a:xfrm>
            <a:off x="685800" y="304800"/>
            <a:ext cx="7772400" cy="914400"/>
          </a:xfrm>
        </p:spPr>
        <p:txBody>
          <a:bodyPr/>
          <a:lstStyle/>
          <a:p>
            <a:r>
              <a:rPr lang="en-US" sz="3600" b="1" dirty="0">
                <a:solidFill>
                  <a:srgbClr val="0000CC"/>
                </a:solidFill>
              </a:rPr>
              <a:t>s-t </a:t>
            </a:r>
            <a:r>
              <a:rPr lang="zh-CN" altLang="en-US" sz="3600" b="1" dirty="0">
                <a:solidFill>
                  <a:srgbClr val="0000CC"/>
                </a:solidFill>
              </a:rPr>
              <a:t>连通性</a:t>
            </a:r>
            <a:endParaRPr lang="en-US" sz="3600" b="1" dirty="0">
              <a:solidFill>
                <a:srgbClr val="0000CC"/>
              </a:solidFill>
            </a:endParaRPr>
          </a:p>
        </p:txBody>
      </p:sp>
      <p:sp>
        <p:nvSpPr>
          <p:cNvPr id="254978" name="AutoShape 2" descr="http://cdn.collider.com/wp-content/uploads/following-kevin-bacon.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4980" name="AutoShape 4" descr="http://cdn.collider.com/wp-content/uploads/following-kevin-bacon.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8629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304800"/>
            <a:ext cx="7772400" cy="914400"/>
          </a:xfrm>
        </p:spPr>
        <p:txBody>
          <a:bodyPr/>
          <a:lstStyle/>
          <a:p>
            <a:r>
              <a:rPr lang="zh-CN" altLang="en-US" sz="3600" b="1" dirty="0">
                <a:solidFill>
                  <a:srgbClr val="0000CC"/>
                </a:solidFill>
              </a:rPr>
              <a:t>连通性</a:t>
            </a:r>
            <a:endParaRPr lang="en-US" sz="3600" b="1" dirty="0">
              <a:solidFill>
                <a:srgbClr val="0000CC"/>
              </a:solidFill>
            </a:endParaRPr>
          </a:p>
        </p:txBody>
      </p:sp>
      <p:sp>
        <p:nvSpPr>
          <p:cNvPr id="15363" name="Rectangle 3"/>
          <p:cNvSpPr>
            <a:spLocks noGrp="1" noChangeArrowheads="1"/>
          </p:cNvSpPr>
          <p:nvPr>
            <p:ph type="body" idx="1"/>
          </p:nvPr>
        </p:nvSpPr>
        <p:spPr>
          <a:xfrm>
            <a:off x="533400" y="1447800"/>
            <a:ext cx="7924800" cy="4495800"/>
          </a:xfrm>
        </p:spPr>
        <p:txBody>
          <a:bodyPr/>
          <a:lstStyle/>
          <a:p>
            <a:r>
              <a:rPr lang="zh-CN" altLang="en-US" sz="2400" b="1" dirty="0"/>
              <a:t>对于一个无向图，如果任意两个节点之间都存在一条路径连接，则称这个无向图为</a:t>
            </a:r>
            <a:r>
              <a:rPr lang="zh-CN" altLang="en-US" sz="2400" b="1" i="1" dirty="0">
                <a:solidFill>
                  <a:srgbClr val="FF0000"/>
                </a:solidFill>
              </a:rPr>
              <a:t>连通图</a:t>
            </a:r>
            <a:r>
              <a:rPr lang="zh-CN" altLang="en-US" sz="2400" b="1" dirty="0"/>
              <a:t>。</a:t>
            </a:r>
            <a:endParaRPr lang="en-US" sz="2400" b="1" dirty="0"/>
          </a:p>
          <a:p>
            <a:r>
              <a:rPr lang="zh-CN" altLang="en-US" sz="2400" b="1" dirty="0"/>
              <a:t>对于一个有向图，如果任意</a:t>
            </a:r>
            <a:r>
              <a:rPr lang="en-US" altLang="zh-CN" sz="2400" b="1" dirty="0"/>
              <a:t>2</a:t>
            </a:r>
            <a:r>
              <a:rPr lang="zh-CN" altLang="en-US" sz="2400" b="1" dirty="0"/>
              <a:t>个节点之间都存在一条有向路径连接，则称之为</a:t>
            </a:r>
            <a:r>
              <a:rPr lang="zh-CN" altLang="en-US" sz="2400" b="1" i="1" dirty="0">
                <a:solidFill>
                  <a:srgbClr val="FF0000"/>
                </a:solidFill>
              </a:rPr>
              <a:t>强连通图</a:t>
            </a:r>
            <a:r>
              <a:rPr lang="zh-CN" altLang="en-US" sz="2400" b="1" dirty="0"/>
              <a:t>。</a:t>
            </a:r>
            <a:endParaRPr lang="en-US" sz="2400" b="1" dirty="0"/>
          </a:p>
          <a:p>
            <a:r>
              <a:rPr lang="zh-CN" altLang="en-US" sz="2400" b="1" dirty="0"/>
              <a:t>对于一个图，如果</a:t>
            </a:r>
            <a:r>
              <a:rPr lang="en-US" sz="2400" b="1" dirty="0"/>
              <a:t>| </a:t>
            </a:r>
            <a:r>
              <a:rPr lang="en-US" sz="2400" b="1" i="1" dirty="0"/>
              <a:t>E</a:t>
            </a:r>
            <a:r>
              <a:rPr lang="en-US" sz="2400" b="1" dirty="0"/>
              <a:t> | </a:t>
            </a:r>
            <a:r>
              <a:rPr lang="en-US" sz="2400" b="1" dirty="0">
                <a:sym typeface="Symbol" pitchFamily="18" charset="2"/>
              </a:rPr>
              <a:t></a:t>
            </a:r>
            <a:r>
              <a:rPr lang="en-US" sz="2400" b="1" dirty="0"/>
              <a:t> | </a:t>
            </a:r>
            <a:r>
              <a:rPr lang="en-US" sz="2400" b="1" i="1" dirty="0"/>
              <a:t>V</a:t>
            </a:r>
            <a:r>
              <a:rPr lang="en-US" sz="2400" b="1" dirty="0"/>
              <a:t> |</a:t>
            </a:r>
            <a:r>
              <a:rPr lang="zh-CN" altLang="en-US" sz="2400" b="1" dirty="0"/>
              <a:t>，则称之为</a:t>
            </a:r>
            <a:r>
              <a:rPr lang="zh-CN" altLang="en-US" sz="2400" b="1" i="1" dirty="0">
                <a:solidFill>
                  <a:srgbClr val="FF0000"/>
                </a:solidFill>
              </a:rPr>
              <a:t>稀疏图</a:t>
            </a:r>
            <a:r>
              <a:rPr lang="zh-CN" altLang="en-US" sz="2400" b="1" dirty="0"/>
              <a:t>。</a:t>
            </a:r>
            <a:endParaRPr lang="en-US" sz="2400" b="1" baseline="30000" dirty="0"/>
          </a:p>
          <a:p>
            <a:r>
              <a:rPr lang="zh-CN" altLang="en-US" sz="2400" b="1" dirty="0"/>
              <a:t>对于一个图，如果</a:t>
            </a:r>
            <a:r>
              <a:rPr lang="en-US" sz="2400" b="1" dirty="0"/>
              <a:t>| </a:t>
            </a:r>
            <a:r>
              <a:rPr lang="en-US" sz="2400" b="1" i="1" dirty="0"/>
              <a:t>E</a:t>
            </a:r>
            <a:r>
              <a:rPr lang="en-US" sz="2400" b="1" dirty="0"/>
              <a:t> | </a:t>
            </a:r>
            <a:r>
              <a:rPr lang="en-US" sz="2400" b="1" dirty="0">
                <a:sym typeface="Symbol" pitchFamily="18" charset="2"/>
              </a:rPr>
              <a:t></a:t>
            </a:r>
            <a:r>
              <a:rPr lang="en-US" sz="2400" b="1" dirty="0"/>
              <a:t> | </a:t>
            </a:r>
            <a:r>
              <a:rPr lang="en-US" sz="2400" b="1" i="1" dirty="0"/>
              <a:t>V</a:t>
            </a:r>
            <a:r>
              <a:rPr lang="en-US" sz="2400" b="1" dirty="0"/>
              <a:t> |</a:t>
            </a:r>
            <a:r>
              <a:rPr lang="en-US" sz="2400" b="1" baseline="30000" dirty="0"/>
              <a:t>2</a:t>
            </a:r>
            <a:r>
              <a:rPr lang="zh-CN" altLang="en-US" sz="2400" b="1" dirty="0"/>
              <a:t>，则称之为</a:t>
            </a:r>
            <a:r>
              <a:rPr lang="zh-CN" altLang="en-US" sz="2400" b="1" i="1" dirty="0">
                <a:solidFill>
                  <a:srgbClr val="FF0000"/>
                </a:solidFill>
              </a:rPr>
              <a:t>稠密图</a:t>
            </a:r>
            <a:r>
              <a:rPr lang="zh-CN" altLang="en-US" sz="2400" b="1" dirty="0"/>
              <a:t>。</a:t>
            </a:r>
            <a:endParaRPr lang="en-US" sz="2400" b="1" baseline="30000" dirty="0"/>
          </a:p>
        </p:txBody>
      </p:sp>
    </p:spTree>
    <p:extLst>
      <p:ext uri="{BB962C8B-B14F-4D97-AF65-F5344CB8AC3E}">
        <p14:creationId xmlns:p14="http://schemas.microsoft.com/office/powerpoint/2010/main" val="4252671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连通分支</a:t>
            </a:r>
            <a:endParaRPr lang="en-US" sz="3600" b="1" dirty="0">
              <a:solidFill>
                <a:srgbClr val="0000CC"/>
              </a:solidFill>
            </a:endParaRPr>
          </a:p>
        </p:txBody>
      </p:sp>
      <p:sp>
        <p:nvSpPr>
          <p:cNvPr id="16387" name="Rectangle 3"/>
          <p:cNvSpPr>
            <a:spLocks noGrp="1" noChangeArrowheads="1"/>
          </p:cNvSpPr>
          <p:nvPr>
            <p:ph type="body" idx="1"/>
          </p:nvPr>
        </p:nvSpPr>
        <p:spPr>
          <a:xfrm>
            <a:off x="609600" y="1447800"/>
            <a:ext cx="7924800" cy="4648200"/>
          </a:xfrm>
        </p:spPr>
        <p:txBody>
          <a:bodyPr/>
          <a:lstStyle/>
          <a:p>
            <a:r>
              <a:rPr lang="zh-CN" altLang="en-US" sz="2400" b="1" i="1" dirty="0">
                <a:solidFill>
                  <a:srgbClr val="C00000"/>
                </a:solidFill>
              </a:rPr>
              <a:t>连通分支</a:t>
            </a:r>
            <a:r>
              <a:rPr lang="en-US" sz="2400" b="1" dirty="0"/>
              <a:t>: </a:t>
            </a:r>
            <a:r>
              <a:rPr lang="zh-CN" altLang="en-US" sz="2400" b="1" dirty="0"/>
              <a:t>一个图中的连通分支为该图中最大的连通子图</a:t>
            </a:r>
            <a:r>
              <a:rPr lang="en-US" sz="2400" b="1" dirty="0"/>
              <a:t>. </a:t>
            </a:r>
          </a:p>
          <a:p>
            <a:pPr>
              <a:spcBef>
                <a:spcPts val="1800"/>
              </a:spcBef>
              <a:buNone/>
            </a:pPr>
            <a:r>
              <a:rPr lang="zh-CN" altLang="en-US" sz="2400" b="1" dirty="0"/>
              <a:t>例</a:t>
            </a:r>
            <a:r>
              <a:rPr lang="en-US" sz="2400" b="1" dirty="0"/>
              <a:t>:</a:t>
            </a:r>
          </a:p>
          <a:p>
            <a:pPr>
              <a:lnSpc>
                <a:spcPct val="90000"/>
              </a:lnSpc>
            </a:pPr>
            <a:endParaRPr lang="en-US" sz="2400" b="1" dirty="0"/>
          </a:p>
          <a:p>
            <a:pPr>
              <a:lnSpc>
                <a:spcPct val="90000"/>
              </a:lnSpc>
            </a:pPr>
            <a:endParaRPr lang="en-US" sz="2400" b="1" dirty="0"/>
          </a:p>
          <a:p>
            <a:pPr>
              <a:lnSpc>
                <a:spcPct val="90000"/>
              </a:lnSpc>
              <a:buNone/>
            </a:pPr>
            <a:endParaRPr lang="en-US" sz="2400" b="1" dirty="0"/>
          </a:p>
          <a:p>
            <a:pPr>
              <a:lnSpc>
                <a:spcPct val="90000"/>
              </a:lnSpc>
              <a:buNone/>
            </a:pPr>
            <a:endParaRPr lang="en-US" sz="2400" b="1" dirty="0"/>
          </a:p>
          <a:p>
            <a:pPr>
              <a:lnSpc>
                <a:spcPct val="90000"/>
              </a:lnSpc>
              <a:buNone/>
            </a:pPr>
            <a:endParaRPr lang="en-US" sz="2400" b="1" dirty="0"/>
          </a:p>
          <a:p>
            <a:pPr>
              <a:lnSpc>
                <a:spcPct val="90000"/>
              </a:lnSpc>
            </a:pPr>
            <a:endParaRPr lang="en-US" sz="2400" b="1" dirty="0"/>
          </a:p>
          <a:p>
            <a:pPr>
              <a:spcBef>
                <a:spcPts val="0"/>
              </a:spcBef>
              <a:buNone/>
            </a:pPr>
            <a:r>
              <a:rPr lang="zh-CN" altLang="en-US" sz="2400" b="1" dirty="0"/>
              <a:t>包含节点</a:t>
            </a:r>
            <a:r>
              <a:rPr lang="en-US" altLang="zh-CN" sz="2400" b="1" dirty="0"/>
              <a:t>1</a:t>
            </a:r>
            <a:r>
              <a:rPr lang="zh-CN" altLang="en-US" sz="2400" b="1" dirty="0"/>
              <a:t>的连通分支</a:t>
            </a:r>
            <a:r>
              <a:rPr lang="en-US" sz="2400" b="1" dirty="0"/>
              <a:t>= { 1, 2, 3, 4, 5, 6, 7, 8 }.</a:t>
            </a:r>
          </a:p>
        </p:txBody>
      </p:sp>
      <p:pic>
        <p:nvPicPr>
          <p:cNvPr id="16388" name="Picture 4" descr="kleinberg_03F02"/>
          <p:cNvPicPr preferRelativeResize="0">
            <a:picLocks noChangeAspect="1" noChangeArrowheads="1"/>
          </p:cNvPicPr>
          <p:nvPr>
            <p:custDataLst>
              <p:tags r:id="rId1"/>
            </p:custDataLst>
          </p:nvPr>
        </p:nvPicPr>
        <p:blipFill>
          <a:blip r:embed="rId4" cstate="print">
            <a:extLst>
              <a:ext uri="{28A0092B-C50C-407E-A947-70E740481C1C}">
                <a14:useLocalDpi xmlns:a14="http://schemas.microsoft.com/office/drawing/2010/main" val="0"/>
              </a:ext>
            </a:extLst>
          </a:blip>
          <a:srcRect l="18216" r="14383" b="20930"/>
          <a:stretch>
            <a:fillRect/>
          </a:stretch>
        </p:blipFill>
        <p:spPr bwMode="auto">
          <a:xfrm>
            <a:off x="2734733" y="2667000"/>
            <a:ext cx="3668713"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2180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1371601"/>
            <a:ext cx="8229600" cy="838199"/>
          </a:xfrm>
        </p:spPr>
        <p:txBody>
          <a:bodyPr/>
          <a:lstStyle/>
          <a:p>
            <a:pPr marL="274320" indent="-274320" algn="l">
              <a:buFont typeface="Wingdings" pitchFamily="2" charset="2"/>
              <a:buChar char="§"/>
            </a:pPr>
            <a:r>
              <a:rPr lang="zh-CN" altLang="en-US" sz="2400" b="1" dirty="0"/>
              <a:t>对于一个有向或者无向图，如果任意两个节点之间都有边</a:t>
            </a:r>
            <a:r>
              <a:rPr lang="zh-CN" altLang="en-US" sz="2400" b="1" i="1" dirty="0">
                <a:solidFill>
                  <a:srgbClr val="3333FF"/>
                </a:solidFill>
              </a:rPr>
              <a:t>邻接</a:t>
            </a:r>
            <a:r>
              <a:rPr lang="zh-CN" altLang="en-US" sz="2400" b="1" dirty="0"/>
              <a:t>（对于有向图需要两个方向的边），则称之为</a:t>
            </a:r>
            <a:r>
              <a:rPr lang="zh-CN" altLang="en-US" sz="2400" b="1" i="1" dirty="0">
                <a:solidFill>
                  <a:srgbClr val="FF0000"/>
                </a:solidFill>
              </a:rPr>
              <a:t>完全图</a:t>
            </a:r>
            <a:endParaRPr lang="en-US" sz="2400" b="1" dirty="0"/>
          </a:p>
        </p:txBody>
      </p:sp>
      <p:grpSp>
        <p:nvGrpSpPr>
          <p:cNvPr id="39" name="Group 38"/>
          <p:cNvGrpSpPr/>
          <p:nvPr/>
        </p:nvGrpSpPr>
        <p:grpSpPr>
          <a:xfrm>
            <a:off x="1066800" y="3124201"/>
            <a:ext cx="2173288" cy="1885950"/>
            <a:chOff x="1066800" y="3124201"/>
            <a:chExt cx="2173288" cy="1885950"/>
          </a:xfrm>
        </p:grpSpPr>
        <p:sp>
          <p:nvSpPr>
            <p:cNvPr id="19459" name="Oval 3"/>
            <p:cNvSpPr>
              <a:spLocks noChangeArrowheads="1"/>
            </p:cNvSpPr>
            <p:nvPr/>
          </p:nvSpPr>
          <p:spPr bwMode="auto">
            <a:xfrm>
              <a:off x="1066800" y="455295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60" name="Oval 4"/>
            <p:cNvSpPr>
              <a:spLocks noChangeArrowheads="1"/>
            </p:cNvSpPr>
            <p:nvPr/>
          </p:nvSpPr>
          <p:spPr bwMode="auto">
            <a:xfrm>
              <a:off x="2667000" y="41910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61" name="Text Box 5"/>
            <p:cNvSpPr txBox="1">
              <a:spLocks noChangeArrowheads="1"/>
            </p:cNvSpPr>
            <p:nvPr/>
          </p:nvSpPr>
          <p:spPr bwMode="auto">
            <a:xfrm>
              <a:off x="1531938" y="3200401"/>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p>
          </p:txBody>
        </p:sp>
        <p:sp>
          <p:nvSpPr>
            <p:cNvPr id="19462" name="Text Box 6"/>
            <p:cNvSpPr txBox="1">
              <a:spLocks noChangeArrowheads="1"/>
            </p:cNvSpPr>
            <p:nvPr/>
          </p:nvSpPr>
          <p:spPr bwMode="auto">
            <a:xfrm>
              <a:off x="1143000" y="4629151"/>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19463" name="Text Box 7"/>
            <p:cNvSpPr txBox="1">
              <a:spLocks noChangeArrowheads="1"/>
            </p:cNvSpPr>
            <p:nvPr/>
          </p:nvSpPr>
          <p:spPr bwMode="auto">
            <a:xfrm>
              <a:off x="2743200" y="4268789"/>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E</a:t>
              </a:r>
            </a:p>
          </p:txBody>
        </p:sp>
        <p:sp>
          <p:nvSpPr>
            <p:cNvPr id="19464" name="Text Box 8"/>
            <p:cNvSpPr txBox="1">
              <a:spLocks noChangeArrowheads="1"/>
            </p:cNvSpPr>
            <p:nvPr/>
          </p:nvSpPr>
          <p:spPr bwMode="auto">
            <a:xfrm>
              <a:off x="2838450" y="3200401"/>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19465" name="Line 9"/>
            <p:cNvSpPr>
              <a:spLocks noChangeShapeType="1"/>
            </p:cNvSpPr>
            <p:nvPr/>
          </p:nvSpPr>
          <p:spPr bwMode="auto">
            <a:xfrm>
              <a:off x="1905000" y="3505201"/>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6" name="Line 10"/>
            <p:cNvSpPr>
              <a:spLocks noChangeShapeType="1"/>
            </p:cNvSpPr>
            <p:nvPr/>
          </p:nvSpPr>
          <p:spPr bwMode="auto">
            <a:xfrm>
              <a:off x="1981200" y="3352801"/>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7" name="Line 11"/>
            <p:cNvSpPr>
              <a:spLocks noChangeShapeType="1"/>
            </p:cNvSpPr>
            <p:nvPr/>
          </p:nvSpPr>
          <p:spPr bwMode="auto">
            <a:xfrm flipV="1">
              <a:off x="2971800" y="3581401"/>
              <a:ext cx="1588"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8" name="Oval 12"/>
            <p:cNvSpPr>
              <a:spLocks noChangeArrowheads="1"/>
            </p:cNvSpPr>
            <p:nvPr/>
          </p:nvSpPr>
          <p:spPr bwMode="auto">
            <a:xfrm>
              <a:off x="14478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69" name="Oval 13"/>
            <p:cNvSpPr>
              <a:spLocks noChangeArrowheads="1"/>
            </p:cNvSpPr>
            <p:nvPr/>
          </p:nvSpPr>
          <p:spPr bwMode="auto">
            <a:xfrm>
              <a:off x="27432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70" name="Line 14"/>
            <p:cNvSpPr>
              <a:spLocks noChangeShapeType="1"/>
            </p:cNvSpPr>
            <p:nvPr/>
          </p:nvSpPr>
          <p:spPr bwMode="auto">
            <a:xfrm flipV="1">
              <a:off x="1524001" y="4495801"/>
              <a:ext cx="1143000" cy="285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1" name="Line 15"/>
            <p:cNvSpPr>
              <a:spLocks noChangeShapeType="1"/>
            </p:cNvSpPr>
            <p:nvPr/>
          </p:nvSpPr>
          <p:spPr bwMode="auto">
            <a:xfrm flipV="1">
              <a:off x="1219200" y="3581401"/>
              <a:ext cx="381000" cy="971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2" name="Line 16"/>
            <p:cNvSpPr>
              <a:spLocks noChangeShapeType="1"/>
            </p:cNvSpPr>
            <p:nvPr/>
          </p:nvSpPr>
          <p:spPr bwMode="auto">
            <a:xfrm flipV="1">
              <a:off x="1447801" y="3505201"/>
              <a:ext cx="1371599" cy="1123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9473" name="Text Box 17"/>
          <p:cNvSpPr txBox="1">
            <a:spLocks noChangeArrowheads="1"/>
          </p:cNvSpPr>
          <p:nvPr/>
        </p:nvSpPr>
        <p:spPr bwMode="auto">
          <a:xfrm>
            <a:off x="304800" y="5124271"/>
            <a:ext cx="41910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spcBef>
                <a:spcPct val="50000"/>
              </a:spcBef>
            </a:pPr>
            <a:r>
              <a:rPr lang="en-US" sz="2000" dirty="0">
                <a:solidFill>
                  <a:schemeClr val="tx1"/>
                </a:solidFill>
                <a:latin typeface="+mj-lt"/>
              </a:rPr>
              <a:t>4 </a:t>
            </a:r>
            <a:r>
              <a:rPr lang="zh-CN" altLang="en-US" sz="2000" dirty="0">
                <a:solidFill>
                  <a:schemeClr val="tx1"/>
                </a:solidFill>
                <a:latin typeface="+mj-lt"/>
              </a:rPr>
              <a:t>个节点，包含</a:t>
            </a:r>
            <a:r>
              <a:rPr lang="en-US" sz="2000" dirty="0">
                <a:solidFill>
                  <a:schemeClr val="tx1"/>
                </a:solidFill>
                <a:latin typeface="+mj-lt"/>
              </a:rPr>
              <a:t> (4*3)/2 </a:t>
            </a:r>
            <a:r>
              <a:rPr lang="zh-CN" altLang="en-US" sz="2000" dirty="0">
                <a:solidFill>
                  <a:schemeClr val="tx1"/>
                </a:solidFill>
                <a:latin typeface="+mj-lt"/>
              </a:rPr>
              <a:t>条边</a:t>
            </a:r>
            <a:endParaRPr lang="en-US" sz="2000" dirty="0">
              <a:solidFill>
                <a:schemeClr val="tx1"/>
              </a:solidFill>
              <a:latin typeface="+mj-lt"/>
            </a:endParaRPr>
          </a:p>
          <a:p>
            <a:pPr>
              <a:spcBef>
                <a:spcPct val="50000"/>
              </a:spcBef>
            </a:pP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a:t>
            </a:r>
            <a:r>
              <a:rPr lang="zh-CN" altLang="en-US" sz="2000" dirty="0">
                <a:solidFill>
                  <a:schemeClr val="tx1"/>
                </a:solidFill>
                <a:latin typeface="+mj-lt"/>
              </a:rPr>
              <a:t>个节点，</a:t>
            </a:r>
            <a:r>
              <a:rPr lang="en-US" sz="2000" dirty="0">
                <a:solidFill>
                  <a:schemeClr val="tx1"/>
                </a:solidFill>
                <a:latin typeface="+mj-lt"/>
              </a:rPr>
              <a:t> |</a:t>
            </a:r>
            <a:r>
              <a:rPr lang="en-US" sz="2000" i="1" dirty="0">
                <a:solidFill>
                  <a:schemeClr val="tx1"/>
                </a:solidFill>
                <a:latin typeface="+mj-lt"/>
              </a:rPr>
              <a:t>V</a:t>
            </a: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 1)/2 </a:t>
            </a:r>
            <a:r>
              <a:rPr lang="zh-CN" altLang="en-US" sz="2000" dirty="0">
                <a:solidFill>
                  <a:schemeClr val="tx1"/>
                </a:solidFill>
                <a:latin typeface="+mj-lt"/>
              </a:rPr>
              <a:t>边</a:t>
            </a:r>
            <a:r>
              <a:rPr lang="en-US" sz="2000" dirty="0">
                <a:solidFill>
                  <a:schemeClr val="tx1"/>
                </a:solidFill>
                <a:latin typeface="+mj-lt"/>
              </a:rPr>
              <a:t> </a:t>
            </a:r>
          </a:p>
          <a:p>
            <a:pPr>
              <a:spcBef>
                <a:spcPct val="50000"/>
              </a:spcBef>
            </a:pPr>
            <a:r>
              <a:rPr lang="zh-CN" altLang="en-US" sz="2000" dirty="0">
                <a:solidFill>
                  <a:schemeClr val="tx1"/>
                </a:solidFill>
                <a:latin typeface="+mj-lt"/>
              </a:rPr>
              <a:t>注</a:t>
            </a:r>
            <a:r>
              <a:rPr lang="en-US" sz="2000" dirty="0">
                <a:solidFill>
                  <a:schemeClr val="tx1"/>
                </a:solidFill>
                <a:latin typeface="+mj-lt"/>
              </a:rPr>
              <a:t>: </a:t>
            </a:r>
            <a:r>
              <a:rPr lang="zh-CN" altLang="en-US" sz="2000" dirty="0">
                <a:solidFill>
                  <a:schemeClr val="tx1"/>
                </a:solidFill>
                <a:latin typeface="+mj-lt"/>
              </a:rPr>
              <a:t>如果允许自环，则边数为</a:t>
            </a: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a:t>
            </a:r>
            <a:r>
              <a:rPr lang="en-US" sz="2000" baseline="30000" dirty="0">
                <a:solidFill>
                  <a:schemeClr val="tx1"/>
                </a:solidFill>
                <a:latin typeface="+mj-lt"/>
              </a:rPr>
              <a:t>2</a:t>
            </a:r>
            <a:r>
              <a:rPr lang="en-US" sz="2000" dirty="0">
                <a:solidFill>
                  <a:schemeClr val="tx1"/>
                </a:solidFill>
                <a:latin typeface="+mj-lt"/>
              </a:rPr>
              <a:t>/2</a:t>
            </a:r>
          </a:p>
        </p:txBody>
      </p:sp>
      <p:sp>
        <p:nvSpPr>
          <p:cNvPr id="19477" name="Text Box 21"/>
          <p:cNvSpPr txBox="1">
            <a:spLocks noChangeArrowheads="1"/>
          </p:cNvSpPr>
          <p:nvPr/>
        </p:nvSpPr>
        <p:spPr bwMode="auto">
          <a:xfrm>
            <a:off x="4495800" y="5075873"/>
            <a:ext cx="44958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spcBef>
                <a:spcPct val="50000"/>
              </a:spcBef>
            </a:pPr>
            <a:r>
              <a:rPr lang="en-US" sz="2000" dirty="0">
                <a:solidFill>
                  <a:schemeClr val="tx1"/>
                </a:solidFill>
                <a:latin typeface="+mj-lt"/>
              </a:rPr>
              <a:t>3 </a:t>
            </a:r>
            <a:r>
              <a:rPr lang="zh-CN" altLang="en-US" sz="2000" dirty="0">
                <a:solidFill>
                  <a:schemeClr val="tx1"/>
                </a:solidFill>
                <a:latin typeface="+mj-lt"/>
              </a:rPr>
              <a:t>个节点的有向图，包含</a:t>
            </a:r>
            <a:r>
              <a:rPr lang="en-US" sz="2000" dirty="0">
                <a:solidFill>
                  <a:schemeClr val="tx1"/>
                </a:solidFill>
                <a:latin typeface="+mj-lt"/>
              </a:rPr>
              <a:t> 3*2</a:t>
            </a:r>
            <a:r>
              <a:rPr lang="zh-CN" altLang="en-US" sz="2000" dirty="0">
                <a:solidFill>
                  <a:schemeClr val="tx1"/>
                </a:solidFill>
                <a:latin typeface="+mj-lt"/>
              </a:rPr>
              <a:t>条边</a:t>
            </a:r>
            <a:r>
              <a:rPr lang="en-US" sz="2000" dirty="0">
                <a:solidFill>
                  <a:schemeClr val="tx1"/>
                </a:solidFill>
                <a:latin typeface="+mj-lt"/>
              </a:rPr>
              <a:t> </a:t>
            </a:r>
          </a:p>
          <a:p>
            <a:pPr>
              <a:spcBef>
                <a:spcPct val="50000"/>
              </a:spcBef>
            </a:pP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a:t>
            </a:r>
            <a:r>
              <a:rPr lang="zh-CN" altLang="en-US" sz="2000" dirty="0">
                <a:solidFill>
                  <a:schemeClr val="tx1"/>
                </a:solidFill>
                <a:latin typeface="+mj-lt"/>
              </a:rPr>
              <a:t>个节点，包含</a:t>
            </a: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 1) </a:t>
            </a:r>
            <a:r>
              <a:rPr lang="zh-CN" altLang="en-US" sz="2000" dirty="0">
                <a:solidFill>
                  <a:schemeClr val="tx1"/>
                </a:solidFill>
                <a:latin typeface="+mj-lt"/>
              </a:rPr>
              <a:t>条边</a:t>
            </a:r>
            <a:r>
              <a:rPr lang="en-US" sz="2000" dirty="0">
                <a:solidFill>
                  <a:schemeClr val="tx1"/>
                </a:solidFill>
                <a:latin typeface="+mj-lt"/>
              </a:rPr>
              <a:t> </a:t>
            </a:r>
          </a:p>
          <a:p>
            <a:pPr>
              <a:spcBef>
                <a:spcPct val="50000"/>
              </a:spcBef>
            </a:pPr>
            <a:r>
              <a:rPr lang="zh-CN" altLang="en-US" sz="2000" dirty="0">
                <a:solidFill>
                  <a:schemeClr val="tx1"/>
                </a:solidFill>
              </a:rPr>
              <a:t>注</a:t>
            </a:r>
            <a:r>
              <a:rPr lang="en-US" altLang="zh-CN" sz="2000" dirty="0">
                <a:solidFill>
                  <a:schemeClr val="tx1"/>
                </a:solidFill>
              </a:rPr>
              <a:t>: </a:t>
            </a:r>
            <a:r>
              <a:rPr lang="zh-CN" altLang="en-US" sz="2000" dirty="0">
                <a:solidFill>
                  <a:schemeClr val="tx1"/>
                </a:solidFill>
              </a:rPr>
              <a:t>如果允许自环，则边数为</a:t>
            </a: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a:t>
            </a:r>
            <a:r>
              <a:rPr lang="en-US" sz="2000" baseline="30000" dirty="0">
                <a:solidFill>
                  <a:schemeClr val="tx1"/>
                </a:solidFill>
                <a:latin typeface="+mj-lt"/>
              </a:rPr>
              <a:t>2 </a:t>
            </a:r>
            <a:r>
              <a:rPr lang="en-US" sz="2000" dirty="0">
                <a:solidFill>
                  <a:schemeClr val="tx1"/>
                </a:solidFill>
                <a:latin typeface="+mj-lt"/>
              </a:rPr>
              <a:t>  </a:t>
            </a:r>
          </a:p>
        </p:txBody>
      </p:sp>
      <p:grpSp>
        <p:nvGrpSpPr>
          <p:cNvPr id="40" name="Group 39"/>
          <p:cNvGrpSpPr/>
          <p:nvPr/>
        </p:nvGrpSpPr>
        <p:grpSpPr>
          <a:xfrm>
            <a:off x="5105400" y="3048000"/>
            <a:ext cx="2782888" cy="1809751"/>
            <a:chOff x="5105400" y="3048000"/>
            <a:chExt cx="2782888" cy="1809751"/>
          </a:xfrm>
        </p:grpSpPr>
        <p:sp>
          <p:nvSpPr>
            <p:cNvPr id="19474" name="Oval 18"/>
            <p:cNvSpPr>
              <a:spLocks noChangeArrowheads="1"/>
            </p:cNvSpPr>
            <p:nvPr/>
          </p:nvSpPr>
          <p:spPr bwMode="auto">
            <a:xfrm>
              <a:off x="5105400" y="440055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r>
                <a:rPr lang="en-US" sz="1800">
                  <a:solidFill>
                    <a:schemeClr val="tx1"/>
                  </a:solidFill>
                </a:rPr>
                <a:t>D</a:t>
              </a:r>
            </a:p>
          </p:txBody>
        </p:sp>
        <p:sp>
          <p:nvSpPr>
            <p:cNvPr id="19475" name="Oval 19"/>
            <p:cNvSpPr>
              <a:spLocks noChangeArrowheads="1"/>
            </p:cNvSpPr>
            <p:nvPr/>
          </p:nvSpPr>
          <p:spPr bwMode="auto">
            <a:xfrm>
              <a:off x="5522912" y="30480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r>
                <a:rPr lang="en-US" sz="1800">
                  <a:solidFill>
                    <a:schemeClr val="tx1"/>
                  </a:solidFill>
                </a:rPr>
                <a:t>A</a:t>
              </a:r>
            </a:p>
          </p:txBody>
        </p:sp>
        <p:sp>
          <p:nvSpPr>
            <p:cNvPr id="19476" name="Oval 20"/>
            <p:cNvSpPr>
              <a:spLocks noChangeArrowheads="1"/>
            </p:cNvSpPr>
            <p:nvPr/>
          </p:nvSpPr>
          <p:spPr bwMode="auto">
            <a:xfrm>
              <a:off x="7391400" y="35814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r>
                <a:rPr lang="en-US" sz="1800">
                  <a:solidFill>
                    <a:schemeClr val="tx1"/>
                  </a:solidFill>
                </a:rPr>
                <a:t>B</a:t>
              </a:r>
            </a:p>
          </p:txBody>
        </p:sp>
        <p:cxnSp>
          <p:nvCxnSpPr>
            <p:cNvPr id="19478" name="AutoShape 22"/>
            <p:cNvCxnSpPr>
              <a:cxnSpLocks noChangeShapeType="1"/>
              <a:stCxn id="19475" idx="0"/>
              <a:endCxn id="19476" idx="1"/>
            </p:cNvCxnSpPr>
            <p:nvPr/>
          </p:nvCxnSpPr>
          <p:spPr bwMode="auto">
            <a:xfrm rot="16200000" flipH="1">
              <a:off x="6317584" y="2501772"/>
              <a:ext cx="600355" cy="1692812"/>
            </a:xfrm>
            <a:prstGeom prst="curvedConnector3">
              <a:avLst>
                <a:gd name="adj1" fmla="val -3807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79" name="AutoShape 23"/>
            <p:cNvCxnSpPr>
              <a:cxnSpLocks noChangeShapeType="1"/>
              <a:stCxn id="19476" idx="2"/>
              <a:endCxn id="19475" idx="5"/>
            </p:cNvCxnSpPr>
            <p:nvPr/>
          </p:nvCxnSpPr>
          <p:spPr bwMode="auto">
            <a:xfrm rot="10800000">
              <a:off x="5947032" y="3438247"/>
              <a:ext cx="1444368" cy="37175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0" name="AutoShape 24"/>
            <p:cNvCxnSpPr>
              <a:cxnSpLocks noChangeShapeType="1"/>
              <a:stCxn id="19475" idx="2"/>
              <a:endCxn id="19474" idx="1"/>
            </p:cNvCxnSpPr>
            <p:nvPr/>
          </p:nvCxnSpPr>
          <p:spPr bwMode="auto">
            <a:xfrm rot="10800000" flipV="1">
              <a:off x="5178168" y="3276600"/>
              <a:ext cx="344744" cy="119090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1" name="AutoShape 25"/>
            <p:cNvCxnSpPr>
              <a:cxnSpLocks noChangeShapeType="1"/>
              <a:stCxn id="19474" idx="0"/>
              <a:endCxn id="19475" idx="4"/>
            </p:cNvCxnSpPr>
            <p:nvPr/>
          </p:nvCxnSpPr>
          <p:spPr bwMode="auto">
            <a:xfrm rot="5400000" flipH="1" flipV="1">
              <a:off x="5114925" y="3744120"/>
              <a:ext cx="895350" cy="417512"/>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2" name="AutoShape 26"/>
            <p:cNvCxnSpPr>
              <a:cxnSpLocks noChangeShapeType="1"/>
              <a:stCxn id="19476" idx="4"/>
            </p:cNvCxnSpPr>
            <p:nvPr/>
          </p:nvCxnSpPr>
          <p:spPr bwMode="auto">
            <a:xfrm rot="5400000">
              <a:off x="6296422" y="3380979"/>
              <a:ext cx="685800" cy="2001044"/>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3" name="AutoShape 27"/>
            <p:cNvCxnSpPr>
              <a:cxnSpLocks noChangeShapeType="1"/>
              <a:stCxn id="19476" idx="3"/>
            </p:cNvCxnSpPr>
            <p:nvPr/>
          </p:nvCxnSpPr>
          <p:spPr bwMode="auto">
            <a:xfrm rot="5400000">
              <a:off x="6227354" y="3306892"/>
              <a:ext cx="572060" cy="1901568"/>
            </a:xfrm>
            <a:prstGeom prst="curvedConnector2">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cxnSp>
      </p:grpSp>
      <p:sp>
        <p:nvSpPr>
          <p:cNvPr id="28" name="Rectangle 2"/>
          <p:cNvSpPr txBox="1">
            <a:spLocks noChangeArrowheads="1"/>
          </p:cNvSpPr>
          <p:nvPr/>
        </p:nvSpPr>
        <p:spPr bwMode="auto">
          <a:xfrm>
            <a:off x="685800" y="228600"/>
            <a:ext cx="7772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0" cap="none" spc="0" normalizeH="0" baseline="0" noProof="0" dirty="0">
                <a:ln>
                  <a:noFill/>
                </a:ln>
                <a:solidFill>
                  <a:srgbClr val="0000CC"/>
                </a:solidFill>
                <a:effectLst/>
                <a:uLnTx/>
                <a:uFillTx/>
                <a:latin typeface="+mj-lt"/>
                <a:ea typeface="+mj-ea"/>
                <a:cs typeface="+mj-cs"/>
              </a:rPr>
              <a:t>完全图</a:t>
            </a:r>
            <a:endParaRPr kumimoji="0" lang="en-US" sz="3600" b="1" i="0" u="none" strike="noStrike" kern="0" cap="none" spc="0" normalizeH="0" baseline="0" noProof="0" dirty="0">
              <a:ln>
                <a:noFill/>
              </a:ln>
              <a:solidFill>
                <a:srgbClr val="0000CC"/>
              </a:solidFill>
              <a:effectLst/>
              <a:uLnTx/>
              <a:uFillTx/>
              <a:latin typeface="+mj-lt"/>
              <a:ea typeface="+mj-ea"/>
              <a:cs typeface="+mj-cs"/>
            </a:endParaRPr>
          </a:p>
        </p:txBody>
      </p:sp>
      <p:sp>
        <p:nvSpPr>
          <p:cNvPr id="29" name="Rectangle 2"/>
          <p:cNvSpPr txBox="1">
            <a:spLocks noChangeArrowheads="1"/>
          </p:cNvSpPr>
          <p:nvPr/>
        </p:nvSpPr>
        <p:spPr bwMode="auto">
          <a:xfrm>
            <a:off x="457200" y="2209801"/>
            <a:ext cx="8229600" cy="838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274320" lvl="0" indent="-274320">
              <a:buFont typeface="Wingdings" pitchFamily="2" charset="2"/>
              <a:buChar char="§"/>
              <a:defRPr/>
            </a:pPr>
            <a:r>
              <a:rPr kumimoji="0" lang="zh-CN" altLang="en-US" sz="2400" b="1" i="0" u="none" strike="noStrike" kern="0" cap="none" spc="0" normalizeH="0" baseline="0" noProof="0" dirty="0">
                <a:ln>
                  <a:noFill/>
                </a:ln>
                <a:solidFill>
                  <a:schemeClr val="tx2"/>
                </a:solidFill>
                <a:effectLst/>
                <a:uLnTx/>
                <a:uFillTx/>
                <a:latin typeface="+mj-lt"/>
                <a:ea typeface="+mj-ea"/>
                <a:cs typeface="+mj-cs"/>
              </a:rPr>
              <a:t>如果</a:t>
            </a:r>
            <a:r>
              <a:rPr kumimoji="0" lang="en-US" sz="2400" b="1" i="0" u="none" strike="noStrike" kern="0" cap="none" spc="0" normalizeH="0" baseline="0" noProof="0" dirty="0">
                <a:ln>
                  <a:noFill/>
                </a:ln>
                <a:solidFill>
                  <a:schemeClr val="tx2"/>
                </a:solidFill>
                <a:effectLst/>
                <a:uLnTx/>
                <a:uFillTx/>
                <a:latin typeface="+mj-lt"/>
                <a:ea typeface="+mj-ea"/>
                <a:cs typeface="+mj-cs"/>
              </a:rPr>
              <a:t>(</a:t>
            </a:r>
            <a:r>
              <a:rPr kumimoji="0" lang="en-US" sz="2400" b="1" i="1" u="none" strike="noStrike" kern="0" cap="none" spc="0" normalizeH="0" baseline="0" noProof="0" dirty="0">
                <a:ln>
                  <a:noFill/>
                </a:ln>
                <a:solidFill>
                  <a:schemeClr val="tx2"/>
                </a:solidFill>
                <a:effectLst/>
                <a:uLnTx/>
                <a:uFillTx/>
                <a:latin typeface="+mj-lt"/>
                <a:ea typeface="+mj-ea"/>
                <a:cs typeface="+mj-cs"/>
              </a:rPr>
              <a:t>u</a:t>
            </a:r>
            <a:r>
              <a:rPr kumimoji="0" lang="en-US" sz="2400" b="1" i="0" u="none" strike="noStrike" kern="0" cap="none" spc="0" normalizeH="0" baseline="0" noProof="0" dirty="0">
                <a:ln>
                  <a:noFill/>
                </a:ln>
                <a:solidFill>
                  <a:schemeClr val="tx2"/>
                </a:solidFill>
                <a:effectLst/>
                <a:uLnTx/>
                <a:uFillTx/>
                <a:latin typeface="+mj-lt"/>
                <a:ea typeface="+mj-ea"/>
                <a:cs typeface="+mj-cs"/>
              </a:rPr>
              <a:t>, </a:t>
            </a:r>
            <a:r>
              <a:rPr kumimoji="0" lang="en-US" sz="2400" b="1" i="1" u="none" strike="noStrike" kern="0" cap="none" spc="0" normalizeH="0" baseline="0" noProof="0" dirty="0">
                <a:ln>
                  <a:noFill/>
                </a:ln>
                <a:solidFill>
                  <a:schemeClr val="tx2"/>
                </a:solidFill>
                <a:effectLst/>
                <a:uLnTx/>
                <a:uFillTx/>
                <a:latin typeface="+mj-lt"/>
                <a:ea typeface="+mj-ea"/>
                <a:cs typeface="+mj-cs"/>
              </a:rPr>
              <a:t>v</a:t>
            </a:r>
            <a:r>
              <a:rPr kumimoji="0" lang="en-US" sz="2400" b="1" i="0" u="none" strike="noStrike" kern="0" cap="none" spc="0" normalizeH="0" baseline="0" noProof="0" dirty="0">
                <a:ln>
                  <a:noFill/>
                </a:ln>
                <a:solidFill>
                  <a:schemeClr val="tx2"/>
                </a:solidFill>
                <a:effectLst/>
                <a:uLnTx/>
                <a:uFillTx/>
                <a:latin typeface="+mj-lt"/>
                <a:ea typeface="+mj-ea"/>
                <a:cs typeface="+mj-cs"/>
              </a:rPr>
              <a:t>) </a:t>
            </a:r>
            <a:r>
              <a:rPr lang="zh-CN" altLang="en-US" sz="2400" kern="0" dirty="0">
                <a:solidFill>
                  <a:schemeClr val="tx2"/>
                </a:solidFill>
                <a:latin typeface="+mj-lt"/>
                <a:ea typeface="+mj-ea"/>
                <a:cs typeface="+mj-cs"/>
              </a:rPr>
              <a:t>为</a:t>
            </a:r>
            <a:r>
              <a:rPr kumimoji="0" lang="en-US" sz="2400" b="1" i="1" u="none" strike="noStrike" kern="0" cap="none" spc="0" normalizeH="0" baseline="0" noProof="0" dirty="0">
                <a:ln>
                  <a:noFill/>
                </a:ln>
                <a:solidFill>
                  <a:schemeClr val="tx2"/>
                </a:solidFill>
                <a:effectLst/>
                <a:uLnTx/>
                <a:uFillTx/>
                <a:latin typeface="+mj-lt"/>
                <a:ea typeface="+mj-ea"/>
                <a:cs typeface="+mj-cs"/>
              </a:rPr>
              <a:t>G</a:t>
            </a:r>
            <a:r>
              <a:rPr kumimoji="0" lang="zh-CN" altLang="en-US" sz="2400" b="1" u="none" strike="noStrike" kern="0" cap="none" spc="0" normalizeH="0" baseline="0" noProof="0" dirty="0">
                <a:ln>
                  <a:noFill/>
                </a:ln>
                <a:solidFill>
                  <a:schemeClr val="tx2"/>
                </a:solidFill>
                <a:effectLst/>
                <a:uLnTx/>
                <a:uFillTx/>
                <a:latin typeface="+mj-lt"/>
                <a:ea typeface="+mj-ea"/>
                <a:cs typeface="+mj-cs"/>
              </a:rPr>
              <a:t>中一条边</a:t>
            </a:r>
            <a:r>
              <a:rPr kumimoji="0" lang="en-US" sz="2400" b="1" i="0" u="none" strike="noStrike" kern="0" cap="none" spc="0" normalizeH="0" baseline="0" noProof="0" dirty="0">
                <a:ln>
                  <a:noFill/>
                </a:ln>
                <a:solidFill>
                  <a:schemeClr val="tx2"/>
                </a:solidFill>
                <a:effectLst/>
                <a:uLnTx/>
                <a:uFillTx/>
                <a:latin typeface="+mj-lt"/>
                <a:ea typeface="+mj-ea"/>
                <a:cs typeface="+mj-cs"/>
              </a:rPr>
              <a:t>, </a:t>
            </a:r>
            <a:r>
              <a:rPr kumimoji="0" lang="zh-CN" altLang="en-US" sz="2400" b="1" i="0" u="none" strike="noStrike" kern="0" cap="none" spc="0" normalizeH="0" baseline="0" noProof="0" dirty="0">
                <a:ln>
                  <a:noFill/>
                </a:ln>
                <a:solidFill>
                  <a:schemeClr val="tx2"/>
                </a:solidFill>
                <a:effectLst/>
                <a:uLnTx/>
                <a:uFillTx/>
                <a:latin typeface="+mj-lt"/>
                <a:ea typeface="+mj-ea"/>
                <a:cs typeface="+mj-cs"/>
              </a:rPr>
              <a:t>我们称节点</a:t>
            </a:r>
            <a:r>
              <a:rPr lang="en-US" altLang="zh-CN" sz="2400" i="1" kern="0" dirty="0">
                <a:solidFill>
                  <a:schemeClr val="tx2"/>
                </a:solidFill>
              </a:rPr>
              <a:t>u </a:t>
            </a:r>
            <a:r>
              <a:rPr kumimoji="0" lang="zh-CN" altLang="en-US" sz="2400" b="1" i="0" u="none" strike="noStrike" kern="0" cap="none" spc="0" normalizeH="0" baseline="0" noProof="0" dirty="0">
                <a:ln>
                  <a:noFill/>
                </a:ln>
                <a:solidFill>
                  <a:schemeClr val="tx2"/>
                </a:solidFill>
                <a:effectLst/>
                <a:uLnTx/>
                <a:uFillTx/>
                <a:latin typeface="+mj-lt"/>
                <a:ea typeface="+mj-ea"/>
                <a:cs typeface="+mj-cs"/>
              </a:rPr>
              <a:t>与节点</a:t>
            </a:r>
            <a:r>
              <a:rPr lang="en-US" altLang="zh-CN" sz="2400" i="1" kern="0" dirty="0">
                <a:solidFill>
                  <a:schemeClr val="tx2"/>
                </a:solidFill>
              </a:rPr>
              <a:t>v</a:t>
            </a:r>
            <a:r>
              <a:rPr kumimoji="0" lang="zh-CN" altLang="en-US" sz="2400" b="1" i="1" u="none" strike="noStrike" kern="0" cap="none" spc="0" normalizeH="0" baseline="0" noProof="0" dirty="0">
                <a:ln>
                  <a:noFill/>
                </a:ln>
                <a:solidFill>
                  <a:srgbClr val="FF0000"/>
                </a:solidFill>
                <a:effectLst/>
                <a:uLnTx/>
                <a:uFillTx/>
                <a:latin typeface="+mj-lt"/>
                <a:ea typeface="+mj-ea"/>
                <a:cs typeface="+mj-cs"/>
              </a:rPr>
              <a:t>邻接</a:t>
            </a:r>
            <a:endParaRPr kumimoji="0" lang="en-US" sz="2400" b="1" i="1" u="none" strike="noStrike" kern="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169001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47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3" grpId="0"/>
      <p:bldP spid="1947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28600" y="1371600"/>
            <a:ext cx="8686800" cy="1219200"/>
          </a:xfrm>
        </p:spPr>
        <p:txBody>
          <a:bodyPr/>
          <a:lstStyle/>
          <a:p>
            <a:pPr marL="320040" indent="-320040" algn="l">
              <a:buFont typeface="Wingdings" pitchFamily="2" charset="2"/>
              <a:buChar char="§"/>
            </a:pPr>
            <a:r>
              <a:rPr lang="zh-CN" altLang="en-US" sz="2400" b="1" dirty="0"/>
              <a:t>一个</a:t>
            </a:r>
            <a:r>
              <a:rPr lang="zh-CN" altLang="en-US" sz="2400" b="1" i="1" dirty="0">
                <a:solidFill>
                  <a:srgbClr val="FF0000"/>
                </a:solidFill>
              </a:rPr>
              <a:t>二分图</a:t>
            </a:r>
            <a:r>
              <a:rPr lang="zh-CN" altLang="en-US" sz="2400" b="1" dirty="0"/>
              <a:t>是一个无向图</a:t>
            </a:r>
            <a:r>
              <a:rPr lang="en-US" sz="2400" b="1" dirty="0"/>
              <a:t> </a:t>
            </a:r>
            <a:r>
              <a:rPr lang="en-US" sz="2400" b="1" i="1" dirty="0"/>
              <a:t>G</a:t>
            </a:r>
            <a:r>
              <a:rPr lang="en-US" sz="2400" b="1" dirty="0"/>
              <a:t> = (</a:t>
            </a:r>
            <a:r>
              <a:rPr lang="en-US" sz="2400" b="1" i="1" dirty="0"/>
              <a:t>V,E</a:t>
            </a:r>
            <a:r>
              <a:rPr lang="en-US" sz="2400" b="1" dirty="0"/>
              <a:t>) </a:t>
            </a:r>
            <a:r>
              <a:rPr lang="zh-CN" altLang="en-US" sz="2400" b="1" dirty="0"/>
              <a:t>，其中</a:t>
            </a:r>
            <a:r>
              <a:rPr lang="en-US" sz="2400" b="1" dirty="0"/>
              <a:t> </a:t>
            </a:r>
            <a:r>
              <a:rPr lang="en-US" sz="2400" b="1" i="1" dirty="0"/>
              <a:t>V</a:t>
            </a:r>
            <a:r>
              <a:rPr lang="en-US" sz="2400" b="1" dirty="0"/>
              <a:t> </a:t>
            </a:r>
            <a:r>
              <a:rPr lang="zh-CN" altLang="en-US" sz="2400" b="1" dirty="0"/>
              <a:t>可以划分为</a:t>
            </a:r>
            <a:r>
              <a:rPr lang="en-US" sz="2400" b="1" dirty="0"/>
              <a:t>2 </a:t>
            </a:r>
            <a:r>
              <a:rPr lang="zh-CN" altLang="en-US" sz="2400" b="1" dirty="0"/>
              <a:t>个集合</a:t>
            </a:r>
            <a:r>
              <a:rPr lang="en-US" sz="2400" b="1" dirty="0"/>
              <a:t> </a:t>
            </a:r>
            <a:r>
              <a:rPr lang="en-US" sz="2400" b="1" i="1" dirty="0"/>
              <a:t>V</a:t>
            </a:r>
            <a:r>
              <a:rPr lang="en-US" sz="2400" b="1" baseline="-25000" dirty="0"/>
              <a:t>1</a:t>
            </a:r>
            <a:r>
              <a:rPr lang="en-US" sz="2400" b="1" dirty="0"/>
              <a:t> </a:t>
            </a:r>
            <a:r>
              <a:rPr lang="zh-CN" altLang="en-US" sz="2400" b="1" dirty="0"/>
              <a:t>和</a:t>
            </a:r>
            <a:r>
              <a:rPr lang="en-US" sz="2400" b="1" i="1" dirty="0"/>
              <a:t>V</a:t>
            </a:r>
            <a:r>
              <a:rPr lang="en-US" sz="2400" b="1" baseline="-25000" dirty="0"/>
              <a:t>2</a:t>
            </a:r>
            <a:r>
              <a:rPr lang="en-US" sz="2400" b="1" dirty="0"/>
              <a:t> </a:t>
            </a:r>
            <a:r>
              <a:rPr lang="zh-CN" altLang="en-US" sz="2400" b="1" dirty="0"/>
              <a:t>，且对于任意条边</a:t>
            </a:r>
            <a:r>
              <a:rPr lang="en-US" sz="2400" b="1" dirty="0"/>
              <a:t> (</a:t>
            </a:r>
            <a:r>
              <a:rPr lang="en-US" sz="2400" b="1" i="1" dirty="0"/>
              <a:t>u</a:t>
            </a:r>
            <a:r>
              <a:rPr lang="en-US" sz="2400" b="1" dirty="0"/>
              <a:t>, </a:t>
            </a:r>
            <a:r>
              <a:rPr lang="en-US" sz="2400" b="1" i="1" dirty="0"/>
              <a:t>v</a:t>
            </a:r>
            <a:r>
              <a:rPr lang="en-US" sz="2400" b="1" dirty="0"/>
              <a:t>) </a:t>
            </a:r>
            <a:r>
              <a:rPr lang="en-US" sz="2400" b="1" dirty="0">
                <a:sym typeface="Symbol" pitchFamily="18" charset="2"/>
              </a:rPr>
              <a:t></a:t>
            </a:r>
            <a:r>
              <a:rPr lang="en-US" sz="2400" b="1" i="1" dirty="0">
                <a:sym typeface="Symbol" pitchFamily="18" charset="2"/>
              </a:rPr>
              <a:t>E</a:t>
            </a:r>
            <a:r>
              <a:rPr lang="zh-CN" altLang="en-US" sz="2400" b="1" i="1" dirty="0">
                <a:sym typeface="Symbol" pitchFamily="18" charset="2"/>
              </a:rPr>
              <a:t>，都有</a:t>
            </a:r>
            <a:r>
              <a:rPr lang="en-US" sz="2400" b="1" dirty="0">
                <a:sym typeface="Symbol" pitchFamily="18" charset="2"/>
              </a:rPr>
              <a:t> </a:t>
            </a:r>
            <a:r>
              <a:rPr lang="en-US" sz="2400" b="1" i="1" dirty="0"/>
              <a:t>u</a:t>
            </a:r>
            <a:r>
              <a:rPr lang="en-US" sz="2400" b="1" dirty="0"/>
              <a:t> </a:t>
            </a:r>
            <a:r>
              <a:rPr lang="en-US" sz="2400" b="1" dirty="0">
                <a:sym typeface="Symbol" pitchFamily="18" charset="2"/>
              </a:rPr>
              <a:t></a:t>
            </a:r>
            <a:r>
              <a:rPr lang="en-US" sz="2400" b="1" i="1" dirty="0">
                <a:sym typeface="Symbol" pitchFamily="18" charset="2"/>
              </a:rPr>
              <a:t>V</a:t>
            </a:r>
            <a:r>
              <a:rPr lang="en-US" sz="2400" b="1" baseline="-25000" dirty="0">
                <a:sym typeface="Symbol" pitchFamily="18" charset="2"/>
              </a:rPr>
              <a:t>1</a:t>
            </a:r>
            <a:r>
              <a:rPr lang="zh-CN" altLang="en-US" sz="2400" b="1" dirty="0">
                <a:sym typeface="Symbol" pitchFamily="18" charset="2"/>
              </a:rPr>
              <a:t>且</a:t>
            </a:r>
            <a:r>
              <a:rPr lang="en-US" sz="2400" b="1" i="1" dirty="0"/>
              <a:t>v</a:t>
            </a:r>
            <a:r>
              <a:rPr lang="en-US" sz="2400" b="1" dirty="0"/>
              <a:t> </a:t>
            </a:r>
            <a:r>
              <a:rPr lang="en-US" sz="2400" b="1" dirty="0">
                <a:sym typeface="Symbol" pitchFamily="18" charset="2"/>
              </a:rPr>
              <a:t></a:t>
            </a:r>
            <a:r>
              <a:rPr lang="en-US" sz="2400" b="1" i="1" dirty="0">
                <a:sym typeface="Symbol" pitchFamily="18" charset="2"/>
              </a:rPr>
              <a:t>V</a:t>
            </a:r>
            <a:r>
              <a:rPr lang="en-US" sz="2400" b="1" baseline="-25000" dirty="0">
                <a:sym typeface="Symbol" pitchFamily="18" charset="2"/>
              </a:rPr>
              <a:t>2 </a:t>
            </a:r>
            <a:r>
              <a:rPr lang="zh-CN" altLang="en-US" sz="2400" b="1" baseline="-25000" dirty="0">
                <a:sym typeface="Symbol" pitchFamily="18" charset="2"/>
              </a:rPr>
              <a:t>，</a:t>
            </a:r>
            <a:r>
              <a:rPr lang="zh-CN" altLang="en-US" sz="2400" b="1" dirty="0">
                <a:sym typeface="Symbol" pitchFamily="18" charset="2"/>
              </a:rPr>
              <a:t>或者</a:t>
            </a:r>
            <a:r>
              <a:rPr lang="en-US" sz="2400" b="1" i="1" dirty="0"/>
              <a:t>v</a:t>
            </a:r>
            <a:r>
              <a:rPr lang="en-US" sz="2400" b="1" dirty="0"/>
              <a:t> </a:t>
            </a:r>
            <a:r>
              <a:rPr lang="en-US" sz="2400" b="1" dirty="0">
                <a:sym typeface="Symbol" pitchFamily="18" charset="2"/>
              </a:rPr>
              <a:t></a:t>
            </a:r>
            <a:r>
              <a:rPr lang="en-US" sz="2400" b="1" i="1" dirty="0">
                <a:sym typeface="Symbol" pitchFamily="18" charset="2"/>
              </a:rPr>
              <a:t>V</a:t>
            </a:r>
            <a:r>
              <a:rPr lang="en-US" sz="2400" b="1" baseline="-25000" dirty="0">
                <a:sym typeface="Symbol" pitchFamily="18" charset="2"/>
              </a:rPr>
              <a:t>1 </a:t>
            </a:r>
            <a:r>
              <a:rPr lang="en-US" sz="2400" b="1" dirty="0">
                <a:sym typeface="Symbol" pitchFamily="18" charset="2"/>
              </a:rPr>
              <a:t> </a:t>
            </a:r>
            <a:r>
              <a:rPr lang="zh-CN" altLang="en-US" sz="2400" b="1" dirty="0">
                <a:sym typeface="Symbol" pitchFamily="18" charset="2"/>
              </a:rPr>
              <a:t>且</a:t>
            </a:r>
            <a:r>
              <a:rPr lang="en-US" sz="2400" b="1" i="1" dirty="0">
                <a:sym typeface="Symbol" pitchFamily="18" charset="2"/>
              </a:rPr>
              <a:t>u</a:t>
            </a:r>
            <a:r>
              <a:rPr lang="en-US" sz="2400" b="1" dirty="0">
                <a:sym typeface="Symbol" pitchFamily="18" charset="2"/>
              </a:rPr>
              <a:t></a:t>
            </a:r>
            <a:r>
              <a:rPr lang="en-US" sz="2400" b="1" i="1" dirty="0">
                <a:sym typeface="Symbol" pitchFamily="18" charset="2"/>
              </a:rPr>
              <a:t>V</a:t>
            </a:r>
            <a:r>
              <a:rPr lang="en-US" sz="2400" b="1" baseline="-25000" dirty="0">
                <a:sym typeface="Symbol" pitchFamily="18" charset="2"/>
              </a:rPr>
              <a:t>2.</a:t>
            </a:r>
          </a:p>
        </p:txBody>
      </p:sp>
      <p:sp>
        <p:nvSpPr>
          <p:cNvPr id="20483" name="Oval 3"/>
          <p:cNvSpPr>
            <a:spLocks noChangeArrowheads="1"/>
          </p:cNvSpPr>
          <p:nvPr/>
        </p:nvSpPr>
        <p:spPr bwMode="auto">
          <a:xfrm>
            <a:off x="2438400" y="35052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4" name="Oval 4"/>
          <p:cNvSpPr>
            <a:spLocks noChangeArrowheads="1"/>
          </p:cNvSpPr>
          <p:nvPr/>
        </p:nvSpPr>
        <p:spPr bwMode="auto">
          <a:xfrm>
            <a:off x="3886200" y="32004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85" name="Oval 5"/>
          <p:cNvSpPr>
            <a:spLocks noChangeArrowheads="1"/>
          </p:cNvSpPr>
          <p:nvPr/>
        </p:nvSpPr>
        <p:spPr bwMode="auto">
          <a:xfrm>
            <a:off x="2438400" y="43434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6" name="Oval 6"/>
          <p:cNvSpPr>
            <a:spLocks noChangeArrowheads="1"/>
          </p:cNvSpPr>
          <p:nvPr/>
        </p:nvSpPr>
        <p:spPr bwMode="auto">
          <a:xfrm>
            <a:off x="2438400" y="52578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7" name="Oval 7"/>
          <p:cNvSpPr>
            <a:spLocks noChangeArrowheads="1"/>
          </p:cNvSpPr>
          <p:nvPr/>
        </p:nvSpPr>
        <p:spPr bwMode="auto">
          <a:xfrm>
            <a:off x="2438400" y="27432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8" name="Oval 8"/>
          <p:cNvSpPr>
            <a:spLocks noChangeArrowheads="1"/>
          </p:cNvSpPr>
          <p:nvPr/>
        </p:nvSpPr>
        <p:spPr bwMode="auto">
          <a:xfrm>
            <a:off x="3886200" y="40386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89" name="Oval 9"/>
          <p:cNvSpPr>
            <a:spLocks noChangeArrowheads="1"/>
          </p:cNvSpPr>
          <p:nvPr/>
        </p:nvSpPr>
        <p:spPr bwMode="auto">
          <a:xfrm>
            <a:off x="3886200" y="47244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90" name="Line 10"/>
          <p:cNvSpPr>
            <a:spLocks noChangeShapeType="1"/>
          </p:cNvSpPr>
          <p:nvPr/>
        </p:nvSpPr>
        <p:spPr bwMode="auto">
          <a:xfrm>
            <a:off x="2971800" y="3048000"/>
            <a:ext cx="914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1" name="Line 11"/>
          <p:cNvSpPr>
            <a:spLocks noChangeShapeType="1"/>
          </p:cNvSpPr>
          <p:nvPr/>
        </p:nvSpPr>
        <p:spPr bwMode="auto">
          <a:xfrm flipH="1">
            <a:off x="2971800" y="3429000"/>
            <a:ext cx="914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2" name="Line 12"/>
          <p:cNvSpPr>
            <a:spLocks noChangeShapeType="1"/>
          </p:cNvSpPr>
          <p:nvPr/>
        </p:nvSpPr>
        <p:spPr bwMode="auto">
          <a:xfrm flipV="1">
            <a:off x="2971800" y="4419600"/>
            <a:ext cx="990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3" name="Line 13"/>
          <p:cNvSpPr>
            <a:spLocks noChangeShapeType="1"/>
          </p:cNvSpPr>
          <p:nvPr/>
        </p:nvSpPr>
        <p:spPr bwMode="auto">
          <a:xfrm flipV="1">
            <a:off x="2971800" y="4343400"/>
            <a:ext cx="914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4" name="Line 14"/>
          <p:cNvSpPr>
            <a:spLocks noChangeShapeType="1"/>
          </p:cNvSpPr>
          <p:nvPr/>
        </p:nvSpPr>
        <p:spPr bwMode="auto">
          <a:xfrm>
            <a:off x="2971800" y="3810000"/>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5" name="Line 15"/>
          <p:cNvSpPr>
            <a:spLocks noChangeShapeType="1"/>
          </p:cNvSpPr>
          <p:nvPr/>
        </p:nvSpPr>
        <p:spPr bwMode="auto">
          <a:xfrm>
            <a:off x="2895600" y="3886200"/>
            <a:ext cx="1066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Rectangle 2"/>
          <p:cNvSpPr txBox="1">
            <a:spLocks noChangeArrowheads="1"/>
          </p:cNvSpPr>
          <p:nvPr/>
        </p:nvSpPr>
        <p:spPr bwMode="auto">
          <a:xfrm>
            <a:off x="685800" y="228600"/>
            <a:ext cx="7772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0" cap="none" spc="0" normalizeH="0" baseline="0" noProof="0" dirty="0">
                <a:ln>
                  <a:noFill/>
                </a:ln>
                <a:solidFill>
                  <a:srgbClr val="0000CC"/>
                </a:solidFill>
                <a:effectLst/>
                <a:uLnTx/>
                <a:uFillTx/>
                <a:latin typeface="+mj-lt"/>
                <a:ea typeface="+mj-ea"/>
                <a:cs typeface="+mj-cs"/>
              </a:rPr>
              <a:t>二分图</a:t>
            </a:r>
            <a:endParaRPr kumimoji="0" lang="en-US" sz="3600" b="1" i="0" u="none" strike="noStrike" kern="0" cap="none" spc="0" normalizeH="0" baseline="0" noProof="0" dirty="0">
              <a:ln>
                <a:noFill/>
              </a:ln>
              <a:solidFill>
                <a:srgbClr val="0000CC"/>
              </a:solidFill>
              <a:effectLst/>
              <a:uLnTx/>
              <a:uFillTx/>
              <a:latin typeface="+mj-lt"/>
              <a:ea typeface="+mj-ea"/>
              <a:cs typeface="+mj-cs"/>
            </a:endParaRPr>
          </a:p>
        </p:txBody>
      </p:sp>
      <p:sp>
        <p:nvSpPr>
          <p:cNvPr id="2" name="TextBox 1"/>
          <p:cNvSpPr txBox="1"/>
          <p:nvPr/>
        </p:nvSpPr>
        <p:spPr>
          <a:xfrm>
            <a:off x="2484527" y="5867400"/>
            <a:ext cx="492443" cy="461665"/>
          </a:xfrm>
          <a:prstGeom prst="rect">
            <a:avLst/>
          </a:prstGeom>
          <a:noFill/>
        </p:spPr>
        <p:txBody>
          <a:bodyPr wrap="none" rtlCol="0">
            <a:spAutoFit/>
          </a:bodyPr>
          <a:lstStyle/>
          <a:p>
            <a:r>
              <a:rPr lang="en-US" sz="2400" i="1" dirty="0"/>
              <a:t>V</a:t>
            </a:r>
            <a:r>
              <a:rPr lang="en-US" sz="2400" baseline="-25000" dirty="0"/>
              <a:t>1</a:t>
            </a:r>
            <a:endParaRPr lang="en-US" sz="2400" dirty="0"/>
          </a:p>
        </p:txBody>
      </p:sp>
      <p:sp>
        <p:nvSpPr>
          <p:cNvPr id="18" name="TextBox 17"/>
          <p:cNvSpPr txBox="1"/>
          <p:nvPr/>
        </p:nvSpPr>
        <p:spPr>
          <a:xfrm>
            <a:off x="3962400" y="5636567"/>
            <a:ext cx="492443" cy="461665"/>
          </a:xfrm>
          <a:prstGeom prst="rect">
            <a:avLst/>
          </a:prstGeom>
          <a:noFill/>
        </p:spPr>
        <p:txBody>
          <a:bodyPr wrap="none" rtlCol="0">
            <a:spAutoFit/>
          </a:bodyPr>
          <a:lstStyle/>
          <a:p>
            <a:r>
              <a:rPr lang="en-US" sz="2400" i="1" dirty="0"/>
              <a:t>V</a:t>
            </a:r>
            <a:r>
              <a:rPr lang="en-US" sz="2400" baseline="-25000" dirty="0"/>
              <a:t>2</a:t>
            </a:r>
            <a:endParaRPr lang="en-US" sz="2400" dirty="0"/>
          </a:p>
        </p:txBody>
      </p:sp>
    </p:spTree>
    <p:extLst>
      <p:ext uri="{BB962C8B-B14F-4D97-AF65-F5344CB8AC3E}">
        <p14:creationId xmlns:p14="http://schemas.microsoft.com/office/powerpoint/2010/main" val="2670889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3"/>
          <p:cNvSpPr>
            <a:spLocks noGrp="1"/>
          </p:cNvSpPr>
          <p:nvPr>
            <p:ph type="title"/>
          </p:nvPr>
        </p:nvSpPr>
        <p:spPr>
          <a:xfrm>
            <a:off x="685800" y="304800"/>
            <a:ext cx="7772400" cy="914400"/>
          </a:xfrm>
        </p:spPr>
        <p:txBody>
          <a:bodyPr/>
          <a:lstStyle/>
          <a:p>
            <a:r>
              <a:rPr lang="zh-CN" altLang="en-US" sz="3600" b="1" dirty="0">
                <a:solidFill>
                  <a:srgbClr val="0000CC"/>
                </a:solidFill>
              </a:rPr>
              <a:t>树</a:t>
            </a:r>
            <a:endParaRPr lang="en-US" sz="3600" b="1" dirty="0">
              <a:solidFill>
                <a:srgbClr val="0000CC"/>
              </a:solidFill>
            </a:endParaRPr>
          </a:p>
        </p:txBody>
      </p:sp>
      <p:sp>
        <p:nvSpPr>
          <p:cNvPr id="21507" name="Rectangle 3"/>
          <p:cNvSpPr>
            <a:spLocks noGrp="1" noChangeArrowheads="1"/>
          </p:cNvSpPr>
          <p:nvPr>
            <p:ph idx="1"/>
          </p:nvPr>
        </p:nvSpPr>
        <p:spPr>
          <a:xfrm>
            <a:off x="533400" y="1524000"/>
            <a:ext cx="7772400" cy="4724400"/>
          </a:xfrm>
        </p:spPr>
        <p:txBody>
          <a:bodyPr/>
          <a:lstStyle/>
          <a:p>
            <a:pPr>
              <a:lnSpc>
                <a:spcPct val="90000"/>
              </a:lnSpc>
            </a:pPr>
            <a:r>
              <a:rPr lang="zh-CN" altLang="en-US" sz="2400" b="1" dirty="0"/>
              <a:t>一颗</a:t>
            </a:r>
            <a:r>
              <a:rPr lang="zh-CN" altLang="en-US" sz="2400" b="1" i="1" dirty="0">
                <a:solidFill>
                  <a:srgbClr val="FF0000"/>
                </a:solidFill>
              </a:rPr>
              <a:t>自由树</a:t>
            </a:r>
            <a:r>
              <a:rPr lang="zh-CN" altLang="en-US" sz="2400" b="1" dirty="0"/>
              <a:t>为一个无环、连通的无向图</a:t>
            </a:r>
            <a:endParaRPr lang="en-US" sz="2400" b="1" dirty="0"/>
          </a:p>
          <a:p>
            <a:pPr>
              <a:lnSpc>
                <a:spcPct val="90000"/>
              </a:lnSpc>
            </a:pPr>
            <a:r>
              <a:rPr lang="zh-CN" altLang="en-US" sz="2400" b="1" dirty="0"/>
              <a:t>一个</a:t>
            </a:r>
            <a:r>
              <a:rPr lang="zh-CN" altLang="en-US" sz="2400" b="1" i="1" dirty="0">
                <a:solidFill>
                  <a:srgbClr val="FF0000"/>
                </a:solidFill>
              </a:rPr>
              <a:t>森林</a:t>
            </a:r>
            <a:r>
              <a:rPr lang="zh-CN" altLang="en-US" sz="2400" b="1" dirty="0"/>
              <a:t>为一个无环无向图</a:t>
            </a:r>
            <a:endParaRPr lang="en-US" sz="2400" b="1" dirty="0"/>
          </a:p>
          <a:p>
            <a:pPr>
              <a:lnSpc>
                <a:spcPct val="90000"/>
              </a:lnSpc>
            </a:pPr>
            <a:r>
              <a:rPr lang="zh-CN" altLang="en-US" sz="2400" b="1" dirty="0"/>
              <a:t>一颗</a:t>
            </a:r>
            <a:r>
              <a:rPr lang="zh-CN" altLang="en-US" sz="2400" b="1" i="1" dirty="0">
                <a:solidFill>
                  <a:srgbClr val="FF0000"/>
                </a:solidFill>
              </a:rPr>
              <a:t>有根树</a:t>
            </a:r>
            <a:r>
              <a:rPr lang="zh-CN" altLang="en-US" sz="2400" b="1" dirty="0"/>
              <a:t>指的是树中有一个节点被设置为</a:t>
            </a:r>
            <a:r>
              <a:rPr lang="zh-CN" altLang="en-US" sz="2400" b="1" i="1" dirty="0">
                <a:solidFill>
                  <a:srgbClr val="FF0000"/>
                </a:solidFill>
              </a:rPr>
              <a:t>根节点</a:t>
            </a:r>
            <a:endParaRPr lang="en-US" sz="2400" b="1" i="1" dirty="0">
              <a:solidFill>
                <a:srgbClr val="FF0000"/>
              </a:solidFill>
            </a:endParaRPr>
          </a:p>
        </p:txBody>
      </p:sp>
      <p:sp>
        <p:nvSpPr>
          <p:cNvPr id="21508" name="Line 4"/>
          <p:cNvSpPr>
            <a:spLocks noChangeShapeType="1"/>
          </p:cNvSpPr>
          <p:nvPr/>
        </p:nvSpPr>
        <p:spPr bwMode="auto">
          <a:xfrm flipH="1">
            <a:off x="3962400" y="3657600"/>
            <a:ext cx="228600" cy="3810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09" name="Line 5"/>
          <p:cNvSpPr>
            <a:spLocks noChangeShapeType="1"/>
          </p:cNvSpPr>
          <p:nvPr/>
        </p:nvSpPr>
        <p:spPr bwMode="auto">
          <a:xfrm>
            <a:off x="3962400" y="4038600"/>
            <a:ext cx="76200" cy="6096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0" name="Line 6"/>
          <p:cNvSpPr>
            <a:spLocks noChangeShapeType="1"/>
          </p:cNvSpPr>
          <p:nvPr/>
        </p:nvSpPr>
        <p:spPr bwMode="auto">
          <a:xfrm>
            <a:off x="3962400" y="4038600"/>
            <a:ext cx="685800" cy="3048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1" name="Line 7"/>
          <p:cNvSpPr>
            <a:spLocks noChangeShapeType="1"/>
          </p:cNvSpPr>
          <p:nvPr/>
        </p:nvSpPr>
        <p:spPr bwMode="auto">
          <a:xfrm flipH="1">
            <a:off x="4572000" y="4343400"/>
            <a:ext cx="76200" cy="6858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2" name="Line 8"/>
          <p:cNvSpPr>
            <a:spLocks noChangeShapeType="1"/>
          </p:cNvSpPr>
          <p:nvPr/>
        </p:nvSpPr>
        <p:spPr bwMode="auto">
          <a:xfrm flipH="1">
            <a:off x="3505200" y="4648200"/>
            <a:ext cx="533400" cy="762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3" name="Line 9"/>
          <p:cNvSpPr>
            <a:spLocks noChangeShapeType="1"/>
          </p:cNvSpPr>
          <p:nvPr/>
        </p:nvSpPr>
        <p:spPr bwMode="auto">
          <a:xfrm>
            <a:off x="4038600" y="4648200"/>
            <a:ext cx="76200" cy="6096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4" name="Line 10"/>
          <p:cNvSpPr>
            <a:spLocks noChangeShapeType="1"/>
          </p:cNvSpPr>
          <p:nvPr/>
        </p:nvSpPr>
        <p:spPr bwMode="auto">
          <a:xfrm flipH="1">
            <a:off x="5638800" y="4038600"/>
            <a:ext cx="228600" cy="5334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5" name="Line 11"/>
          <p:cNvSpPr>
            <a:spLocks noChangeShapeType="1"/>
          </p:cNvSpPr>
          <p:nvPr/>
        </p:nvSpPr>
        <p:spPr bwMode="auto">
          <a:xfrm flipH="1">
            <a:off x="1981200" y="3962400"/>
            <a:ext cx="304800" cy="5334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6" name="Line 12"/>
          <p:cNvSpPr>
            <a:spLocks noChangeShapeType="1"/>
          </p:cNvSpPr>
          <p:nvPr/>
        </p:nvSpPr>
        <p:spPr bwMode="auto">
          <a:xfrm>
            <a:off x="2286000" y="3962400"/>
            <a:ext cx="533400" cy="3810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7" name="Line 13"/>
          <p:cNvSpPr>
            <a:spLocks noChangeShapeType="1"/>
          </p:cNvSpPr>
          <p:nvPr/>
        </p:nvSpPr>
        <p:spPr bwMode="auto">
          <a:xfrm flipH="1">
            <a:off x="2743200" y="4343400"/>
            <a:ext cx="76200" cy="4572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45938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3"/>
          <p:cNvSpPr>
            <a:spLocks noGrp="1"/>
          </p:cNvSpPr>
          <p:nvPr>
            <p:ph type="title"/>
          </p:nvPr>
        </p:nvSpPr>
        <p:spPr>
          <a:xfrm>
            <a:off x="685800" y="228600"/>
            <a:ext cx="7772400" cy="990600"/>
          </a:xfrm>
        </p:spPr>
        <p:txBody>
          <a:bodyPr/>
          <a:lstStyle/>
          <a:p>
            <a:r>
              <a:rPr lang="zh-CN" altLang="en-US" sz="3600" b="1" dirty="0">
                <a:solidFill>
                  <a:srgbClr val="0000CC"/>
                </a:solidFill>
              </a:rPr>
              <a:t>树的性质</a:t>
            </a:r>
            <a:endParaRPr lang="en-US" sz="3600" b="1" dirty="0">
              <a:solidFill>
                <a:srgbClr val="0000CC"/>
              </a:solidFill>
            </a:endParaRPr>
          </a:p>
        </p:txBody>
      </p:sp>
      <p:sp>
        <p:nvSpPr>
          <p:cNvPr id="22531" name="Rectangle 3"/>
          <p:cNvSpPr>
            <a:spLocks noGrp="1" noChangeArrowheads="1"/>
          </p:cNvSpPr>
          <p:nvPr>
            <p:ph idx="1"/>
          </p:nvPr>
        </p:nvSpPr>
        <p:spPr>
          <a:xfrm>
            <a:off x="228600" y="1371600"/>
            <a:ext cx="8763000" cy="5029200"/>
          </a:xfrm>
        </p:spPr>
        <p:txBody>
          <a:bodyPr/>
          <a:lstStyle/>
          <a:p>
            <a:pPr>
              <a:lnSpc>
                <a:spcPct val="90000"/>
              </a:lnSpc>
              <a:buFont typeface="Wingdings" charset="2"/>
              <a:buNone/>
            </a:pPr>
            <a:r>
              <a:rPr lang="zh-CN" altLang="en-US" sz="2400" b="1" dirty="0"/>
              <a:t>令</a:t>
            </a:r>
            <a:r>
              <a:rPr lang="en-US" sz="2400" b="1" i="1" dirty="0"/>
              <a:t>G </a:t>
            </a:r>
            <a:r>
              <a:rPr lang="en-US" sz="2400" b="1" dirty="0"/>
              <a:t>= (</a:t>
            </a:r>
            <a:r>
              <a:rPr lang="en-US" sz="2400" b="1" i="1" dirty="0"/>
              <a:t>V</a:t>
            </a:r>
            <a:r>
              <a:rPr lang="en-US" sz="2400" b="1" dirty="0"/>
              <a:t>, </a:t>
            </a:r>
            <a:r>
              <a:rPr lang="en-US" sz="2400" b="1" i="1" dirty="0"/>
              <a:t>E</a:t>
            </a:r>
            <a:r>
              <a:rPr lang="en-US" sz="2400" b="1" dirty="0"/>
              <a:t> ) </a:t>
            </a:r>
            <a:r>
              <a:rPr lang="zh-CN" altLang="en-US" sz="2400" b="1" dirty="0"/>
              <a:t>为一个无向图</a:t>
            </a:r>
            <a:endParaRPr lang="en-US" sz="2400" b="1" dirty="0"/>
          </a:p>
          <a:p>
            <a:pPr>
              <a:lnSpc>
                <a:spcPct val="90000"/>
              </a:lnSpc>
            </a:pPr>
            <a:r>
              <a:rPr lang="zh-CN" altLang="en-US" sz="2400" b="1" dirty="0"/>
              <a:t>如果</a:t>
            </a:r>
            <a:r>
              <a:rPr lang="en-US" altLang="zh-CN" sz="2400" b="1" dirty="0"/>
              <a:t>G</a:t>
            </a:r>
            <a:r>
              <a:rPr lang="zh-CN" altLang="en-US" sz="2400" b="1" dirty="0"/>
              <a:t>是一颗树，则满足以下性质：</a:t>
            </a:r>
            <a:endParaRPr lang="en-US" sz="2400" b="1" dirty="0"/>
          </a:p>
          <a:p>
            <a:pPr marL="0" indent="0">
              <a:lnSpc>
                <a:spcPct val="90000"/>
              </a:lnSpc>
              <a:buNone/>
            </a:pPr>
            <a:r>
              <a:rPr lang="en-US" sz="2400" b="1" dirty="0"/>
              <a:t>    1. </a:t>
            </a:r>
            <a:r>
              <a:rPr lang="en-US" sz="2400" b="1" i="1" dirty="0"/>
              <a:t>G</a:t>
            </a:r>
            <a:r>
              <a:rPr lang="zh-CN" altLang="en-US" sz="2400" b="1" dirty="0"/>
              <a:t>是无环连通图</a:t>
            </a:r>
            <a:r>
              <a:rPr lang="en-US" sz="2400" b="1" dirty="0"/>
              <a:t>.</a:t>
            </a:r>
          </a:p>
          <a:p>
            <a:pPr marL="640080">
              <a:lnSpc>
                <a:spcPct val="90000"/>
              </a:lnSpc>
              <a:buFont typeface="Wingdings" charset="2"/>
              <a:buNone/>
            </a:pPr>
            <a:r>
              <a:rPr lang="en-US" sz="2400" b="1" dirty="0"/>
              <a:t>2. </a:t>
            </a:r>
            <a:r>
              <a:rPr lang="en-US" sz="2400" b="1" i="1" dirty="0"/>
              <a:t>G</a:t>
            </a:r>
            <a:r>
              <a:rPr lang="zh-CN" altLang="en-US" sz="2400" b="1" dirty="0"/>
              <a:t>中的任意</a:t>
            </a:r>
            <a:r>
              <a:rPr lang="en-US" altLang="zh-CN" sz="2400" b="1" dirty="0"/>
              <a:t>2</a:t>
            </a:r>
            <a:r>
              <a:rPr lang="zh-CN" altLang="en-US" sz="2400" b="1" dirty="0"/>
              <a:t>个节点都有唯一的连通路径连通</a:t>
            </a:r>
            <a:r>
              <a:rPr lang="en-US" sz="2400" b="1" dirty="0"/>
              <a:t> </a:t>
            </a:r>
          </a:p>
          <a:p>
            <a:pPr marL="640080">
              <a:lnSpc>
                <a:spcPct val="90000"/>
              </a:lnSpc>
              <a:buFont typeface="Wingdings" charset="2"/>
              <a:buNone/>
            </a:pPr>
            <a:r>
              <a:rPr lang="en-US" sz="2400" b="1" dirty="0"/>
              <a:t>3. </a:t>
            </a:r>
            <a:r>
              <a:rPr lang="zh-CN" altLang="en-US" sz="2400" b="1" dirty="0"/>
              <a:t>是连通的，但是从</a:t>
            </a:r>
            <a:r>
              <a:rPr lang="en-US" altLang="zh-CN" sz="2400" b="1" dirty="0"/>
              <a:t>G</a:t>
            </a:r>
            <a:r>
              <a:rPr lang="zh-CN" altLang="en-US" sz="2400" b="1" dirty="0"/>
              <a:t>中删除任意一条边后</a:t>
            </a:r>
            <a:r>
              <a:rPr lang="en-US" altLang="zh-CN" sz="2400" b="1" dirty="0"/>
              <a:t>G</a:t>
            </a:r>
            <a:r>
              <a:rPr lang="zh-CN" altLang="en-US" sz="2400" b="1" dirty="0"/>
              <a:t>都将不连通</a:t>
            </a:r>
            <a:r>
              <a:rPr lang="en-US" sz="2400" b="1" dirty="0"/>
              <a:t> </a:t>
            </a:r>
          </a:p>
          <a:p>
            <a:pPr marL="640080">
              <a:lnSpc>
                <a:spcPct val="90000"/>
              </a:lnSpc>
              <a:buFont typeface="Wingdings" charset="2"/>
              <a:buNone/>
            </a:pPr>
            <a:r>
              <a:rPr lang="en-US" sz="2400" b="1" dirty="0"/>
              <a:t>4.</a:t>
            </a:r>
            <a:r>
              <a:rPr lang="en-US" altLang="zh-CN" sz="2400" b="1" i="1" dirty="0"/>
              <a:t> G</a:t>
            </a:r>
            <a:r>
              <a:rPr lang="zh-CN" altLang="en-US" sz="2400" b="1" dirty="0"/>
              <a:t>是连通的，且</a:t>
            </a:r>
            <a:r>
              <a:rPr lang="en-US" sz="2400" b="1" dirty="0"/>
              <a:t>| </a:t>
            </a:r>
            <a:r>
              <a:rPr lang="en-US" sz="2400" b="1" i="1" dirty="0"/>
              <a:t>E</a:t>
            </a:r>
            <a:r>
              <a:rPr lang="en-US" sz="2400" b="1" dirty="0"/>
              <a:t> | = | </a:t>
            </a:r>
            <a:r>
              <a:rPr lang="en-US" sz="2400" b="1" i="1" dirty="0"/>
              <a:t>V</a:t>
            </a:r>
            <a:r>
              <a:rPr lang="en-US" sz="2400" b="1" dirty="0"/>
              <a:t> | – 1.</a:t>
            </a:r>
          </a:p>
          <a:p>
            <a:pPr marL="640080">
              <a:lnSpc>
                <a:spcPct val="90000"/>
              </a:lnSpc>
              <a:buFont typeface="Wingdings" charset="2"/>
              <a:buNone/>
            </a:pPr>
            <a:r>
              <a:rPr lang="en-US" sz="2400" b="1" dirty="0"/>
              <a:t>5. </a:t>
            </a:r>
            <a:r>
              <a:rPr lang="en-US" sz="2400" b="1" i="1" dirty="0"/>
              <a:t>G</a:t>
            </a:r>
            <a:r>
              <a:rPr lang="zh-CN" altLang="en-US" sz="2400" b="1" dirty="0"/>
              <a:t>是无环的</a:t>
            </a:r>
            <a:r>
              <a:rPr lang="en-US" sz="2400" b="1" i="1" dirty="0"/>
              <a:t> </a:t>
            </a:r>
            <a:r>
              <a:rPr lang="zh-CN" altLang="en-US" sz="2400" b="1" dirty="0"/>
              <a:t>，且</a:t>
            </a:r>
            <a:r>
              <a:rPr lang="en-US" sz="2400" b="1" dirty="0"/>
              <a:t>| </a:t>
            </a:r>
            <a:r>
              <a:rPr lang="en-US" sz="2400" b="1" i="1" dirty="0"/>
              <a:t>E</a:t>
            </a:r>
            <a:r>
              <a:rPr lang="en-US" sz="2400" b="1" dirty="0"/>
              <a:t> | = | </a:t>
            </a:r>
            <a:r>
              <a:rPr lang="en-US" sz="2400" b="1" i="1" dirty="0"/>
              <a:t>V</a:t>
            </a:r>
            <a:r>
              <a:rPr lang="en-US" sz="2400" b="1" dirty="0"/>
              <a:t> | – 1.</a:t>
            </a:r>
          </a:p>
          <a:p>
            <a:pPr marL="640080" indent="-347472">
              <a:lnSpc>
                <a:spcPct val="90000"/>
              </a:lnSpc>
              <a:buNone/>
            </a:pPr>
            <a:r>
              <a:rPr lang="en-US" sz="2400" b="1" dirty="0"/>
              <a:t>6.</a:t>
            </a:r>
            <a:r>
              <a:rPr lang="en-US" sz="2400" b="1" i="1" dirty="0"/>
              <a:t> G</a:t>
            </a:r>
            <a:r>
              <a:rPr lang="zh-CN" altLang="en-US" sz="2400" b="1" dirty="0"/>
              <a:t>是无环的，但是如果任意加一条边至</a:t>
            </a:r>
            <a:r>
              <a:rPr lang="en-US" altLang="zh-CN" sz="2400" b="1" dirty="0"/>
              <a:t>G</a:t>
            </a:r>
            <a:r>
              <a:rPr lang="zh-CN" altLang="en-US" sz="2400" b="1" dirty="0"/>
              <a:t>中，则会在</a:t>
            </a:r>
            <a:r>
              <a:rPr lang="en-US" altLang="zh-CN" sz="2400" b="1" dirty="0"/>
              <a:t>G</a:t>
            </a:r>
            <a:r>
              <a:rPr lang="zh-CN" altLang="en-US" sz="2400" b="1" dirty="0"/>
              <a:t>中生成一个有环</a:t>
            </a:r>
            <a:endParaRPr lang="en-US" sz="2400" b="1" dirty="0"/>
          </a:p>
        </p:txBody>
      </p:sp>
    </p:spTree>
    <p:extLst>
      <p:ext uri="{BB962C8B-B14F-4D97-AF65-F5344CB8AC3E}">
        <p14:creationId xmlns:p14="http://schemas.microsoft.com/office/powerpoint/2010/main" val="420390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53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228600"/>
            <a:ext cx="7772400" cy="990600"/>
          </a:xfrm>
        </p:spPr>
        <p:txBody>
          <a:bodyPr/>
          <a:lstStyle/>
          <a:p>
            <a:r>
              <a:rPr lang="zh-CN" altLang="en-US" sz="3500" b="1" dirty="0">
                <a:solidFill>
                  <a:srgbClr val="0000CC"/>
                </a:solidFill>
              </a:rPr>
              <a:t>图的实现</a:t>
            </a:r>
            <a:r>
              <a:rPr lang="en-US" sz="3500" b="1" dirty="0">
                <a:solidFill>
                  <a:srgbClr val="0000CC"/>
                </a:solidFill>
              </a:rPr>
              <a:t>: </a:t>
            </a:r>
            <a:r>
              <a:rPr lang="zh-CN" altLang="en-US" sz="3500" b="1" dirty="0">
                <a:solidFill>
                  <a:srgbClr val="0000CC"/>
                </a:solidFill>
              </a:rPr>
              <a:t>邻接表</a:t>
            </a:r>
            <a:endParaRPr lang="en-US" sz="3500" b="1" dirty="0">
              <a:solidFill>
                <a:srgbClr val="0000CC"/>
              </a:solidFill>
            </a:endParaRPr>
          </a:p>
        </p:txBody>
      </p:sp>
      <p:pic>
        <p:nvPicPr>
          <p:cNvPr id="2088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29170" b="13809"/>
          <a:stretch/>
        </p:blipFill>
        <p:spPr bwMode="auto">
          <a:xfrm>
            <a:off x="668866" y="2286000"/>
            <a:ext cx="8246533" cy="24045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内容占位符 1"/>
          <p:cNvSpPr>
            <a:spLocks noGrp="1"/>
          </p:cNvSpPr>
          <p:nvPr>
            <p:ph idx="1"/>
          </p:nvPr>
        </p:nvSpPr>
        <p:spPr>
          <a:xfrm>
            <a:off x="685800" y="1447800"/>
            <a:ext cx="7772400" cy="4114800"/>
          </a:xfrm>
        </p:spPr>
        <p:txBody>
          <a:bodyPr/>
          <a:lstStyle/>
          <a:p>
            <a:r>
              <a:rPr lang="zh-CN" altLang="en-US" b="1" i="1" dirty="0">
                <a:solidFill>
                  <a:srgbClr val="FF0000"/>
                </a:solidFill>
              </a:rPr>
              <a:t>无向图</a:t>
            </a:r>
          </a:p>
        </p:txBody>
      </p:sp>
      <p:sp>
        <p:nvSpPr>
          <p:cNvPr id="6" name="Rectangle 68"/>
          <p:cNvSpPr>
            <a:spLocks noChangeArrowheads="1"/>
          </p:cNvSpPr>
          <p:nvPr/>
        </p:nvSpPr>
        <p:spPr bwMode="auto">
          <a:xfrm>
            <a:off x="971620" y="5410200"/>
            <a:ext cx="27606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FF"/>
                </a:solidFill>
              </a:rPr>
              <a:t>存储空间</a:t>
            </a:r>
            <a:r>
              <a:rPr lang="en-US" sz="2000" dirty="0">
                <a:solidFill>
                  <a:srgbClr val="3333FF"/>
                </a:solidFill>
              </a:rPr>
              <a:t>: </a:t>
            </a:r>
            <a:r>
              <a:rPr lang="en-US" altLang="zh-CN" dirty="0">
                <a:sym typeface="Symbol" pitchFamily="18" charset="2"/>
              </a:rPr>
              <a:t>(|</a:t>
            </a:r>
            <a:r>
              <a:rPr lang="en-US" altLang="zh-CN" i="1" dirty="0">
                <a:sym typeface="Symbol" pitchFamily="18" charset="2"/>
              </a:rPr>
              <a:t>V</a:t>
            </a:r>
            <a:r>
              <a:rPr lang="en-US" altLang="zh-CN" dirty="0">
                <a:sym typeface="Symbol" pitchFamily="18" charset="2"/>
              </a:rPr>
              <a:t> | + | </a:t>
            </a:r>
            <a:r>
              <a:rPr lang="en-US" altLang="zh-CN" i="1" dirty="0">
                <a:sym typeface="Symbol" pitchFamily="18" charset="2"/>
              </a:rPr>
              <a:t>E |</a:t>
            </a:r>
            <a:r>
              <a:rPr lang="en-US" altLang="zh-CN" dirty="0">
                <a:sym typeface="Symbol" pitchFamily="18" charset="2"/>
              </a:rPr>
              <a:t>)</a:t>
            </a:r>
            <a:endParaRPr lang="en-US" sz="2400" dirty="0"/>
          </a:p>
        </p:txBody>
      </p:sp>
    </p:spTree>
    <p:extLst>
      <p:ext uri="{BB962C8B-B14F-4D97-AF65-F5344CB8AC3E}">
        <p14:creationId xmlns:p14="http://schemas.microsoft.com/office/powerpoint/2010/main" val="1646424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152400"/>
            <a:ext cx="7772400" cy="1143000"/>
          </a:xfrm>
        </p:spPr>
        <p:txBody>
          <a:bodyPr/>
          <a:lstStyle/>
          <a:p>
            <a:r>
              <a:rPr lang="zh-CN" altLang="en-US" sz="3600" b="1" dirty="0">
                <a:solidFill>
                  <a:srgbClr val="0000CC"/>
                </a:solidFill>
              </a:rPr>
              <a:t>图的实现</a:t>
            </a:r>
            <a:r>
              <a:rPr lang="en-US" altLang="zh-CN" sz="3600" b="1" dirty="0">
                <a:solidFill>
                  <a:srgbClr val="0000CC"/>
                </a:solidFill>
              </a:rPr>
              <a:t>: </a:t>
            </a:r>
            <a:r>
              <a:rPr lang="zh-CN" altLang="en-US" sz="3600" b="1" dirty="0">
                <a:solidFill>
                  <a:srgbClr val="0000CC"/>
                </a:solidFill>
              </a:rPr>
              <a:t>邻接表</a:t>
            </a:r>
            <a:endParaRPr lang="en-US" sz="3600" b="1" dirty="0">
              <a:solidFill>
                <a:srgbClr val="0000CC"/>
              </a:solidFill>
            </a:endParaRPr>
          </a:p>
        </p:txBody>
      </p:sp>
      <p:sp>
        <p:nvSpPr>
          <p:cNvPr id="24644" name="Rectangle 68"/>
          <p:cNvSpPr>
            <a:spLocks noChangeArrowheads="1"/>
          </p:cNvSpPr>
          <p:nvPr/>
        </p:nvSpPr>
        <p:spPr bwMode="auto">
          <a:xfrm>
            <a:off x="982134" y="5943600"/>
            <a:ext cx="29145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i="1" dirty="0">
                <a:solidFill>
                  <a:srgbClr val="FF0000"/>
                </a:solidFill>
              </a:rPr>
              <a:t>变形</a:t>
            </a:r>
            <a:r>
              <a:rPr lang="en-US" sz="2000" i="1" dirty="0">
                <a:solidFill>
                  <a:srgbClr val="FF0000"/>
                </a:solidFill>
              </a:rPr>
              <a:t>: </a:t>
            </a:r>
            <a:r>
              <a:rPr lang="zh-CN" altLang="en-US" sz="2000" i="1" dirty="0"/>
              <a:t>存储入边的邻接表</a:t>
            </a:r>
            <a:endParaRPr lang="en-US" sz="2400" i="1" dirty="0"/>
          </a:p>
        </p:txBody>
      </p:sp>
      <p:grpSp>
        <p:nvGrpSpPr>
          <p:cNvPr id="2" name="组合 1"/>
          <p:cNvGrpSpPr/>
          <p:nvPr/>
        </p:nvGrpSpPr>
        <p:grpSpPr>
          <a:xfrm>
            <a:off x="1205565" y="2133600"/>
            <a:ext cx="7152623" cy="2941637"/>
            <a:chOff x="1205565" y="2819400"/>
            <a:chExt cx="7152623" cy="2941637"/>
          </a:xfrm>
        </p:grpSpPr>
        <p:pic>
          <p:nvPicPr>
            <p:cNvPr id="20992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6380" r="36869" b="13611"/>
            <a:stretch/>
          </p:blipFill>
          <p:spPr bwMode="auto">
            <a:xfrm>
              <a:off x="5029200" y="2819400"/>
              <a:ext cx="3328988" cy="2941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5859" r="72125" b="13611"/>
            <a:stretch/>
          </p:blipFill>
          <p:spPr bwMode="auto">
            <a:xfrm>
              <a:off x="1205565" y="3276600"/>
              <a:ext cx="3468829" cy="2061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72" name="Rectangle 3"/>
          <p:cNvSpPr txBox="1">
            <a:spLocks noChangeArrowheads="1"/>
          </p:cNvSpPr>
          <p:nvPr/>
        </p:nvSpPr>
        <p:spPr bwMode="auto">
          <a:xfrm>
            <a:off x="457200" y="1371600"/>
            <a:ext cx="8001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400" b="1" i="1" kern="0" dirty="0">
                <a:solidFill>
                  <a:srgbClr val="FF0000"/>
                </a:solidFill>
              </a:rPr>
              <a:t>有向图</a:t>
            </a:r>
            <a:endParaRPr lang="en-US" sz="2400" b="1" i="1" kern="0" dirty="0">
              <a:solidFill>
                <a:srgbClr val="FF0000"/>
              </a:solidFill>
            </a:endParaRPr>
          </a:p>
        </p:txBody>
      </p:sp>
      <p:sp>
        <p:nvSpPr>
          <p:cNvPr id="8" name="Rectangle 68"/>
          <p:cNvSpPr>
            <a:spLocks noChangeArrowheads="1"/>
          </p:cNvSpPr>
          <p:nvPr/>
        </p:nvSpPr>
        <p:spPr bwMode="auto">
          <a:xfrm>
            <a:off x="971620" y="5410200"/>
            <a:ext cx="27606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FF"/>
                </a:solidFill>
              </a:rPr>
              <a:t>存储空间</a:t>
            </a:r>
            <a:r>
              <a:rPr lang="en-US" sz="2000" dirty="0">
                <a:solidFill>
                  <a:srgbClr val="3333FF"/>
                </a:solidFill>
              </a:rPr>
              <a:t>: </a:t>
            </a:r>
            <a:r>
              <a:rPr lang="en-US" altLang="zh-CN" dirty="0">
                <a:sym typeface="Symbol" pitchFamily="18" charset="2"/>
              </a:rPr>
              <a:t>(|</a:t>
            </a:r>
            <a:r>
              <a:rPr lang="en-US" altLang="zh-CN" i="1" dirty="0">
                <a:sym typeface="Symbol" pitchFamily="18" charset="2"/>
              </a:rPr>
              <a:t>V</a:t>
            </a:r>
            <a:r>
              <a:rPr lang="en-US" altLang="zh-CN" dirty="0">
                <a:sym typeface="Symbol" pitchFamily="18" charset="2"/>
              </a:rPr>
              <a:t> | + | </a:t>
            </a:r>
            <a:r>
              <a:rPr lang="en-US" altLang="zh-CN" i="1" dirty="0">
                <a:sym typeface="Symbol" pitchFamily="18" charset="2"/>
              </a:rPr>
              <a:t>E |</a:t>
            </a:r>
            <a:r>
              <a:rPr lang="en-US" altLang="zh-CN" dirty="0">
                <a:sym typeface="Symbol" pitchFamily="18" charset="2"/>
              </a:rPr>
              <a:t>)</a:t>
            </a:r>
            <a:endParaRPr lang="en-US" sz="2400" dirty="0"/>
          </a:p>
        </p:txBody>
      </p:sp>
    </p:spTree>
    <p:extLst>
      <p:ext uri="{BB962C8B-B14F-4D97-AF65-F5344CB8AC3E}">
        <p14:creationId xmlns:p14="http://schemas.microsoft.com/office/powerpoint/2010/main" val="3644020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邻接表的优缺点</a:t>
            </a:r>
            <a:endParaRPr lang="en-US" sz="3600" b="1" dirty="0">
              <a:solidFill>
                <a:srgbClr val="0000CC"/>
              </a:solidFill>
            </a:endParaRPr>
          </a:p>
        </p:txBody>
      </p:sp>
      <p:sp>
        <p:nvSpPr>
          <p:cNvPr id="25603" name="Rectangle 3"/>
          <p:cNvSpPr>
            <a:spLocks noGrp="1" noChangeArrowheads="1"/>
          </p:cNvSpPr>
          <p:nvPr>
            <p:ph type="body" idx="1"/>
          </p:nvPr>
        </p:nvSpPr>
        <p:spPr>
          <a:xfrm>
            <a:off x="685800" y="1524000"/>
            <a:ext cx="7772400" cy="4876800"/>
          </a:xfrm>
        </p:spPr>
        <p:txBody>
          <a:bodyPr/>
          <a:lstStyle/>
          <a:p>
            <a:pPr>
              <a:lnSpc>
                <a:spcPct val="90000"/>
              </a:lnSpc>
            </a:pPr>
            <a:r>
              <a:rPr lang="zh-CN" altLang="en-US" sz="2400" b="1" dirty="0"/>
              <a:t>优点</a:t>
            </a:r>
            <a:r>
              <a:rPr lang="en-US" sz="2400" b="1" dirty="0"/>
              <a:t>: </a:t>
            </a:r>
          </a:p>
          <a:p>
            <a:pPr lvl="1">
              <a:lnSpc>
                <a:spcPct val="90000"/>
              </a:lnSpc>
            </a:pPr>
            <a:r>
              <a:rPr lang="zh-CN" altLang="en-US" sz="2200" b="1" dirty="0"/>
              <a:t>对于稀疏图，可以节约空间；</a:t>
            </a:r>
            <a:r>
              <a:rPr lang="en-US" sz="2200" b="1" dirty="0"/>
              <a:t> </a:t>
            </a:r>
            <a:r>
              <a:rPr lang="zh-CN" altLang="en-US" sz="2200" b="1" dirty="0"/>
              <a:t>现实中，大多数为稀疏图</a:t>
            </a:r>
            <a:endParaRPr lang="en-US" altLang="zh-CN" sz="2200" b="1" dirty="0"/>
          </a:p>
          <a:p>
            <a:pPr lvl="1">
              <a:lnSpc>
                <a:spcPct val="90000"/>
              </a:lnSpc>
            </a:pPr>
            <a:r>
              <a:rPr lang="zh-CN" altLang="en-US" sz="2200" b="1" dirty="0"/>
              <a:t>访问一个节点</a:t>
            </a:r>
            <a:r>
              <a:rPr lang="en-US" altLang="zh-CN" sz="2200" b="1" i="1" dirty="0"/>
              <a:t>v</a:t>
            </a:r>
            <a:r>
              <a:rPr lang="zh-CN" altLang="en-US" sz="2200" b="1" dirty="0"/>
              <a:t>的所有邻居节点时，只需</a:t>
            </a:r>
            <a:r>
              <a:rPr lang="en-US" altLang="zh-CN" sz="2200" b="1" i="1" dirty="0">
                <a:sym typeface="Symbol"/>
              </a:rPr>
              <a:t>O</a:t>
            </a:r>
            <a:r>
              <a:rPr lang="en-US" altLang="zh-CN" sz="2200" b="1" dirty="0"/>
              <a:t>(degree(</a:t>
            </a:r>
            <a:r>
              <a:rPr lang="en-US" altLang="zh-CN" sz="2200" b="1" i="1" dirty="0"/>
              <a:t>v</a:t>
            </a:r>
            <a:r>
              <a:rPr lang="en-US" altLang="zh-CN" sz="2200" b="1" dirty="0"/>
              <a:t>))</a:t>
            </a:r>
            <a:r>
              <a:rPr lang="zh-CN" altLang="en-US" sz="2200" b="1" dirty="0"/>
              <a:t>的复杂度</a:t>
            </a:r>
            <a:endParaRPr lang="en-US" altLang="zh-CN" sz="2200" b="1" dirty="0"/>
          </a:p>
          <a:p>
            <a:pPr lvl="1">
              <a:lnSpc>
                <a:spcPct val="90000"/>
              </a:lnSpc>
            </a:pPr>
            <a:endParaRPr lang="en-US" sz="2200" b="1" dirty="0"/>
          </a:p>
          <a:p>
            <a:pPr>
              <a:lnSpc>
                <a:spcPct val="90000"/>
              </a:lnSpc>
            </a:pPr>
            <a:endParaRPr lang="en-US" altLang="zh-CN" sz="2400" b="1" dirty="0"/>
          </a:p>
          <a:p>
            <a:pPr>
              <a:lnSpc>
                <a:spcPct val="90000"/>
              </a:lnSpc>
            </a:pPr>
            <a:r>
              <a:rPr lang="zh-CN" altLang="en-US" sz="2400" b="1" dirty="0"/>
              <a:t>缺点</a:t>
            </a:r>
            <a:r>
              <a:rPr lang="en-US" sz="2400" b="1" dirty="0"/>
              <a:t>:</a:t>
            </a:r>
          </a:p>
          <a:p>
            <a:pPr lvl="1">
              <a:lnSpc>
                <a:spcPct val="90000"/>
              </a:lnSpc>
            </a:pPr>
            <a:r>
              <a:rPr lang="zh-CN" altLang="en-US" sz="2200" b="1" dirty="0"/>
              <a:t>判断边</a:t>
            </a:r>
            <a:r>
              <a:rPr lang="en-US" sz="2200" b="1" dirty="0"/>
              <a:t>(</a:t>
            </a:r>
            <a:r>
              <a:rPr lang="en-US" sz="2200" b="1" i="1" dirty="0"/>
              <a:t>v</a:t>
            </a:r>
            <a:r>
              <a:rPr lang="en-US" sz="2200" b="1" dirty="0"/>
              <a:t>, </a:t>
            </a:r>
            <a:r>
              <a:rPr lang="en-US" sz="2200" b="1" i="1" dirty="0"/>
              <a:t>u</a:t>
            </a:r>
            <a:r>
              <a:rPr lang="en-US" sz="2200" b="1" dirty="0"/>
              <a:t>)</a:t>
            </a:r>
            <a:r>
              <a:rPr lang="zh-CN" altLang="en-US" sz="2200" b="1" dirty="0"/>
              <a:t>是否存在时比较耗时，复杂度为</a:t>
            </a:r>
            <a:r>
              <a:rPr lang="en-US" altLang="zh-CN" sz="2200" b="1" i="1" dirty="0">
                <a:sym typeface="Symbol"/>
              </a:rPr>
              <a:t>O</a:t>
            </a:r>
            <a:r>
              <a:rPr lang="en-US" altLang="zh-CN" sz="2200" b="1" dirty="0"/>
              <a:t>(degree(</a:t>
            </a:r>
            <a:r>
              <a:rPr lang="en-US" altLang="zh-CN" sz="2200" b="1" i="1" dirty="0"/>
              <a:t>v</a:t>
            </a:r>
            <a:r>
              <a:rPr lang="en-US" altLang="zh-CN" sz="2200" b="1" dirty="0"/>
              <a:t>))</a:t>
            </a:r>
          </a:p>
          <a:p>
            <a:pPr lvl="1">
              <a:lnSpc>
                <a:spcPct val="90000"/>
              </a:lnSpc>
            </a:pPr>
            <a:r>
              <a:rPr lang="zh-CN" altLang="en-US" sz="2200" b="1" dirty="0"/>
              <a:t>矩阵运算时不太方便</a:t>
            </a:r>
            <a:endParaRPr lang="en-US" sz="2200" b="1" dirty="0"/>
          </a:p>
        </p:txBody>
      </p:sp>
    </p:spTree>
    <p:extLst>
      <p:ext uri="{BB962C8B-B14F-4D97-AF65-F5344CB8AC3E}">
        <p14:creationId xmlns:p14="http://schemas.microsoft.com/office/powerpoint/2010/main" val="240688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1000" y="1447800"/>
            <a:ext cx="8229600" cy="609600"/>
          </a:xfrm>
        </p:spPr>
        <p:txBody>
          <a:bodyPr/>
          <a:lstStyle/>
          <a:p>
            <a:pPr marL="342900" indent="-342900" algn="l">
              <a:spcBef>
                <a:spcPct val="100000"/>
              </a:spcBef>
              <a:spcAft>
                <a:spcPct val="100000"/>
              </a:spcAft>
              <a:buFont typeface="Wingdings" pitchFamily="2" charset="2"/>
              <a:buChar char="§"/>
            </a:pPr>
            <a:r>
              <a:rPr lang="zh-CN" altLang="en-US" sz="2400" b="1" i="1" dirty="0">
                <a:solidFill>
                  <a:srgbClr val="FF0000"/>
                </a:solidFill>
                <a:sym typeface="Symbol" pitchFamily="18" charset="2"/>
              </a:rPr>
              <a:t>无向图</a:t>
            </a:r>
            <a:endParaRPr lang="en-US" sz="2400" b="1" i="1" dirty="0">
              <a:solidFill>
                <a:srgbClr val="FF0000"/>
              </a:solidFill>
              <a:sym typeface="Symbol" pitchFamily="18" charset="2"/>
            </a:endParaRPr>
          </a:p>
        </p:txBody>
      </p:sp>
      <p:sp>
        <p:nvSpPr>
          <p:cNvPr id="28" name="Rectangle 2"/>
          <p:cNvSpPr txBox="1">
            <a:spLocks noChangeArrowheads="1"/>
          </p:cNvSpPr>
          <p:nvPr/>
        </p:nvSpPr>
        <p:spPr bwMode="auto">
          <a:xfrm>
            <a:off x="381000" y="304800"/>
            <a:ext cx="845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400" b="1" dirty="0">
                <a:solidFill>
                  <a:srgbClr val="0000CC"/>
                </a:solidFill>
              </a:rPr>
              <a:t>邻接矩阵</a:t>
            </a:r>
            <a:endParaRPr lang="en-US" sz="3400" b="1" dirty="0">
              <a:solidFill>
                <a:srgbClr val="0000CC"/>
              </a:solidFill>
            </a:endParaRPr>
          </a:p>
        </p:txBody>
      </p:sp>
      <p:grpSp>
        <p:nvGrpSpPr>
          <p:cNvPr id="2" name="组合 1"/>
          <p:cNvGrpSpPr/>
          <p:nvPr/>
        </p:nvGrpSpPr>
        <p:grpSpPr>
          <a:xfrm>
            <a:off x="1163812" y="2590800"/>
            <a:ext cx="6760988" cy="2667000"/>
            <a:chOff x="1066800" y="3352800"/>
            <a:chExt cx="6760988" cy="2667000"/>
          </a:xfrm>
        </p:grpSpPr>
        <p:pic>
          <p:nvPicPr>
            <p:cNvPr id="21094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9711" t="262" r="-314" b="12452"/>
            <a:stretch/>
          </p:blipFill>
          <p:spPr bwMode="auto">
            <a:xfrm>
              <a:off x="5257800" y="3429000"/>
              <a:ext cx="2569988"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3"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0" t="11823" r="77717" b="15538"/>
            <a:stretch/>
          </p:blipFill>
          <p:spPr bwMode="auto">
            <a:xfrm>
              <a:off x="1066800" y="3352800"/>
              <a:ext cx="3050742" cy="23537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788444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1000" y="1371600"/>
            <a:ext cx="8229600" cy="609600"/>
          </a:xfrm>
        </p:spPr>
        <p:txBody>
          <a:bodyPr/>
          <a:lstStyle/>
          <a:p>
            <a:pPr marL="342900" indent="-342900" algn="l">
              <a:spcBef>
                <a:spcPct val="100000"/>
              </a:spcBef>
              <a:spcAft>
                <a:spcPct val="100000"/>
              </a:spcAft>
              <a:buFont typeface="Wingdings" pitchFamily="2" charset="2"/>
              <a:buChar char="§"/>
            </a:pPr>
            <a:r>
              <a:rPr lang="zh-CN" altLang="en-US" sz="2400" b="1" i="1" dirty="0">
                <a:solidFill>
                  <a:srgbClr val="FF0000"/>
                </a:solidFill>
                <a:sym typeface="Symbol" pitchFamily="18" charset="2"/>
              </a:rPr>
              <a:t>有向图</a:t>
            </a:r>
            <a:endParaRPr lang="en-US" sz="2400" b="1" dirty="0">
              <a:solidFill>
                <a:schemeClr val="tx1"/>
              </a:solidFill>
              <a:sym typeface="Symbol" pitchFamily="18" charset="2"/>
            </a:endParaRPr>
          </a:p>
        </p:txBody>
      </p:sp>
      <p:sp>
        <p:nvSpPr>
          <p:cNvPr id="28" name="Rectangle 2"/>
          <p:cNvSpPr txBox="1">
            <a:spLocks noChangeArrowheads="1"/>
          </p:cNvSpPr>
          <p:nvPr/>
        </p:nvSpPr>
        <p:spPr bwMode="auto">
          <a:xfrm>
            <a:off x="381000" y="304800"/>
            <a:ext cx="845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400" dirty="0">
                <a:solidFill>
                  <a:srgbClr val="0000CC"/>
                </a:solidFill>
              </a:rPr>
              <a:t>邻接矩阵</a:t>
            </a:r>
            <a:endParaRPr lang="en-US" altLang="zh-CN" sz="3400" dirty="0">
              <a:solidFill>
                <a:srgbClr val="0000CC"/>
              </a:solidFill>
            </a:endParaRPr>
          </a:p>
        </p:txBody>
      </p:sp>
      <p:grpSp>
        <p:nvGrpSpPr>
          <p:cNvPr id="2" name="组合 1"/>
          <p:cNvGrpSpPr/>
          <p:nvPr/>
        </p:nvGrpSpPr>
        <p:grpSpPr>
          <a:xfrm>
            <a:off x="1203168" y="2438400"/>
            <a:ext cx="6874032" cy="2722256"/>
            <a:chOff x="1066800" y="3281065"/>
            <a:chExt cx="6874032" cy="2722256"/>
          </a:xfrm>
        </p:grpSpPr>
        <p:pic>
          <p:nvPicPr>
            <p:cNvPr id="211971"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6092" b="11349"/>
            <a:stretch/>
          </p:blipFill>
          <p:spPr bwMode="auto">
            <a:xfrm>
              <a:off x="5257800" y="3281065"/>
              <a:ext cx="2683032" cy="2722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5859" r="72125" b="13611"/>
            <a:stretch/>
          </p:blipFill>
          <p:spPr bwMode="auto">
            <a:xfrm>
              <a:off x="1066800" y="3604948"/>
              <a:ext cx="3468829" cy="2061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4234436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邻接矩阵的优缺点</a:t>
            </a:r>
            <a:endParaRPr lang="en-US" altLang="zh-CN" sz="3600" b="1" dirty="0">
              <a:solidFill>
                <a:srgbClr val="0000CC"/>
              </a:solidFill>
            </a:endParaRPr>
          </a:p>
        </p:txBody>
      </p:sp>
      <p:sp>
        <p:nvSpPr>
          <p:cNvPr id="29699" name="Rectangle 3"/>
          <p:cNvSpPr>
            <a:spLocks noGrp="1" noChangeArrowheads="1"/>
          </p:cNvSpPr>
          <p:nvPr>
            <p:ph type="body" idx="1"/>
          </p:nvPr>
        </p:nvSpPr>
        <p:spPr>
          <a:xfrm>
            <a:off x="609600" y="1524000"/>
            <a:ext cx="7848600" cy="4572000"/>
          </a:xfrm>
        </p:spPr>
        <p:txBody>
          <a:bodyPr/>
          <a:lstStyle/>
          <a:p>
            <a:pPr>
              <a:lnSpc>
                <a:spcPct val="90000"/>
              </a:lnSpc>
            </a:pPr>
            <a:r>
              <a:rPr lang="zh-CN" altLang="en-US" sz="2400" b="1" dirty="0"/>
              <a:t>优点</a:t>
            </a:r>
            <a:r>
              <a:rPr lang="en-US" sz="2400" b="1" dirty="0"/>
              <a:t>:</a:t>
            </a:r>
          </a:p>
          <a:p>
            <a:pPr lvl="1">
              <a:lnSpc>
                <a:spcPct val="90000"/>
              </a:lnSpc>
            </a:pPr>
            <a:r>
              <a:rPr lang="zh-CN" altLang="en-US" sz="2200" b="1" dirty="0"/>
              <a:t>对于稠密图可以节约空间（邻接表需要存指针）</a:t>
            </a:r>
            <a:endParaRPr lang="en-US" sz="2200" b="1" dirty="0"/>
          </a:p>
          <a:p>
            <a:pPr lvl="1">
              <a:lnSpc>
                <a:spcPct val="90000"/>
              </a:lnSpc>
            </a:pPr>
            <a:r>
              <a:rPr lang="zh-CN" altLang="en-US" sz="2200" b="1" dirty="0"/>
              <a:t>查询是否边</a:t>
            </a:r>
            <a:r>
              <a:rPr lang="en-US" sz="2200" b="1" dirty="0"/>
              <a:t>(</a:t>
            </a:r>
            <a:r>
              <a:rPr lang="en-US" sz="2200" b="1" i="1" dirty="0"/>
              <a:t>i</a:t>
            </a:r>
            <a:r>
              <a:rPr lang="en-US" sz="2200" b="1" dirty="0"/>
              <a:t>, </a:t>
            </a:r>
            <a:r>
              <a:rPr lang="en-US" sz="2200" b="1" i="1" dirty="0"/>
              <a:t>j</a:t>
            </a:r>
            <a:r>
              <a:rPr lang="en-US" sz="2200" b="1" dirty="0"/>
              <a:t>)</a:t>
            </a:r>
            <a:r>
              <a:rPr lang="zh-CN" altLang="en-US" sz="2200" b="1" dirty="0"/>
              <a:t>存在的复杂度为</a:t>
            </a:r>
            <a:r>
              <a:rPr lang="en-US" altLang="zh-CN" sz="2200" b="1" dirty="0">
                <a:sym typeface="Symbol"/>
              </a:rPr>
              <a:t></a:t>
            </a:r>
            <a:r>
              <a:rPr lang="en-US" altLang="zh-CN" sz="2200" b="1" dirty="0">
                <a:sym typeface="Symbol" pitchFamily="18" charset="2"/>
              </a:rPr>
              <a:t>(1)</a:t>
            </a:r>
          </a:p>
          <a:p>
            <a:pPr lvl="1">
              <a:lnSpc>
                <a:spcPct val="90000"/>
              </a:lnSpc>
            </a:pPr>
            <a:r>
              <a:rPr lang="zh-CN" altLang="en-US" sz="2200" b="1" dirty="0">
                <a:sym typeface="Symbol" pitchFamily="18" charset="2"/>
              </a:rPr>
              <a:t>矩阵运算比较方便</a:t>
            </a:r>
            <a:endParaRPr lang="en-US" sz="2200" b="1" dirty="0"/>
          </a:p>
          <a:p>
            <a:pPr lvl="1">
              <a:lnSpc>
                <a:spcPct val="10000"/>
              </a:lnSpc>
            </a:pPr>
            <a:endParaRPr lang="en-US" b="1" dirty="0"/>
          </a:p>
          <a:p>
            <a:pPr>
              <a:lnSpc>
                <a:spcPct val="90000"/>
              </a:lnSpc>
            </a:pPr>
            <a:r>
              <a:rPr lang="zh-CN" altLang="en-US" sz="2400" b="1" dirty="0"/>
              <a:t>缺点</a:t>
            </a:r>
            <a:r>
              <a:rPr lang="en-US" sz="2400" b="1" dirty="0"/>
              <a:t>:</a:t>
            </a:r>
          </a:p>
          <a:p>
            <a:pPr lvl="1">
              <a:lnSpc>
                <a:spcPct val="90000"/>
              </a:lnSpc>
            </a:pPr>
            <a:r>
              <a:rPr lang="zh-CN" altLang="en-US" sz="2200" b="1" dirty="0"/>
              <a:t>访问节点</a:t>
            </a:r>
            <a:r>
              <a:rPr lang="en-US" altLang="zh-CN" sz="2200" b="1" i="1" dirty="0"/>
              <a:t>v</a:t>
            </a:r>
            <a:r>
              <a:rPr lang="zh-CN" altLang="en-US" sz="2200" b="1" dirty="0"/>
              <a:t>的所有邻居的复杂度为</a:t>
            </a:r>
            <a:r>
              <a:rPr lang="en-US" altLang="zh-CN" sz="2200" b="1" dirty="0">
                <a:sym typeface="Symbol"/>
              </a:rPr>
              <a:t></a:t>
            </a:r>
            <a:r>
              <a:rPr lang="en-US" altLang="zh-CN" sz="2200" b="1" dirty="0"/>
              <a:t>(|</a:t>
            </a:r>
            <a:r>
              <a:rPr lang="en-US" altLang="zh-CN" sz="2200" b="1" i="1" dirty="0"/>
              <a:t>V </a:t>
            </a:r>
            <a:r>
              <a:rPr lang="en-US" altLang="zh-CN" sz="2200" b="1" dirty="0"/>
              <a:t>|)</a:t>
            </a:r>
          </a:p>
          <a:p>
            <a:pPr lvl="1">
              <a:lnSpc>
                <a:spcPct val="90000"/>
              </a:lnSpc>
            </a:pPr>
            <a:r>
              <a:rPr lang="zh-CN" altLang="en-US" sz="2200" b="1" dirty="0"/>
              <a:t>对于稀疏图，非常耗空间</a:t>
            </a:r>
            <a:r>
              <a:rPr lang="en-US" sz="2200" b="1" dirty="0"/>
              <a:t> </a:t>
            </a:r>
          </a:p>
        </p:txBody>
      </p:sp>
    </p:spTree>
    <p:extLst>
      <p:ext uri="{BB962C8B-B14F-4D97-AF65-F5344CB8AC3E}">
        <p14:creationId xmlns:p14="http://schemas.microsoft.com/office/powerpoint/2010/main" val="404119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5800" y="304800"/>
            <a:ext cx="7772400" cy="914400"/>
          </a:xfrm>
        </p:spPr>
        <p:txBody>
          <a:bodyPr/>
          <a:lstStyle/>
          <a:p>
            <a:r>
              <a:rPr lang="zh-CN" altLang="en-US" sz="3600" dirty="0">
                <a:solidFill>
                  <a:srgbClr val="0000CC"/>
                </a:solidFill>
              </a:rPr>
              <a:t>图的遍历</a:t>
            </a:r>
            <a:endParaRPr lang="en-US" sz="3600" dirty="0">
              <a:solidFill>
                <a:srgbClr val="0000CC"/>
              </a:solidFill>
            </a:endParaRPr>
          </a:p>
        </p:txBody>
      </p:sp>
      <p:sp>
        <p:nvSpPr>
          <p:cNvPr id="31747" name="Rectangle 3"/>
          <p:cNvSpPr>
            <a:spLocks noGrp="1" noChangeArrowheads="1"/>
          </p:cNvSpPr>
          <p:nvPr>
            <p:ph type="body" idx="1"/>
          </p:nvPr>
        </p:nvSpPr>
        <p:spPr>
          <a:xfrm>
            <a:off x="685800" y="1676400"/>
            <a:ext cx="7772400" cy="4419600"/>
          </a:xfrm>
        </p:spPr>
        <p:txBody>
          <a:bodyPr/>
          <a:lstStyle/>
          <a:p>
            <a:pPr marL="0" indent="0">
              <a:buNone/>
            </a:pPr>
            <a:r>
              <a:rPr lang="zh-CN" altLang="en-US" sz="2600" b="1" dirty="0"/>
              <a:t>图的一些算法问题</a:t>
            </a:r>
            <a:r>
              <a:rPr lang="en-US" sz="2600" b="1" dirty="0"/>
              <a:t>:</a:t>
            </a:r>
          </a:p>
          <a:p>
            <a:r>
              <a:rPr lang="en-US" sz="2400" b="1" i="1" dirty="0"/>
              <a:t>G</a:t>
            </a:r>
            <a:r>
              <a:rPr lang="zh-CN" altLang="en-US" sz="2400" b="1" dirty="0"/>
              <a:t>是否连通</a:t>
            </a:r>
            <a:r>
              <a:rPr lang="en-US" sz="2400" b="1" dirty="0"/>
              <a:t>?</a:t>
            </a:r>
          </a:p>
          <a:p>
            <a:r>
              <a:rPr lang="en-US" sz="2400" b="1" i="1" dirty="0"/>
              <a:t>G</a:t>
            </a:r>
            <a:r>
              <a:rPr lang="zh-CN" altLang="en-US" sz="2400" b="1" dirty="0"/>
              <a:t>是否包含一个环</a:t>
            </a:r>
            <a:r>
              <a:rPr lang="en-US" sz="2400" b="1" dirty="0"/>
              <a:t>?</a:t>
            </a:r>
          </a:p>
          <a:p>
            <a:r>
              <a:rPr lang="en-US" sz="2400" b="1" i="1" dirty="0"/>
              <a:t>G</a:t>
            </a:r>
            <a:r>
              <a:rPr lang="zh-CN" altLang="en-US" sz="2400" b="1" dirty="0"/>
              <a:t>是否为一颗树</a:t>
            </a:r>
            <a:r>
              <a:rPr lang="en-US" sz="2400" b="1" dirty="0"/>
              <a:t>?</a:t>
            </a:r>
          </a:p>
          <a:p>
            <a:r>
              <a:rPr lang="zh-CN" altLang="en-US" sz="2400" b="1" dirty="0"/>
              <a:t>寻找图的连通分支</a:t>
            </a:r>
            <a:endParaRPr lang="en-US" sz="2400" b="1" dirty="0"/>
          </a:p>
          <a:p>
            <a:r>
              <a:rPr lang="zh-CN" altLang="en-US" sz="2400" b="1" dirty="0"/>
              <a:t>拓扑排序</a:t>
            </a:r>
            <a:endParaRPr lang="en-US" altLang="zh-CN" sz="2400" b="1" dirty="0"/>
          </a:p>
          <a:p>
            <a:r>
              <a:rPr lang="zh-CN" altLang="en-US" sz="2400" b="1" dirty="0"/>
              <a:t>有向图</a:t>
            </a:r>
            <a:r>
              <a:rPr lang="en-US" sz="2400" b="1" i="1" dirty="0"/>
              <a:t>G</a:t>
            </a:r>
            <a:r>
              <a:rPr lang="en-US" sz="2400" b="1" dirty="0"/>
              <a:t> </a:t>
            </a:r>
            <a:r>
              <a:rPr lang="zh-CN" altLang="en-US" sz="2400" b="1" dirty="0"/>
              <a:t>是否强连通</a:t>
            </a:r>
            <a:r>
              <a:rPr lang="en-US" sz="2400" b="1" dirty="0"/>
              <a:t>?</a:t>
            </a:r>
          </a:p>
        </p:txBody>
      </p:sp>
    </p:spTree>
    <p:extLst>
      <p:ext uri="{BB962C8B-B14F-4D97-AF65-F5344CB8AC3E}">
        <p14:creationId xmlns:p14="http://schemas.microsoft.com/office/powerpoint/2010/main" val="13335096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09600" y="304800"/>
            <a:ext cx="7848600" cy="914400"/>
          </a:xfrm>
          <a:noFill/>
        </p:spPr>
        <p:txBody>
          <a:bodyPr lIns="92075" tIns="46038" rIns="92075" bIns="46038"/>
          <a:lstStyle/>
          <a:p>
            <a:r>
              <a:rPr lang="zh-CN" altLang="en-US" sz="3600" b="1" dirty="0">
                <a:solidFill>
                  <a:srgbClr val="0000CC"/>
                </a:solidFill>
              </a:rPr>
              <a:t>广度优先搜索（</a:t>
            </a:r>
            <a:r>
              <a:rPr lang="en-US" altLang="zh-CN" sz="3600" b="1" dirty="0">
                <a:solidFill>
                  <a:srgbClr val="0000CC"/>
                </a:solidFill>
              </a:rPr>
              <a:t>BFS</a:t>
            </a:r>
            <a:r>
              <a:rPr lang="zh-CN" altLang="en-US" sz="3600" b="1" dirty="0">
                <a:solidFill>
                  <a:srgbClr val="0000CC"/>
                </a:solidFill>
              </a:rPr>
              <a:t>）</a:t>
            </a:r>
            <a:endParaRPr lang="en-US" sz="3600" b="1" dirty="0">
              <a:solidFill>
                <a:srgbClr val="0000CC"/>
              </a:solidFill>
            </a:endParaRPr>
          </a:p>
        </p:txBody>
      </p:sp>
      <p:sp>
        <p:nvSpPr>
          <p:cNvPr id="32771" name="Rectangle 3"/>
          <p:cNvSpPr>
            <a:spLocks noGrp="1" noChangeArrowheads="1"/>
          </p:cNvSpPr>
          <p:nvPr>
            <p:ph type="body" idx="1"/>
          </p:nvPr>
        </p:nvSpPr>
        <p:spPr>
          <a:xfrm>
            <a:off x="685800" y="1524000"/>
            <a:ext cx="7848600" cy="4572000"/>
          </a:xfrm>
          <a:noFill/>
        </p:spPr>
        <p:txBody>
          <a:bodyPr lIns="92075" tIns="46038" rIns="92075" bIns="46038"/>
          <a:lstStyle/>
          <a:p>
            <a:r>
              <a:rPr lang="zh-CN" altLang="en-US" sz="2400" b="1" dirty="0"/>
              <a:t>给定一个</a:t>
            </a:r>
            <a:r>
              <a:rPr lang="en-US" sz="2400" b="1" i="1" dirty="0"/>
              <a:t>G</a:t>
            </a:r>
            <a:r>
              <a:rPr lang="en-US" sz="2400" b="1" dirty="0"/>
              <a:t> = (</a:t>
            </a:r>
            <a:r>
              <a:rPr lang="en-US" sz="2400" b="1" i="1" dirty="0"/>
              <a:t>V</a:t>
            </a:r>
            <a:r>
              <a:rPr lang="en-US" sz="2400" b="1" dirty="0"/>
              <a:t>, </a:t>
            </a:r>
            <a:r>
              <a:rPr lang="en-US" sz="2400" b="1" i="1" dirty="0"/>
              <a:t>E</a:t>
            </a:r>
            <a:r>
              <a:rPr lang="en-US" sz="2400" b="1" dirty="0"/>
              <a:t>) </a:t>
            </a:r>
            <a:r>
              <a:rPr lang="zh-CN" altLang="en-US" sz="2400" b="1" dirty="0"/>
              <a:t>和一个源节点</a:t>
            </a:r>
            <a:r>
              <a:rPr lang="en-US" sz="2400" b="1" dirty="0"/>
              <a:t> </a:t>
            </a:r>
            <a:r>
              <a:rPr lang="en-US" sz="2400" b="1" i="1" dirty="0">
                <a:solidFill>
                  <a:srgbClr val="FF0000"/>
                </a:solidFill>
              </a:rPr>
              <a:t>s</a:t>
            </a:r>
            <a:r>
              <a:rPr lang="zh-CN" altLang="en-US" sz="2400" b="1" dirty="0"/>
              <a:t>，</a:t>
            </a:r>
            <a:r>
              <a:rPr lang="en-US" sz="2400" b="1" dirty="0"/>
              <a:t>BFS</a:t>
            </a:r>
            <a:r>
              <a:rPr lang="zh-CN" altLang="en-US" sz="2400" b="1" dirty="0"/>
              <a:t>遍历图</a:t>
            </a:r>
            <a:r>
              <a:rPr lang="en-US" sz="2400" b="1" i="1" dirty="0"/>
              <a:t>G</a:t>
            </a:r>
            <a:r>
              <a:rPr lang="en-US" sz="2400" b="1" dirty="0"/>
              <a:t> </a:t>
            </a:r>
            <a:r>
              <a:rPr lang="zh-CN" altLang="en-US" sz="2400" b="1" dirty="0"/>
              <a:t>中所有可以从</a:t>
            </a:r>
            <a:r>
              <a:rPr lang="en-US" altLang="zh-CN" sz="2400" b="1" i="1" dirty="0"/>
              <a:t>s</a:t>
            </a:r>
            <a:r>
              <a:rPr lang="zh-CN" altLang="en-US" sz="2400" b="1" dirty="0"/>
              <a:t>可达的节点</a:t>
            </a:r>
            <a:endParaRPr lang="en-US" altLang="zh-CN" sz="2400" b="1" dirty="0"/>
          </a:p>
          <a:p>
            <a:endParaRPr lang="en-US" sz="2400" b="1" dirty="0"/>
          </a:p>
        </p:txBody>
      </p:sp>
      <p:sp>
        <p:nvSpPr>
          <p:cNvPr id="4" name="Rectangle 3"/>
          <p:cNvSpPr txBox="1">
            <a:spLocks noChangeArrowheads="1"/>
          </p:cNvSpPr>
          <p:nvPr/>
        </p:nvSpPr>
        <p:spPr bwMode="auto">
          <a:xfrm>
            <a:off x="762000" y="2590800"/>
            <a:ext cx="7924800" cy="3886200"/>
          </a:xfrm>
          <a:prstGeom prst="rect">
            <a:avLst/>
          </a:prstGeom>
          <a:solidFill>
            <a:schemeClr val="accent2">
              <a:lumMod val="40000"/>
              <a:lumOff val="60000"/>
            </a:schemeClr>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400" b="1" kern="0" dirty="0"/>
              <a:t>使用三种颜色</a:t>
            </a:r>
            <a:r>
              <a:rPr lang="en-US" sz="2400" b="1" kern="0" dirty="0"/>
              <a:t> (</a:t>
            </a:r>
            <a:r>
              <a:rPr lang="en-US" sz="2400" b="1" i="1" kern="0" dirty="0"/>
              <a:t>white</a:t>
            </a:r>
            <a:r>
              <a:rPr lang="zh-CN" altLang="en-US" sz="2400" b="1" kern="0" dirty="0"/>
              <a:t>，</a:t>
            </a:r>
            <a:r>
              <a:rPr lang="en-US" sz="2400" b="1" i="1" kern="0" dirty="0"/>
              <a:t>gray</a:t>
            </a:r>
            <a:r>
              <a:rPr lang="en-US" sz="2400" b="1" kern="0" dirty="0"/>
              <a:t> </a:t>
            </a:r>
            <a:r>
              <a:rPr lang="zh-CN" altLang="en-US" sz="2400" b="1" kern="0" dirty="0"/>
              <a:t>，</a:t>
            </a:r>
            <a:r>
              <a:rPr lang="en-US" sz="2400" b="1" i="1" kern="0" dirty="0"/>
              <a:t>black) </a:t>
            </a:r>
            <a:r>
              <a:rPr lang="zh-CN" altLang="en-US" sz="2400" b="1" i="1" kern="0" dirty="0"/>
              <a:t>来描述节点的状态</a:t>
            </a:r>
            <a:endParaRPr lang="en-US" sz="2400" b="1" kern="0" dirty="0"/>
          </a:p>
          <a:p>
            <a:r>
              <a:rPr lang="zh-CN" altLang="en-US" sz="2400" b="1" kern="0" dirty="0"/>
              <a:t>节点为白色</a:t>
            </a:r>
            <a:r>
              <a:rPr lang="en-US" altLang="zh-CN" sz="2400" b="1" i="1" kern="0" dirty="0"/>
              <a:t>(</a:t>
            </a:r>
            <a:r>
              <a:rPr lang="en-US" sz="2400" b="1" i="1" kern="0" dirty="0"/>
              <a:t>white)</a:t>
            </a:r>
            <a:r>
              <a:rPr lang="zh-CN" altLang="en-US" sz="2400" b="1" kern="0" dirty="0"/>
              <a:t>，表示该节点还未被访问</a:t>
            </a:r>
            <a:endParaRPr lang="en-US" sz="2400" b="1" kern="0" dirty="0"/>
          </a:p>
          <a:p>
            <a:r>
              <a:rPr lang="zh-CN" altLang="en-US" sz="2400" b="1" kern="0" dirty="0"/>
              <a:t>被访问过的节点为灰色</a:t>
            </a:r>
            <a:r>
              <a:rPr lang="en-US" altLang="zh-CN" sz="2400" b="1" i="1" kern="0" dirty="0"/>
              <a:t>(gray)</a:t>
            </a:r>
            <a:r>
              <a:rPr lang="zh-CN" altLang="en-US" sz="2400" b="1" kern="0" dirty="0"/>
              <a:t>和黑色</a:t>
            </a:r>
            <a:r>
              <a:rPr lang="en-US" altLang="zh-CN" sz="2400" b="1" i="1" kern="0" dirty="0"/>
              <a:t>(black)</a:t>
            </a:r>
          </a:p>
          <a:p>
            <a:pPr lvl="1"/>
            <a:r>
              <a:rPr lang="zh-CN" altLang="en-US" sz="2200" b="1" i="1" kern="0" dirty="0">
                <a:solidFill>
                  <a:srgbClr val="FF0000"/>
                </a:solidFill>
              </a:rPr>
              <a:t>灰色节点</a:t>
            </a:r>
            <a:r>
              <a:rPr lang="zh-CN" altLang="en-US" sz="2200" b="1" kern="0" dirty="0"/>
              <a:t>表示它被访问过，但是还没有对它的所有邻居进行访问</a:t>
            </a:r>
            <a:endParaRPr lang="en-US" sz="2200" b="1" kern="0" dirty="0"/>
          </a:p>
          <a:p>
            <a:pPr lvl="1"/>
            <a:r>
              <a:rPr lang="zh-CN" altLang="en-US" sz="2200" b="1" i="1" kern="0" dirty="0">
                <a:solidFill>
                  <a:srgbClr val="FF0000"/>
                </a:solidFill>
              </a:rPr>
              <a:t>黑色节点</a:t>
            </a:r>
            <a:r>
              <a:rPr lang="zh-CN" altLang="en-US" sz="2200" b="1" kern="0" dirty="0"/>
              <a:t>表示它被访问过，而且已经访问了它的所有邻居</a:t>
            </a:r>
            <a:endParaRPr lang="en-US" sz="2200" b="1" kern="0" dirty="0"/>
          </a:p>
          <a:p>
            <a:r>
              <a:rPr lang="zh-CN" altLang="en-US" sz="2400" b="1" kern="0" dirty="0"/>
              <a:t>所有节点的颜色变化顺序为</a:t>
            </a:r>
            <a:r>
              <a:rPr lang="en-US" sz="2400" b="1" kern="0" dirty="0"/>
              <a:t>: </a:t>
            </a:r>
            <a:r>
              <a:rPr lang="en-US" sz="2400" b="1" kern="0" dirty="0">
                <a:solidFill>
                  <a:srgbClr val="3333FF"/>
                </a:solidFill>
              </a:rPr>
              <a:t>white </a:t>
            </a:r>
            <a:r>
              <a:rPr lang="en-US" sz="2400" b="1" kern="0" dirty="0">
                <a:solidFill>
                  <a:srgbClr val="3333FF"/>
                </a:solidFill>
                <a:sym typeface="Wingdings" pitchFamily="2" charset="2"/>
              </a:rPr>
              <a:t> gray  black</a:t>
            </a:r>
          </a:p>
        </p:txBody>
      </p:sp>
    </p:spTree>
    <p:extLst>
      <p:ext uri="{BB962C8B-B14F-4D97-AF65-F5344CB8AC3E}">
        <p14:creationId xmlns:p14="http://schemas.microsoft.com/office/powerpoint/2010/main" val="398805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a:solidFill>
                  <a:srgbClr val="0000CC"/>
                </a:solidFill>
              </a:rPr>
              <a:t>BFS:</a:t>
            </a:r>
            <a:r>
              <a:rPr lang="zh-CN" altLang="en-US" sz="3600" b="1" dirty="0">
                <a:solidFill>
                  <a:srgbClr val="0000CC"/>
                </a:solidFill>
              </a:rPr>
              <a:t>算法描述</a:t>
            </a:r>
            <a:endParaRPr lang="en-US" sz="3600" b="1" dirty="0">
              <a:solidFill>
                <a:srgbClr val="0000CC"/>
              </a:solidFill>
            </a:endParaRPr>
          </a:p>
        </p:txBody>
      </p:sp>
      <p:sp>
        <p:nvSpPr>
          <p:cNvPr id="35843" name="Rectangle 3"/>
          <p:cNvSpPr>
            <a:spLocks noGrp="1" noChangeArrowheads="1"/>
          </p:cNvSpPr>
          <p:nvPr>
            <p:ph type="body" idx="1"/>
          </p:nvPr>
        </p:nvSpPr>
        <p:spPr>
          <a:xfrm>
            <a:off x="609600" y="1524000"/>
            <a:ext cx="8153400" cy="4572000"/>
          </a:xfrm>
          <a:noFill/>
        </p:spPr>
        <p:txBody>
          <a:bodyPr lIns="92075" tIns="46038" rIns="92075" bIns="46038"/>
          <a:lstStyle/>
          <a:p>
            <a:pPr>
              <a:buFont typeface="Monotype Sorts" pitchFamily="2" charset="2"/>
              <a:buNone/>
            </a:pPr>
            <a:r>
              <a:rPr lang="en-US" sz="2400" b="1" i="1" dirty="0"/>
              <a:t>BFS</a:t>
            </a:r>
            <a:r>
              <a:rPr lang="en-US" sz="2400" b="1" dirty="0"/>
              <a:t>(</a:t>
            </a:r>
            <a:r>
              <a:rPr lang="en-US" sz="2400" b="1" i="1" dirty="0"/>
              <a:t>G</a:t>
            </a:r>
            <a:r>
              <a:rPr lang="en-US" sz="2400" b="1" dirty="0"/>
              <a:t>, </a:t>
            </a:r>
            <a:r>
              <a:rPr lang="en-US" sz="2400" b="1" i="1" dirty="0"/>
              <a:t>s</a:t>
            </a:r>
            <a:r>
              <a:rPr lang="en-US" sz="2400" b="1" dirty="0"/>
              <a:t>)   </a:t>
            </a:r>
            <a:endParaRPr lang="en-US" sz="2400" b="1" i="1" dirty="0"/>
          </a:p>
          <a:p>
            <a:pPr>
              <a:buFont typeface="Monotype Sorts" pitchFamily="2" charset="2"/>
              <a:buNone/>
            </a:pPr>
            <a:r>
              <a:rPr lang="en-US" sz="2400" b="1" dirty="0"/>
              <a:t>   for </a:t>
            </a:r>
            <a:r>
              <a:rPr lang="en-US" altLang="zh-CN" sz="2400" b="1" dirty="0"/>
              <a:t>each </a:t>
            </a:r>
            <a:r>
              <a:rPr lang="en-US" sz="2400" b="1" i="1" dirty="0"/>
              <a:t>u</a:t>
            </a:r>
            <a:r>
              <a:rPr lang="en-US" sz="2400" b="1" dirty="0"/>
              <a:t> </a:t>
            </a:r>
            <a:r>
              <a:rPr lang="en-US" sz="2400" b="1" dirty="0">
                <a:sym typeface="Symbol"/>
              </a:rPr>
              <a:t> </a:t>
            </a:r>
            <a:r>
              <a:rPr lang="en-US" sz="2400" b="1" i="1" dirty="0">
                <a:sym typeface="Symbol"/>
              </a:rPr>
              <a:t>G</a:t>
            </a:r>
            <a:r>
              <a:rPr lang="en-US" sz="2400" b="1" dirty="0">
                <a:sym typeface="Symbol"/>
              </a:rPr>
              <a:t>.</a:t>
            </a:r>
            <a:r>
              <a:rPr lang="en-US" sz="2400" b="1" i="1" dirty="0">
                <a:sym typeface="Symbol"/>
              </a:rPr>
              <a:t>V</a:t>
            </a:r>
            <a:r>
              <a:rPr lang="en-US" sz="2400" b="1" dirty="0">
                <a:sym typeface="Symbol"/>
              </a:rPr>
              <a:t> – {</a:t>
            </a:r>
            <a:r>
              <a:rPr lang="en-US" sz="2400" b="1" i="1" dirty="0">
                <a:sym typeface="Symbol"/>
              </a:rPr>
              <a:t>s</a:t>
            </a:r>
            <a:r>
              <a:rPr lang="en-US" sz="2400" b="1" dirty="0">
                <a:sym typeface="Symbol"/>
              </a:rPr>
              <a:t>}</a:t>
            </a:r>
            <a:endParaRPr lang="en-US" sz="2400" b="1" dirty="0"/>
          </a:p>
          <a:p>
            <a:pPr>
              <a:buFont typeface="Monotype Sorts" pitchFamily="2" charset="2"/>
              <a:buNone/>
            </a:pPr>
            <a:r>
              <a:rPr lang="en-US" sz="2400" b="1" dirty="0"/>
              <a:t>      </a:t>
            </a:r>
            <a:r>
              <a:rPr lang="en-US" sz="2400" b="1" i="1" dirty="0" err="1"/>
              <a:t>u</a:t>
            </a:r>
            <a:r>
              <a:rPr lang="en-US" sz="2400" b="1" dirty="0" err="1"/>
              <a:t>.</a:t>
            </a:r>
            <a:r>
              <a:rPr lang="en-US" sz="2400" b="1" i="1" dirty="0" err="1"/>
              <a:t>color</a:t>
            </a:r>
            <a:r>
              <a:rPr lang="en-US" sz="2400" b="1" dirty="0"/>
              <a:t> = white</a:t>
            </a:r>
          </a:p>
          <a:p>
            <a:pPr>
              <a:buFont typeface="Monotype Sorts" pitchFamily="2" charset="2"/>
              <a:buNone/>
            </a:pPr>
            <a:r>
              <a:rPr lang="en-US" sz="2400" b="1" dirty="0"/>
              <a:t>      </a:t>
            </a:r>
            <a:r>
              <a:rPr lang="en-US" sz="2400" b="1" i="1" dirty="0" err="1"/>
              <a:t>u</a:t>
            </a:r>
            <a:r>
              <a:rPr lang="en-US" sz="2400" b="1" dirty="0" err="1"/>
              <a:t>.</a:t>
            </a:r>
            <a:r>
              <a:rPr lang="en-US" sz="2400" b="1" i="1" dirty="0" err="1"/>
              <a:t>d</a:t>
            </a:r>
            <a:r>
              <a:rPr lang="en-US" sz="2400" b="1" dirty="0"/>
              <a:t> = </a:t>
            </a:r>
            <a:r>
              <a:rPr lang="en-US" sz="2400" b="1" dirty="0">
                <a:latin typeface="Symbol" pitchFamily="18" charset="2"/>
              </a:rPr>
              <a:t>¥      // </a:t>
            </a:r>
            <a:r>
              <a:rPr lang="en-US" sz="2200" b="1" i="1" dirty="0" err="1"/>
              <a:t>u</a:t>
            </a:r>
            <a:r>
              <a:rPr lang="en-US" sz="2200" b="1" dirty="0" err="1"/>
              <a:t>.</a:t>
            </a:r>
            <a:r>
              <a:rPr lang="en-US" sz="2200" b="1" i="1" dirty="0" err="1"/>
              <a:t>d</a:t>
            </a:r>
            <a:r>
              <a:rPr lang="en-US" sz="2200" b="1" dirty="0"/>
              <a:t> </a:t>
            </a:r>
            <a:r>
              <a:rPr lang="zh-CN" altLang="en-US" sz="2200" b="1" dirty="0"/>
              <a:t>记录从</a:t>
            </a:r>
            <a:r>
              <a:rPr lang="en-US" sz="2200" b="1" i="1" dirty="0"/>
              <a:t>s</a:t>
            </a:r>
            <a:r>
              <a:rPr lang="zh-CN" altLang="en-US" sz="2200" b="1" dirty="0"/>
              <a:t>到</a:t>
            </a:r>
            <a:r>
              <a:rPr lang="en-US" sz="2200" b="1" i="1" dirty="0"/>
              <a:t>u</a:t>
            </a:r>
            <a:r>
              <a:rPr lang="zh-CN" altLang="en-US" sz="2200" b="1" dirty="0"/>
              <a:t>的距离</a:t>
            </a:r>
            <a:endParaRPr lang="en-US" sz="2200" b="1" dirty="0">
              <a:latin typeface="Symbol" pitchFamily="18" charset="2"/>
            </a:endParaRPr>
          </a:p>
          <a:p>
            <a:pPr>
              <a:buFont typeface="Monotype Sorts" pitchFamily="2" charset="2"/>
              <a:buNone/>
            </a:pPr>
            <a:r>
              <a:rPr lang="en-US" sz="2400" b="1" dirty="0">
                <a:latin typeface="Symbol" pitchFamily="18" charset="2"/>
              </a:rPr>
              <a:t>	  </a:t>
            </a:r>
            <a:r>
              <a:rPr lang="en-US" sz="2400" b="1" i="1" dirty="0"/>
              <a:t>u.</a:t>
            </a:r>
            <a:r>
              <a:rPr lang="en-US" sz="2400" b="1" i="1" dirty="0">
                <a:sym typeface="Symbol"/>
              </a:rPr>
              <a:t></a:t>
            </a:r>
            <a:r>
              <a:rPr lang="en-US" sz="2400" b="1" dirty="0"/>
              <a:t> = NIL // </a:t>
            </a:r>
            <a:r>
              <a:rPr lang="en-US" sz="2400" b="1" i="1" dirty="0"/>
              <a:t>u.</a:t>
            </a:r>
            <a:r>
              <a:rPr lang="en-US" sz="2400" b="1" i="1" dirty="0">
                <a:sym typeface="Symbol"/>
              </a:rPr>
              <a:t></a:t>
            </a:r>
            <a:r>
              <a:rPr lang="en-US" sz="2400" b="1" dirty="0"/>
              <a:t>  </a:t>
            </a:r>
            <a:r>
              <a:rPr lang="zh-CN" altLang="en-US" sz="2400" b="1" dirty="0"/>
              <a:t>记录</a:t>
            </a:r>
            <a:r>
              <a:rPr lang="en-US" sz="2400" b="1" i="1" dirty="0"/>
              <a:t>u</a:t>
            </a:r>
            <a:r>
              <a:rPr lang="en-US" sz="2400" b="1" dirty="0"/>
              <a:t> </a:t>
            </a:r>
            <a:r>
              <a:rPr lang="zh-CN" altLang="en-US" sz="2400" b="1" dirty="0"/>
              <a:t>在</a:t>
            </a:r>
            <a:r>
              <a:rPr lang="en-US" sz="2400" b="1" dirty="0"/>
              <a:t>BFS-</a:t>
            </a:r>
            <a:r>
              <a:rPr lang="zh-CN" altLang="en-US" sz="2400" b="1" dirty="0"/>
              <a:t>树中的前驱节点</a:t>
            </a:r>
            <a:endParaRPr lang="en-US" sz="2400" b="1" dirty="0"/>
          </a:p>
          <a:p>
            <a:pPr>
              <a:buFont typeface="Monotype Sorts" pitchFamily="2" charset="2"/>
              <a:buNone/>
            </a:pPr>
            <a:r>
              <a:rPr lang="en-US" sz="2400" b="1" dirty="0"/>
              <a:t>   </a:t>
            </a:r>
            <a:r>
              <a:rPr lang="en-US" sz="2400" b="1" i="1" dirty="0" err="1"/>
              <a:t>s</a:t>
            </a:r>
            <a:r>
              <a:rPr lang="en-US" sz="2400" b="1" dirty="0" err="1"/>
              <a:t>.</a:t>
            </a:r>
            <a:r>
              <a:rPr lang="en-US" sz="2400" b="1" i="1" dirty="0" err="1"/>
              <a:t>color</a:t>
            </a:r>
            <a:r>
              <a:rPr lang="en-US" sz="2400" b="1" dirty="0"/>
              <a:t> = gray </a:t>
            </a:r>
          </a:p>
          <a:p>
            <a:pPr>
              <a:buFont typeface="Monotype Sorts" pitchFamily="2" charset="2"/>
              <a:buNone/>
            </a:pPr>
            <a:r>
              <a:rPr lang="en-US" sz="2400" b="1" dirty="0"/>
              <a:t>   </a:t>
            </a:r>
            <a:r>
              <a:rPr lang="en-US" sz="2400" b="1" i="1" dirty="0" err="1"/>
              <a:t>s</a:t>
            </a:r>
            <a:r>
              <a:rPr lang="en-US" sz="2400" b="1" dirty="0" err="1"/>
              <a:t>.</a:t>
            </a:r>
            <a:r>
              <a:rPr lang="en-US" sz="2400" b="1" i="1" dirty="0" err="1"/>
              <a:t>d</a:t>
            </a:r>
            <a:r>
              <a:rPr lang="en-US" sz="2400" b="1" dirty="0"/>
              <a:t> = 0 </a:t>
            </a:r>
          </a:p>
          <a:p>
            <a:pPr>
              <a:buFont typeface="Monotype Sorts" pitchFamily="2" charset="2"/>
              <a:buNone/>
            </a:pPr>
            <a:r>
              <a:rPr lang="en-US" sz="2400" b="1" i="1" dirty="0"/>
              <a:t>   s.</a:t>
            </a:r>
            <a:r>
              <a:rPr lang="en-US" sz="2400" b="1" i="1" dirty="0">
                <a:sym typeface="Symbol"/>
              </a:rPr>
              <a:t></a:t>
            </a:r>
            <a:r>
              <a:rPr lang="en-US" sz="2400" b="1" dirty="0"/>
              <a:t> = NIL </a:t>
            </a:r>
          </a:p>
          <a:p>
            <a:pPr>
              <a:buFont typeface="Monotype Sorts" pitchFamily="2" charset="2"/>
              <a:buNone/>
            </a:pPr>
            <a:r>
              <a:rPr lang="en-US" sz="2400" b="1" dirty="0"/>
              <a:t>   </a:t>
            </a:r>
            <a:r>
              <a:rPr lang="en-US" sz="2400" b="1" i="1" dirty="0"/>
              <a:t>Q = </a:t>
            </a:r>
            <a:r>
              <a:rPr lang="en-US" sz="2400" b="1" i="1" dirty="0">
                <a:sym typeface="Symbol"/>
              </a:rPr>
              <a:t> </a:t>
            </a:r>
            <a:r>
              <a:rPr lang="en-US" sz="2400" b="1" dirty="0"/>
              <a:t> // </a:t>
            </a:r>
            <a:r>
              <a:rPr lang="en-US" sz="2400" b="1" i="1" dirty="0"/>
              <a:t>Q</a:t>
            </a:r>
            <a:r>
              <a:rPr lang="en-US" sz="2400" b="1" dirty="0"/>
              <a:t> </a:t>
            </a:r>
            <a:r>
              <a:rPr lang="zh-CN" altLang="en-US" sz="2400" b="1" dirty="0"/>
              <a:t>是一个先进先出的队列</a:t>
            </a:r>
            <a:r>
              <a:rPr lang="en-US" sz="2400" b="1" dirty="0"/>
              <a:t>   </a:t>
            </a:r>
          </a:p>
          <a:p>
            <a:pPr>
              <a:buFont typeface="Monotype Sorts" pitchFamily="2" charset="2"/>
              <a:buNone/>
            </a:pPr>
            <a:r>
              <a:rPr lang="en-US" sz="2400" b="1" i="1" dirty="0"/>
              <a:t>   </a:t>
            </a:r>
            <a:r>
              <a:rPr lang="en-US" sz="2400" b="1" i="1" dirty="0" err="1"/>
              <a:t>Enqueue</a:t>
            </a:r>
            <a:r>
              <a:rPr lang="en-US" sz="2400" b="1" dirty="0"/>
              <a:t>(</a:t>
            </a:r>
            <a:r>
              <a:rPr lang="en-US" sz="2400" b="1" i="1" dirty="0"/>
              <a:t>Q</a:t>
            </a:r>
            <a:r>
              <a:rPr lang="en-US" sz="2400" b="1" dirty="0"/>
              <a:t>, </a:t>
            </a:r>
            <a:r>
              <a:rPr lang="en-US" sz="2400" b="1" i="1" dirty="0"/>
              <a:t>s</a:t>
            </a:r>
            <a:r>
              <a:rPr lang="en-US" sz="2400" b="1" dirty="0"/>
              <a:t>)</a:t>
            </a:r>
          </a:p>
        </p:txBody>
      </p:sp>
    </p:spTree>
    <p:extLst>
      <p:ext uri="{BB962C8B-B14F-4D97-AF65-F5344CB8AC3E}">
        <p14:creationId xmlns:p14="http://schemas.microsoft.com/office/powerpoint/2010/main" val="438866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a:solidFill>
                  <a:srgbClr val="0000CC"/>
                </a:solidFill>
              </a:rPr>
              <a:t>BFS: </a:t>
            </a:r>
            <a:r>
              <a:rPr lang="zh-CN" altLang="en-US" sz="3600" b="1" dirty="0">
                <a:solidFill>
                  <a:srgbClr val="0000CC"/>
                </a:solidFill>
              </a:rPr>
              <a:t>算法描述</a:t>
            </a:r>
            <a:endParaRPr lang="en-US" sz="3600" b="1" dirty="0">
              <a:solidFill>
                <a:srgbClr val="0000CC"/>
              </a:solidFill>
            </a:endParaRPr>
          </a:p>
        </p:txBody>
      </p:sp>
      <p:sp>
        <p:nvSpPr>
          <p:cNvPr id="1028" name="Rectangle 3"/>
          <p:cNvSpPr>
            <a:spLocks noGrp="1" noChangeArrowheads="1"/>
          </p:cNvSpPr>
          <p:nvPr>
            <p:ph type="body" idx="1"/>
          </p:nvPr>
        </p:nvSpPr>
        <p:spPr>
          <a:xfrm>
            <a:off x="457200" y="1447800"/>
            <a:ext cx="8305800" cy="4876800"/>
          </a:xfrm>
          <a:noFill/>
        </p:spPr>
        <p:txBody>
          <a:bodyPr lIns="92075" tIns="46038" rIns="92075" bIns="46038"/>
          <a:lstStyle/>
          <a:p>
            <a:pPr>
              <a:buFont typeface="Monotype Sorts" pitchFamily="2" charset="2"/>
              <a:buNone/>
            </a:pPr>
            <a:r>
              <a:rPr lang="en-US" sz="2400" b="1" dirty="0"/>
              <a:t>while ( </a:t>
            </a:r>
            <a:r>
              <a:rPr lang="en-US" sz="2400" b="1" i="1" dirty="0"/>
              <a:t>Q ≠ </a:t>
            </a:r>
            <a:r>
              <a:rPr lang="en-US" sz="2400" b="1" i="1" dirty="0">
                <a:sym typeface="Symbol"/>
              </a:rPr>
              <a:t></a:t>
            </a:r>
            <a:r>
              <a:rPr lang="en-US" sz="2400" b="1" dirty="0">
                <a:sym typeface="Symbol"/>
              </a:rPr>
              <a:t> </a:t>
            </a:r>
            <a:r>
              <a:rPr lang="en-US" sz="2400" b="1" dirty="0"/>
              <a:t>)</a:t>
            </a:r>
          </a:p>
          <a:p>
            <a:pPr>
              <a:buFont typeface="Monotype Sorts" pitchFamily="2" charset="2"/>
              <a:buNone/>
            </a:pPr>
            <a:r>
              <a:rPr lang="en-US" sz="2400" b="1" dirty="0"/>
              <a:t>     </a:t>
            </a:r>
            <a:r>
              <a:rPr lang="en-US" sz="2400" b="1" i="1" dirty="0"/>
              <a:t>u</a:t>
            </a:r>
            <a:r>
              <a:rPr lang="en-US" sz="2400" b="1" dirty="0"/>
              <a:t> = </a:t>
            </a:r>
            <a:r>
              <a:rPr lang="en-US" sz="2400" b="1" i="1" dirty="0" err="1"/>
              <a:t>Dequeue</a:t>
            </a:r>
            <a:r>
              <a:rPr lang="en-US" sz="2400" b="1" dirty="0"/>
              <a:t>(</a:t>
            </a:r>
            <a:r>
              <a:rPr lang="en-US" sz="2400" b="1" i="1" dirty="0"/>
              <a:t>Q</a:t>
            </a:r>
            <a:r>
              <a:rPr lang="en-US" sz="2400" b="1" dirty="0"/>
              <a:t>)</a:t>
            </a:r>
          </a:p>
          <a:p>
            <a:pPr>
              <a:buFont typeface="Monotype Sorts" pitchFamily="2" charset="2"/>
              <a:buNone/>
            </a:pPr>
            <a:r>
              <a:rPr lang="en-US" sz="2400" b="1" dirty="0"/>
              <a:t>     for each </a:t>
            </a:r>
            <a:r>
              <a:rPr lang="en-US" sz="2400" b="1" i="1" dirty="0"/>
              <a:t>v</a:t>
            </a:r>
            <a:r>
              <a:rPr lang="en-US" sz="2400" b="1" dirty="0"/>
              <a:t> in </a:t>
            </a:r>
            <a:r>
              <a:rPr lang="en-US" sz="2400" b="1" i="1" dirty="0" err="1"/>
              <a:t>adj</a:t>
            </a:r>
            <a:r>
              <a:rPr lang="en-US" sz="2400" b="1" dirty="0"/>
              <a:t>[</a:t>
            </a:r>
            <a:r>
              <a:rPr lang="en-US" sz="2400" b="1" i="1" dirty="0"/>
              <a:t>u</a:t>
            </a:r>
            <a:r>
              <a:rPr lang="en-US" sz="2400" b="1" dirty="0"/>
              <a:t>]                        </a:t>
            </a:r>
          </a:p>
          <a:p>
            <a:pPr>
              <a:buFont typeface="Monotype Sorts" pitchFamily="2" charset="2"/>
              <a:buNone/>
            </a:pPr>
            <a:r>
              <a:rPr lang="en-US" sz="2400" b="1" dirty="0"/>
              <a:t>          if (</a:t>
            </a:r>
            <a:r>
              <a:rPr lang="en-US" sz="2400" b="1" i="1" dirty="0" err="1"/>
              <a:t>v</a:t>
            </a:r>
            <a:r>
              <a:rPr lang="en-US" sz="2400" b="1" dirty="0" err="1"/>
              <a:t>.</a:t>
            </a:r>
            <a:r>
              <a:rPr lang="en-US" sz="2400" b="1" i="1" dirty="0" err="1"/>
              <a:t>color</a:t>
            </a:r>
            <a:r>
              <a:rPr lang="en-US" sz="2400" b="1" dirty="0"/>
              <a:t> == white)   // </a:t>
            </a:r>
            <a:r>
              <a:rPr lang="en-US" sz="2400" b="1" i="1" dirty="0"/>
              <a:t>v</a:t>
            </a:r>
            <a:r>
              <a:rPr lang="en-US" sz="2400" b="1" dirty="0"/>
              <a:t> </a:t>
            </a:r>
            <a:r>
              <a:rPr lang="zh-CN" altLang="en-US" sz="2400" b="1" dirty="0"/>
              <a:t>还没被访问</a:t>
            </a:r>
            <a:endParaRPr lang="en-US" sz="2400" b="1" dirty="0"/>
          </a:p>
          <a:p>
            <a:pPr>
              <a:spcBef>
                <a:spcPts val="0"/>
              </a:spcBef>
              <a:buFont typeface="Monotype Sorts" pitchFamily="2" charset="2"/>
              <a:buNone/>
            </a:pPr>
            <a:r>
              <a:rPr lang="en-US" sz="2400" b="1" i="1" dirty="0"/>
              <a:t>               </a:t>
            </a:r>
            <a:r>
              <a:rPr lang="en-US" sz="2400" b="1" i="1" dirty="0" err="1"/>
              <a:t>v</a:t>
            </a:r>
            <a:r>
              <a:rPr lang="en-US" sz="2400" b="1" dirty="0" err="1"/>
              <a:t>.</a:t>
            </a:r>
            <a:r>
              <a:rPr lang="en-US" sz="2400" b="1" i="1" dirty="0" err="1"/>
              <a:t>color</a:t>
            </a:r>
            <a:r>
              <a:rPr lang="en-US" sz="2400" b="1" dirty="0"/>
              <a:t> = gray </a:t>
            </a:r>
          </a:p>
          <a:p>
            <a:pPr>
              <a:buFont typeface="Monotype Sorts" pitchFamily="2" charset="2"/>
              <a:buNone/>
            </a:pPr>
            <a:r>
              <a:rPr lang="en-US" sz="2400" b="1" dirty="0"/>
              <a:t>               </a:t>
            </a:r>
            <a:r>
              <a:rPr lang="en-US" sz="2400" b="1" i="1" dirty="0" err="1"/>
              <a:t>v</a:t>
            </a:r>
            <a:r>
              <a:rPr lang="en-US" sz="2400" b="1" dirty="0" err="1"/>
              <a:t>.</a:t>
            </a:r>
            <a:r>
              <a:rPr lang="en-US" sz="2400" b="1" i="1" dirty="0" err="1"/>
              <a:t>d</a:t>
            </a:r>
            <a:r>
              <a:rPr lang="en-US" sz="2400" b="1" dirty="0"/>
              <a:t> = </a:t>
            </a:r>
            <a:r>
              <a:rPr lang="en-US" sz="2400" b="1" i="1" dirty="0" err="1"/>
              <a:t>u</a:t>
            </a:r>
            <a:r>
              <a:rPr lang="en-US" sz="2400" b="1" dirty="0" err="1"/>
              <a:t>.</a:t>
            </a:r>
            <a:r>
              <a:rPr lang="en-US" sz="2400" b="1" i="1" dirty="0" err="1"/>
              <a:t>d</a:t>
            </a:r>
            <a:r>
              <a:rPr lang="en-US" sz="2400" b="1" dirty="0"/>
              <a:t> +1</a:t>
            </a:r>
          </a:p>
          <a:p>
            <a:pPr>
              <a:buFont typeface="Monotype Sorts" pitchFamily="2" charset="2"/>
              <a:buNone/>
            </a:pPr>
            <a:r>
              <a:rPr lang="en-US" sz="2400" b="1" dirty="0"/>
              <a:t>               </a:t>
            </a:r>
            <a:r>
              <a:rPr lang="en-US" sz="2400" b="1" i="1" dirty="0"/>
              <a:t>v</a:t>
            </a:r>
            <a:r>
              <a:rPr lang="en-US" sz="2400" b="1" dirty="0"/>
              <a:t>.</a:t>
            </a:r>
            <a:r>
              <a:rPr lang="en-US" sz="2400" b="1" i="1" dirty="0">
                <a:sym typeface="Symbol"/>
              </a:rPr>
              <a:t></a:t>
            </a:r>
            <a:r>
              <a:rPr lang="en-US" sz="2400" b="1" dirty="0"/>
              <a:t> = </a:t>
            </a:r>
            <a:r>
              <a:rPr lang="en-US" sz="2400" b="1" i="1" dirty="0"/>
              <a:t>u</a:t>
            </a:r>
            <a:r>
              <a:rPr lang="en-US" sz="2400" b="1" dirty="0"/>
              <a:t>              // </a:t>
            </a:r>
            <a:r>
              <a:rPr lang="en-US" sz="2400" b="1" i="1" dirty="0"/>
              <a:t>u</a:t>
            </a:r>
            <a:r>
              <a:rPr lang="en-US" sz="2400" b="1" dirty="0"/>
              <a:t> </a:t>
            </a:r>
            <a:r>
              <a:rPr lang="zh-CN" altLang="en-US" sz="2400" b="1" dirty="0"/>
              <a:t>为</a:t>
            </a:r>
            <a:r>
              <a:rPr lang="en-US" altLang="zh-CN" sz="2400" b="1" dirty="0"/>
              <a:t>v</a:t>
            </a:r>
            <a:r>
              <a:rPr lang="zh-CN" altLang="en-US" sz="2400" b="1" dirty="0"/>
              <a:t>的前驱（父亲节点）</a:t>
            </a:r>
            <a:endParaRPr lang="en-US" sz="2400" b="1" dirty="0"/>
          </a:p>
          <a:p>
            <a:pPr>
              <a:spcBef>
                <a:spcPts val="0"/>
              </a:spcBef>
              <a:buFont typeface="Monotype Sorts" pitchFamily="2" charset="2"/>
              <a:buNone/>
            </a:pPr>
            <a:r>
              <a:rPr lang="en-US" sz="2400" b="1" i="1" dirty="0"/>
              <a:t>               </a:t>
            </a:r>
            <a:r>
              <a:rPr lang="en-US" sz="2400" b="1" i="1" dirty="0" err="1"/>
              <a:t>Enqueue</a:t>
            </a:r>
            <a:r>
              <a:rPr lang="en-US" sz="2400" b="1" dirty="0"/>
              <a:t>(</a:t>
            </a:r>
            <a:r>
              <a:rPr lang="en-US" sz="2400" b="1" i="1" dirty="0"/>
              <a:t>Q</a:t>
            </a:r>
            <a:r>
              <a:rPr lang="en-US" sz="2400" b="1" dirty="0"/>
              <a:t>, </a:t>
            </a:r>
            <a:r>
              <a:rPr lang="en-US" sz="2400" b="1" i="1" dirty="0"/>
              <a:t>v</a:t>
            </a:r>
            <a:r>
              <a:rPr lang="en-US" sz="2400" b="1" dirty="0"/>
              <a:t>) </a:t>
            </a:r>
          </a:p>
          <a:p>
            <a:pPr>
              <a:buFont typeface="Monotype Sorts" pitchFamily="2" charset="2"/>
              <a:buNone/>
            </a:pPr>
            <a:r>
              <a:rPr lang="en-US" sz="2400" b="1" i="1" dirty="0"/>
              <a:t>      </a:t>
            </a:r>
            <a:r>
              <a:rPr lang="en-US" sz="2400" b="1" i="1" dirty="0" err="1"/>
              <a:t>u.color</a:t>
            </a:r>
            <a:r>
              <a:rPr lang="en-US" sz="2400" b="1" dirty="0"/>
              <a:t> = black   // </a:t>
            </a:r>
            <a:r>
              <a:rPr lang="en-US" sz="2400" b="1" i="1" dirty="0"/>
              <a:t>u</a:t>
            </a:r>
            <a:r>
              <a:rPr lang="zh-CN" altLang="en-US" sz="2400" b="1" dirty="0"/>
              <a:t>已经遍历完成</a:t>
            </a:r>
            <a:endParaRPr lang="en-US" sz="2400" b="1" dirty="0"/>
          </a:p>
        </p:txBody>
      </p:sp>
      <p:sp>
        <p:nvSpPr>
          <p:cNvPr id="4" name="矩形 3"/>
          <p:cNvSpPr/>
          <p:nvPr/>
        </p:nvSpPr>
        <p:spPr bwMode="auto">
          <a:xfrm>
            <a:off x="685800" y="2286000"/>
            <a:ext cx="6858000" cy="2590800"/>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06140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a:solidFill>
                  <a:srgbClr val="0000CC"/>
                </a:solidFill>
              </a:rPr>
              <a:t>BFS</a:t>
            </a:r>
            <a:r>
              <a:rPr lang="zh-CN" altLang="en-US" sz="3600" b="1" dirty="0">
                <a:solidFill>
                  <a:srgbClr val="0000CC"/>
                </a:solidFill>
              </a:rPr>
              <a:t>举例</a:t>
            </a:r>
            <a:endParaRPr lang="en-US" sz="3600" b="1" dirty="0">
              <a:solidFill>
                <a:srgbClr val="0000CC"/>
              </a:solidFill>
            </a:endParaRPr>
          </a:p>
        </p:txBody>
      </p:sp>
      <p:pic>
        <p:nvPicPr>
          <p:cNvPr id="21401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3921" b="61106"/>
          <a:stretch/>
        </p:blipFill>
        <p:spPr bwMode="auto">
          <a:xfrm>
            <a:off x="262467" y="1905000"/>
            <a:ext cx="4157133"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3212" b="61106"/>
          <a:stretch/>
        </p:blipFill>
        <p:spPr bwMode="auto">
          <a:xfrm>
            <a:off x="4648200" y="1905000"/>
            <a:ext cx="4221076"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262467" y="5410200"/>
            <a:ext cx="8606809" cy="954107"/>
          </a:xfrm>
          <a:prstGeom prst="rect">
            <a:avLst/>
          </a:prstGeom>
        </p:spPr>
        <p:txBody>
          <a:bodyPr wrap="square">
            <a:spAutoFit/>
          </a:bodyPr>
          <a:lstStyle/>
          <a:p>
            <a:r>
              <a:rPr lang="zh-CN" altLang="en-US" sz="2800" dirty="0">
                <a:solidFill>
                  <a:srgbClr val="C00000"/>
                </a:solidFill>
              </a:rPr>
              <a:t>基本思想</a:t>
            </a:r>
            <a:r>
              <a:rPr lang="en-US" altLang="zh-CN" sz="2800" dirty="0">
                <a:solidFill>
                  <a:srgbClr val="C00000"/>
                </a:solidFill>
              </a:rPr>
              <a:t>: </a:t>
            </a:r>
            <a:r>
              <a:rPr lang="zh-CN" altLang="en-US" sz="2800" dirty="0"/>
              <a:t>先找到距离</a:t>
            </a:r>
            <a:r>
              <a:rPr lang="en-US" altLang="zh-CN" sz="2800" dirty="0"/>
              <a:t>s</a:t>
            </a:r>
            <a:r>
              <a:rPr lang="zh-CN" altLang="en-US" sz="2800" dirty="0"/>
              <a:t>为</a:t>
            </a:r>
            <a:r>
              <a:rPr lang="en-US" altLang="zh-CN" sz="2800" dirty="0">
                <a:solidFill>
                  <a:schemeClr val="bg2"/>
                </a:solidFill>
              </a:rPr>
              <a:t> </a:t>
            </a:r>
            <a:r>
              <a:rPr lang="en-US" altLang="zh-CN" sz="2800" i="1" dirty="0">
                <a:solidFill>
                  <a:schemeClr val="bg2"/>
                </a:solidFill>
              </a:rPr>
              <a:t>k</a:t>
            </a:r>
            <a:r>
              <a:rPr lang="zh-CN" altLang="en-US" sz="2800" dirty="0">
                <a:solidFill>
                  <a:schemeClr val="bg2"/>
                </a:solidFill>
              </a:rPr>
              <a:t>的节点，然后找到距离</a:t>
            </a:r>
            <a:r>
              <a:rPr lang="en-US" altLang="zh-CN" sz="2800" dirty="0">
                <a:solidFill>
                  <a:schemeClr val="bg2"/>
                </a:solidFill>
              </a:rPr>
              <a:t>s</a:t>
            </a:r>
            <a:r>
              <a:rPr lang="zh-CN" altLang="en-US" sz="2800" dirty="0">
                <a:solidFill>
                  <a:schemeClr val="bg2"/>
                </a:solidFill>
              </a:rPr>
              <a:t>为</a:t>
            </a:r>
            <a:r>
              <a:rPr lang="en-US" altLang="zh-CN" sz="2800" dirty="0">
                <a:solidFill>
                  <a:schemeClr val="bg2"/>
                </a:solidFill>
              </a:rPr>
              <a:t> </a:t>
            </a:r>
            <a:r>
              <a:rPr lang="en-US" altLang="zh-CN" sz="2800" i="1" dirty="0">
                <a:solidFill>
                  <a:schemeClr val="bg2"/>
                </a:solidFill>
              </a:rPr>
              <a:t>k</a:t>
            </a:r>
            <a:r>
              <a:rPr lang="en-US" altLang="zh-CN" sz="2800" dirty="0">
                <a:solidFill>
                  <a:schemeClr val="bg2"/>
                </a:solidFill>
              </a:rPr>
              <a:t> + 1 </a:t>
            </a:r>
            <a:r>
              <a:rPr lang="zh-CN" altLang="en-US" sz="2800" dirty="0">
                <a:solidFill>
                  <a:schemeClr val="bg2"/>
                </a:solidFill>
              </a:rPr>
              <a:t>的节点</a:t>
            </a:r>
            <a:endParaRPr lang="en-US" altLang="zh-CN" sz="2800" dirty="0">
              <a:solidFill>
                <a:schemeClr val="bg2"/>
              </a:solidFill>
            </a:endParaRPr>
          </a:p>
        </p:txBody>
      </p:sp>
    </p:spTree>
    <p:extLst>
      <p:ext uri="{BB962C8B-B14F-4D97-AF65-F5344CB8AC3E}">
        <p14:creationId xmlns:p14="http://schemas.microsoft.com/office/powerpoint/2010/main" val="2623874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85800" y="304800"/>
            <a:ext cx="7772400" cy="914400"/>
          </a:xfrm>
          <a:noFill/>
        </p:spPr>
        <p:txBody>
          <a:bodyPr lIns="92075" tIns="46038" rIns="92075" bIns="46038"/>
          <a:lstStyle/>
          <a:p>
            <a:r>
              <a:rPr lang="en-US" altLang="zh-CN" sz="3600" b="1" dirty="0">
                <a:solidFill>
                  <a:srgbClr val="0000CC"/>
                </a:solidFill>
              </a:rPr>
              <a:t>BFS</a:t>
            </a:r>
            <a:r>
              <a:rPr lang="zh-CN" altLang="en-US" sz="3600" b="1" dirty="0">
                <a:solidFill>
                  <a:srgbClr val="0000CC"/>
                </a:solidFill>
              </a:rPr>
              <a:t>举例</a:t>
            </a:r>
            <a:endParaRPr lang="en-US" sz="3600" b="1" dirty="0">
              <a:solidFill>
                <a:srgbClr val="0000CC"/>
              </a:solidFill>
            </a:endParaRPr>
          </a:p>
        </p:txBody>
      </p:sp>
      <p:pic>
        <p:nvPicPr>
          <p:cNvPr id="93"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3169" t="38651"/>
          <a:stretch/>
        </p:blipFill>
        <p:spPr bwMode="auto">
          <a:xfrm>
            <a:off x="4572000" y="1447800"/>
            <a:ext cx="4094161" cy="442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8651" r="52933"/>
          <a:stretch/>
        </p:blipFill>
        <p:spPr bwMode="auto">
          <a:xfrm>
            <a:off x="381000" y="1371600"/>
            <a:ext cx="4114800" cy="442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004" name="Rectangle 92"/>
          <p:cNvSpPr>
            <a:spLocks noChangeArrowheads="1"/>
          </p:cNvSpPr>
          <p:nvPr/>
        </p:nvSpPr>
        <p:spPr bwMode="auto">
          <a:xfrm>
            <a:off x="4191000" y="4876800"/>
            <a:ext cx="3886200" cy="46230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r>
              <a:rPr lang="zh-CN" altLang="en-US" sz="2400" dirty="0"/>
              <a:t>图中加粗的边为</a:t>
            </a:r>
            <a:r>
              <a:rPr lang="en-US" altLang="zh-CN" sz="2400" dirty="0"/>
              <a:t>BFS</a:t>
            </a:r>
            <a:r>
              <a:rPr lang="zh-CN" altLang="en-US" sz="2400" dirty="0"/>
              <a:t>树的边</a:t>
            </a:r>
            <a:endParaRPr lang="en-US" sz="2400" dirty="0">
              <a:solidFill>
                <a:schemeClr val="tx1"/>
              </a:solidFill>
            </a:endParaRPr>
          </a:p>
        </p:txBody>
      </p:sp>
    </p:spTree>
    <p:extLst>
      <p:ext uri="{BB962C8B-B14F-4D97-AF65-F5344CB8AC3E}">
        <p14:creationId xmlns:p14="http://schemas.microsoft.com/office/powerpoint/2010/main" val="282420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a:solidFill>
                  <a:srgbClr val="0000CC"/>
                </a:solidFill>
              </a:rPr>
              <a:t>BFS</a:t>
            </a:r>
            <a:r>
              <a:rPr lang="zh-CN" altLang="en-US" sz="3600" b="1" dirty="0">
                <a:solidFill>
                  <a:srgbClr val="0000CC"/>
                </a:solidFill>
              </a:rPr>
              <a:t>的输出</a:t>
            </a:r>
            <a:endParaRPr lang="en-US" sz="3600" b="1" dirty="0">
              <a:solidFill>
                <a:srgbClr val="0000CC"/>
              </a:solidFill>
            </a:endParaRPr>
          </a:p>
        </p:txBody>
      </p:sp>
      <p:sp>
        <p:nvSpPr>
          <p:cNvPr id="33795" name="Rectangle 3"/>
          <p:cNvSpPr>
            <a:spLocks noGrp="1" noChangeArrowheads="1"/>
          </p:cNvSpPr>
          <p:nvPr>
            <p:ph type="body" idx="1"/>
          </p:nvPr>
        </p:nvSpPr>
        <p:spPr>
          <a:xfrm>
            <a:off x="609600" y="1447800"/>
            <a:ext cx="7924800" cy="4724400"/>
          </a:xfrm>
          <a:noFill/>
        </p:spPr>
        <p:txBody>
          <a:bodyPr lIns="92075" tIns="46038" rIns="92075" bIns="46038"/>
          <a:lstStyle/>
          <a:p>
            <a:r>
              <a:rPr lang="zh-CN" altLang="en-US" sz="2400" b="1" dirty="0">
                <a:latin typeface="+mj-lt"/>
              </a:rPr>
              <a:t>输出从</a:t>
            </a:r>
            <a:r>
              <a:rPr lang="en-US" altLang="zh-CN" sz="2400" b="1" i="1" dirty="0">
                <a:latin typeface="+mj-lt"/>
              </a:rPr>
              <a:t>s</a:t>
            </a:r>
            <a:r>
              <a:rPr lang="zh-CN" altLang="en-US" sz="2400" b="1" dirty="0">
                <a:latin typeface="+mj-lt"/>
              </a:rPr>
              <a:t>点出发到达所有其它节点的</a:t>
            </a:r>
            <a:r>
              <a:rPr lang="zh-CN" altLang="en-US" sz="2400" b="1" i="1" dirty="0">
                <a:solidFill>
                  <a:srgbClr val="FF0000"/>
                </a:solidFill>
                <a:latin typeface="+mj-lt"/>
              </a:rPr>
              <a:t>最短路径</a:t>
            </a:r>
            <a:endParaRPr lang="en-US" sz="2400" b="1" i="1" dirty="0">
              <a:solidFill>
                <a:srgbClr val="FF0000"/>
              </a:solidFill>
              <a:latin typeface="+mj-lt"/>
            </a:endParaRPr>
          </a:p>
          <a:p>
            <a:r>
              <a:rPr lang="zh-CN" altLang="en-US" sz="2400" b="1" dirty="0">
                <a:latin typeface="+mj-lt"/>
              </a:rPr>
              <a:t>同时，也可以得到一颗以</a:t>
            </a:r>
            <a:r>
              <a:rPr lang="en-US" altLang="zh-CN" sz="2400" b="1" i="1" dirty="0">
                <a:latin typeface="+mj-lt"/>
              </a:rPr>
              <a:t>s</a:t>
            </a:r>
            <a:r>
              <a:rPr lang="zh-CN" altLang="en-US" sz="2400" b="1" dirty="0">
                <a:latin typeface="+mj-lt"/>
              </a:rPr>
              <a:t>节点为根的</a:t>
            </a:r>
            <a:r>
              <a:rPr lang="en-US" altLang="zh-CN" sz="2400" b="1" i="1" dirty="0">
                <a:solidFill>
                  <a:srgbClr val="FF0000"/>
                </a:solidFill>
                <a:latin typeface="+mj-lt"/>
              </a:rPr>
              <a:t>BFS</a:t>
            </a:r>
            <a:r>
              <a:rPr lang="zh-CN" altLang="en-US" sz="2400" b="1" i="1" dirty="0">
                <a:solidFill>
                  <a:srgbClr val="FF0000"/>
                </a:solidFill>
                <a:latin typeface="+mj-lt"/>
              </a:rPr>
              <a:t>树</a:t>
            </a:r>
            <a:r>
              <a:rPr lang="zh-CN" altLang="en-US" sz="2400" b="1" dirty="0">
                <a:latin typeface="+mj-lt"/>
              </a:rPr>
              <a:t>，这颗树包括了所有从</a:t>
            </a:r>
            <a:r>
              <a:rPr lang="en-US" altLang="zh-CN" sz="2400" b="1" i="1" dirty="0">
                <a:latin typeface="+mj-lt"/>
              </a:rPr>
              <a:t>s</a:t>
            </a:r>
            <a:r>
              <a:rPr lang="zh-CN" altLang="en-US" sz="2400" b="1" dirty="0">
                <a:latin typeface="+mj-lt"/>
              </a:rPr>
              <a:t>可达的节点</a:t>
            </a:r>
            <a:endParaRPr lang="en-US" sz="2400" b="1" dirty="0">
              <a:latin typeface="+mj-lt"/>
            </a:endParaRPr>
          </a:p>
          <a:p>
            <a:r>
              <a:rPr lang="zh-CN" altLang="en-US" sz="2400" b="1" dirty="0">
                <a:latin typeface="+mj-lt"/>
              </a:rPr>
              <a:t>如果是邻接表存图，则</a:t>
            </a:r>
            <a:r>
              <a:rPr lang="en-US" altLang="zh-CN" sz="2400" b="1" dirty="0">
                <a:latin typeface="+mj-lt"/>
              </a:rPr>
              <a:t>BFS</a:t>
            </a:r>
            <a:r>
              <a:rPr lang="zh-CN" altLang="en-US" sz="2400" b="1" dirty="0">
                <a:latin typeface="+mj-lt"/>
              </a:rPr>
              <a:t>算法的复杂度为</a:t>
            </a:r>
            <a:r>
              <a:rPr lang="en-US" sz="2400" b="1" i="1" dirty="0">
                <a:latin typeface="+mj-lt"/>
              </a:rPr>
              <a:t>O</a:t>
            </a:r>
            <a:r>
              <a:rPr lang="en-US" sz="2400" b="1" dirty="0">
                <a:latin typeface="+mj-lt"/>
              </a:rPr>
              <a:t>(|</a:t>
            </a:r>
            <a:r>
              <a:rPr lang="en-US" sz="2400" b="1" i="1" dirty="0">
                <a:latin typeface="+mj-lt"/>
              </a:rPr>
              <a:t>V</a:t>
            </a:r>
            <a:r>
              <a:rPr lang="en-US" sz="2400" b="1" dirty="0">
                <a:latin typeface="+mj-lt"/>
              </a:rPr>
              <a:t>| + |</a:t>
            </a:r>
            <a:r>
              <a:rPr lang="en-US" sz="2400" b="1" i="1" dirty="0">
                <a:latin typeface="+mj-lt"/>
              </a:rPr>
              <a:t>E</a:t>
            </a:r>
            <a:r>
              <a:rPr lang="en-US" sz="2400" b="1" dirty="0">
                <a:latin typeface="+mj-lt"/>
              </a:rPr>
              <a:t>|) </a:t>
            </a:r>
          </a:p>
          <a:p>
            <a:r>
              <a:rPr lang="zh-CN" altLang="en-US" sz="2400" b="1" dirty="0">
                <a:latin typeface="+mj-lt"/>
              </a:rPr>
              <a:t>如果是邻接矩阵存图，</a:t>
            </a:r>
            <a:r>
              <a:rPr lang="zh-CN" altLang="en-US" sz="2400" b="1" dirty="0"/>
              <a:t>则</a:t>
            </a:r>
            <a:r>
              <a:rPr lang="en-US" altLang="zh-CN" sz="2400" b="1" dirty="0"/>
              <a:t>BFS</a:t>
            </a:r>
            <a:r>
              <a:rPr lang="zh-CN" altLang="en-US" sz="2400" b="1" dirty="0"/>
              <a:t>算法的复杂度为</a:t>
            </a:r>
            <a:r>
              <a:rPr lang="en-US" sz="2400" b="1" i="1" dirty="0">
                <a:latin typeface="+mj-lt"/>
              </a:rPr>
              <a:t>O</a:t>
            </a:r>
            <a:r>
              <a:rPr lang="en-US" sz="2400" b="1" dirty="0">
                <a:latin typeface="+mj-lt"/>
              </a:rPr>
              <a:t>(|</a:t>
            </a:r>
            <a:r>
              <a:rPr lang="en-US" sz="2400" b="1" i="1" dirty="0">
                <a:latin typeface="+mj-lt"/>
              </a:rPr>
              <a:t>V</a:t>
            </a:r>
            <a:r>
              <a:rPr lang="en-US" sz="2400" b="1" dirty="0">
                <a:latin typeface="+mj-lt"/>
              </a:rPr>
              <a:t>|</a:t>
            </a:r>
            <a:r>
              <a:rPr lang="en-US" sz="2400" b="1" baseline="30000" dirty="0">
                <a:latin typeface="+mj-lt"/>
              </a:rPr>
              <a:t>2</a:t>
            </a:r>
            <a:r>
              <a:rPr lang="en-US" sz="2400" b="1" dirty="0">
                <a:latin typeface="+mj-lt"/>
              </a:rPr>
              <a:t>)</a:t>
            </a:r>
          </a:p>
        </p:txBody>
      </p:sp>
    </p:spTree>
    <p:extLst>
      <p:ext uri="{BB962C8B-B14F-4D97-AF65-F5344CB8AC3E}">
        <p14:creationId xmlns:p14="http://schemas.microsoft.com/office/powerpoint/2010/main" val="149182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85800" y="304800"/>
            <a:ext cx="7772400" cy="914400"/>
          </a:xfrm>
          <a:noFill/>
        </p:spPr>
        <p:txBody>
          <a:bodyPr lIns="92075" tIns="46038" rIns="92075" bIns="46038"/>
          <a:lstStyle/>
          <a:p>
            <a:r>
              <a:rPr lang="en-US" dirty="0"/>
              <a:t> </a:t>
            </a:r>
            <a:r>
              <a:rPr lang="zh-CN" altLang="en-US" sz="3600" b="1" dirty="0">
                <a:solidFill>
                  <a:srgbClr val="0000CC"/>
                </a:solidFill>
              </a:rPr>
              <a:t>深度优先搜索</a:t>
            </a:r>
            <a:endParaRPr lang="en-US" sz="3600" b="1" dirty="0">
              <a:solidFill>
                <a:srgbClr val="0000CC"/>
              </a:solidFill>
            </a:endParaRPr>
          </a:p>
        </p:txBody>
      </p:sp>
      <p:sp>
        <p:nvSpPr>
          <p:cNvPr id="39939" name="Rectangle 3"/>
          <p:cNvSpPr>
            <a:spLocks noGrp="1" noChangeArrowheads="1"/>
          </p:cNvSpPr>
          <p:nvPr>
            <p:ph type="body" idx="1"/>
          </p:nvPr>
        </p:nvSpPr>
        <p:spPr>
          <a:xfrm>
            <a:off x="533400" y="1600200"/>
            <a:ext cx="8001000" cy="4419600"/>
          </a:xfrm>
          <a:noFill/>
        </p:spPr>
        <p:txBody>
          <a:bodyPr lIns="92075" tIns="46038" rIns="92075" bIns="46038"/>
          <a:lstStyle/>
          <a:p>
            <a:r>
              <a:rPr lang="zh-CN" altLang="en-US" sz="2400" b="1" dirty="0">
                <a:solidFill>
                  <a:srgbClr val="FF0000"/>
                </a:solidFill>
                <a:latin typeface="+mj-lt"/>
              </a:rPr>
              <a:t>目标</a:t>
            </a:r>
            <a:r>
              <a:rPr lang="en-US" sz="2400" b="1" dirty="0">
                <a:latin typeface="+mj-lt"/>
              </a:rPr>
              <a:t>: </a:t>
            </a:r>
            <a:r>
              <a:rPr lang="zh-CN" altLang="en-US" sz="2400" b="1" dirty="0">
                <a:latin typeface="+mj-lt"/>
              </a:rPr>
              <a:t>遍历图中所有的节点和边</a:t>
            </a:r>
            <a:endParaRPr lang="en-US" sz="2400" b="1" i="1" dirty="0">
              <a:latin typeface="+mj-lt"/>
            </a:endParaRPr>
          </a:p>
          <a:p>
            <a:r>
              <a:rPr lang="zh-CN" altLang="en-US" sz="2400" b="1" dirty="0">
                <a:solidFill>
                  <a:srgbClr val="FF0000"/>
                </a:solidFill>
                <a:latin typeface="+mj-lt"/>
              </a:rPr>
              <a:t>基本思想</a:t>
            </a:r>
            <a:r>
              <a:rPr lang="en-US" sz="2400" b="1" dirty="0">
                <a:latin typeface="+mj-lt"/>
              </a:rPr>
              <a:t>: </a:t>
            </a:r>
            <a:r>
              <a:rPr lang="zh-CN" altLang="en-US" sz="2400" b="1" dirty="0">
                <a:latin typeface="+mj-lt"/>
              </a:rPr>
              <a:t>每次搜索时优先往更深的节点搜索</a:t>
            </a:r>
            <a:endParaRPr lang="en-US" sz="2400" b="1" dirty="0">
              <a:latin typeface="+mj-lt"/>
            </a:endParaRPr>
          </a:p>
        </p:txBody>
      </p:sp>
    </p:spTree>
    <p:extLst>
      <p:ext uri="{BB962C8B-B14F-4D97-AF65-F5344CB8AC3E}">
        <p14:creationId xmlns:p14="http://schemas.microsoft.com/office/powerpoint/2010/main" val="3425911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a:solidFill>
                  <a:srgbClr val="0000CC"/>
                </a:solidFill>
              </a:rPr>
              <a:t>DFS</a:t>
            </a:r>
            <a:r>
              <a:rPr lang="zh-CN" altLang="en-US" sz="3600" b="1" dirty="0">
                <a:solidFill>
                  <a:srgbClr val="0000CC"/>
                </a:solidFill>
              </a:rPr>
              <a:t>算法分析</a:t>
            </a:r>
            <a:endParaRPr lang="en-US" sz="3600" b="1" dirty="0">
              <a:solidFill>
                <a:srgbClr val="0000CC"/>
              </a:solidFill>
            </a:endParaRPr>
          </a:p>
        </p:txBody>
      </p:sp>
      <p:sp>
        <p:nvSpPr>
          <p:cNvPr id="34819" name="Rectangle 3"/>
          <p:cNvSpPr>
            <a:spLocks noGrp="1" noChangeArrowheads="1"/>
          </p:cNvSpPr>
          <p:nvPr>
            <p:ph type="body" idx="1"/>
          </p:nvPr>
        </p:nvSpPr>
        <p:spPr>
          <a:xfrm>
            <a:off x="533400" y="1600200"/>
            <a:ext cx="8077200" cy="4495800"/>
          </a:xfrm>
          <a:noFill/>
        </p:spPr>
        <p:txBody>
          <a:bodyPr lIns="92075" tIns="46038" rIns="92075" bIns="46038"/>
          <a:lstStyle/>
          <a:p>
            <a:r>
              <a:rPr lang="zh-CN" altLang="en-US" sz="2400" b="1" dirty="0"/>
              <a:t>与</a:t>
            </a:r>
            <a:r>
              <a:rPr lang="en-US" altLang="zh-CN" sz="2400" b="1" dirty="0"/>
              <a:t>BFS</a:t>
            </a:r>
            <a:r>
              <a:rPr lang="zh-CN" altLang="en-US" sz="2400" b="1" dirty="0"/>
              <a:t>类似，我们对节点进行分类：</a:t>
            </a:r>
            <a:endParaRPr lang="en-US" sz="2400" b="1" dirty="0"/>
          </a:p>
          <a:p>
            <a:pPr lvl="1"/>
            <a:r>
              <a:rPr lang="en-US" sz="2200" b="1" i="1" dirty="0"/>
              <a:t>white</a:t>
            </a:r>
            <a:r>
              <a:rPr lang="en-US" sz="2200" b="1" dirty="0">
                <a:solidFill>
                  <a:srgbClr val="FF0000"/>
                </a:solidFill>
              </a:rPr>
              <a:t> </a:t>
            </a:r>
            <a:r>
              <a:rPr lang="zh-CN" altLang="en-US" sz="2200" b="1" dirty="0">
                <a:solidFill>
                  <a:srgbClr val="FF0000"/>
                </a:solidFill>
              </a:rPr>
              <a:t>没有被访问的节点</a:t>
            </a:r>
            <a:endParaRPr lang="en-US" sz="2200" b="1" dirty="0"/>
          </a:p>
          <a:p>
            <a:pPr lvl="1"/>
            <a:r>
              <a:rPr lang="en-US" sz="2200" b="1" i="1" dirty="0"/>
              <a:t>gray</a:t>
            </a:r>
            <a:r>
              <a:rPr lang="en-US" sz="2200" b="1" dirty="0"/>
              <a:t> </a:t>
            </a:r>
            <a:r>
              <a:rPr lang="zh-CN" altLang="en-US" sz="2200" b="1" dirty="0"/>
              <a:t>被访问过的节点，但是还没有递归地进入它的所有邻居节点访问</a:t>
            </a:r>
            <a:endParaRPr lang="en-US" sz="2200" b="1" dirty="0"/>
          </a:p>
          <a:p>
            <a:pPr lvl="1"/>
            <a:r>
              <a:rPr lang="en-US" sz="2200" b="1" i="1" dirty="0"/>
              <a:t>Black</a:t>
            </a:r>
            <a:r>
              <a:rPr lang="zh-CN" altLang="en-US" sz="2200" b="1" dirty="0"/>
              <a:t>被访问过的节点，而且已经递归地进入了它的所有邻居节点访问了</a:t>
            </a:r>
            <a:endParaRPr lang="en-US" sz="2200" b="1" dirty="0"/>
          </a:p>
        </p:txBody>
      </p:sp>
    </p:spTree>
    <p:extLst>
      <p:ext uri="{BB962C8B-B14F-4D97-AF65-F5344CB8AC3E}">
        <p14:creationId xmlns:p14="http://schemas.microsoft.com/office/powerpoint/2010/main" val="924841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a:solidFill>
                  <a:srgbClr val="0000CC"/>
                </a:solidFill>
              </a:rPr>
              <a:t>DFS</a:t>
            </a:r>
            <a:r>
              <a:rPr lang="zh-CN" altLang="en-US" sz="3600" b="1" dirty="0">
                <a:solidFill>
                  <a:srgbClr val="0000CC"/>
                </a:solidFill>
              </a:rPr>
              <a:t>算法</a:t>
            </a:r>
            <a:endParaRPr lang="en-US" sz="3600" b="1" dirty="0">
              <a:solidFill>
                <a:srgbClr val="0000CC"/>
              </a:solidFill>
            </a:endParaRPr>
          </a:p>
        </p:txBody>
      </p:sp>
      <p:grpSp>
        <p:nvGrpSpPr>
          <p:cNvPr id="5" name="Group 4"/>
          <p:cNvGrpSpPr/>
          <p:nvPr/>
        </p:nvGrpSpPr>
        <p:grpSpPr>
          <a:xfrm>
            <a:off x="990601" y="1600200"/>
            <a:ext cx="4267200" cy="3276599"/>
            <a:chOff x="1371600" y="1752601"/>
            <a:chExt cx="4450435" cy="3779301"/>
          </a:xfrm>
        </p:grpSpPr>
        <p:pic>
          <p:nvPicPr>
            <p:cNvPr id="21606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57522"/>
            <a:stretch/>
          </p:blipFill>
          <p:spPr bwMode="auto">
            <a:xfrm>
              <a:off x="1371600" y="1752601"/>
              <a:ext cx="4450435"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4313"/>
            <a:stretch/>
          </p:blipFill>
          <p:spPr bwMode="auto">
            <a:xfrm>
              <a:off x="1371600" y="3733800"/>
              <a:ext cx="4450435" cy="17981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 name="Group 3"/>
            <p:cNvGrpSpPr/>
            <p:nvPr/>
          </p:nvGrpSpPr>
          <p:grpSpPr>
            <a:xfrm>
              <a:off x="2267964" y="3160244"/>
              <a:ext cx="1699504" cy="584775"/>
              <a:chOff x="2267964" y="3160244"/>
              <a:chExt cx="1699504" cy="584775"/>
            </a:xfrm>
          </p:grpSpPr>
          <p:sp>
            <p:nvSpPr>
              <p:cNvPr id="3" name="TextBox 2"/>
              <p:cNvSpPr txBox="1"/>
              <p:nvPr/>
            </p:nvSpPr>
            <p:spPr>
              <a:xfrm>
                <a:off x="2267964" y="3160244"/>
                <a:ext cx="1699504" cy="584775"/>
              </a:xfrm>
              <a:prstGeom prst="rect">
                <a:avLst/>
              </a:prstGeom>
              <a:noFill/>
            </p:spPr>
            <p:txBody>
              <a:bodyPr wrap="none" rtlCol="0">
                <a:spAutoFit/>
              </a:bodyPr>
              <a:lstStyle/>
              <a:p>
                <a:r>
                  <a:rPr lang="en-US" sz="3200" b="0" dirty="0"/>
                  <a:t>  .</a:t>
                </a:r>
                <a:r>
                  <a:rPr lang="en-US" sz="3200" b="0" dirty="0">
                    <a:sym typeface="Symbol"/>
                  </a:rPr>
                  <a:t></a:t>
                </a:r>
                <a:r>
                  <a:rPr lang="en-US" sz="2800" b="0" dirty="0"/>
                  <a:t> = NIL</a:t>
                </a:r>
              </a:p>
            </p:txBody>
          </p:sp>
          <p:pic>
            <p:nvPicPr>
              <p:cNvPr id="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976" t="33233" r="73746" b="57522"/>
              <a:stretch/>
            </p:blipFill>
            <p:spPr bwMode="auto">
              <a:xfrm>
                <a:off x="2286000" y="3359089"/>
                <a:ext cx="279400" cy="298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sp>
        <p:nvSpPr>
          <p:cNvPr id="10" name="TextBox 9"/>
          <p:cNvSpPr txBox="1"/>
          <p:nvPr/>
        </p:nvSpPr>
        <p:spPr>
          <a:xfrm>
            <a:off x="609601" y="5334000"/>
            <a:ext cx="7696200" cy="830997"/>
          </a:xfrm>
          <a:prstGeom prst="rect">
            <a:avLst/>
          </a:prstGeom>
          <a:noFill/>
          <a:ln>
            <a:solidFill>
              <a:srgbClr val="CC3300"/>
            </a:solidFill>
          </a:ln>
        </p:spPr>
        <p:txBody>
          <a:bodyPr wrap="square" rtlCol="0">
            <a:spAutoFit/>
          </a:bodyPr>
          <a:lstStyle/>
          <a:p>
            <a:pPr marL="342900" indent="-342900">
              <a:buFont typeface="Wingdings" pitchFamily="2" charset="2"/>
              <a:buChar char="§"/>
            </a:pPr>
            <a:r>
              <a:rPr lang="zh-CN" altLang="en-US" sz="2400" dirty="0"/>
              <a:t>每次递归调用</a:t>
            </a:r>
            <a:r>
              <a:rPr lang="en-US" sz="2400" dirty="0"/>
              <a:t>DFS-Visit(</a:t>
            </a:r>
            <a:r>
              <a:rPr lang="en-US" sz="2400" i="1" dirty="0"/>
              <a:t>G</a:t>
            </a:r>
            <a:r>
              <a:rPr lang="en-US" sz="2400" dirty="0"/>
              <a:t>, </a:t>
            </a:r>
            <a:r>
              <a:rPr lang="en-US" sz="2400" i="1" dirty="0"/>
              <a:t>u</a:t>
            </a:r>
            <a:r>
              <a:rPr lang="en-US" sz="2400" dirty="0"/>
              <a:t>)</a:t>
            </a:r>
            <a:r>
              <a:rPr lang="zh-CN" altLang="en-US" sz="2400" dirty="0"/>
              <a:t>时，</a:t>
            </a:r>
            <a:r>
              <a:rPr lang="en-US" altLang="zh-CN" sz="2400" i="1" dirty="0"/>
              <a:t>u</a:t>
            </a:r>
            <a:r>
              <a:rPr lang="zh-CN" altLang="en-US" sz="2400" dirty="0"/>
              <a:t>将成为这次递归的所对应的</a:t>
            </a:r>
            <a:r>
              <a:rPr lang="en-US" altLang="zh-CN" sz="2400" dirty="0"/>
              <a:t>DFS</a:t>
            </a:r>
            <a:r>
              <a:rPr lang="zh-CN" altLang="en-US" sz="2400" dirty="0"/>
              <a:t>树的根节点</a:t>
            </a:r>
            <a:endParaRPr lang="en-US" sz="2400" dirty="0"/>
          </a:p>
        </p:txBody>
      </p:sp>
      <p:sp>
        <p:nvSpPr>
          <p:cNvPr id="11" name="矩形 10"/>
          <p:cNvSpPr/>
          <p:nvPr/>
        </p:nvSpPr>
        <p:spPr bwMode="auto">
          <a:xfrm>
            <a:off x="838200" y="3733800"/>
            <a:ext cx="6858000" cy="1219200"/>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765942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a:solidFill>
                  <a:srgbClr val="0000CC"/>
                </a:solidFill>
              </a:rPr>
              <a:t>DFS-Visit(</a:t>
            </a:r>
            <a:r>
              <a:rPr lang="en-US" sz="3600" b="1" i="1" dirty="0">
                <a:solidFill>
                  <a:srgbClr val="0000CC"/>
                </a:solidFill>
              </a:rPr>
              <a:t>u</a:t>
            </a:r>
            <a:r>
              <a:rPr lang="en-US" sz="3600" b="1" dirty="0">
                <a:solidFill>
                  <a:srgbClr val="0000CC"/>
                </a:solidFill>
              </a:rPr>
              <a:t>)</a:t>
            </a:r>
            <a:r>
              <a:rPr lang="zh-CN" altLang="en-US" sz="3600" b="1" dirty="0">
                <a:solidFill>
                  <a:srgbClr val="0000CC"/>
                </a:solidFill>
              </a:rPr>
              <a:t>过程</a:t>
            </a:r>
            <a:endParaRPr lang="en-US" sz="3600" b="1" dirty="0">
              <a:solidFill>
                <a:srgbClr val="0000CC"/>
              </a:solidFill>
            </a:endParaRPr>
          </a:p>
        </p:txBody>
      </p:sp>
      <p:grpSp>
        <p:nvGrpSpPr>
          <p:cNvPr id="5" name="Group 4"/>
          <p:cNvGrpSpPr/>
          <p:nvPr/>
        </p:nvGrpSpPr>
        <p:grpSpPr>
          <a:xfrm>
            <a:off x="931863" y="1447800"/>
            <a:ext cx="7373937" cy="4846782"/>
            <a:chOff x="515938" y="1447800"/>
            <a:chExt cx="7373937" cy="4846782"/>
          </a:xfrm>
        </p:grpSpPr>
        <p:grpSp>
          <p:nvGrpSpPr>
            <p:cNvPr id="4" name="Group 3"/>
            <p:cNvGrpSpPr/>
            <p:nvPr/>
          </p:nvGrpSpPr>
          <p:grpSpPr>
            <a:xfrm>
              <a:off x="515938" y="1447800"/>
              <a:ext cx="7373937" cy="4846782"/>
              <a:chOff x="914400" y="1504611"/>
              <a:chExt cx="7373937" cy="4846782"/>
            </a:xfrm>
          </p:grpSpPr>
          <p:pic>
            <p:nvPicPr>
              <p:cNvPr id="21709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60757"/>
              <a:stretch/>
            </p:blipFill>
            <p:spPr bwMode="auto">
              <a:xfrm>
                <a:off x="914400" y="4639733"/>
                <a:ext cx="7280275" cy="17116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40545"/>
              <a:stretch/>
            </p:blipFill>
            <p:spPr bwMode="auto">
              <a:xfrm>
                <a:off x="1008062" y="1504611"/>
                <a:ext cx="7280275" cy="2593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 name="Group 2"/>
              <p:cNvGrpSpPr/>
              <p:nvPr/>
            </p:nvGrpSpPr>
            <p:grpSpPr>
              <a:xfrm>
                <a:off x="2425700" y="4063425"/>
                <a:ext cx="1156117" cy="584775"/>
                <a:chOff x="2425700" y="4063425"/>
                <a:chExt cx="1156117" cy="584775"/>
              </a:xfrm>
            </p:grpSpPr>
            <p:sp>
              <p:nvSpPr>
                <p:cNvPr id="8" name="TextBox 7"/>
                <p:cNvSpPr txBox="1"/>
                <p:nvPr/>
              </p:nvSpPr>
              <p:spPr>
                <a:xfrm>
                  <a:off x="2425700" y="4063425"/>
                  <a:ext cx="1099981" cy="584775"/>
                </a:xfrm>
                <a:prstGeom prst="rect">
                  <a:avLst/>
                </a:prstGeom>
                <a:noFill/>
              </p:spPr>
              <p:txBody>
                <a:bodyPr wrap="none" rtlCol="0">
                  <a:spAutoFit/>
                </a:bodyPr>
                <a:lstStyle/>
                <a:p>
                  <a:r>
                    <a:rPr lang="en-US" sz="3200" b="0" dirty="0"/>
                    <a:t>   </a:t>
                  </a:r>
                  <a:r>
                    <a:rPr lang="en-US" sz="3200" b="0" dirty="0">
                      <a:sym typeface="Symbol"/>
                    </a:rPr>
                    <a:t></a:t>
                  </a:r>
                  <a:r>
                    <a:rPr lang="en-US" sz="2800" b="0" dirty="0"/>
                    <a:t> = </a:t>
                  </a:r>
                </a:p>
              </p:txBody>
            </p:sp>
            <p:pic>
              <p:nvPicPr>
                <p:cNvPr id="9"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9976" t="33233" r="73746" b="57522"/>
                <a:stretch/>
              </p:blipFill>
              <p:spPr bwMode="auto">
                <a:xfrm>
                  <a:off x="3302417" y="4262269"/>
                  <a:ext cx="279400" cy="298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390" t="50817" r="78958" b="40270"/>
                <a:stretch/>
              </p:blipFill>
              <p:spPr bwMode="auto">
                <a:xfrm>
                  <a:off x="2480732" y="4183230"/>
                  <a:ext cx="338668" cy="388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pic>
          <p:nvPicPr>
            <p:cNvPr id="18"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81572" t="87260"/>
            <a:stretch/>
          </p:blipFill>
          <p:spPr bwMode="auto">
            <a:xfrm>
              <a:off x="4014258" y="4652665"/>
              <a:ext cx="786342" cy="356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95479" t="42147" b="48992"/>
            <a:stretch/>
          </p:blipFill>
          <p:spPr bwMode="auto">
            <a:xfrm>
              <a:off x="4471458" y="4652665"/>
              <a:ext cx="329142" cy="386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3" name="矩形 12"/>
          <p:cNvSpPr/>
          <p:nvPr/>
        </p:nvSpPr>
        <p:spPr bwMode="auto">
          <a:xfrm>
            <a:off x="1066800" y="3200400"/>
            <a:ext cx="4572000" cy="1828800"/>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334873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sz="3600" b="1" dirty="0">
                <a:solidFill>
                  <a:srgbClr val="0000CC"/>
                </a:solidFill>
              </a:rPr>
              <a:t>DFS</a:t>
            </a:r>
            <a:r>
              <a:rPr lang="zh-CN" altLang="en-US" sz="3600" b="1" dirty="0">
                <a:solidFill>
                  <a:srgbClr val="0000CC"/>
                </a:solidFill>
              </a:rPr>
              <a:t>算法举例</a:t>
            </a:r>
            <a:r>
              <a:rPr lang="en-US" altLang="zh-CN" sz="3600" b="1" dirty="0">
                <a:solidFill>
                  <a:srgbClr val="0000CC"/>
                </a:solidFill>
              </a:rPr>
              <a:t>(1)</a:t>
            </a:r>
            <a:endParaRPr lang="en-US" sz="3600" b="1" dirty="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0000" b="77444"/>
          <a:stretch/>
        </p:blipFill>
        <p:spPr bwMode="auto">
          <a:xfrm>
            <a:off x="1056640" y="1524000"/>
            <a:ext cx="7249160" cy="2313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00" b="77444"/>
          <a:stretch/>
        </p:blipFill>
        <p:spPr bwMode="auto">
          <a:xfrm>
            <a:off x="675640" y="3962400"/>
            <a:ext cx="740156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0103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a:solidFill>
                  <a:srgbClr val="0000CC"/>
                </a:solidFill>
              </a:rPr>
              <a:t>(2)</a:t>
            </a:r>
            <a:endParaRPr lang="en-US" sz="3600" b="1" dirty="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4227" r="51300" b="51211"/>
          <a:stretch/>
        </p:blipFill>
        <p:spPr bwMode="auto">
          <a:xfrm>
            <a:off x="990600" y="1371600"/>
            <a:ext cx="7162800" cy="2555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1300" t="24227" b="51211"/>
          <a:stretch/>
        </p:blipFill>
        <p:spPr bwMode="auto">
          <a:xfrm>
            <a:off x="762001" y="3886200"/>
            <a:ext cx="7246780" cy="2585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50817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a:solidFill>
                  <a:srgbClr val="0000CC"/>
                </a:solidFill>
              </a:rPr>
              <a:t>(3)</a:t>
            </a:r>
            <a:endParaRPr lang="en-US" sz="3600" b="1" dirty="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0000" r="51064" b="25000"/>
          <a:stretch/>
        </p:blipFill>
        <p:spPr bwMode="auto">
          <a:xfrm>
            <a:off x="914400" y="1367228"/>
            <a:ext cx="7391400" cy="2671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946" t="50000" b="25000"/>
          <a:stretch/>
        </p:blipFill>
        <p:spPr bwMode="auto">
          <a:xfrm>
            <a:off x="685800" y="3964466"/>
            <a:ext cx="7391400" cy="2664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4866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a:solidFill>
                  <a:srgbClr val="0000CC"/>
                </a:solidFill>
              </a:rPr>
              <a:t>(4)</a:t>
            </a:r>
            <a:endParaRPr lang="en-US" sz="3600" b="1" dirty="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76691" r="51419"/>
          <a:stretch/>
        </p:blipFill>
        <p:spPr bwMode="auto">
          <a:xfrm>
            <a:off x="956733" y="1447800"/>
            <a:ext cx="7501467" cy="2546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1655" t="76691"/>
          <a:stretch/>
        </p:blipFill>
        <p:spPr bwMode="auto">
          <a:xfrm>
            <a:off x="838200" y="3994013"/>
            <a:ext cx="7543800" cy="2573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2296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09600" y="228600"/>
            <a:ext cx="8001000" cy="990600"/>
          </a:xfrm>
          <a:noFill/>
        </p:spPr>
        <p:txBody>
          <a:bodyPr lIns="92075" tIns="46038" rIns="92075" bIns="46038"/>
          <a:lstStyle/>
          <a:p>
            <a:r>
              <a:rPr lang="en-US" sz="3600" b="1" dirty="0">
                <a:solidFill>
                  <a:srgbClr val="0000CC"/>
                </a:solidFill>
              </a:rPr>
              <a:t>DFS</a:t>
            </a:r>
            <a:r>
              <a:rPr lang="zh-CN" altLang="en-US" sz="3600" b="1" dirty="0">
                <a:solidFill>
                  <a:srgbClr val="0000CC"/>
                </a:solidFill>
              </a:rPr>
              <a:t>森林</a:t>
            </a:r>
            <a:r>
              <a:rPr lang="en-US" sz="3600" b="1" dirty="0">
                <a:solidFill>
                  <a:srgbClr val="0000CC"/>
                </a:solidFill>
              </a:rPr>
              <a:t> </a:t>
            </a:r>
          </a:p>
        </p:txBody>
      </p:sp>
      <p:sp>
        <p:nvSpPr>
          <p:cNvPr id="51203" name="Rectangle 3"/>
          <p:cNvSpPr>
            <a:spLocks noGrp="1" noChangeArrowheads="1"/>
          </p:cNvSpPr>
          <p:nvPr>
            <p:ph type="body" idx="1"/>
          </p:nvPr>
        </p:nvSpPr>
        <p:spPr>
          <a:xfrm>
            <a:off x="533400" y="1428378"/>
            <a:ext cx="8077200" cy="5029200"/>
          </a:xfrm>
          <a:noFill/>
        </p:spPr>
        <p:txBody>
          <a:bodyPr lIns="92075" tIns="46038" rIns="92075" bIns="46038"/>
          <a:lstStyle/>
          <a:p>
            <a:r>
              <a:rPr lang="en-US" sz="2400" b="1" dirty="0"/>
              <a:t>DFS</a:t>
            </a:r>
            <a:r>
              <a:rPr lang="zh-CN" altLang="en-US" sz="2400" b="1" dirty="0"/>
              <a:t>算法会产生一个</a:t>
            </a:r>
            <a:r>
              <a:rPr lang="en-US" altLang="zh-CN" sz="2400" b="1" i="1" dirty="0">
                <a:solidFill>
                  <a:srgbClr val="FF0000"/>
                </a:solidFill>
              </a:rPr>
              <a:t>DFS</a:t>
            </a:r>
            <a:r>
              <a:rPr lang="zh-CN" altLang="en-US" sz="2400" b="1" i="1" dirty="0">
                <a:solidFill>
                  <a:srgbClr val="FF0000"/>
                </a:solidFill>
              </a:rPr>
              <a:t>森林</a:t>
            </a:r>
            <a:r>
              <a:rPr lang="zh-CN" altLang="en-US" sz="2400" b="1" dirty="0"/>
              <a:t>，它包含了一系列的</a:t>
            </a:r>
            <a:r>
              <a:rPr lang="en-US" altLang="zh-CN" sz="2400" b="1" i="1" dirty="0">
                <a:solidFill>
                  <a:srgbClr val="FF0000"/>
                </a:solidFill>
              </a:rPr>
              <a:t>DFS</a:t>
            </a:r>
            <a:r>
              <a:rPr lang="zh-CN" altLang="en-US" sz="2400" b="1" i="1" dirty="0">
                <a:solidFill>
                  <a:srgbClr val="FF0000"/>
                </a:solidFill>
              </a:rPr>
              <a:t>树</a:t>
            </a:r>
            <a:endParaRPr lang="en-US" sz="2400" b="1" i="1" dirty="0">
              <a:solidFill>
                <a:srgbClr val="FF0000"/>
              </a:solidFill>
            </a:endParaRPr>
          </a:p>
          <a:p>
            <a:endParaRPr lang="en-US" sz="2400" b="1" dirty="0"/>
          </a:p>
          <a:p>
            <a:endParaRPr lang="en-US" sz="2400" b="1" dirty="0"/>
          </a:p>
          <a:p>
            <a:endParaRPr lang="en-US" sz="2400" b="1" dirty="0"/>
          </a:p>
          <a:p>
            <a:endParaRPr lang="en-US" sz="2400" b="1" dirty="0"/>
          </a:p>
          <a:p>
            <a:endParaRPr lang="en-US" sz="2400" b="1" dirty="0"/>
          </a:p>
          <a:p>
            <a:endParaRPr lang="en-US" sz="2400" b="1" dirty="0"/>
          </a:p>
          <a:p>
            <a:r>
              <a:rPr lang="zh-CN" altLang="en-US" sz="2400" b="1" dirty="0"/>
              <a:t>每颗</a:t>
            </a:r>
            <a:r>
              <a:rPr lang="en-US" altLang="zh-CN" sz="2400" b="1" dirty="0"/>
              <a:t>DFS</a:t>
            </a:r>
            <a:r>
              <a:rPr lang="zh-CN" altLang="en-US" sz="2400" b="1" dirty="0"/>
              <a:t>树都是由一系列的灰色节点指向白色节点的边组成</a:t>
            </a:r>
            <a:endParaRPr lang="en-US" sz="2400" b="1" dirty="0"/>
          </a:p>
        </p:txBody>
      </p:sp>
      <p:sp>
        <p:nvSpPr>
          <p:cNvPr id="3" name="Right Arrow 2"/>
          <p:cNvSpPr/>
          <p:nvPr/>
        </p:nvSpPr>
        <p:spPr bwMode="auto">
          <a:xfrm>
            <a:off x="4267200" y="3367616"/>
            <a:ext cx="533400" cy="29879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pic>
        <p:nvPicPr>
          <p:cNvPr id="4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685800" y="24384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8" name="Group 57"/>
          <p:cNvGrpSpPr/>
          <p:nvPr/>
        </p:nvGrpSpPr>
        <p:grpSpPr>
          <a:xfrm>
            <a:off x="4953000" y="2438400"/>
            <a:ext cx="3657600" cy="2209800"/>
            <a:chOff x="4953000" y="2438400"/>
            <a:chExt cx="3657600" cy="2209800"/>
          </a:xfrm>
        </p:grpSpPr>
        <p:pic>
          <p:nvPicPr>
            <p:cNvPr id="5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4953000" y="24384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3" name="Rectangle 52"/>
            <p:cNvSpPr/>
            <p:nvPr/>
          </p:nvSpPr>
          <p:spPr bwMode="auto">
            <a:xfrm>
              <a:off x="5181600" y="3200400"/>
              <a:ext cx="12192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54" name="Rectangle 53"/>
            <p:cNvSpPr/>
            <p:nvPr/>
          </p:nvSpPr>
          <p:spPr bwMode="auto">
            <a:xfrm>
              <a:off x="6781800" y="3200400"/>
              <a:ext cx="7620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56" name="Rectangle 55"/>
            <p:cNvSpPr/>
            <p:nvPr/>
          </p:nvSpPr>
          <p:spPr bwMode="auto">
            <a:xfrm>
              <a:off x="8077200" y="3733800"/>
              <a:ext cx="5334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57" name="Rectangle 56"/>
            <p:cNvSpPr/>
            <p:nvPr/>
          </p:nvSpPr>
          <p:spPr bwMode="auto">
            <a:xfrm>
              <a:off x="7924800" y="3276600"/>
              <a:ext cx="5334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spTree>
    <p:extLst>
      <p:ext uri="{BB962C8B-B14F-4D97-AF65-F5344CB8AC3E}">
        <p14:creationId xmlns:p14="http://schemas.microsoft.com/office/powerpoint/2010/main" val="3726131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304800"/>
            <a:ext cx="7772400" cy="838200"/>
          </a:xfrm>
          <a:noFill/>
        </p:spPr>
        <p:txBody>
          <a:bodyPr lIns="92075" tIns="46038" rIns="92075" bIns="46038"/>
          <a:lstStyle/>
          <a:p>
            <a:r>
              <a:rPr lang="en-US" sz="3600" b="1" dirty="0">
                <a:solidFill>
                  <a:srgbClr val="0000CC"/>
                </a:solidFill>
              </a:rPr>
              <a:t>DFS</a:t>
            </a:r>
            <a:r>
              <a:rPr lang="zh-CN" altLang="en-US" sz="3600" b="1" dirty="0">
                <a:solidFill>
                  <a:srgbClr val="0000CC"/>
                </a:solidFill>
              </a:rPr>
              <a:t>算法分析</a:t>
            </a:r>
            <a:endParaRPr lang="en-US" sz="3600" b="1" dirty="0">
              <a:solidFill>
                <a:srgbClr val="0000CC"/>
              </a:solidFill>
            </a:endParaRPr>
          </a:p>
        </p:txBody>
      </p:sp>
      <p:sp>
        <p:nvSpPr>
          <p:cNvPr id="40963" name="Rectangle 3"/>
          <p:cNvSpPr>
            <a:spLocks noGrp="1" noChangeArrowheads="1"/>
          </p:cNvSpPr>
          <p:nvPr>
            <p:ph type="body" idx="1"/>
          </p:nvPr>
        </p:nvSpPr>
        <p:spPr>
          <a:xfrm>
            <a:off x="304800" y="1447800"/>
            <a:ext cx="8534400" cy="5105400"/>
          </a:xfrm>
          <a:noFill/>
        </p:spPr>
        <p:txBody>
          <a:bodyPr lIns="92075" tIns="46038" rIns="92075" bIns="46038"/>
          <a:lstStyle/>
          <a:p>
            <a:r>
              <a:rPr lang="zh-CN" altLang="en-US" sz="2400" b="1" dirty="0"/>
              <a:t>该算法能够发现图中的所有节点，无论该图是否连通，或者是否是有向图</a:t>
            </a:r>
            <a:endParaRPr lang="en-US" altLang="zh-CN" sz="2400" b="1" dirty="0"/>
          </a:p>
          <a:p>
            <a:r>
              <a:rPr lang="en-US" altLang="zh-CN" sz="2400" b="1" dirty="0"/>
              <a:t>DFS</a:t>
            </a:r>
            <a:r>
              <a:rPr lang="zh-CN" altLang="en-US" sz="2400" b="1" dirty="0"/>
              <a:t>算法可以得到</a:t>
            </a:r>
            <a:r>
              <a:rPr lang="en-US" sz="2400" b="1" dirty="0"/>
              <a:t>:</a:t>
            </a:r>
          </a:p>
          <a:p>
            <a:pPr marL="640080" lvl="1"/>
            <a:r>
              <a:rPr lang="zh-CN" altLang="en-US" sz="2200" b="1" dirty="0"/>
              <a:t>一个</a:t>
            </a:r>
            <a:r>
              <a:rPr lang="en-US" altLang="zh-CN" sz="2200" b="1" dirty="0"/>
              <a:t>DFS</a:t>
            </a:r>
            <a:r>
              <a:rPr lang="zh-CN" altLang="en-US" sz="2200" b="1" dirty="0"/>
              <a:t>森林：包括了一系列的</a:t>
            </a:r>
            <a:r>
              <a:rPr lang="en-US" altLang="zh-CN" sz="2200" b="1" dirty="0"/>
              <a:t>DFS</a:t>
            </a:r>
            <a:r>
              <a:rPr lang="zh-CN" altLang="en-US" sz="2200" b="1" dirty="0"/>
              <a:t>树</a:t>
            </a:r>
            <a:endParaRPr lang="en-US" altLang="zh-CN" sz="2200" b="1" dirty="0"/>
          </a:p>
          <a:p>
            <a:pPr marL="640080" lvl="1"/>
            <a:r>
              <a:rPr lang="zh-CN" altLang="en-US" sz="2200" b="1" dirty="0"/>
              <a:t>对于任意一个节点</a:t>
            </a:r>
            <a:r>
              <a:rPr lang="en-US" altLang="zh-CN" sz="2200" b="1" i="1" dirty="0"/>
              <a:t>u</a:t>
            </a:r>
            <a:r>
              <a:rPr lang="zh-CN" altLang="en-US" sz="2200" b="1" dirty="0"/>
              <a:t>有</a:t>
            </a:r>
            <a:r>
              <a:rPr lang="en-US" altLang="zh-CN" sz="2200" b="1" dirty="0"/>
              <a:t>2</a:t>
            </a:r>
            <a:r>
              <a:rPr lang="zh-CN" altLang="en-US" sz="2200" b="1" dirty="0"/>
              <a:t>个时间戳</a:t>
            </a:r>
            <a:endParaRPr lang="en-US" sz="2200" b="1" i="1" dirty="0"/>
          </a:p>
          <a:p>
            <a:pPr marL="914400" lvl="2"/>
            <a:r>
              <a:rPr lang="en-US" sz="2200" b="1" i="1" dirty="0" err="1"/>
              <a:t>u</a:t>
            </a:r>
            <a:r>
              <a:rPr lang="en-US" sz="2200" b="1" dirty="0" err="1"/>
              <a:t>.</a:t>
            </a:r>
            <a:r>
              <a:rPr lang="en-US" sz="2200" b="1" i="1" dirty="0" err="1"/>
              <a:t>d</a:t>
            </a:r>
            <a:r>
              <a:rPr lang="en-US" sz="2200" b="1" dirty="0"/>
              <a:t> </a:t>
            </a:r>
            <a:r>
              <a:rPr lang="zh-CN" altLang="en-US" sz="2200" b="1" dirty="0"/>
              <a:t>表示第一次发现节点</a:t>
            </a:r>
            <a:r>
              <a:rPr lang="en-US" altLang="zh-CN" sz="2200" b="1" i="1" dirty="0"/>
              <a:t>u</a:t>
            </a:r>
            <a:r>
              <a:rPr lang="zh-CN" altLang="en-US" sz="2200" b="1" dirty="0"/>
              <a:t>的时间（被染成灰色节点的时间）</a:t>
            </a:r>
            <a:endParaRPr lang="en-US" altLang="zh-CN" sz="2200" b="1" dirty="0"/>
          </a:p>
          <a:p>
            <a:pPr marL="914400" lvl="2"/>
            <a:r>
              <a:rPr lang="en-US" sz="2200" b="1" i="1" dirty="0" err="1"/>
              <a:t>u</a:t>
            </a:r>
            <a:r>
              <a:rPr lang="en-US" sz="2200" b="1" dirty="0" err="1"/>
              <a:t>.</a:t>
            </a:r>
            <a:r>
              <a:rPr lang="en-US" sz="2200" b="1" i="1" dirty="0" err="1"/>
              <a:t>f</a:t>
            </a:r>
            <a:r>
              <a:rPr lang="en-US" sz="2200" b="1" dirty="0"/>
              <a:t> </a:t>
            </a:r>
            <a:r>
              <a:rPr lang="zh-CN" altLang="en-US" sz="2200" b="1" dirty="0"/>
              <a:t>表示已经完成对</a:t>
            </a:r>
            <a:r>
              <a:rPr lang="en-US" altLang="zh-CN" sz="2200" b="1" i="1" dirty="0"/>
              <a:t>u</a:t>
            </a:r>
            <a:r>
              <a:rPr lang="zh-CN" altLang="en-US" sz="2200" b="1" dirty="0"/>
              <a:t>节点进行搜索的时间（被染成黑色节点的时间）</a:t>
            </a:r>
            <a:endParaRPr lang="en-US" sz="2200" b="1" dirty="0"/>
          </a:p>
          <a:p>
            <a:r>
              <a:rPr lang="zh-CN" altLang="en-US" sz="2400" b="1" dirty="0"/>
              <a:t>如果是邻接表存图，则</a:t>
            </a:r>
            <a:r>
              <a:rPr lang="en-US" altLang="zh-CN" sz="2400" b="1" dirty="0"/>
              <a:t>DFS</a:t>
            </a:r>
            <a:r>
              <a:rPr lang="zh-CN" altLang="en-US" sz="2400" b="1" dirty="0"/>
              <a:t>算法的复杂度为</a:t>
            </a:r>
            <a:r>
              <a:rPr lang="en-US" altLang="zh-CN" sz="2400" b="1" i="1" dirty="0"/>
              <a:t>O</a:t>
            </a:r>
            <a:r>
              <a:rPr lang="en-US" altLang="zh-CN" sz="2400" b="1" dirty="0"/>
              <a:t>(|</a:t>
            </a:r>
            <a:r>
              <a:rPr lang="en-US" altLang="zh-CN" sz="2400" b="1" i="1" dirty="0"/>
              <a:t>V</a:t>
            </a:r>
            <a:r>
              <a:rPr lang="en-US" altLang="zh-CN" sz="2400" b="1" dirty="0"/>
              <a:t>| + |</a:t>
            </a:r>
            <a:r>
              <a:rPr lang="en-US" altLang="zh-CN" sz="2400" b="1" i="1" dirty="0"/>
              <a:t>E</a:t>
            </a:r>
            <a:r>
              <a:rPr lang="en-US" altLang="zh-CN" sz="2400" b="1" dirty="0"/>
              <a:t>|) </a:t>
            </a:r>
          </a:p>
          <a:p>
            <a:r>
              <a:rPr lang="zh-CN" altLang="en-US" sz="2400" b="1" dirty="0"/>
              <a:t>如果是邻接矩阵存图，则</a:t>
            </a:r>
            <a:r>
              <a:rPr lang="en-US" altLang="zh-CN" sz="2400" b="1" dirty="0"/>
              <a:t>DFS</a:t>
            </a:r>
            <a:r>
              <a:rPr lang="zh-CN" altLang="en-US" sz="2400" b="1" dirty="0"/>
              <a:t>算法的复杂度为</a:t>
            </a:r>
            <a:r>
              <a:rPr lang="en-US" altLang="zh-CN" sz="2400" b="1" i="1" dirty="0"/>
              <a:t>O</a:t>
            </a:r>
            <a:r>
              <a:rPr lang="en-US" altLang="zh-CN" sz="2400" b="1" dirty="0"/>
              <a:t>(|</a:t>
            </a:r>
            <a:r>
              <a:rPr lang="en-US" altLang="zh-CN" sz="2400" b="1" i="1" dirty="0"/>
              <a:t>V</a:t>
            </a:r>
            <a:r>
              <a:rPr lang="en-US" altLang="zh-CN" sz="2400" b="1" dirty="0"/>
              <a:t>|</a:t>
            </a:r>
            <a:r>
              <a:rPr lang="en-US" altLang="zh-CN" sz="2400" b="1" baseline="30000" dirty="0"/>
              <a:t>2</a:t>
            </a:r>
            <a:r>
              <a:rPr lang="en-US" altLang="zh-CN" sz="2400" b="1" dirty="0"/>
              <a:t>)</a:t>
            </a:r>
          </a:p>
        </p:txBody>
      </p:sp>
    </p:spTree>
    <p:extLst>
      <p:ext uri="{BB962C8B-B14F-4D97-AF65-F5344CB8AC3E}">
        <p14:creationId xmlns:p14="http://schemas.microsoft.com/office/powerpoint/2010/main" val="51847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9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9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9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a:solidFill>
                  <a:srgbClr val="0000CC"/>
                </a:solidFill>
              </a:rPr>
              <a:t>DFS: </a:t>
            </a:r>
            <a:r>
              <a:rPr lang="zh-CN" altLang="en-US" sz="3600" b="1" dirty="0">
                <a:solidFill>
                  <a:srgbClr val="0000CC"/>
                </a:solidFill>
              </a:rPr>
              <a:t>边的分类</a:t>
            </a:r>
            <a:r>
              <a:rPr lang="en-US" sz="3600" b="1" dirty="0">
                <a:solidFill>
                  <a:srgbClr val="0000CC"/>
                </a:solidFill>
              </a:rPr>
              <a:t>(1)</a:t>
            </a:r>
          </a:p>
        </p:txBody>
      </p:sp>
      <p:sp>
        <p:nvSpPr>
          <p:cNvPr id="51203" name="Rectangle 3"/>
          <p:cNvSpPr>
            <a:spLocks noGrp="1" noChangeArrowheads="1"/>
          </p:cNvSpPr>
          <p:nvPr>
            <p:ph type="body" idx="1"/>
          </p:nvPr>
        </p:nvSpPr>
        <p:spPr>
          <a:xfrm>
            <a:off x="457200" y="1524000"/>
            <a:ext cx="8229600" cy="4953000"/>
          </a:xfrm>
          <a:noFill/>
        </p:spPr>
        <p:txBody>
          <a:bodyPr lIns="92075" tIns="46038" rIns="92075" bIns="46038"/>
          <a:lstStyle/>
          <a:p>
            <a:r>
              <a:rPr lang="zh-CN" altLang="en-US" sz="2400" b="1" i="1" dirty="0">
                <a:solidFill>
                  <a:srgbClr val="C00000"/>
                </a:solidFill>
              </a:rPr>
              <a:t>树边</a:t>
            </a:r>
            <a:r>
              <a:rPr lang="zh-CN" altLang="en-US" sz="2400" b="1" dirty="0"/>
              <a:t>：</a:t>
            </a:r>
            <a:r>
              <a:rPr lang="en-US" sz="2400" b="1" dirty="0"/>
              <a:t> </a:t>
            </a:r>
            <a:r>
              <a:rPr lang="zh-CN" altLang="en-US" sz="2400" b="1" dirty="0"/>
              <a:t>属于</a:t>
            </a:r>
            <a:r>
              <a:rPr lang="en-US" altLang="zh-CN" sz="2400" b="1" dirty="0"/>
              <a:t>DFS</a:t>
            </a:r>
            <a:r>
              <a:rPr lang="zh-CN" altLang="en-US" sz="2400" b="1" dirty="0"/>
              <a:t>森林的边</a:t>
            </a:r>
            <a:r>
              <a:rPr lang="en-US" sz="2400" b="1" dirty="0"/>
              <a:t>.</a:t>
            </a:r>
          </a:p>
          <a:p>
            <a:r>
              <a:rPr lang="zh-CN" altLang="en-US" sz="2400" b="1" i="1" dirty="0">
                <a:solidFill>
                  <a:srgbClr val="C00000"/>
                </a:solidFill>
              </a:rPr>
              <a:t>反向边</a:t>
            </a:r>
            <a:r>
              <a:rPr lang="en-US" sz="2400" b="1" dirty="0"/>
              <a:t> </a:t>
            </a:r>
            <a:r>
              <a:rPr lang="zh-CN" altLang="en-US" sz="2400" b="1" dirty="0"/>
              <a:t>：从一个节点连向它在</a:t>
            </a:r>
            <a:r>
              <a:rPr lang="en-US" altLang="zh-CN" sz="2400" b="1" dirty="0"/>
              <a:t>DFS</a:t>
            </a:r>
            <a:r>
              <a:rPr lang="zh-CN" altLang="en-US" sz="2400" b="1" dirty="0"/>
              <a:t>树中的祖先节点的非树边</a:t>
            </a:r>
            <a:endParaRPr lang="en-US" altLang="zh-CN" sz="2400" b="1" dirty="0"/>
          </a:p>
          <a:p>
            <a:pPr lvl="1"/>
            <a:r>
              <a:rPr lang="zh-CN" altLang="en-US" sz="1800" b="1" dirty="0"/>
              <a:t>上个例子中标记为</a:t>
            </a:r>
            <a:r>
              <a:rPr lang="en-US" sz="1800" b="1" dirty="0"/>
              <a:t>B</a:t>
            </a:r>
            <a:r>
              <a:rPr lang="zh-CN" altLang="en-US" sz="1800" b="1" dirty="0"/>
              <a:t>的边</a:t>
            </a:r>
            <a:endParaRPr lang="en-US" sz="1800" b="1" dirty="0"/>
          </a:p>
          <a:p>
            <a:r>
              <a:rPr lang="zh-CN" altLang="en-US" sz="2400" b="1" i="1" dirty="0">
                <a:solidFill>
                  <a:srgbClr val="C00000"/>
                </a:solidFill>
              </a:rPr>
              <a:t>前向边</a:t>
            </a:r>
            <a:r>
              <a:rPr lang="zh-CN" altLang="en-US" sz="2400" b="1" dirty="0"/>
              <a:t>：从一个节点连向它在</a:t>
            </a:r>
            <a:r>
              <a:rPr lang="en-US" altLang="zh-CN" sz="2400" b="1" dirty="0"/>
              <a:t>DFS</a:t>
            </a:r>
            <a:r>
              <a:rPr lang="zh-CN" altLang="en-US" sz="2400" b="1" dirty="0"/>
              <a:t>树中的后代节点的非树边</a:t>
            </a:r>
            <a:endParaRPr lang="en-US" altLang="zh-CN" sz="2400" b="1" dirty="0"/>
          </a:p>
          <a:p>
            <a:pPr lvl="1"/>
            <a:r>
              <a:rPr lang="zh-CN" altLang="en-US" sz="1800" b="1" dirty="0"/>
              <a:t>上个例子中标记为</a:t>
            </a:r>
            <a:r>
              <a:rPr lang="en-US" sz="1800" b="1" dirty="0"/>
              <a:t>F </a:t>
            </a:r>
            <a:r>
              <a:rPr lang="zh-CN" altLang="en-US" sz="1800" b="1" dirty="0"/>
              <a:t>的边</a:t>
            </a:r>
            <a:r>
              <a:rPr lang="en-US" sz="1800" b="1" dirty="0"/>
              <a:t>.</a:t>
            </a:r>
          </a:p>
          <a:p>
            <a:r>
              <a:rPr lang="zh-CN" altLang="en-US" sz="2400" b="1" i="1" dirty="0">
                <a:solidFill>
                  <a:srgbClr val="C00000"/>
                </a:solidFill>
              </a:rPr>
              <a:t>交叉边</a:t>
            </a:r>
            <a:r>
              <a:rPr lang="en-US" sz="2400" b="1" i="1" dirty="0">
                <a:solidFill>
                  <a:srgbClr val="C00000"/>
                </a:solidFill>
              </a:rPr>
              <a:t>Cross edges </a:t>
            </a:r>
            <a:r>
              <a:rPr lang="en-US" sz="2400" b="1" dirty="0"/>
              <a:t>– </a:t>
            </a:r>
            <a:r>
              <a:rPr lang="zh-CN" altLang="en-US" sz="2400" b="1" dirty="0"/>
              <a:t>图中不属于树边、反向边、和前向边的那些边</a:t>
            </a:r>
            <a:endParaRPr lang="en-US" sz="2400" b="1" dirty="0"/>
          </a:p>
          <a:p>
            <a:pPr lvl="1"/>
            <a:r>
              <a:rPr lang="zh-CN" altLang="en-US" sz="1800" b="1" dirty="0"/>
              <a:t>是个例子中标记为</a:t>
            </a:r>
            <a:r>
              <a:rPr lang="en-US" altLang="zh-CN" sz="1800" b="1" dirty="0"/>
              <a:t>C</a:t>
            </a:r>
            <a:r>
              <a:rPr lang="zh-CN" altLang="en-US" sz="1800" b="1" dirty="0"/>
              <a:t>的边</a:t>
            </a:r>
            <a:endParaRPr lang="en-US" sz="1800" b="1" dirty="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4953000" y="46482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直接箭头连接符 5"/>
          <p:cNvCxnSpPr/>
          <p:nvPr/>
        </p:nvCxnSpPr>
        <p:spPr bwMode="auto">
          <a:xfrm flipV="1">
            <a:off x="5715000" y="5486400"/>
            <a:ext cx="685800" cy="685800"/>
          </a:xfrm>
          <a:prstGeom prst="straightConnector1">
            <a:avLst/>
          </a:prstGeom>
          <a:solidFill>
            <a:schemeClr val="accent1"/>
          </a:solidFill>
          <a:ln w="38100" cap="flat" cmpd="sng" algn="ctr">
            <a:solidFill>
              <a:srgbClr val="00B0F0"/>
            </a:solidFill>
            <a:prstDash val="solid"/>
            <a:round/>
            <a:headEnd type="none" w="med" len="med"/>
            <a:tailEnd type="triangle"/>
          </a:ln>
          <a:effectLst/>
        </p:spPr>
      </p:cxnSp>
      <p:cxnSp>
        <p:nvCxnSpPr>
          <p:cNvPr id="10" name="直接箭头连接符 9"/>
          <p:cNvCxnSpPr/>
          <p:nvPr/>
        </p:nvCxnSpPr>
        <p:spPr bwMode="auto">
          <a:xfrm>
            <a:off x="5410200" y="5486400"/>
            <a:ext cx="0" cy="53340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12" name="直接箭头连接符 11"/>
          <p:cNvCxnSpPr/>
          <p:nvPr/>
        </p:nvCxnSpPr>
        <p:spPr bwMode="auto">
          <a:xfrm flipH="1">
            <a:off x="6858000" y="5410200"/>
            <a:ext cx="685800" cy="685800"/>
          </a:xfrm>
          <a:prstGeom prst="straightConnector1">
            <a:avLst/>
          </a:prstGeom>
          <a:solidFill>
            <a:schemeClr val="accent1"/>
          </a:solidFill>
          <a:ln w="38100" cap="flat" cmpd="sng" algn="ctr">
            <a:solidFill>
              <a:srgbClr val="7030A0"/>
            </a:solidFill>
            <a:prstDash val="solid"/>
            <a:round/>
            <a:headEnd type="none" w="med" len="med"/>
            <a:tailEnd type="triangle"/>
          </a:ln>
          <a:effectLst/>
        </p:spPr>
      </p:cxnSp>
    </p:spTree>
    <p:extLst>
      <p:ext uri="{BB962C8B-B14F-4D97-AF65-F5344CB8AC3E}">
        <p14:creationId xmlns:p14="http://schemas.microsoft.com/office/powerpoint/2010/main" val="391666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altLang="zh-CN" sz="3600" b="1" dirty="0">
                <a:solidFill>
                  <a:srgbClr val="0000CC"/>
                </a:solidFill>
              </a:rPr>
              <a:t>DFS: </a:t>
            </a:r>
            <a:r>
              <a:rPr lang="zh-CN" altLang="en-US" sz="3600" b="1" dirty="0">
                <a:solidFill>
                  <a:srgbClr val="0000CC"/>
                </a:solidFill>
              </a:rPr>
              <a:t>边的分类</a:t>
            </a:r>
            <a:r>
              <a:rPr lang="en-US" altLang="zh-CN" sz="3600" b="1" dirty="0">
                <a:solidFill>
                  <a:srgbClr val="0000CC"/>
                </a:solidFill>
              </a:rPr>
              <a:t>(2)</a:t>
            </a:r>
            <a:endParaRPr lang="en-US" sz="3600" b="1" dirty="0">
              <a:solidFill>
                <a:srgbClr val="0000CC"/>
              </a:solidFill>
            </a:endParaRPr>
          </a:p>
        </p:txBody>
      </p:sp>
      <p:sp>
        <p:nvSpPr>
          <p:cNvPr id="51203" name="Rectangle 3"/>
          <p:cNvSpPr>
            <a:spLocks noGrp="1" noChangeArrowheads="1"/>
          </p:cNvSpPr>
          <p:nvPr>
            <p:ph type="body" idx="1"/>
          </p:nvPr>
        </p:nvSpPr>
        <p:spPr>
          <a:xfrm>
            <a:off x="457200" y="1447800"/>
            <a:ext cx="8229600" cy="5029200"/>
          </a:xfrm>
          <a:noFill/>
        </p:spPr>
        <p:txBody>
          <a:bodyPr lIns="92075" tIns="46038" rIns="92075" bIns="46038"/>
          <a:lstStyle/>
          <a:p>
            <a:r>
              <a:rPr lang="zh-CN" altLang="en-US" sz="2400" b="1" dirty="0"/>
              <a:t>当边</a:t>
            </a:r>
            <a:r>
              <a:rPr lang="en-US" altLang="zh-CN" sz="2400" b="1" dirty="0"/>
              <a:t>(</a:t>
            </a:r>
            <a:r>
              <a:rPr lang="en-US" altLang="zh-CN" sz="2400" b="1" i="1" dirty="0"/>
              <a:t>u</a:t>
            </a:r>
            <a:r>
              <a:rPr lang="en-US" altLang="zh-CN" sz="2400" b="1" dirty="0"/>
              <a:t>, </a:t>
            </a:r>
            <a:r>
              <a:rPr lang="en-US" altLang="zh-CN" sz="2400" b="1" i="1" dirty="0"/>
              <a:t>v</a:t>
            </a:r>
            <a:r>
              <a:rPr lang="en-US" altLang="zh-CN" sz="2400" b="1" dirty="0"/>
              <a:t>) </a:t>
            </a:r>
            <a:r>
              <a:rPr lang="zh-CN" altLang="en-US" sz="2400" b="1" dirty="0"/>
              <a:t>第一次被</a:t>
            </a:r>
            <a:r>
              <a:rPr lang="en-US" altLang="zh-CN" sz="2400" b="1" dirty="0"/>
              <a:t>DFS</a:t>
            </a:r>
            <a:r>
              <a:rPr lang="zh-CN" altLang="en-US" sz="2400" b="1" dirty="0"/>
              <a:t>算法访问时，</a:t>
            </a:r>
            <a:r>
              <a:rPr lang="en-US" altLang="zh-CN" sz="2400" b="1" i="1" dirty="0"/>
              <a:t>v</a:t>
            </a:r>
            <a:r>
              <a:rPr lang="zh-CN" altLang="en-US" sz="2400" b="1" dirty="0"/>
              <a:t>节点的颜色可以确定边</a:t>
            </a:r>
            <a:r>
              <a:rPr lang="en-US" altLang="zh-CN" sz="2400" b="1" dirty="0"/>
              <a:t>(</a:t>
            </a:r>
            <a:r>
              <a:rPr lang="en-US" altLang="zh-CN" sz="2400" b="1" i="1" dirty="0" err="1"/>
              <a:t>u,v</a:t>
            </a:r>
            <a:r>
              <a:rPr lang="en-US" altLang="zh-CN" sz="2400" b="1" dirty="0"/>
              <a:t>)</a:t>
            </a:r>
            <a:r>
              <a:rPr lang="zh-CN" altLang="en-US" sz="2400" b="1" dirty="0"/>
              <a:t>的类型</a:t>
            </a:r>
            <a:r>
              <a:rPr lang="en-US" sz="2400" b="1" dirty="0"/>
              <a:t>:</a:t>
            </a:r>
          </a:p>
          <a:p>
            <a:pPr lvl="1"/>
            <a:r>
              <a:rPr lang="zh-CN" altLang="en-US" sz="2200" b="1" dirty="0"/>
              <a:t>如果</a:t>
            </a:r>
            <a:r>
              <a:rPr lang="en-US" altLang="zh-CN" sz="2200" b="1" dirty="0"/>
              <a:t>v</a:t>
            </a:r>
            <a:r>
              <a:rPr lang="zh-CN" altLang="en-US" sz="2200" b="1" dirty="0"/>
              <a:t>为白色节点，则</a:t>
            </a:r>
            <a:r>
              <a:rPr lang="en-US" altLang="zh-CN" sz="2000" b="1" dirty="0"/>
              <a:t>(</a:t>
            </a:r>
            <a:r>
              <a:rPr lang="en-US" altLang="zh-CN" sz="2000" b="1" i="1" dirty="0" err="1"/>
              <a:t>u,v</a:t>
            </a:r>
            <a:r>
              <a:rPr lang="en-US" altLang="zh-CN" sz="2000" b="1" dirty="0"/>
              <a:t>) </a:t>
            </a:r>
            <a:r>
              <a:rPr lang="zh-CN" altLang="en-US" sz="2000" b="1" dirty="0"/>
              <a:t>为树边</a:t>
            </a:r>
            <a:endParaRPr lang="en-US" sz="2200" b="1" dirty="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0000" b="77444"/>
          <a:stretch/>
        </p:blipFill>
        <p:spPr bwMode="auto">
          <a:xfrm>
            <a:off x="685800" y="3200400"/>
            <a:ext cx="8117837"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666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2000" y="152400"/>
            <a:ext cx="7772400" cy="1143000"/>
          </a:xfrm>
        </p:spPr>
        <p:txBody>
          <a:bodyPr/>
          <a:lstStyle/>
          <a:p>
            <a:r>
              <a:rPr lang="en-US" altLang="zh-CN" b="1" dirty="0">
                <a:solidFill>
                  <a:srgbClr val="0000CC"/>
                </a:solidFill>
              </a:rPr>
              <a:t>DFS: </a:t>
            </a:r>
            <a:r>
              <a:rPr lang="zh-CN" altLang="en-US" b="1" dirty="0">
                <a:solidFill>
                  <a:srgbClr val="0000CC"/>
                </a:solidFill>
              </a:rPr>
              <a:t>边的分类</a:t>
            </a:r>
            <a:r>
              <a:rPr lang="en-US" altLang="zh-CN" b="1" dirty="0">
                <a:solidFill>
                  <a:srgbClr val="0000CC"/>
                </a:solidFill>
              </a:rPr>
              <a:t>(2)</a:t>
            </a:r>
            <a:endParaRPr lang="zh-CN" altLang="en-US" dirty="0"/>
          </a:p>
        </p:txBody>
      </p:sp>
      <p:sp>
        <p:nvSpPr>
          <p:cNvPr id="3" name="内容占位符 2"/>
          <p:cNvSpPr>
            <a:spLocks noGrp="1"/>
          </p:cNvSpPr>
          <p:nvPr>
            <p:ph idx="1"/>
          </p:nvPr>
        </p:nvSpPr>
        <p:spPr>
          <a:xfrm>
            <a:off x="457200" y="1447800"/>
            <a:ext cx="7772400" cy="4114800"/>
          </a:xfrm>
        </p:spPr>
        <p:txBody>
          <a:bodyPr/>
          <a:lstStyle/>
          <a:p>
            <a:r>
              <a:rPr lang="zh-CN" altLang="en-US" sz="2400" b="1" dirty="0"/>
              <a:t>当边</a:t>
            </a:r>
            <a:r>
              <a:rPr lang="en-US" altLang="zh-CN" sz="2400" b="1" dirty="0"/>
              <a:t>(</a:t>
            </a:r>
            <a:r>
              <a:rPr lang="en-US" altLang="zh-CN" sz="2400" b="1" i="1" dirty="0"/>
              <a:t>u</a:t>
            </a:r>
            <a:r>
              <a:rPr lang="en-US" altLang="zh-CN" sz="2400" b="1" dirty="0"/>
              <a:t>, </a:t>
            </a:r>
            <a:r>
              <a:rPr lang="en-US" altLang="zh-CN" sz="2400" b="1" i="1" dirty="0"/>
              <a:t>v</a:t>
            </a:r>
            <a:r>
              <a:rPr lang="en-US" altLang="zh-CN" sz="2400" b="1" dirty="0"/>
              <a:t>) </a:t>
            </a:r>
            <a:r>
              <a:rPr lang="zh-CN" altLang="en-US" sz="2400" b="1" dirty="0"/>
              <a:t>第一次被</a:t>
            </a:r>
            <a:r>
              <a:rPr lang="en-US" altLang="zh-CN" sz="2400" b="1" dirty="0"/>
              <a:t>DFS</a:t>
            </a:r>
            <a:r>
              <a:rPr lang="zh-CN" altLang="en-US" sz="2400" b="1" dirty="0"/>
              <a:t>算法访问时，</a:t>
            </a:r>
            <a:r>
              <a:rPr lang="en-US" altLang="zh-CN" sz="2400" b="1" i="1" dirty="0"/>
              <a:t>v</a:t>
            </a:r>
            <a:r>
              <a:rPr lang="zh-CN" altLang="en-US" sz="2400" b="1" dirty="0"/>
              <a:t>节点的颜色可以确定边</a:t>
            </a:r>
            <a:r>
              <a:rPr lang="en-US" altLang="zh-CN" sz="2400" b="1" dirty="0"/>
              <a:t>(</a:t>
            </a:r>
            <a:r>
              <a:rPr lang="en-US" altLang="zh-CN" sz="2400" b="1" i="1" dirty="0" err="1"/>
              <a:t>u,v</a:t>
            </a:r>
            <a:r>
              <a:rPr lang="en-US" altLang="zh-CN" sz="2400" b="1" dirty="0"/>
              <a:t>)</a:t>
            </a:r>
            <a:r>
              <a:rPr lang="zh-CN" altLang="en-US" sz="2400" b="1" dirty="0"/>
              <a:t>的类型</a:t>
            </a:r>
            <a:r>
              <a:rPr lang="en-US" altLang="zh-CN" sz="2400" b="1" dirty="0"/>
              <a:t>:</a:t>
            </a:r>
          </a:p>
          <a:p>
            <a:pPr lvl="1"/>
            <a:r>
              <a:rPr lang="zh-CN" altLang="en-US" sz="2200" b="1" dirty="0"/>
              <a:t>如果</a:t>
            </a:r>
            <a:r>
              <a:rPr lang="en-US" altLang="zh-CN" sz="2200" b="1" dirty="0"/>
              <a:t>v</a:t>
            </a:r>
            <a:r>
              <a:rPr lang="zh-CN" altLang="en-US" sz="2200" b="1" dirty="0"/>
              <a:t>是灰色节点，则</a:t>
            </a:r>
            <a:r>
              <a:rPr lang="en-US" altLang="zh-CN" sz="2000" b="1" dirty="0"/>
              <a:t>(</a:t>
            </a:r>
            <a:r>
              <a:rPr lang="en-US" altLang="zh-CN" sz="2000" b="1" i="1" dirty="0" err="1"/>
              <a:t>u,v</a:t>
            </a:r>
            <a:r>
              <a:rPr lang="en-US" altLang="zh-CN" sz="2000" b="1" dirty="0"/>
              <a:t>) </a:t>
            </a:r>
            <a:r>
              <a:rPr lang="zh-CN" altLang="en-US" sz="2000" b="1" dirty="0"/>
              <a:t>为反向边</a:t>
            </a:r>
            <a:endParaRPr lang="en-US" altLang="zh-CN" sz="2200" b="1" dirty="0"/>
          </a:p>
          <a:p>
            <a:endParaRPr lang="zh-CN" altLang="en-US" dirty="0"/>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4227" r="51300" b="51211"/>
          <a:stretch/>
        </p:blipFill>
        <p:spPr bwMode="auto">
          <a:xfrm>
            <a:off x="838200" y="3657600"/>
            <a:ext cx="7162800" cy="2555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椭圆 4">
            <a:extLst>
              <a:ext uri="{FF2B5EF4-FFF2-40B4-BE49-F238E27FC236}">
                <a16:creationId xmlns:a16="http://schemas.microsoft.com/office/drawing/2014/main" id="{6AE7D609-EE74-4F3E-BAD6-4BF16089908D}"/>
              </a:ext>
            </a:extLst>
          </p:cNvPr>
          <p:cNvSpPr/>
          <p:nvPr/>
        </p:nvSpPr>
        <p:spPr bwMode="auto">
          <a:xfrm>
            <a:off x="1676400" y="3733800"/>
            <a:ext cx="1066800" cy="914400"/>
          </a:xfrm>
          <a:prstGeom prst="ellipse">
            <a:avLst/>
          </a:prstGeom>
          <a:noFill/>
          <a:ln w="3810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2000" y="152400"/>
            <a:ext cx="7772400" cy="1143000"/>
          </a:xfrm>
        </p:spPr>
        <p:txBody>
          <a:bodyPr/>
          <a:lstStyle/>
          <a:p>
            <a:r>
              <a:rPr lang="en-US" altLang="zh-CN" b="1" dirty="0">
                <a:solidFill>
                  <a:srgbClr val="0000CC"/>
                </a:solidFill>
              </a:rPr>
              <a:t>DFS: </a:t>
            </a:r>
            <a:r>
              <a:rPr lang="zh-CN" altLang="en-US" b="1" dirty="0">
                <a:solidFill>
                  <a:srgbClr val="0000CC"/>
                </a:solidFill>
              </a:rPr>
              <a:t>边的分类</a:t>
            </a:r>
            <a:r>
              <a:rPr lang="en-US" altLang="zh-CN" b="1" dirty="0">
                <a:solidFill>
                  <a:srgbClr val="0000CC"/>
                </a:solidFill>
              </a:rPr>
              <a:t>(2)</a:t>
            </a:r>
            <a:endParaRPr lang="zh-CN" altLang="en-US" dirty="0"/>
          </a:p>
        </p:txBody>
      </p:sp>
      <p:sp>
        <p:nvSpPr>
          <p:cNvPr id="3" name="内容占位符 2"/>
          <p:cNvSpPr>
            <a:spLocks noGrp="1"/>
          </p:cNvSpPr>
          <p:nvPr>
            <p:ph idx="1"/>
          </p:nvPr>
        </p:nvSpPr>
        <p:spPr>
          <a:xfrm>
            <a:off x="457200" y="1447800"/>
            <a:ext cx="7772400" cy="4114800"/>
          </a:xfrm>
        </p:spPr>
        <p:txBody>
          <a:bodyPr/>
          <a:lstStyle/>
          <a:p>
            <a:r>
              <a:rPr lang="zh-CN" altLang="en-US" sz="2400" b="1" dirty="0"/>
              <a:t>当边</a:t>
            </a:r>
            <a:r>
              <a:rPr lang="en-US" altLang="zh-CN" sz="2400" b="1" dirty="0"/>
              <a:t>(</a:t>
            </a:r>
            <a:r>
              <a:rPr lang="en-US" altLang="zh-CN" sz="2400" b="1" i="1" dirty="0"/>
              <a:t>u</a:t>
            </a:r>
            <a:r>
              <a:rPr lang="en-US" altLang="zh-CN" sz="2400" b="1" dirty="0"/>
              <a:t>, </a:t>
            </a:r>
            <a:r>
              <a:rPr lang="en-US" altLang="zh-CN" sz="2400" b="1" i="1" dirty="0"/>
              <a:t>v</a:t>
            </a:r>
            <a:r>
              <a:rPr lang="en-US" altLang="zh-CN" sz="2400" b="1" dirty="0"/>
              <a:t>) </a:t>
            </a:r>
            <a:r>
              <a:rPr lang="zh-CN" altLang="en-US" sz="2400" b="1" dirty="0"/>
              <a:t>第一次被</a:t>
            </a:r>
            <a:r>
              <a:rPr lang="en-US" altLang="zh-CN" sz="2400" b="1" dirty="0"/>
              <a:t>DFS</a:t>
            </a:r>
            <a:r>
              <a:rPr lang="zh-CN" altLang="en-US" sz="2400" b="1" dirty="0"/>
              <a:t>算法访问时，</a:t>
            </a:r>
            <a:r>
              <a:rPr lang="en-US" altLang="zh-CN" sz="2400" b="1" i="1" dirty="0"/>
              <a:t>v</a:t>
            </a:r>
            <a:r>
              <a:rPr lang="zh-CN" altLang="en-US" sz="2400" b="1" dirty="0"/>
              <a:t>节点的颜色可以确定边</a:t>
            </a:r>
            <a:r>
              <a:rPr lang="en-US" altLang="zh-CN" sz="2400" b="1" dirty="0"/>
              <a:t>(</a:t>
            </a:r>
            <a:r>
              <a:rPr lang="en-US" altLang="zh-CN" sz="2400" b="1" i="1" dirty="0" err="1"/>
              <a:t>u,v</a:t>
            </a:r>
            <a:r>
              <a:rPr lang="en-US" altLang="zh-CN" sz="2400" b="1" dirty="0"/>
              <a:t>)</a:t>
            </a:r>
            <a:r>
              <a:rPr lang="zh-CN" altLang="en-US" sz="2400" b="1" dirty="0"/>
              <a:t>的类型</a:t>
            </a:r>
            <a:r>
              <a:rPr lang="en-US" altLang="zh-CN" sz="2400" b="1" dirty="0"/>
              <a:t>:</a:t>
            </a:r>
          </a:p>
          <a:p>
            <a:pPr lvl="1"/>
            <a:r>
              <a:rPr lang="zh-CN" altLang="en-US" sz="2200" b="1" dirty="0"/>
              <a:t>如果</a:t>
            </a:r>
            <a:r>
              <a:rPr lang="en-US" altLang="zh-CN" sz="2200" b="1" dirty="0"/>
              <a:t>v</a:t>
            </a:r>
            <a:r>
              <a:rPr lang="zh-CN" altLang="en-US" sz="2200" b="1" dirty="0"/>
              <a:t>是黑色节点，则</a:t>
            </a:r>
            <a:r>
              <a:rPr lang="en-US" altLang="zh-CN" sz="2000" b="1" dirty="0"/>
              <a:t>(</a:t>
            </a:r>
            <a:r>
              <a:rPr lang="en-US" altLang="zh-CN" sz="2000" b="1" i="1" dirty="0" err="1"/>
              <a:t>u,v</a:t>
            </a:r>
            <a:r>
              <a:rPr lang="en-US" altLang="zh-CN" sz="2000" b="1" dirty="0"/>
              <a:t>) </a:t>
            </a:r>
            <a:r>
              <a:rPr lang="zh-CN" altLang="en-US" sz="2000" b="1" dirty="0"/>
              <a:t>为前向边或者交叉边</a:t>
            </a:r>
            <a:endParaRPr lang="en-US" altLang="zh-CN" sz="2200" b="1" dirty="0"/>
          </a:p>
          <a:p>
            <a:endParaRPr lang="zh-CN" altLang="en-US" dirty="0"/>
          </a:p>
        </p:txBody>
      </p:sp>
      <p:pic>
        <p:nvPicPr>
          <p:cNvPr id="5"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0946" t="50000" b="25000"/>
          <a:stretch/>
        </p:blipFill>
        <p:spPr bwMode="auto">
          <a:xfrm>
            <a:off x="685800" y="3810000"/>
            <a:ext cx="7391400" cy="2664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椭圆 5"/>
          <p:cNvSpPr/>
          <p:nvPr/>
        </p:nvSpPr>
        <p:spPr bwMode="auto">
          <a:xfrm>
            <a:off x="762000" y="4876800"/>
            <a:ext cx="1066800" cy="1066800"/>
          </a:xfrm>
          <a:prstGeom prst="ellipse">
            <a:avLst/>
          </a:prstGeom>
          <a:noFill/>
          <a:ln w="34925" cap="flat" cmpd="sng" algn="ctr">
            <a:solidFill>
              <a:schemeClr val="accent1">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altLang="zh-CN" sz="3600" b="1" dirty="0">
                <a:solidFill>
                  <a:srgbClr val="0000CC"/>
                </a:solidFill>
              </a:rPr>
              <a:t>DFS: </a:t>
            </a:r>
            <a:r>
              <a:rPr lang="zh-CN" altLang="en-US" sz="3600" b="1" dirty="0">
                <a:solidFill>
                  <a:srgbClr val="0000CC"/>
                </a:solidFill>
              </a:rPr>
              <a:t>边的分类</a:t>
            </a:r>
            <a:r>
              <a:rPr lang="en-US" altLang="zh-CN" sz="3600" b="1" dirty="0">
                <a:solidFill>
                  <a:srgbClr val="0000CC"/>
                </a:solidFill>
              </a:rPr>
              <a:t>(3)</a:t>
            </a:r>
            <a:endParaRPr lang="en-US" sz="3600" b="1" dirty="0">
              <a:solidFill>
                <a:srgbClr val="0000CC"/>
              </a:solidFill>
            </a:endParaRPr>
          </a:p>
        </p:txBody>
      </p:sp>
      <p:sp>
        <p:nvSpPr>
          <p:cNvPr id="51203" name="Rectangle 3"/>
          <p:cNvSpPr>
            <a:spLocks noGrp="1" noChangeArrowheads="1"/>
          </p:cNvSpPr>
          <p:nvPr>
            <p:ph type="body" idx="1"/>
          </p:nvPr>
        </p:nvSpPr>
        <p:spPr>
          <a:xfrm>
            <a:off x="457200" y="1447800"/>
            <a:ext cx="8229600" cy="5029200"/>
          </a:xfrm>
          <a:noFill/>
        </p:spPr>
        <p:txBody>
          <a:bodyPr lIns="92075" tIns="46038" rIns="92075" bIns="46038"/>
          <a:lstStyle/>
          <a:p>
            <a:r>
              <a:rPr lang="zh-CN" altLang="en-US" sz="2400" b="1" dirty="0">
                <a:solidFill>
                  <a:srgbClr val="C00000"/>
                </a:solidFill>
              </a:rPr>
              <a:t>定理</a:t>
            </a:r>
            <a:r>
              <a:rPr lang="en-US" sz="2400" b="1" dirty="0">
                <a:solidFill>
                  <a:srgbClr val="C00000"/>
                </a:solidFill>
              </a:rPr>
              <a:t>1</a:t>
            </a:r>
            <a:r>
              <a:rPr lang="en-US" sz="2400" b="1" dirty="0"/>
              <a:t>: </a:t>
            </a:r>
            <a:r>
              <a:rPr lang="zh-CN" altLang="en-US" sz="2400" b="1" dirty="0"/>
              <a:t>如果图是无向图，则边要么是树边，要么是反向边</a:t>
            </a:r>
            <a:endParaRPr lang="en-US" sz="2400" b="1" dirty="0"/>
          </a:p>
          <a:p>
            <a:pPr marL="0" indent="0">
              <a:buNone/>
            </a:pPr>
            <a:r>
              <a:rPr lang="en-US" sz="2400" b="1" i="1" dirty="0"/>
              <a:t>     </a:t>
            </a:r>
            <a:r>
              <a:rPr lang="zh-CN" altLang="en-US" sz="2400" b="1" i="1" dirty="0">
                <a:solidFill>
                  <a:srgbClr val="FF0000"/>
                </a:solidFill>
              </a:rPr>
              <a:t>例子</a:t>
            </a:r>
            <a:r>
              <a:rPr lang="en-US" sz="2400" b="1" dirty="0"/>
              <a:t>: </a:t>
            </a:r>
            <a:r>
              <a:rPr lang="zh-CN" altLang="en-US" sz="2400" b="1" dirty="0"/>
              <a:t>将下图视作无向图（单向改为双向）</a:t>
            </a:r>
            <a:endParaRPr lang="en-US" sz="2400" b="1" i="1" dirty="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838200" y="31242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4419600" y="3430250"/>
            <a:ext cx="4190999" cy="1446550"/>
          </a:xfrm>
          <a:prstGeom prst="rect">
            <a:avLst/>
          </a:prstGeom>
          <a:noFill/>
        </p:spPr>
        <p:txBody>
          <a:bodyPr wrap="square" rtlCol="0">
            <a:spAutoFit/>
          </a:bodyPr>
          <a:lstStyle/>
          <a:p>
            <a:pPr marL="274320" indent="-274320">
              <a:buFont typeface="Wingdings" pitchFamily="2" charset="2"/>
              <a:buChar char="§"/>
            </a:pPr>
            <a:r>
              <a:rPr lang="zh-CN" altLang="en-US" sz="2200" dirty="0"/>
              <a:t>边</a:t>
            </a:r>
            <a:r>
              <a:rPr lang="en-US" sz="2200" dirty="0"/>
              <a:t>(</a:t>
            </a:r>
            <a:r>
              <a:rPr lang="en-US" sz="2200" i="1" dirty="0"/>
              <a:t>x</a:t>
            </a:r>
            <a:r>
              <a:rPr lang="en-US" sz="2200" dirty="0"/>
              <a:t>, </a:t>
            </a:r>
            <a:r>
              <a:rPr lang="en-US" sz="2200" i="1" dirty="0"/>
              <a:t>u</a:t>
            </a:r>
            <a:r>
              <a:rPr lang="en-US" sz="2200" dirty="0"/>
              <a:t>)</a:t>
            </a:r>
            <a:r>
              <a:rPr lang="zh-CN" altLang="en-US" sz="2200" dirty="0"/>
              <a:t>比边</a:t>
            </a:r>
            <a:r>
              <a:rPr lang="en-US" sz="2200" dirty="0"/>
              <a:t> </a:t>
            </a:r>
            <a:r>
              <a:rPr lang="en-US" altLang="zh-CN" sz="2200" dirty="0"/>
              <a:t>(</a:t>
            </a:r>
            <a:r>
              <a:rPr lang="en-US" altLang="zh-CN" sz="2200" i="1" dirty="0"/>
              <a:t>u</a:t>
            </a:r>
            <a:r>
              <a:rPr lang="en-US" altLang="zh-CN" sz="2200" dirty="0"/>
              <a:t>, </a:t>
            </a:r>
            <a:r>
              <a:rPr lang="en-US" altLang="zh-CN" sz="2200" i="1" dirty="0"/>
              <a:t>x</a:t>
            </a:r>
            <a:r>
              <a:rPr lang="en-US" altLang="zh-CN" sz="2200" dirty="0"/>
              <a:t>)</a:t>
            </a:r>
            <a:r>
              <a:rPr lang="zh-CN" altLang="en-US" sz="2200" dirty="0"/>
              <a:t>先被访问，因此使之成为一条反向边</a:t>
            </a:r>
            <a:endParaRPr lang="en-US" sz="2200" dirty="0"/>
          </a:p>
          <a:p>
            <a:pPr marL="274320" indent="-274320">
              <a:buFont typeface="Wingdings" pitchFamily="2" charset="2"/>
              <a:buChar char="§"/>
            </a:pPr>
            <a:r>
              <a:rPr lang="zh-CN" altLang="en-US" sz="2200" dirty="0"/>
              <a:t>边</a:t>
            </a:r>
            <a:r>
              <a:rPr lang="en-US" sz="2200" dirty="0"/>
              <a:t>(</a:t>
            </a:r>
            <a:r>
              <a:rPr lang="en-US" sz="2200" i="1" dirty="0"/>
              <a:t>y</a:t>
            </a:r>
            <a:r>
              <a:rPr lang="en-US" sz="2200" dirty="0"/>
              <a:t>, </a:t>
            </a:r>
            <a:r>
              <a:rPr lang="en-US" sz="2200" i="1" dirty="0"/>
              <a:t>w</a:t>
            </a:r>
            <a:r>
              <a:rPr lang="en-US" sz="2200" dirty="0"/>
              <a:t>) </a:t>
            </a:r>
            <a:r>
              <a:rPr lang="zh-CN" altLang="en-US" sz="2200" dirty="0"/>
              <a:t>比边</a:t>
            </a:r>
            <a:r>
              <a:rPr lang="en-US" sz="2200" dirty="0"/>
              <a:t> (</a:t>
            </a:r>
            <a:r>
              <a:rPr lang="en-US" sz="2200" i="1" dirty="0"/>
              <a:t>w</a:t>
            </a:r>
            <a:r>
              <a:rPr lang="en-US" sz="2200" dirty="0"/>
              <a:t>, </a:t>
            </a:r>
            <a:r>
              <a:rPr lang="en-US" sz="2200" i="1" dirty="0"/>
              <a:t>y</a:t>
            </a:r>
            <a:r>
              <a:rPr lang="en-US" sz="2200" dirty="0"/>
              <a:t>)</a:t>
            </a:r>
            <a:r>
              <a:rPr lang="zh-CN" altLang="en-US" sz="2200" dirty="0"/>
              <a:t>先被访问，因此使之成为一条树边</a:t>
            </a:r>
            <a:endParaRPr lang="en-US" sz="2200" dirty="0"/>
          </a:p>
        </p:txBody>
      </p:sp>
    </p:spTree>
    <p:extLst>
      <p:ext uri="{BB962C8B-B14F-4D97-AF65-F5344CB8AC3E}">
        <p14:creationId xmlns:p14="http://schemas.microsoft.com/office/powerpoint/2010/main" val="967228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5800" y="228600"/>
            <a:ext cx="7772400" cy="990600"/>
          </a:xfrm>
        </p:spPr>
        <p:txBody>
          <a:bodyPr/>
          <a:lstStyle/>
          <a:p>
            <a:r>
              <a:rPr lang="en-US" sz="3600" b="1" dirty="0">
                <a:solidFill>
                  <a:srgbClr val="0000CC"/>
                </a:solidFill>
              </a:rPr>
              <a:t>DFS: </a:t>
            </a:r>
            <a:r>
              <a:rPr lang="zh-CN" altLang="en-US" sz="3600" b="1" dirty="0">
                <a:solidFill>
                  <a:srgbClr val="0000CC"/>
                </a:solidFill>
              </a:rPr>
              <a:t>应用</a:t>
            </a:r>
            <a:r>
              <a:rPr lang="en-US" sz="3600" b="1" dirty="0">
                <a:solidFill>
                  <a:srgbClr val="0000CC"/>
                </a:solidFill>
              </a:rPr>
              <a:t>(1)</a:t>
            </a:r>
          </a:p>
        </p:txBody>
      </p:sp>
      <p:sp>
        <p:nvSpPr>
          <p:cNvPr id="50179" name="Rectangle 3"/>
          <p:cNvSpPr>
            <a:spLocks noGrp="1" noChangeArrowheads="1"/>
          </p:cNvSpPr>
          <p:nvPr>
            <p:ph type="body" idx="1"/>
          </p:nvPr>
        </p:nvSpPr>
        <p:spPr>
          <a:xfrm>
            <a:off x="457200" y="1371600"/>
            <a:ext cx="7848600" cy="4495800"/>
          </a:xfrm>
        </p:spPr>
        <p:txBody>
          <a:bodyPr/>
          <a:lstStyle/>
          <a:p>
            <a:r>
              <a:rPr lang="zh-CN" altLang="en-US" sz="2400" b="1" i="1" dirty="0">
                <a:solidFill>
                  <a:srgbClr val="C00000"/>
                </a:solidFill>
                <a:latin typeface="+mj-lt"/>
              </a:rPr>
              <a:t>无向图</a:t>
            </a:r>
            <a:r>
              <a:rPr lang="en-US" sz="2400" b="1" i="1" dirty="0">
                <a:solidFill>
                  <a:srgbClr val="C00000"/>
                </a:solidFill>
                <a:latin typeface="+mj-lt"/>
              </a:rPr>
              <a:t>G</a:t>
            </a:r>
            <a:r>
              <a:rPr lang="zh-CN" altLang="en-US" sz="2400" b="1" i="1" dirty="0">
                <a:solidFill>
                  <a:srgbClr val="C00000"/>
                </a:solidFill>
                <a:latin typeface="+mj-lt"/>
              </a:rPr>
              <a:t>是否连通</a:t>
            </a:r>
            <a:r>
              <a:rPr lang="en-US" sz="2400" b="1" dirty="0">
                <a:solidFill>
                  <a:srgbClr val="C00000"/>
                </a:solidFill>
                <a:latin typeface="+mj-lt"/>
              </a:rPr>
              <a:t>? </a:t>
            </a:r>
          </a:p>
          <a:p>
            <a:pPr marL="640080" lvl="1"/>
            <a:r>
              <a:rPr lang="zh-CN" altLang="en-US" sz="2200" b="1" dirty="0">
                <a:latin typeface="+mj-lt"/>
              </a:rPr>
              <a:t>调用</a:t>
            </a:r>
            <a:r>
              <a:rPr lang="en-US" sz="2200" b="1" dirty="0">
                <a:latin typeface="+mj-lt"/>
              </a:rPr>
              <a:t>DFS-Visit(</a:t>
            </a:r>
            <a:r>
              <a:rPr lang="en-US" sz="2200" b="1" i="1" dirty="0">
                <a:latin typeface="+mj-lt"/>
              </a:rPr>
              <a:t>G</a:t>
            </a:r>
            <a:r>
              <a:rPr lang="en-US" sz="2200" b="1" dirty="0">
                <a:latin typeface="+mj-lt"/>
              </a:rPr>
              <a:t>, </a:t>
            </a:r>
            <a:r>
              <a:rPr lang="en-US" sz="2200" b="1" i="1" dirty="0">
                <a:latin typeface="+mj-lt"/>
              </a:rPr>
              <a:t>v</a:t>
            </a:r>
            <a:r>
              <a:rPr lang="en-US" sz="2200" b="1" dirty="0">
                <a:latin typeface="+mj-lt"/>
              </a:rPr>
              <a:t>) </a:t>
            </a:r>
            <a:r>
              <a:rPr lang="zh-CN" altLang="en-US" sz="2200" b="1" dirty="0">
                <a:latin typeface="+mj-lt"/>
              </a:rPr>
              <a:t>一次，然后检查一下看看是否图中还有白色的节点。如果没有，则说明图是连通的，否则不连通</a:t>
            </a:r>
            <a:endParaRPr lang="en-US" sz="2200" b="1" dirty="0">
              <a:latin typeface="+mj-lt"/>
            </a:endParaRPr>
          </a:p>
          <a:p>
            <a:pPr marL="400050" lvl="1" indent="0">
              <a:buNone/>
            </a:pPr>
            <a:r>
              <a:rPr lang="en-US" sz="2200" b="1" dirty="0">
                <a:latin typeface="+mj-lt"/>
              </a:rPr>
              <a:t>    </a:t>
            </a:r>
            <a:r>
              <a:rPr lang="zh-CN" altLang="en-US" sz="2200" b="1" dirty="0">
                <a:latin typeface="+mj-lt"/>
              </a:rPr>
              <a:t>运行时间</a:t>
            </a:r>
            <a:r>
              <a:rPr lang="en-US" sz="2200" b="1" dirty="0">
                <a:latin typeface="+mj-lt"/>
              </a:rPr>
              <a:t>: </a:t>
            </a:r>
            <a:r>
              <a:rPr lang="en-US" sz="2200" b="1" i="1" dirty="0">
                <a:latin typeface="+mj-lt"/>
              </a:rPr>
              <a:t>O</a:t>
            </a:r>
            <a:r>
              <a:rPr lang="en-US" sz="2200" b="1" dirty="0">
                <a:latin typeface="+mj-lt"/>
              </a:rPr>
              <a:t>(|</a:t>
            </a:r>
            <a:r>
              <a:rPr lang="en-US" sz="2200" b="1" i="1" dirty="0">
                <a:latin typeface="+mj-lt"/>
              </a:rPr>
              <a:t>V | </a:t>
            </a:r>
            <a:r>
              <a:rPr lang="en-US" sz="2200" b="1" dirty="0">
                <a:latin typeface="+mj-lt"/>
              </a:rPr>
              <a:t>+ | </a:t>
            </a:r>
            <a:r>
              <a:rPr lang="en-US" sz="2200" b="1" i="1" dirty="0">
                <a:latin typeface="+mj-lt"/>
              </a:rPr>
              <a:t>E |</a:t>
            </a:r>
            <a:r>
              <a:rPr lang="en-US" sz="2200" b="1" dirty="0">
                <a:latin typeface="+mj-lt"/>
              </a:rPr>
              <a:t>)</a:t>
            </a:r>
          </a:p>
          <a:p>
            <a:pPr marL="0" indent="0">
              <a:buNone/>
            </a:pPr>
            <a:endParaRPr lang="en-US" sz="2400" b="1" dirty="0">
              <a:latin typeface="+mj-lt"/>
            </a:endParaRPr>
          </a:p>
          <a:p>
            <a:r>
              <a:rPr lang="zh-CN" altLang="en-US" sz="2400" b="1" i="1" dirty="0">
                <a:solidFill>
                  <a:srgbClr val="C00000"/>
                </a:solidFill>
                <a:latin typeface="+mj-lt"/>
              </a:rPr>
              <a:t>寻找连通分支</a:t>
            </a:r>
            <a:endParaRPr lang="en-US" sz="2400" b="1" i="1" dirty="0">
              <a:latin typeface="+mj-lt"/>
            </a:endParaRPr>
          </a:p>
          <a:p>
            <a:pPr lvl="1"/>
            <a:r>
              <a:rPr lang="zh-CN" altLang="en-US" sz="2200" b="1" dirty="0">
                <a:latin typeface="+mj-lt"/>
              </a:rPr>
              <a:t>调用</a:t>
            </a:r>
            <a:r>
              <a:rPr lang="en-US" sz="2200" b="1" dirty="0">
                <a:latin typeface="+mj-lt"/>
              </a:rPr>
              <a:t>DFS</a:t>
            </a:r>
            <a:r>
              <a:rPr lang="zh-CN" altLang="en-US" sz="2200" b="1" dirty="0">
                <a:latin typeface="+mj-lt"/>
              </a:rPr>
              <a:t>；每次调用</a:t>
            </a:r>
            <a:r>
              <a:rPr lang="en-US" sz="2200" b="1" dirty="0">
                <a:latin typeface="+mj-lt"/>
              </a:rPr>
              <a:t>DFS-Visit(</a:t>
            </a:r>
            <a:r>
              <a:rPr lang="en-US" sz="2200" b="1" i="1" dirty="0">
                <a:latin typeface="+mj-lt"/>
              </a:rPr>
              <a:t>G</a:t>
            </a:r>
            <a:r>
              <a:rPr lang="en-US" sz="2200" b="1" dirty="0">
                <a:latin typeface="+mj-lt"/>
              </a:rPr>
              <a:t>, </a:t>
            </a:r>
            <a:r>
              <a:rPr lang="en-US" sz="2200" b="1" i="1" dirty="0">
                <a:latin typeface="+mj-lt"/>
              </a:rPr>
              <a:t>v</a:t>
            </a:r>
            <a:r>
              <a:rPr lang="en-US" sz="2200" b="1" dirty="0">
                <a:latin typeface="+mj-lt"/>
              </a:rPr>
              <a:t>) </a:t>
            </a:r>
            <a:r>
              <a:rPr lang="zh-CN" altLang="en-US" sz="2200" b="1" dirty="0">
                <a:latin typeface="+mj-lt"/>
              </a:rPr>
              <a:t>，其中所有遍历到的节点属于一个连通分支</a:t>
            </a:r>
            <a:endParaRPr lang="en-US" sz="2200" b="1" dirty="0">
              <a:latin typeface="+mj-lt"/>
            </a:endParaRPr>
          </a:p>
          <a:p>
            <a:pPr marL="400050" lvl="1" indent="0">
              <a:buNone/>
            </a:pPr>
            <a:r>
              <a:rPr lang="zh-CN" altLang="en-US" sz="2200" b="1" dirty="0"/>
              <a:t>     运行时间</a:t>
            </a:r>
            <a:r>
              <a:rPr lang="en-US" sz="2200" b="1" dirty="0">
                <a:latin typeface="+mj-lt"/>
              </a:rPr>
              <a:t>: </a:t>
            </a:r>
            <a:r>
              <a:rPr lang="en-US" sz="2200" b="1" dirty="0">
                <a:latin typeface="+mj-lt"/>
                <a:sym typeface="Symbol"/>
              </a:rPr>
              <a:t></a:t>
            </a:r>
            <a:r>
              <a:rPr lang="en-US" sz="2200" b="1" dirty="0">
                <a:latin typeface="+mj-lt"/>
              </a:rPr>
              <a:t>(|</a:t>
            </a:r>
            <a:r>
              <a:rPr lang="en-US" sz="2200" b="1" i="1" dirty="0">
                <a:latin typeface="+mj-lt"/>
              </a:rPr>
              <a:t>V | </a:t>
            </a:r>
            <a:r>
              <a:rPr lang="en-US" sz="2200" b="1" dirty="0">
                <a:latin typeface="+mj-lt"/>
              </a:rPr>
              <a:t>+ | </a:t>
            </a:r>
            <a:r>
              <a:rPr lang="en-US" sz="2200" b="1" i="1" dirty="0">
                <a:latin typeface="+mj-lt"/>
              </a:rPr>
              <a:t>E |</a:t>
            </a:r>
            <a:r>
              <a:rPr lang="en-US" sz="2200" b="1" dirty="0">
                <a:latin typeface="+mj-lt"/>
              </a:rPr>
              <a:t>)</a:t>
            </a:r>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4953000" y="45720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椭圆 4"/>
          <p:cNvSpPr/>
          <p:nvPr/>
        </p:nvSpPr>
        <p:spPr bwMode="auto">
          <a:xfrm>
            <a:off x="4876800" y="4572000"/>
            <a:ext cx="2438400" cy="2286000"/>
          </a:xfrm>
          <a:prstGeom prst="ellipse">
            <a:avLst/>
          </a:prstGeom>
          <a:noFill/>
          <a:ln w="34925" cap="flat" cmpd="sng" algn="ctr">
            <a:solidFill>
              <a:schemeClr val="accent1">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6" name="椭圆 5"/>
          <p:cNvSpPr/>
          <p:nvPr/>
        </p:nvSpPr>
        <p:spPr bwMode="auto">
          <a:xfrm>
            <a:off x="7162800" y="4495800"/>
            <a:ext cx="1143000" cy="2362200"/>
          </a:xfrm>
          <a:prstGeom prst="ellipse">
            <a:avLst/>
          </a:prstGeom>
          <a:noFill/>
          <a:ln w="31750"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79210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17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17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179">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down)">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uiExpand="1" build="p"/>
      <p:bldP spid="5"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p:spPr>
        <p:txBody>
          <a:bodyPr/>
          <a:lstStyle/>
          <a:p>
            <a:r>
              <a:rPr lang="en-US" sz="3600" b="1" dirty="0">
                <a:solidFill>
                  <a:srgbClr val="0000CC"/>
                </a:solidFill>
              </a:rPr>
              <a:t>DFS: </a:t>
            </a:r>
            <a:r>
              <a:rPr lang="zh-CN" altLang="en-US" sz="3600" b="1" dirty="0">
                <a:solidFill>
                  <a:srgbClr val="0000CC"/>
                </a:solidFill>
              </a:rPr>
              <a:t>应用</a:t>
            </a:r>
            <a:r>
              <a:rPr lang="en-US" sz="3600" b="1" dirty="0">
                <a:solidFill>
                  <a:srgbClr val="0000CC"/>
                </a:solidFill>
              </a:rPr>
              <a:t>(2)</a:t>
            </a:r>
          </a:p>
        </p:txBody>
      </p:sp>
      <p:sp>
        <p:nvSpPr>
          <p:cNvPr id="53251" name="Rectangle 3"/>
          <p:cNvSpPr>
            <a:spLocks noGrp="1" noChangeArrowheads="1"/>
          </p:cNvSpPr>
          <p:nvPr>
            <p:ph type="body" idx="1"/>
          </p:nvPr>
        </p:nvSpPr>
        <p:spPr>
          <a:xfrm>
            <a:off x="381000" y="1371600"/>
            <a:ext cx="8305800" cy="5181600"/>
          </a:xfrm>
        </p:spPr>
        <p:txBody>
          <a:bodyPr/>
          <a:lstStyle/>
          <a:p>
            <a:r>
              <a:rPr lang="zh-CN" altLang="en-US" sz="2400" b="1" dirty="0">
                <a:solidFill>
                  <a:srgbClr val="C00000"/>
                </a:solidFill>
              </a:rPr>
              <a:t>一个有向图</a:t>
            </a:r>
            <a:r>
              <a:rPr lang="en-US" sz="2400" b="1" i="1" dirty="0">
                <a:solidFill>
                  <a:srgbClr val="C00000"/>
                </a:solidFill>
              </a:rPr>
              <a:t>G</a:t>
            </a:r>
            <a:r>
              <a:rPr lang="zh-CN" altLang="en-US" sz="2400" b="1" dirty="0">
                <a:solidFill>
                  <a:srgbClr val="C00000"/>
                </a:solidFill>
              </a:rPr>
              <a:t>中是否包含一个有向环</a:t>
            </a:r>
            <a:r>
              <a:rPr lang="en-US" sz="2400" b="1" dirty="0">
                <a:solidFill>
                  <a:srgbClr val="C00000"/>
                </a:solidFill>
              </a:rPr>
              <a:t>?</a:t>
            </a:r>
            <a:r>
              <a:rPr lang="en-US" sz="2400" b="1" dirty="0"/>
              <a:t> </a:t>
            </a:r>
          </a:p>
          <a:p>
            <a:pPr marL="640080" lvl="1"/>
            <a:r>
              <a:rPr lang="zh-CN" altLang="en-US" sz="2200" b="1" dirty="0"/>
              <a:t>调用</a:t>
            </a:r>
            <a:r>
              <a:rPr lang="en-US" sz="2200" b="1" dirty="0"/>
              <a:t>DFS</a:t>
            </a:r>
            <a:r>
              <a:rPr lang="zh-CN" altLang="en-US" sz="2200" b="1" dirty="0"/>
              <a:t>；如果存在反向边，则说明存在有向环，否则不包含有向环</a:t>
            </a:r>
            <a:endParaRPr lang="en-US" sz="2200" b="1" dirty="0"/>
          </a:p>
          <a:p>
            <a:pPr marL="640080" lvl="1"/>
            <a:r>
              <a:rPr lang="zh-CN" altLang="en-US" sz="2200" b="1" dirty="0"/>
              <a:t>运行时间</a:t>
            </a:r>
            <a:r>
              <a:rPr lang="en-US" sz="2200" b="1" dirty="0"/>
              <a:t>: </a:t>
            </a:r>
            <a:r>
              <a:rPr lang="en-US" sz="2200" b="1" i="1" dirty="0"/>
              <a:t>O</a:t>
            </a:r>
            <a:r>
              <a:rPr lang="en-US" sz="2200" b="1" dirty="0"/>
              <a:t>(|</a:t>
            </a:r>
            <a:r>
              <a:rPr lang="en-US" sz="2200" b="1" i="1" dirty="0"/>
              <a:t>V | </a:t>
            </a:r>
            <a:r>
              <a:rPr lang="en-US" sz="2200" b="1" dirty="0"/>
              <a:t>+ | </a:t>
            </a:r>
            <a:r>
              <a:rPr lang="en-US" sz="2200" b="1" i="1" dirty="0"/>
              <a:t>E |</a:t>
            </a:r>
            <a:r>
              <a:rPr lang="en-US" sz="2200" b="1" dirty="0"/>
              <a:t>).</a:t>
            </a:r>
            <a:endParaRPr lang="en-US" sz="2400" b="1" dirty="0"/>
          </a:p>
          <a:p>
            <a:pPr>
              <a:spcBef>
                <a:spcPts val="600"/>
              </a:spcBef>
            </a:pPr>
            <a:endParaRPr lang="en-US" sz="2400" b="1" dirty="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2743200" y="33528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2822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animEffect transition="in" filter="fade">
                                      <p:cBhvr>
                                        <p:cTn id="7" dur="500"/>
                                        <p:tgtEl>
                                          <p:spTgt spid="53251">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3251">
                                            <p:txEl>
                                              <p:pRg st="2" end="2"/>
                                            </p:txEl>
                                          </p:spTgt>
                                        </p:tgtEl>
                                        <p:attrNameLst>
                                          <p:attrName>style.visibility</p:attrName>
                                        </p:attrNameLst>
                                      </p:cBhvr>
                                      <p:to>
                                        <p:strVal val="visible"/>
                                      </p:to>
                                    </p:set>
                                    <p:animEffect transition="in" filter="fade">
                                      <p:cBhvr>
                                        <p:cTn id="10" dur="500"/>
                                        <p:tgtEl>
                                          <p:spTgt spid="53251">
                                            <p:txEl>
                                              <p:pRg st="2" end="2"/>
                                            </p:txEl>
                                          </p:spTgt>
                                        </p:tgtEl>
                                      </p:cBhvr>
                                    </p:animEffec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en-US" altLang="zh-CN" b="1" dirty="0">
                <a:solidFill>
                  <a:srgbClr val="0000CC"/>
                </a:solidFill>
              </a:rPr>
              <a:t>DFS: </a:t>
            </a:r>
            <a:r>
              <a:rPr lang="zh-CN" altLang="en-US" b="1" dirty="0">
                <a:solidFill>
                  <a:srgbClr val="0000CC"/>
                </a:solidFill>
              </a:rPr>
              <a:t>应用</a:t>
            </a:r>
            <a:r>
              <a:rPr lang="en-US" altLang="zh-CN" b="1" dirty="0">
                <a:solidFill>
                  <a:srgbClr val="0000CC"/>
                </a:solidFill>
              </a:rPr>
              <a:t>(2)</a:t>
            </a:r>
            <a:endParaRPr lang="zh-CN" altLang="en-US" dirty="0"/>
          </a:p>
        </p:txBody>
      </p:sp>
      <p:sp>
        <p:nvSpPr>
          <p:cNvPr id="3" name="内容占位符 2"/>
          <p:cNvSpPr>
            <a:spLocks noGrp="1"/>
          </p:cNvSpPr>
          <p:nvPr>
            <p:ph idx="1"/>
          </p:nvPr>
        </p:nvSpPr>
        <p:spPr>
          <a:xfrm>
            <a:off x="685800" y="1524000"/>
            <a:ext cx="7772400" cy="4572000"/>
          </a:xfrm>
        </p:spPr>
        <p:txBody>
          <a:bodyPr/>
          <a:lstStyle/>
          <a:p>
            <a:pPr>
              <a:spcBef>
                <a:spcPts val="600"/>
              </a:spcBef>
            </a:pPr>
            <a:r>
              <a:rPr lang="zh-CN" altLang="en-US" sz="2400" b="1" dirty="0">
                <a:solidFill>
                  <a:srgbClr val="C00000"/>
                </a:solidFill>
              </a:rPr>
              <a:t>一个无向图</a:t>
            </a:r>
            <a:r>
              <a:rPr lang="en-US" altLang="zh-CN" sz="2400" b="1" i="1" dirty="0">
                <a:solidFill>
                  <a:srgbClr val="C00000"/>
                </a:solidFill>
              </a:rPr>
              <a:t>G</a:t>
            </a:r>
            <a:r>
              <a:rPr lang="en-US" altLang="zh-CN" sz="2400" b="1" dirty="0">
                <a:solidFill>
                  <a:srgbClr val="C00000"/>
                </a:solidFill>
              </a:rPr>
              <a:t> </a:t>
            </a:r>
            <a:r>
              <a:rPr lang="zh-CN" altLang="en-US" sz="2400" b="1" dirty="0">
                <a:solidFill>
                  <a:srgbClr val="C00000"/>
                </a:solidFill>
              </a:rPr>
              <a:t>是否包含一个环</a:t>
            </a:r>
            <a:r>
              <a:rPr lang="en-US" altLang="zh-CN" sz="2400" b="1" dirty="0">
                <a:solidFill>
                  <a:srgbClr val="C00000"/>
                </a:solidFill>
              </a:rPr>
              <a:t>?</a:t>
            </a:r>
            <a:r>
              <a:rPr lang="en-US" altLang="zh-CN" sz="2400" b="1" dirty="0"/>
              <a:t> </a:t>
            </a:r>
          </a:p>
          <a:p>
            <a:pPr marL="640080" lvl="1"/>
            <a:r>
              <a:rPr lang="zh-CN" altLang="en-US" sz="2200" b="1" dirty="0"/>
              <a:t>与有向图的情况一样</a:t>
            </a:r>
            <a:r>
              <a:rPr lang="en-US" altLang="zh-CN" sz="2200" b="1" dirty="0"/>
              <a:t> </a:t>
            </a:r>
          </a:p>
          <a:p>
            <a:pPr marL="640080" lvl="1"/>
            <a:r>
              <a:rPr lang="zh-CN" altLang="en-US" sz="2200" b="1" dirty="0"/>
              <a:t>如果图</a:t>
            </a:r>
            <a:r>
              <a:rPr lang="en-US" altLang="zh-CN" sz="2200" b="1" i="1" dirty="0"/>
              <a:t>G</a:t>
            </a:r>
            <a:r>
              <a:rPr lang="zh-CN" altLang="en-US" sz="2200" b="1" dirty="0"/>
              <a:t>是一个树或者森林，则它最多包含</a:t>
            </a:r>
            <a:r>
              <a:rPr lang="en-US" altLang="zh-CN" sz="2200" b="1" dirty="0"/>
              <a:t> |</a:t>
            </a:r>
            <a:r>
              <a:rPr lang="en-US" altLang="zh-CN" sz="2200" b="1" i="1" dirty="0"/>
              <a:t>V </a:t>
            </a:r>
            <a:r>
              <a:rPr lang="en-US" altLang="zh-CN" sz="2200" b="1" dirty="0"/>
              <a:t>| – 1 </a:t>
            </a:r>
            <a:r>
              <a:rPr lang="zh-CN" altLang="en-US" sz="2200" b="1" dirty="0"/>
              <a:t>条边</a:t>
            </a:r>
            <a:r>
              <a:rPr lang="en-US" altLang="zh-CN" sz="2200" b="1" dirty="0"/>
              <a:t> </a:t>
            </a:r>
          </a:p>
          <a:p>
            <a:pPr marL="640080" lvl="1"/>
            <a:r>
              <a:rPr lang="zh-CN" altLang="en-US" sz="2200" b="1" dirty="0"/>
              <a:t>运行时间为</a:t>
            </a:r>
            <a:r>
              <a:rPr lang="en-US" altLang="zh-CN" sz="2200" b="1" dirty="0"/>
              <a:t> </a:t>
            </a:r>
            <a:r>
              <a:rPr lang="en-US" altLang="zh-CN" sz="2200" b="1" i="1" dirty="0"/>
              <a:t>O</a:t>
            </a:r>
            <a:r>
              <a:rPr lang="en-US" altLang="zh-CN" sz="2200" b="1" dirty="0"/>
              <a:t>(|</a:t>
            </a:r>
            <a:r>
              <a:rPr lang="en-US" altLang="zh-CN" sz="2200" b="1" i="1" dirty="0"/>
              <a:t>V </a:t>
            </a:r>
            <a:r>
              <a:rPr lang="en-US" altLang="zh-CN" sz="2200" b="1" dirty="0"/>
              <a:t>|) </a:t>
            </a:r>
            <a:r>
              <a:rPr lang="zh-CN" altLang="en-US" sz="2200" b="1" dirty="0"/>
              <a:t>，因为</a:t>
            </a:r>
            <a:r>
              <a:rPr lang="en-US" altLang="zh-CN" sz="2200" b="1" dirty="0"/>
              <a:t>DFS</a:t>
            </a:r>
            <a:r>
              <a:rPr lang="zh-CN" altLang="en-US" sz="2200" b="1" dirty="0"/>
              <a:t>算法在发现环之前最多只会遍历</a:t>
            </a:r>
            <a:r>
              <a:rPr lang="en-US" altLang="zh-CN" sz="2200" b="1" dirty="0"/>
              <a:t>|</a:t>
            </a:r>
            <a:r>
              <a:rPr lang="en-US" altLang="zh-CN" sz="2200" b="1" i="1" dirty="0"/>
              <a:t>V </a:t>
            </a:r>
            <a:r>
              <a:rPr lang="en-US" altLang="zh-CN" sz="2200" b="1" dirty="0"/>
              <a:t>|</a:t>
            </a:r>
            <a:r>
              <a:rPr lang="zh-CN" altLang="en-US" sz="2200" b="1" dirty="0"/>
              <a:t>条边（一个无向图如果有≥</a:t>
            </a:r>
            <a:r>
              <a:rPr lang="en-US" altLang="zh-CN" sz="2200" b="1" dirty="0"/>
              <a:t> |</a:t>
            </a:r>
            <a:r>
              <a:rPr lang="en-US" altLang="zh-CN" sz="2200" b="1" i="1" dirty="0"/>
              <a:t>V </a:t>
            </a:r>
            <a:r>
              <a:rPr lang="en-US" altLang="zh-CN" sz="2200" b="1" dirty="0"/>
              <a:t>| </a:t>
            </a:r>
            <a:r>
              <a:rPr lang="zh-CN" altLang="en-US" sz="2200" b="1" dirty="0"/>
              <a:t>条边，则一定有环）</a:t>
            </a:r>
            <a:r>
              <a:rPr lang="en-US" altLang="zh-CN" sz="2200" b="1" dirty="0"/>
              <a:t> </a:t>
            </a:r>
          </a:p>
        </p:txBody>
      </p:sp>
      <p:grpSp>
        <p:nvGrpSpPr>
          <p:cNvPr id="4" name="Group 38"/>
          <p:cNvGrpSpPr/>
          <p:nvPr/>
        </p:nvGrpSpPr>
        <p:grpSpPr>
          <a:xfrm>
            <a:off x="3505200" y="4114800"/>
            <a:ext cx="2173288" cy="1885950"/>
            <a:chOff x="1066800" y="3124201"/>
            <a:chExt cx="2173288" cy="1885950"/>
          </a:xfrm>
        </p:grpSpPr>
        <p:sp>
          <p:nvSpPr>
            <p:cNvPr id="5" name="Oval 3"/>
            <p:cNvSpPr>
              <a:spLocks noChangeArrowheads="1"/>
            </p:cNvSpPr>
            <p:nvPr/>
          </p:nvSpPr>
          <p:spPr bwMode="auto">
            <a:xfrm>
              <a:off x="1066800" y="455295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6" name="Oval 4"/>
            <p:cNvSpPr>
              <a:spLocks noChangeArrowheads="1"/>
            </p:cNvSpPr>
            <p:nvPr/>
          </p:nvSpPr>
          <p:spPr bwMode="auto">
            <a:xfrm>
              <a:off x="2667000" y="41910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 name="Text Box 5"/>
            <p:cNvSpPr txBox="1">
              <a:spLocks noChangeArrowheads="1"/>
            </p:cNvSpPr>
            <p:nvPr/>
          </p:nvSpPr>
          <p:spPr bwMode="auto">
            <a:xfrm>
              <a:off x="1531938" y="3200401"/>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A</a:t>
              </a:r>
            </a:p>
          </p:txBody>
        </p:sp>
        <p:sp>
          <p:nvSpPr>
            <p:cNvPr id="8" name="Text Box 6"/>
            <p:cNvSpPr txBox="1">
              <a:spLocks noChangeArrowheads="1"/>
            </p:cNvSpPr>
            <p:nvPr/>
          </p:nvSpPr>
          <p:spPr bwMode="auto">
            <a:xfrm>
              <a:off x="1143000" y="4629151"/>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9" name="Text Box 7"/>
            <p:cNvSpPr txBox="1">
              <a:spLocks noChangeArrowheads="1"/>
            </p:cNvSpPr>
            <p:nvPr/>
          </p:nvSpPr>
          <p:spPr bwMode="auto">
            <a:xfrm>
              <a:off x="2743200" y="4268789"/>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E</a:t>
              </a:r>
            </a:p>
          </p:txBody>
        </p:sp>
        <p:sp>
          <p:nvSpPr>
            <p:cNvPr id="10" name="Text Box 8"/>
            <p:cNvSpPr txBox="1">
              <a:spLocks noChangeArrowheads="1"/>
            </p:cNvSpPr>
            <p:nvPr/>
          </p:nvSpPr>
          <p:spPr bwMode="auto">
            <a:xfrm>
              <a:off x="2838450" y="3200401"/>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11" name="Line 9"/>
            <p:cNvSpPr>
              <a:spLocks noChangeShapeType="1"/>
            </p:cNvSpPr>
            <p:nvPr/>
          </p:nvSpPr>
          <p:spPr bwMode="auto">
            <a:xfrm>
              <a:off x="1905000" y="3505201"/>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
            <p:cNvSpPr>
              <a:spLocks noChangeShapeType="1"/>
            </p:cNvSpPr>
            <p:nvPr/>
          </p:nvSpPr>
          <p:spPr bwMode="auto">
            <a:xfrm>
              <a:off x="1981200" y="3352801"/>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1"/>
            <p:cNvSpPr>
              <a:spLocks noChangeShapeType="1"/>
            </p:cNvSpPr>
            <p:nvPr/>
          </p:nvSpPr>
          <p:spPr bwMode="auto">
            <a:xfrm flipV="1">
              <a:off x="2971800" y="3581401"/>
              <a:ext cx="1588"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Oval 12"/>
            <p:cNvSpPr>
              <a:spLocks noChangeArrowheads="1"/>
            </p:cNvSpPr>
            <p:nvPr/>
          </p:nvSpPr>
          <p:spPr bwMode="auto">
            <a:xfrm>
              <a:off x="14478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5" name="Oval 13"/>
            <p:cNvSpPr>
              <a:spLocks noChangeArrowheads="1"/>
            </p:cNvSpPr>
            <p:nvPr/>
          </p:nvSpPr>
          <p:spPr bwMode="auto">
            <a:xfrm>
              <a:off x="27432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6" name="Line 14"/>
            <p:cNvSpPr>
              <a:spLocks noChangeShapeType="1"/>
            </p:cNvSpPr>
            <p:nvPr/>
          </p:nvSpPr>
          <p:spPr bwMode="auto">
            <a:xfrm flipV="1">
              <a:off x="1524001" y="4495801"/>
              <a:ext cx="1143000" cy="285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5"/>
            <p:cNvSpPr>
              <a:spLocks noChangeShapeType="1"/>
            </p:cNvSpPr>
            <p:nvPr/>
          </p:nvSpPr>
          <p:spPr bwMode="auto">
            <a:xfrm flipV="1">
              <a:off x="1219200" y="3581401"/>
              <a:ext cx="381000" cy="971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6"/>
            <p:cNvSpPr>
              <a:spLocks noChangeShapeType="1"/>
            </p:cNvSpPr>
            <p:nvPr/>
          </p:nvSpPr>
          <p:spPr bwMode="auto">
            <a:xfrm flipV="1">
              <a:off x="1447801" y="3505201"/>
              <a:ext cx="1371599" cy="1123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000"/>
                                        <p:tgtEl>
                                          <p:spTgt spid="3">
                                            <p:txEl>
                                              <p:pRg st="1" end="1"/>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2000"/>
                                        <p:tgtEl>
                                          <p:spTgt spid="3">
                                            <p:txEl>
                                              <p:pRg st="2" end="2"/>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0"/>
            <a:ext cx="7772400" cy="1143000"/>
          </a:xfrm>
        </p:spPr>
        <p:txBody>
          <a:bodyPr/>
          <a:lstStyle/>
          <a:p>
            <a:r>
              <a:rPr lang="en-US" altLang="zh-CN" b="1" dirty="0">
                <a:solidFill>
                  <a:srgbClr val="0000CC"/>
                </a:solidFill>
              </a:rPr>
              <a:t>DFS: </a:t>
            </a:r>
            <a:r>
              <a:rPr lang="zh-CN" altLang="en-US" b="1" dirty="0">
                <a:solidFill>
                  <a:srgbClr val="0000CC"/>
                </a:solidFill>
              </a:rPr>
              <a:t>应用</a:t>
            </a:r>
            <a:r>
              <a:rPr lang="en-US" altLang="zh-CN" b="1" dirty="0">
                <a:solidFill>
                  <a:srgbClr val="0000CC"/>
                </a:solidFill>
              </a:rPr>
              <a:t>(2)</a:t>
            </a:r>
            <a:endParaRPr lang="zh-CN" altLang="en-US" dirty="0"/>
          </a:p>
        </p:txBody>
      </p:sp>
      <p:sp>
        <p:nvSpPr>
          <p:cNvPr id="3" name="内容占位符 2"/>
          <p:cNvSpPr>
            <a:spLocks noGrp="1"/>
          </p:cNvSpPr>
          <p:nvPr>
            <p:ph idx="1"/>
          </p:nvPr>
        </p:nvSpPr>
        <p:spPr>
          <a:xfrm>
            <a:off x="685800" y="1524000"/>
            <a:ext cx="7772400" cy="4114800"/>
          </a:xfrm>
        </p:spPr>
        <p:txBody>
          <a:bodyPr/>
          <a:lstStyle/>
          <a:p>
            <a:pPr>
              <a:spcBef>
                <a:spcPts val="600"/>
              </a:spcBef>
            </a:pPr>
            <a:r>
              <a:rPr lang="zh-CN" altLang="en-US" sz="2400" b="1" dirty="0">
                <a:solidFill>
                  <a:srgbClr val="C00000"/>
                </a:solidFill>
              </a:rPr>
              <a:t>无向图</a:t>
            </a:r>
            <a:r>
              <a:rPr lang="en-US" altLang="zh-CN" sz="2400" b="1" i="1" dirty="0">
                <a:solidFill>
                  <a:srgbClr val="C00000"/>
                </a:solidFill>
              </a:rPr>
              <a:t>G</a:t>
            </a:r>
            <a:r>
              <a:rPr lang="en-US" altLang="zh-CN" sz="2400" b="1" dirty="0">
                <a:solidFill>
                  <a:srgbClr val="C00000"/>
                </a:solidFill>
              </a:rPr>
              <a:t> </a:t>
            </a:r>
            <a:r>
              <a:rPr lang="zh-CN" altLang="en-US" sz="2400" b="1" dirty="0">
                <a:solidFill>
                  <a:srgbClr val="C00000"/>
                </a:solidFill>
              </a:rPr>
              <a:t>是否是一颗树</a:t>
            </a:r>
            <a:r>
              <a:rPr lang="en-US" altLang="zh-CN" sz="2400" b="1" dirty="0">
                <a:solidFill>
                  <a:srgbClr val="C00000"/>
                </a:solidFill>
              </a:rPr>
              <a:t>?</a:t>
            </a:r>
            <a:r>
              <a:rPr lang="en-US" altLang="zh-CN" sz="2400" b="1" dirty="0"/>
              <a:t> </a:t>
            </a:r>
          </a:p>
          <a:p>
            <a:pPr marL="640080" lvl="1"/>
            <a:r>
              <a:rPr lang="en-US" altLang="zh-CN" sz="2200" b="1" dirty="0"/>
              <a:t>DFS</a:t>
            </a:r>
            <a:r>
              <a:rPr lang="zh-CN" altLang="en-US" sz="2200" b="1" dirty="0"/>
              <a:t>调用</a:t>
            </a:r>
            <a:r>
              <a:rPr lang="en-US" altLang="zh-CN" sz="2200" b="1" dirty="0"/>
              <a:t> DFS-Visit(</a:t>
            </a:r>
            <a:r>
              <a:rPr lang="en-US" altLang="zh-CN" sz="2200" b="1" i="1" dirty="0"/>
              <a:t>G</a:t>
            </a:r>
            <a:r>
              <a:rPr lang="en-US" altLang="zh-CN" sz="2200" b="1" dirty="0"/>
              <a:t>, </a:t>
            </a:r>
            <a:r>
              <a:rPr lang="en-US" altLang="zh-CN" sz="2200" b="1" i="1" dirty="0"/>
              <a:t>v</a:t>
            </a:r>
            <a:r>
              <a:rPr lang="en-US" altLang="zh-CN" sz="2200" b="1" dirty="0"/>
              <a:t>)</a:t>
            </a:r>
            <a:r>
              <a:rPr lang="zh-CN" altLang="en-US" sz="2200" b="1" dirty="0"/>
              <a:t>，如果所有的边都遍历了，且没有反向边，则图</a:t>
            </a:r>
            <a:r>
              <a:rPr lang="en-US" altLang="zh-CN" sz="2200" b="1" i="1" dirty="0"/>
              <a:t>G</a:t>
            </a:r>
            <a:r>
              <a:rPr lang="zh-CN" altLang="en-US" sz="2200" b="1" dirty="0"/>
              <a:t>是一颗树。如果有</a:t>
            </a:r>
            <a:r>
              <a:rPr lang="en-US" altLang="zh-CN" sz="2200" b="1" dirty="0"/>
              <a:t>|</a:t>
            </a:r>
            <a:r>
              <a:rPr lang="en-US" altLang="zh-CN" sz="2200" b="1" i="1" dirty="0"/>
              <a:t>V </a:t>
            </a:r>
            <a:r>
              <a:rPr lang="en-US" altLang="zh-CN" sz="2200" b="1" dirty="0"/>
              <a:t>|</a:t>
            </a:r>
            <a:r>
              <a:rPr lang="zh-CN" altLang="en-US" sz="2200" b="1" dirty="0"/>
              <a:t>条边被访问了，则</a:t>
            </a:r>
            <a:r>
              <a:rPr lang="en-US" altLang="zh-CN" sz="2200" b="1" i="1" dirty="0"/>
              <a:t>G</a:t>
            </a:r>
            <a:r>
              <a:rPr lang="zh-CN" altLang="en-US" sz="2200" b="1" dirty="0"/>
              <a:t>不是树</a:t>
            </a:r>
            <a:r>
              <a:rPr lang="en-US" altLang="zh-CN" sz="2200" b="1" dirty="0"/>
              <a:t>. </a:t>
            </a:r>
          </a:p>
          <a:p>
            <a:pPr marL="640080" lvl="1"/>
            <a:r>
              <a:rPr lang="zh-CN" altLang="en-US" sz="2200" b="1" dirty="0"/>
              <a:t>运行时间</a:t>
            </a:r>
            <a:r>
              <a:rPr lang="en-US" altLang="zh-CN" sz="2200" b="1" dirty="0"/>
              <a:t>: </a:t>
            </a:r>
            <a:r>
              <a:rPr lang="en-US" altLang="zh-CN" sz="2200" b="1" i="1" dirty="0"/>
              <a:t>O</a:t>
            </a:r>
            <a:r>
              <a:rPr lang="en-US" altLang="zh-CN" sz="2200" b="1" dirty="0"/>
              <a:t>(|</a:t>
            </a:r>
            <a:r>
              <a:rPr lang="en-US" altLang="zh-CN" sz="2200" b="1" i="1" dirty="0"/>
              <a:t>V </a:t>
            </a:r>
            <a:r>
              <a:rPr lang="en-US" altLang="zh-CN" sz="2200" b="1" dirty="0"/>
              <a:t>|).</a:t>
            </a:r>
            <a:endParaRPr lang="zh-CN" altLang="en-US" dirty="0"/>
          </a:p>
          <a:p>
            <a:endParaRPr lang="zh-CN" altLang="en-US" dirty="0"/>
          </a:p>
        </p:txBody>
      </p:sp>
      <p:grpSp>
        <p:nvGrpSpPr>
          <p:cNvPr id="4" name="Group 38"/>
          <p:cNvGrpSpPr/>
          <p:nvPr/>
        </p:nvGrpSpPr>
        <p:grpSpPr>
          <a:xfrm>
            <a:off x="3505200" y="3962400"/>
            <a:ext cx="2173288" cy="1885950"/>
            <a:chOff x="1066800" y="3124201"/>
            <a:chExt cx="2173288" cy="1885950"/>
          </a:xfrm>
        </p:grpSpPr>
        <p:sp>
          <p:nvSpPr>
            <p:cNvPr id="5" name="Oval 3"/>
            <p:cNvSpPr>
              <a:spLocks noChangeArrowheads="1"/>
            </p:cNvSpPr>
            <p:nvPr/>
          </p:nvSpPr>
          <p:spPr bwMode="auto">
            <a:xfrm>
              <a:off x="1066800" y="455295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6" name="Oval 4"/>
            <p:cNvSpPr>
              <a:spLocks noChangeArrowheads="1"/>
            </p:cNvSpPr>
            <p:nvPr/>
          </p:nvSpPr>
          <p:spPr bwMode="auto">
            <a:xfrm>
              <a:off x="2667000" y="41910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 name="Text Box 5"/>
            <p:cNvSpPr txBox="1">
              <a:spLocks noChangeArrowheads="1"/>
            </p:cNvSpPr>
            <p:nvPr/>
          </p:nvSpPr>
          <p:spPr bwMode="auto">
            <a:xfrm>
              <a:off x="1531938" y="3200401"/>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p>
          </p:txBody>
        </p:sp>
        <p:sp>
          <p:nvSpPr>
            <p:cNvPr id="8" name="Text Box 6"/>
            <p:cNvSpPr txBox="1">
              <a:spLocks noChangeArrowheads="1"/>
            </p:cNvSpPr>
            <p:nvPr/>
          </p:nvSpPr>
          <p:spPr bwMode="auto">
            <a:xfrm>
              <a:off x="1143000" y="4629151"/>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9" name="Text Box 7"/>
            <p:cNvSpPr txBox="1">
              <a:spLocks noChangeArrowheads="1"/>
            </p:cNvSpPr>
            <p:nvPr/>
          </p:nvSpPr>
          <p:spPr bwMode="auto">
            <a:xfrm>
              <a:off x="2743200" y="4268789"/>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E</a:t>
              </a:r>
            </a:p>
          </p:txBody>
        </p:sp>
        <p:sp>
          <p:nvSpPr>
            <p:cNvPr id="10" name="Text Box 8"/>
            <p:cNvSpPr txBox="1">
              <a:spLocks noChangeArrowheads="1"/>
            </p:cNvSpPr>
            <p:nvPr/>
          </p:nvSpPr>
          <p:spPr bwMode="auto">
            <a:xfrm>
              <a:off x="2838450" y="3200401"/>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11" name="Line 9"/>
            <p:cNvSpPr>
              <a:spLocks noChangeShapeType="1"/>
            </p:cNvSpPr>
            <p:nvPr/>
          </p:nvSpPr>
          <p:spPr bwMode="auto">
            <a:xfrm>
              <a:off x="1905000" y="3505201"/>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
            <p:cNvSpPr>
              <a:spLocks noChangeShapeType="1"/>
            </p:cNvSpPr>
            <p:nvPr/>
          </p:nvSpPr>
          <p:spPr bwMode="auto">
            <a:xfrm>
              <a:off x="1981200" y="3352801"/>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1"/>
            <p:cNvSpPr>
              <a:spLocks noChangeShapeType="1"/>
            </p:cNvSpPr>
            <p:nvPr/>
          </p:nvSpPr>
          <p:spPr bwMode="auto">
            <a:xfrm flipV="1">
              <a:off x="2971800" y="3581401"/>
              <a:ext cx="1588"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Oval 12"/>
            <p:cNvSpPr>
              <a:spLocks noChangeArrowheads="1"/>
            </p:cNvSpPr>
            <p:nvPr/>
          </p:nvSpPr>
          <p:spPr bwMode="auto">
            <a:xfrm>
              <a:off x="14478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5" name="Oval 13"/>
            <p:cNvSpPr>
              <a:spLocks noChangeArrowheads="1"/>
            </p:cNvSpPr>
            <p:nvPr/>
          </p:nvSpPr>
          <p:spPr bwMode="auto">
            <a:xfrm>
              <a:off x="27432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6" name="Line 14"/>
            <p:cNvSpPr>
              <a:spLocks noChangeShapeType="1"/>
            </p:cNvSpPr>
            <p:nvPr/>
          </p:nvSpPr>
          <p:spPr bwMode="auto">
            <a:xfrm flipV="1">
              <a:off x="1524001" y="4495801"/>
              <a:ext cx="1143000" cy="285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5"/>
            <p:cNvSpPr>
              <a:spLocks noChangeShapeType="1"/>
            </p:cNvSpPr>
            <p:nvPr/>
          </p:nvSpPr>
          <p:spPr bwMode="auto">
            <a:xfrm flipV="1">
              <a:off x="1219200" y="3581401"/>
              <a:ext cx="381000" cy="971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6"/>
            <p:cNvSpPr>
              <a:spLocks noChangeShapeType="1"/>
            </p:cNvSpPr>
            <p:nvPr/>
          </p:nvSpPr>
          <p:spPr bwMode="auto">
            <a:xfrm flipV="1">
              <a:off x="1447801" y="3505201"/>
              <a:ext cx="1371599" cy="1123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000"/>
                                        <p:tgtEl>
                                          <p:spTgt spid="3">
                                            <p:txEl>
                                              <p:pRg st="1" end="1"/>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85800" y="304800"/>
            <a:ext cx="7772400" cy="914400"/>
          </a:xfrm>
        </p:spPr>
        <p:txBody>
          <a:bodyPr/>
          <a:lstStyle/>
          <a:p>
            <a:r>
              <a:rPr lang="zh-CN" altLang="en-US" sz="3600" b="1" dirty="0">
                <a:solidFill>
                  <a:srgbClr val="0000CC"/>
                </a:solidFill>
              </a:rPr>
              <a:t>拓扑排序</a:t>
            </a:r>
            <a:endParaRPr lang="en-US" sz="3600" b="1" dirty="0">
              <a:solidFill>
                <a:srgbClr val="0000CC"/>
              </a:solidFill>
            </a:endParaRPr>
          </a:p>
        </p:txBody>
      </p:sp>
      <p:sp>
        <p:nvSpPr>
          <p:cNvPr id="54275" name="Rectangle 3"/>
          <p:cNvSpPr>
            <a:spLocks noGrp="1" noChangeArrowheads="1"/>
          </p:cNvSpPr>
          <p:nvPr>
            <p:ph type="body" idx="1"/>
          </p:nvPr>
        </p:nvSpPr>
        <p:spPr>
          <a:xfrm>
            <a:off x="533400" y="1371600"/>
            <a:ext cx="8077200" cy="1524000"/>
          </a:xfrm>
        </p:spPr>
        <p:txBody>
          <a:bodyPr/>
          <a:lstStyle/>
          <a:p>
            <a:r>
              <a:rPr lang="zh-CN" altLang="en-US" sz="2400" b="1" dirty="0"/>
              <a:t>一个有向无环图</a:t>
            </a:r>
            <a:r>
              <a:rPr lang="en-US" sz="2400" b="1" dirty="0"/>
              <a:t>(directed acyclic graph</a:t>
            </a:r>
            <a:r>
              <a:rPr lang="zh-CN" altLang="en-US" sz="2400" b="1" dirty="0"/>
              <a:t>，简称</a:t>
            </a:r>
            <a:r>
              <a:rPr lang="en-US" sz="2400" b="1" dirty="0"/>
              <a:t>DAG) </a:t>
            </a:r>
            <a:r>
              <a:rPr lang="zh-CN" altLang="en-US" sz="2400" b="1" dirty="0"/>
              <a:t>的拓扑排序是指对图中节点的一个排序，并且在该排序中，如果图</a:t>
            </a:r>
            <a:r>
              <a:rPr lang="en-US" altLang="zh-CN" sz="2400" b="1" dirty="0"/>
              <a:t>G</a:t>
            </a:r>
            <a:r>
              <a:rPr lang="zh-CN" altLang="en-US" sz="2400" b="1" dirty="0"/>
              <a:t>中存在边</a:t>
            </a:r>
            <a:r>
              <a:rPr lang="en-US" altLang="zh-CN" sz="2400" b="1" dirty="0"/>
              <a:t>(</a:t>
            </a:r>
            <a:r>
              <a:rPr lang="en-US" altLang="zh-CN" sz="2400" b="1" i="1" dirty="0"/>
              <a:t>v</a:t>
            </a:r>
            <a:r>
              <a:rPr lang="en-US" altLang="zh-CN" sz="2400" b="1" i="1" baseline="-25000" dirty="0"/>
              <a:t>i</a:t>
            </a:r>
            <a:r>
              <a:rPr lang="en-US" altLang="zh-CN" sz="2400" b="1" dirty="0"/>
              <a:t>, </a:t>
            </a:r>
            <a:r>
              <a:rPr lang="en-US" altLang="zh-CN" sz="2400" b="1" i="1" dirty="0" err="1"/>
              <a:t>v</a:t>
            </a:r>
            <a:r>
              <a:rPr lang="en-US" altLang="zh-CN" sz="2400" b="1" i="1" baseline="-25000" dirty="0" err="1"/>
              <a:t>j</a:t>
            </a:r>
            <a:r>
              <a:rPr lang="en-US" altLang="zh-CN" sz="2400" b="1" dirty="0"/>
              <a:t>)</a:t>
            </a:r>
            <a:r>
              <a:rPr lang="zh-CN" altLang="en-US" sz="2400" b="1" dirty="0"/>
              <a:t>，则节点</a:t>
            </a:r>
            <a:r>
              <a:rPr lang="en-US" altLang="zh-CN" sz="2400" b="1" i="1" dirty="0"/>
              <a:t>v</a:t>
            </a:r>
            <a:r>
              <a:rPr lang="en-US" altLang="zh-CN" sz="2400" b="1" i="1" baseline="-25000" dirty="0"/>
              <a:t>i</a:t>
            </a:r>
            <a:r>
              <a:rPr lang="zh-CN" altLang="en-US" sz="2400" b="1" dirty="0"/>
              <a:t>必须排在节点</a:t>
            </a:r>
            <a:r>
              <a:rPr lang="en-US" altLang="zh-CN" sz="2400" b="1" i="1" dirty="0" err="1"/>
              <a:t>v</a:t>
            </a:r>
            <a:r>
              <a:rPr lang="en-US" altLang="zh-CN" sz="2400" b="1" i="1" baseline="-25000" dirty="0" err="1"/>
              <a:t>j</a:t>
            </a:r>
            <a:r>
              <a:rPr lang="zh-CN" altLang="en-US" sz="2400" b="1" dirty="0"/>
              <a:t>之前</a:t>
            </a:r>
            <a:endParaRPr lang="en-US" sz="2400" b="1" dirty="0"/>
          </a:p>
        </p:txBody>
      </p:sp>
      <p:grpSp>
        <p:nvGrpSpPr>
          <p:cNvPr id="43" name="Group 42"/>
          <p:cNvGrpSpPr/>
          <p:nvPr/>
        </p:nvGrpSpPr>
        <p:grpSpPr>
          <a:xfrm>
            <a:off x="609600" y="3124200"/>
            <a:ext cx="7848600" cy="2079625"/>
            <a:chOff x="609600" y="3195293"/>
            <a:chExt cx="7848600" cy="2079625"/>
          </a:xfrm>
        </p:grpSpPr>
        <p:sp>
          <p:nvSpPr>
            <p:cNvPr id="54277" name="Rectangle 5"/>
            <p:cNvSpPr>
              <a:spLocks noChangeArrowheads="1"/>
            </p:cNvSpPr>
            <p:nvPr/>
          </p:nvSpPr>
          <p:spPr bwMode="auto">
            <a:xfrm>
              <a:off x="4799906" y="4790386"/>
              <a:ext cx="31248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sm"/>
                </a14:hiddenLine>
              </a:ext>
            </a:extLst>
          </p:spPr>
          <p:txBody>
            <a:bodyPr wrap="none" lIns="92075" tIns="46038" rIns="92075" bIns="46038">
              <a:spAutoFit/>
            </a:bodyPr>
            <a:lstStyle/>
            <a:p>
              <a:r>
                <a:rPr kumimoji="1" lang="en-US" sz="2400" dirty="0">
                  <a:latin typeface="+mj-lt"/>
                </a:rPr>
                <a:t>A</a:t>
              </a:r>
              <a:r>
                <a:rPr kumimoji="1" lang="en-US" sz="2400" dirty="0">
                  <a:solidFill>
                    <a:schemeClr val="tx1"/>
                  </a:solidFill>
                  <a:latin typeface="+mj-lt"/>
                </a:rPr>
                <a:t> topological ordering</a:t>
              </a:r>
            </a:p>
          </p:txBody>
        </p:sp>
        <p:sp>
          <p:nvSpPr>
            <p:cNvPr id="54278" name="Oval 6"/>
            <p:cNvSpPr>
              <a:spLocks noChangeArrowheads="1"/>
            </p:cNvSpPr>
            <p:nvPr/>
          </p:nvSpPr>
          <p:spPr bwMode="auto">
            <a:xfrm>
              <a:off x="1276350" y="3195293"/>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54279" name="Oval 7"/>
            <p:cNvSpPr>
              <a:spLocks noChangeArrowheads="1"/>
            </p:cNvSpPr>
            <p:nvPr/>
          </p:nvSpPr>
          <p:spPr bwMode="auto">
            <a:xfrm>
              <a:off x="2505074" y="3195293"/>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54280" name="Oval 8"/>
            <p:cNvSpPr>
              <a:spLocks noChangeArrowheads="1"/>
            </p:cNvSpPr>
            <p:nvPr/>
          </p:nvSpPr>
          <p:spPr bwMode="auto">
            <a:xfrm>
              <a:off x="609600" y="4087662"/>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54281" name="Oval 9"/>
            <p:cNvSpPr>
              <a:spLocks noChangeArrowheads="1"/>
            </p:cNvSpPr>
            <p:nvPr/>
          </p:nvSpPr>
          <p:spPr bwMode="auto">
            <a:xfrm>
              <a:off x="1890712" y="4087662"/>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54282" name="Oval 10"/>
            <p:cNvSpPr>
              <a:spLocks noChangeArrowheads="1"/>
            </p:cNvSpPr>
            <p:nvPr/>
          </p:nvSpPr>
          <p:spPr bwMode="auto">
            <a:xfrm>
              <a:off x="3171824" y="4087661"/>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54283" name="Oval 11"/>
            <p:cNvSpPr>
              <a:spLocks noChangeArrowheads="1"/>
            </p:cNvSpPr>
            <p:nvPr/>
          </p:nvSpPr>
          <p:spPr bwMode="auto">
            <a:xfrm>
              <a:off x="1219200" y="4947893"/>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54284" name="Oval 12"/>
            <p:cNvSpPr>
              <a:spLocks noChangeArrowheads="1"/>
            </p:cNvSpPr>
            <p:nvPr/>
          </p:nvSpPr>
          <p:spPr bwMode="auto">
            <a:xfrm>
              <a:off x="2438400" y="4947893"/>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54285" name="AutoShape 13"/>
            <p:cNvCxnSpPr>
              <a:cxnSpLocks noChangeShapeType="1"/>
              <a:stCxn id="54278" idx="3"/>
              <a:endCxn id="54280" idx="7"/>
            </p:cNvCxnSpPr>
            <p:nvPr/>
          </p:nvCxnSpPr>
          <p:spPr bwMode="auto">
            <a:xfrm flipH="1">
              <a:off x="934804" y="3487976"/>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6" name="AutoShape 14"/>
            <p:cNvCxnSpPr>
              <a:cxnSpLocks noChangeShapeType="1"/>
              <a:stCxn id="54278" idx="5"/>
              <a:endCxn id="54281" idx="1"/>
            </p:cNvCxnSpPr>
            <p:nvPr/>
          </p:nvCxnSpPr>
          <p:spPr bwMode="auto">
            <a:xfrm>
              <a:off x="1552773" y="3487976"/>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7" name="AutoShape 15"/>
            <p:cNvCxnSpPr>
              <a:cxnSpLocks noChangeShapeType="1"/>
              <a:stCxn id="54278" idx="6"/>
              <a:endCxn id="54279" idx="2"/>
            </p:cNvCxnSpPr>
            <p:nvPr/>
          </p:nvCxnSpPr>
          <p:spPr bwMode="auto">
            <a:xfrm>
              <a:off x="1600200" y="3366743"/>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8" name="AutoShape 16"/>
            <p:cNvCxnSpPr>
              <a:cxnSpLocks noChangeShapeType="1"/>
              <a:stCxn id="54279" idx="5"/>
              <a:endCxn id="54282" idx="1"/>
            </p:cNvCxnSpPr>
            <p:nvPr/>
          </p:nvCxnSpPr>
          <p:spPr bwMode="auto">
            <a:xfrm>
              <a:off x="2773367" y="3487976"/>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9" name="AutoShape 17"/>
            <p:cNvCxnSpPr>
              <a:cxnSpLocks noChangeShapeType="1"/>
              <a:stCxn id="54282" idx="2"/>
              <a:endCxn id="54281" idx="6"/>
            </p:cNvCxnSpPr>
            <p:nvPr/>
          </p:nvCxnSpPr>
          <p:spPr bwMode="auto">
            <a:xfrm flipH="1">
              <a:off x="2209799" y="4245521"/>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0" name="AutoShape 18"/>
            <p:cNvCxnSpPr>
              <a:cxnSpLocks noChangeShapeType="1"/>
              <a:stCxn id="54284" idx="7"/>
              <a:endCxn id="54282" idx="3"/>
            </p:cNvCxnSpPr>
            <p:nvPr/>
          </p:nvCxnSpPr>
          <p:spPr bwMode="auto">
            <a:xfrm flipV="1">
              <a:off x="2722953" y="4357144"/>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1" name="AutoShape 19"/>
            <p:cNvCxnSpPr>
              <a:cxnSpLocks noChangeShapeType="1"/>
              <a:stCxn id="54281" idx="3"/>
              <a:endCxn id="54283" idx="7"/>
            </p:cNvCxnSpPr>
            <p:nvPr/>
          </p:nvCxnSpPr>
          <p:spPr bwMode="auto">
            <a:xfrm flipH="1">
              <a:off x="1495623" y="4357145"/>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2" name="AutoShape 20"/>
            <p:cNvCxnSpPr>
              <a:cxnSpLocks noChangeShapeType="1"/>
              <a:stCxn id="54284" idx="1"/>
              <a:endCxn id="54281" idx="5"/>
            </p:cNvCxnSpPr>
            <p:nvPr/>
          </p:nvCxnSpPr>
          <p:spPr bwMode="auto">
            <a:xfrm flipH="1" flipV="1">
              <a:off x="2163070" y="4357145"/>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3" name="AutoShape 21"/>
            <p:cNvCxnSpPr>
              <a:cxnSpLocks noChangeShapeType="1"/>
              <a:stCxn id="54284" idx="2"/>
              <a:endCxn id="54283" idx="6"/>
            </p:cNvCxnSpPr>
            <p:nvPr/>
          </p:nvCxnSpPr>
          <p:spPr bwMode="auto">
            <a:xfrm flipH="1">
              <a:off x="1543050" y="5108231"/>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4" name="AutoShape 22"/>
            <p:cNvCxnSpPr>
              <a:cxnSpLocks noChangeShapeType="1"/>
              <a:stCxn id="54280" idx="5"/>
              <a:endCxn id="54283" idx="1"/>
            </p:cNvCxnSpPr>
            <p:nvPr/>
          </p:nvCxnSpPr>
          <p:spPr bwMode="auto">
            <a:xfrm>
              <a:off x="934804" y="4357145"/>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5" name="AutoShape 23"/>
            <p:cNvCxnSpPr>
              <a:cxnSpLocks noChangeShapeType="1"/>
              <a:stCxn id="54281" idx="2"/>
              <a:endCxn id="54280" idx="6"/>
            </p:cNvCxnSpPr>
            <p:nvPr/>
          </p:nvCxnSpPr>
          <p:spPr bwMode="auto">
            <a:xfrm flipH="1">
              <a:off x="990600" y="4245522"/>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6" name="AutoShape 24"/>
            <p:cNvCxnSpPr>
              <a:cxnSpLocks noChangeShapeType="1"/>
              <a:stCxn id="54279" idx="3"/>
              <a:endCxn id="54281" idx="7"/>
            </p:cNvCxnSpPr>
            <p:nvPr/>
          </p:nvCxnSpPr>
          <p:spPr bwMode="auto">
            <a:xfrm flipH="1">
              <a:off x="2163070" y="3487976"/>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297" name="Oval 25"/>
            <p:cNvSpPr>
              <a:spLocks noChangeArrowheads="1"/>
            </p:cNvSpPr>
            <p:nvPr/>
          </p:nvSpPr>
          <p:spPr bwMode="auto">
            <a:xfrm>
              <a:off x="4038600" y="4087662"/>
              <a:ext cx="317500"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sp>
          <p:nvSpPr>
            <p:cNvPr id="54298" name="Oval 26"/>
            <p:cNvSpPr>
              <a:spLocks noChangeArrowheads="1"/>
            </p:cNvSpPr>
            <p:nvPr/>
          </p:nvSpPr>
          <p:spPr bwMode="auto">
            <a:xfrm>
              <a:off x="4754562" y="4087662"/>
              <a:ext cx="350837"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54299" name="Oval 27"/>
            <p:cNvSpPr>
              <a:spLocks noChangeArrowheads="1"/>
            </p:cNvSpPr>
            <p:nvPr/>
          </p:nvSpPr>
          <p:spPr bwMode="auto">
            <a:xfrm>
              <a:off x="5421312" y="4087661"/>
              <a:ext cx="293687" cy="33794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cxnSp>
          <p:nvCxnSpPr>
            <p:cNvPr id="54300" name="AutoShape 28"/>
            <p:cNvCxnSpPr>
              <a:cxnSpLocks noChangeShapeType="1"/>
              <a:stCxn id="54298" idx="6"/>
              <a:endCxn id="54299" idx="2"/>
            </p:cNvCxnSpPr>
            <p:nvPr/>
          </p:nvCxnSpPr>
          <p:spPr bwMode="auto">
            <a:xfrm>
              <a:off x="5105399" y="4256634"/>
              <a:ext cx="315913"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1" name="Oval 29"/>
            <p:cNvSpPr>
              <a:spLocks noChangeArrowheads="1"/>
            </p:cNvSpPr>
            <p:nvPr/>
          </p:nvSpPr>
          <p:spPr bwMode="auto">
            <a:xfrm>
              <a:off x="6088062" y="4087662"/>
              <a:ext cx="312737"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cxnSp>
          <p:nvCxnSpPr>
            <p:cNvPr id="54302" name="AutoShape 30"/>
            <p:cNvCxnSpPr>
              <a:cxnSpLocks noChangeShapeType="1"/>
              <a:stCxn id="54299" idx="6"/>
              <a:endCxn id="54301" idx="2"/>
            </p:cNvCxnSpPr>
            <p:nvPr/>
          </p:nvCxnSpPr>
          <p:spPr bwMode="auto">
            <a:xfrm>
              <a:off x="5714999" y="4256634"/>
              <a:ext cx="373063"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3" name="Oval 31"/>
            <p:cNvSpPr>
              <a:spLocks noChangeArrowheads="1"/>
            </p:cNvSpPr>
            <p:nvPr/>
          </p:nvSpPr>
          <p:spPr bwMode="auto">
            <a:xfrm>
              <a:off x="6753224" y="4105473"/>
              <a:ext cx="333375" cy="320133"/>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5</a:t>
              </a:r>
            </a:p>
          </p:txBody>
        </p:sp>
        <p:cxnSp>
          <p:nvCxnSpPr>
            <p:cNvPr id="54304" name="AutoShape 32"/>
            <p:cNvCxnSpPr>
              <a:cxnSpLocks noChangeShapeType="1"/>
              <a:stCxn id="54301" idx="6"/>
              <a:endCxn id="54303" idx="2"/>
            </p:cNvCxnSpPr>
            <p:nvPr/>
          </p:nvCxnSpPr>
          <p:spPr bwMode="auto">
            <a:xfrm>
              <a:off x="6400799" y="4256634"/>
              <a:ext cx="352425" cy="890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5" name="Oval 33"/>
            <p:cNvSpPr>
              <a:spLocks noChangeArrowheads="1"/>
            </p:cNvSpPr>
            <p:nvPr/>
          </p:nvSpPr>
          <p:spPr bwMode="auto">
            <a:xfrm>
              <a:off x="7419974" y="4105473"/>
              <a:ext cx="352425" cy="320133"/>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cxnSp>
          <p:nvCxnSpPr>
            <p:cNvPr id="54306" name="AutoShape 34"/>
            <p:cNvCxnSpPr>
              <a:cxnSpLocks noChangeShapeType="1"/>
              <a:stCxn id="54303" idx="6"/>
              <a:endCxn id="54305" idx="2"/>
            </p:cNvCxnSpPr>
            <p:nvPr/>
          </p:nvCxnSpPr>
          <p:spPr bwMode="auto">
            <a:xfrm>
              <a:off x="7086599" y="4265540"/>
              <a:ext cx="333375"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7" name="Oval 35"/>
            <p:cNvSpPr>
              <a:spLocks noChangeArrowheads="1"/>
            </p:cNvSpPr>
            <p:nvPr/>
          </p:nvSpPr>
          <p:spPr bwMode="auto">
            <a:xfrm>
              <a:off x="8115300" y="4081312"/>
              <a:ext cx="342900" cy="34429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54308" name="AutoShape 36"/>
            <p:cNvCxnSpPr>
              <a:cxnSpLocks noChangeShapeType="1"/>
              <a:stCxn id="54305" idx="6"/>
              <a:endCxn id="54307" idx="2"/>
            </p:cNvCxnSpPr>
            <p:nvPr/>
          </p:nvCxnSpPr>
          <p:spPr bwMode="auto">
            <a:xfrm flipV="1">
              <a:off x="7772399" y="4253459"/>
              <a:ext cx="342901" cy="120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09" name="AutoShape 37"/>
            <p:cNvCxnSpPr>
              <a:cxnSpLocks noChangeShapeType="1"/>
              <a:stCxn id="54299" idx="0"/>
              <a:endCxn id="54303" idx="0"/>
            </p:cNvCxnSpPr>
            <p:nvPr/>
          </p:nvCxnSpPr>
          <p:spPr bwMode="auto">
            <a:xfrm rot="16200000" flipH="1">
              <a:off x="6235128" y="3420689"/>
              <a:ext cx="17812" cy="1351756"/>
            </a:xfrm>
            <a:prstGeom prst="curvedConnector3">
              <a:avLst>
                <a:gd name="adj1" fmla="val -1283404"/>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0" name="AutoShape 38"/>
            <p:cNvCxnSpPr>
              <a:cxnSpLocks noChangeShapeType="1"/>
              <a:stCxn id="54298" idx="4"/>
              <a:endCxn id="54303" idx="3"/>
            </p:cNvCxnSpPr>
            <p:nvPr/>
          </p:nvCxnSpPr>
          <p:spPr bwMode="auto">
            <a:xfrm rot="5400000" flipH="1" flipV="1">
              <a:off x="5842572" y="3466132"/>
              <a:ext cx="46882" cy="1872065"/>
            </a:xfrm>
            <a:prstGeom prst="curvedConnector3">
              <a:avLst>
                <a:gd name="adj1" fmla="val -48760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1" name="AutoShape 39"/>
            <p:cNvCxnSpPr>
              <a:cxnSpLocks noChangeShapeType="1"/>
              <a:stCxn id="54297" idx="4"/>
              <a:endCxn id="54303" idx="4"/>
            </p:cNvCxnSpPr>
            <p:nvPr/>
          </p:nvCxnSpPr>
          <p:spPr bwMode="auto">
            <a:xfrm rot="16200000" flipH="1">
              <a:off x="5558631" y="3064325"/>
              <a:ext cx="12700" cy="2722562"/>
            </a:xfrm>
            <a:prstGeom prst="curvedConnector3">
              <a:avLst>
                <a:gd name="adj1" fmla="val 180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2" name="AutoShape 40"/>
            <p:cNvCxnSpPr>
              <a:cxnSpLocks noChangeShapeType="1"/>
              <a:stCxn id="54297" idx="0"/>
              <a:endCxn id="54301" idx="0"/>
            </p:cNvCxnSpPr>
            <p:nvPr/>
          </p:nvCxnSpPr>
          <p:spPr bwMode="auto">
            <a:xfrm rot="5400000" flipH="1" flipV="1">
              <a:off x="5220890" y="3064122"/>
              <a:ext cx="12700" cy="2047081"/>
            </a:xfrm>
            <a:prstGeom prst="curvedConnector3">
              <a:avLst>
                <a:gd name="adj1" fmla="val 180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3" name="AutoShape 41"/>
            <p:cNvCxnSpPr>
              <a:cxnSpLocks noChangeShapeType="1"/>
              <a:stCxn id="54303" idx="7"/>
              <a:endCxn id="54307" idx="0"/>
            </p:cNvCxnSpPr>
            <p:nvPr/>
          </p:nvCxnSpPr>
          <p:spPr bwMode="auto">
            <a:xfrm rot="5400000" flipH="1" flipV="1">
              <a:off x="7626742" y="3492348"/>
              <a:ext cx="71043" cy="1248973"/>
            </a:xfrm>
            <a:prstGeom prst="curvedConnector3">
              <a:avLst>
                <a:gd name="adj1" fmla="val 42177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4" name="AutoShape 42"/>
            <p:cNvCxnSpPr>
              <a:cxnSpLocks noChangeShapeType="1"/>
              <a:stCxn id="54298" idx="0"/>
              <a:endCxn id="54305" idx="0"/>
            </p:cNvCxnSpPr>
            <p:nvPr/>
          </p:nvCxnSpPr>
          <p:spPr bwMode="auto">
            <a:xfrm rot="16200000" flipH="1">
              <a:off x="6254178" y="2763464"/>
              <a:ext cx="17811" cy="2666206"/>
            </a:xfrm>
            <a:prstGeom prst="curvedConnector3">
              <a:avLst>
                <a:gd name="adj1" fmla="val -128347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4" name="Rectangular Callout 3"/>
          <p:cNvSpPr/>
          <p:nvPr/>
        </p:nvSpPr>
        <p:spPr bwMode="auto">
          <a:xfrm>
            <a:off x="4996057" y="2684224"/>
            <a:ext cx="2666206" cy="820976"/>
          </a:xfrm>
          <a:prstGeom prst="wedgeRectCallout">
            <a:avLst>
              <a:gd name="adj1" fmla="val -1462"/>
              <a:gd name="adj2" fmla="val 81063"/>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dirty="0">
                <a:ln>
                  <a:noFill/>
                </a:ln>
                <a:solidFill>
                  <a:schemeClr val="tx1"/>
                </a:solidFill>
                <a:effectLst/>
                <a:latin typeface="Times New Roman" pitchFamily="18" charset="0"/>
              </a:rPr>
              <a:t>所有边的方向都是从左到右</a:t>
            </a:r>
            <a:r>
              <a:rPr kumimoji="0" lang="en-US" sz="2000" b="1" i="0" u="none" strike="noStrike" cap="none" normalizeH="0" dirty="0">
                <a:ln>
                  <a:noFill/>
                </a:ln>
                <a:solidFill>
                  <a:schemeClr val="tx1"/>
                </a:solidFill>
                <a:effectLst/>
                <a:latin typeface="Times New Roman" pitchFamily="18" charset="0"/>
              </a:rPr>
              <a:t>.</a:t>
            </a:r>
            <a:endParaRPr kumimoji="0" lang="en-US" sz="2000" b="1"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65365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a:xfrm>
            <a:off x="609600" y="4114800"/>
            <a:ext cx="1447800" cy="609600"/>
          </a:xfrm>
        </p:spPr>
        <p:txBody>
          <a:bodyPr/>
          <a:lstStyle/>
          <a:p>
            <a:pPr marL="320040" indent="-320040">
              <a:buNone/>
            </a:pPr>
            <a:r>
              <a:rPr lang="zh-CN" altLang="en-US" b="1" dirty="0"/>
              <a:t>输出</a:t>
            </a:r>
            <a:r>
              <a:rPr lang="en-US" b="1" dirty="0"/>
              <a:t>:</a:t>
            </a:r>
          </a:p>
          <a:p>
            <a:pPr marL="320040" indent="-320040">
              <a:buNone/>
            </a:pPr>
            <a:endParaRPr lang="en-US" b="1" dirty="0"/>
          </a:p>
        </p:txBody>
      </p:sp>
      <p:sp>
        <p:nvSpPr>
          <p:cNvPr id="6" name="Rectangle 2"/>
          <p:cNvSpPr>
            <a:spLocks noGrp="1" noChangeArrowheads="1"/>
          </p:cNvSpPr>
          <p:nvPr>
            <p:ph type="title"/>
          </p:nvPr>
        </p:nvSpPr>
        <p:spPr>
          <a:xfrm>
            <a:off x="533400" y="304800"/>
            <a:ext cx="8077200" cy="914400"/>
          </a:xfrm>
        </p:spPr>
        <p:txBody>
          <a:bodyPr/>
          <a:lstStyle/>
          <a:p>
            <a:r>
              <a:rPr lang="zh-CN" altLang="en-US" sz="3600" b="1" dirty="0">
                <a:solidFill>
                  <a:srgbClr val="0000CC"/>
                </a:solidFill>
              </a:rPr>
              <a:t>举例</a:t>
            </a:r>
            <a:endParaRPr lang="en-US" sz="3600" b="1" dirty="0">
              <a:solidFill>
                <a:srgbClr val="0000CC"/>
              </a:solidFill>
            </a:endParaRPr>
          </a:p>
        </p:txBody>
      </p:sp>
      <p:sp>
        <p:nvSpPr>
          <p:cNvPr id="5" name="Oval 6"/>
          <p:cNvSpPr>
            <a:spLocks noChangeArrowheads="1"/>
          </p:cNvSpPr>
          <p:nvPr/>
        </p:nvSpPr>
        <p:spPr bwMode="auto">
          <a:xfrm>
            <a:off x="1047750" y="152400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7" name="Oval 7"/>
          <p:cNvSpPr>
            <a:spLocks noChangeArrowheads="1"/>
          </p:cNvSpPr>
          <p:nvPr/>
        </p:nvSpPr>
        <p:spPr bwMode="auto">
          <a:xfrm>
            <a:off x="2276474" y="15240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8" name="Oval 8"/>
          <p:cNvSpPr>
            <a:spLocks noChangeArrowheads="1"/>
          </p:cNvSpPr>
          <p:nvPr/>
        </p:nvSpPr>
        <p:spPr bwMode="auto">
          <a:xfrm>
            <a:off x="381000" y="24163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9" name="Oval 9"/>
          <p:cNvSpPr>
            <a:spLocks noChangeArrowheads="1"/>
          </p:cNvSpPr>
          <p:nvPr/>
        </p:nvSpPr>
        <p:spPr bwMode="auto">
          <a:xfrm>
            <a:off x="1662112" y="24163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0" name="Oval 10"/>
          <p:cNvSpPr>
            <a:spLocks noChangeArrowheads="1"/>
          </p:cNvSpPr>
          <p:nvPr/>
        </p:nvSpPr>
        <p:spPr bwMode="auto">
          <a:xfrm>
            <a:off x="2943224" y="24163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 name="Oval 11"/>
          <p:cNvSpPr>
            <a:spLocks noChangeArrowheads="1"/>
          </p:cNvSpPr>
          <p:nvPr/>
        </p:nvSpPr>
        <p:spPr bwMode="auto">
          <a:xfrm>
            <a:off x="990600" y="32766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2" name="Oval 12"/>
          <p:cNvSpPr>
            <a:spLocks noChangeArrowheads="1"/>
          </p:cNvSpPr>
          <p:nvPr/>
        </p:nvSpPr>
        <p:spPr bwMode="auto">
          <a:xfrm>
            <a:off x="2209800" y="3276600"/>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13" name="AutoShape 13"/>
          <p:cNvCxnSpPr>
            <a:cxnSpLocks noChangeShapeType="1"/>
            <a:stCxn id="5" idx="3"/>
            <a:endCxn id="8" idx="7"/>
          </p:cNvCxnSpPr>
          <p:nvPr/>
        </p:nvCxnSpPr>
        <p:spPr bwMode="auto">
          <a:xfrm flipH="1">
            <a:off x="706204" y="181668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9" idx="1"/>
          </p:cNvCxnSpPr>
          <p:nvPr/>
        </p:nvCxnSpPr>
        <p:spPr bwMode="auto">
          <a:xfrm>
            <a:off x="1324173" y="181668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5"/>
          <p:cNvCxnSpPr>
            <a:cxnSpLocks noChangeShapeType="1"/>
            <a:stCxn id="5" idx="6"/>
            <a:endCxn id="7" idx="2"/>
          </p:cNvCxnSpPr>
          <p:nvPr/>
        </p:nvCxnSpPr>
        <p:spPr bwMode="auto">
          <a:xfrm>
            <a:off x="1371600" y="169545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16"/>
          <p:cNvCxnSpPr>
            <a:cxnSpLocks noChangeShapeType="1"/>
            <a:stCxn id="7" idx="5"/>
            <a:endCxn id="10" idx="1"/>
          </p:cNvCxnSpPr>
          <p:nvPr/>
        </p:nvCxnSpPr>
        <p:spPr bwMode="auto">
          <a:xfrm>
            <a:off x="2544767" y="18166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7"/>
          <p:cNvCxnSpPr>
            <a:cxnSpLocks noChangeShapeType="1"/>
            <a:stCxn id="10" idx="2"/>
            <a:endCxn id="9" idx="6"/>
          </p:cNvCxnSpPr>
          <p:nvPr/>
        </p:nvCxnSpPr>
        <p:spPr bwMode="auto">
          <a:xfrm flipH="1">
            <a:off x="1981199" y="25742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8"/>
          <p:cNvCxnSpPr>
            <a:cxnSpLocks noChangeShapeType="1"/>
            <a:stCxn id="12" idx="7"/>
            <a:endCxn id="10" idx="3"/>
          </p:cNvCxnSpPr>
          <p:nvPr/>
        </p:nvCxnSpPr>
        <p:spPr bwMode="auto">
          <a:xfrm flipV="1">
            <a:off x="2494353" y="2685851"/>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9"/>
          <p:cNvCxnSpPr>
            <a:cxnSpLocks noChangeShapeType="1"/>
            <a:stCxn id="9" idx="3"/>
            <a:endCxn id="11" idx="7"/>
          </p:cNvCxnSpPr>
          <p:nvPr/>
        </p:nvCxnSpPr>
        <p:spPr bwMode="auto">
          <a:xfrm flipH="1">
            <a:off x="1267023" y="26858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0"/>
          <p:cNvCxnSpPr>
            <a:cxnSpLocks noChangeShapeType="1"/>
            <a:stCxn id="12" idx="1"/>
            <a:endCxn id="9" idx="5"/>
          </p:cNvCxnSpPr>
          <p:nvPr/>
        </p:nvCxnSpPr>
        <p:spPr bwMode="auto">
          <a:xfrm flipH="1" flipV="1">
            <a:off x="1934470" y="2685852"/>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21"/>
          <p:cNvCxnSpPr>
            <a:cxnSpLocks noChangeShapeType="1"/>
            <a:stCxn id="12" idx="2"/>
            <a:endCxn id="11" idx="6"/>
          </p:cNvCxnSpPr>
          <p:nvPr/>
        </p:nvCxnSpPr>
        <p:spPr bwMode="auto">
          <a:xfrm flipH="1">
            <a:off x="1314450" y="3436938"/>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22"/>
          <p:cNvCxnSpPr>
            <a:cxnSpLocks noChangeShapeType="1"/>
            <a:stCxn id="8" idx="5"/>
            <a:endCxn id="11" idx="1"/>
          </p:cNvCxnSpPr>
          <p:nvPr/>
        </p:nvCxnSpPr>
        <p:spPr bwMode="auto">
          <a:xfrm>
            <a:off x="706204" y="26858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3"/>
          <p:cNvCxnSpPr>
            <a:cxnSpLocks noChangeShapeType="1"/>
            <a:stCxn id="9" idx="2"/>
            <a:endCxn id="8" idx="6"/>
          </p:cNvCxnSpPr>
          <p:nvPr/>
        </p:nvCxnSpPr>
        <p:spPr bwMode="auto">
          <a:xfrm flipH="1">
            <a:off x="762000" y="25742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4"/>
          <p:cNvCxnSpPr>
            <a:cxnSpLocks noChangeShapeType="1"/>
            <a:stCxn id="7" idx="3"/>
            <a:endCxn id="9" idx="7"/>
          </p:cNvCxnSpPr>
          <p:nvPr/>
        </p:nvCxnSpPr>
        <p:spPr bwMode="auto">
          <a:xfrm flipH="1">
            <a:off x="1934470" y="18166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95" name="Group 94"/>
          <p:cNvGrpSpPr/>
          <p:nvPr/>
        </p:nvGrpSpPr>
        <p:grpSpPr>
          <a:xfrm>
            <a:off x="3886200" y="1581150"/>
            <a:ext cx="2895599" cy="2079625"/>
            <a:chOff x="3886200" y="1581150"/>
            <a:chExt cx="2895599" cy="2079625"/>
          </a:xfrm>
        </p:grpSpPr>
        <p:sp>
          <p:nvSpPr>
            <p:cNvPr id="26" name="Oval 6"/>
            <p:cNvSpPr>
              <a:spLocks noChangeArrowheads="1"/>
            </p:cNvSpPr>
            <p:nvPr/>
          </p:nvSpPr>
          <p:spPr bwMode="auto">
            <a:xfrm>
              <a:off x="4552950" y="158115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27" name="Oval 7"/>
            <p:cNvSpPr>
              <a:spLocks noChangeArrowheads="1"/>
            </p:cNvSpPr>
            <p:nvPr/>
          </p:nvSpPr>
          <p:spPr bwMode="auto">
            <a:xfrm>
              <a:off x="5781674" y="158115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28" name="Oval 8"/>
            <p:cNvSpPr>
              <a:spLocks noChangeArrowheads="1"/>
            </p:cNvSpPr>
            <p:nvPr/>
          </p:nvSpPr>
          <p:spPr bwMode="auto">
            <a:xfrm>
              <a:off x="3886200" y="247351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29" name="Oval 9"/>
            <p:cNvSpPr>
              <a:spLocks noChangeArrowheads="1"/>
            </p:cNvSpPr>
            <p:nvPr/>
          </p:nvSpPr>
          <p:spPr bwMode="auto">
            <a:xfrm>
              <a:off x="5167312" y="247351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30" name="Oval 10"/>
            <p:cNvSpPr>
              <a:spLocks noChangeArrowheads="1"/>
            </p:cNvSpPr>
            <p:nvPr/>
          </p:nvSpPr>
          <p:spPr bwMode="auto">
            <a:xfrm>
              <a:off x="6448424" y="247351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31" name="Oval 11"/>
            <p:cNvSpPr>
              <a:spLocks noChangeArrowheads="1"/>
            </p:cNvSpPr>
            <p:nvPr/>
          </p:nvSpPr>
          <p:spPr bwMode="auto">
            <a:xfrm>
              <a:off x="4495800" y="333375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33" name="AutoShape 13"/>
            <p:cNvCxnSpPr>
              <a:cxnSpLocks noChangeShapeType="1"/>
              <a:stCxn id="26" idx="3"/>
              <a:endCxn id="28" idx="7"/>
            </p:cNvCxnSpPr>
            <p:nvPr/>
          </p:nvCxnSpPr>
          <p:spPr bwMode="auto">
            <a:xfrm flipH="1">
              <a:off x="4211404" y="187383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4" name="AutoShape 14"/>
            <p:cNvCxnSpPr>
              <a:cxnSpLocks noChangeShapeType="1"/>
              <a:stCxn id="26" idx="5"/>
              <a:endCxn id="29" idx="1"/>
            </p:cNvCxnSpPr>
            <p:nvPr/>
          </p:nvCxnSpPr>
          <p:spPr bwMode="auto">
            <a:xfrm>
              <a:off x="4829373" y="187383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5" name="AutoShape 15"/>
            <p:cNvCxnSpPr>
              <a:cxnSpLocks noChangeShapeType="1"/>
              <a:stCxn id="26" idx="6"/>
              <a:endCxn id="27" idx="2"/>
            </p:cNvCxnSpPr>
            <p:nvPr/>
          </p:nvCxnSpPr>
          <p:spPr bwMode="auto">
            <a:xfrm>
              <a:off x="4876800" y="175260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 name="AutoShape 16"/>
            <p:cNvCxnSpPr>
              <a:cxnSpLocks noChangeShapeType="1"/>
              <a:stCxn id="27" idx="5"/>
              <a:endCxn id="30" idx="1"/>
            </p:cNvCxnSpPr>
            <p:nvPr/>
          </p:nvCxnSpPr>
          <p:spPr bwMode="auto">
            <a:xfrm>
              <a:off x="6049967" y="187383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17"/>
            <p:cNvCxnSpPr>
              <a:cxnSpLocks noChangeShapeType="1"/>
              <a:stCxn id="30" idx="2"/>
              <a:endCxn id="29" idx="6"/>
            </p:cNvCxnSpPr>
            <p:nvPr/>
          </p:nvCxnSpPr>
          <p:spPr bwMode="auto">
            <a:xfrm flipH="1">
              <a:off x="5486399" y="263137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 name="AutoShape 19"/>
            <p:cNvCxnSpPr>
              <a:cxnSpLocks noChangeShapeType="1"/>
              <a:stCxn id="29" idx="3"/>
              <a:endCxn id="31" idx="7"/>
            </p:cNvCxnSpPr>
            <p:nvPr/>
          </p:nvCxnSpPr>
          <p:spPr bwMode="auto">
            <a:xfrm flipH="1">
              <a:off x="4772223" y="274300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22"/>
            <p:cNvCxnSpPr>
              <a:cxnSpLocks noChangeShapeType="1"/>
              <a:stCxn id="28" idx="5"/>
              <a:endCxn id="31" idx="1"/>
            </p:cNvCxnSpPr>
            <p:nvPr/>
          </p:nvCxnSpPr>
          <p:spPr bwMode="auto">
            <a:xfrm>
              <a:off x="4211404" y="274300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 name="AutoShape 23"/>
            <p:cNvCxnSpPr>
              <a:cxnSpLocks noChangeShapeType="1"/>
              <a:stCxn id="29" idx="2"/>
              <a:endCxn id="28" idx="6"/>
            </p:cNvCxnSpPr>
            <p:nvPr/>
          </p:nvCxnSpPr>
          <p:spPr bwMode="auto">
            <a:xfrm flipH="1">
              <a:off x="4267200" y="263137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 name="AutoShape 24"/>
            <p:cNvCxnSpPr>
              <a:cxnSpLocks noChangeShapeType="1"/>
              <a:stCxn id="27" idx="3"/>
              <a:endCxn id="29" idx="7"/>
            </p:cNvCxnSpPr>
            <p:nvPr/>
          </p:nvCxnSpPr>
          <p:spPr bwMode="auto">
            <a:xfrm flipH="1">
              <a:off x="5439670" y="187383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99" name="Group 98"/>
          <p:cNvGrpSpPr/>
          <p:nvPr/>
        </p:nvGrpSpPr>
        <p:grpSpPr>
          <a:xfrm>
            <a:off x="5943600" y="2819400"/>
            <a:ext cx="2895599" cy="2079625"/>
            <a:chOff x="5943600" y="2819400"/>
            <a:chExt cx="2895599" cy="2079625"/>
          </a:xfrm>
        </p:grpSpPr>
        <p:sp>
          <p:nvSpPr>
            <p:cNvPr id="47" name="Oval 7"/>
            <p:cNvSpPr>
              <a:spLocks noChangeArrowheads="1"/>
            </p:cNvSpPr>
            <p:nvPr/>
          </p:nvSpPr>
          <p:spPr bwMode="auto">
            <a:xfrm>
              <a:off x="7839074" y="28194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48" name="Oval 8"/>
            <p:cNvSpPr>
              <a:spLocks noChangeArrowheads="1"/>
            </p:cNvSpPr>
            <p:nvPr/>
          </p:nvSpPr>
          <p:spPr bwMode="auto">
            <a:xfrm>
              <a:off x="5943600" y="37117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49" name="Oval 9"/>
            <p:cNvSpPr>
              <a:spLocks noChangeArrowheads="1"/>
            </p:cNvSpPr>
            <p:nvPr/>
          </p:nvSpPr>
          <p:spPr bwMode="auto">
            <a:xfrm>
              <a:off x="7224712" y="37117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50" name="Oval 10"/>
            <p:cNvSpPr>
              <a:spLocks noChangeArrowheads="1"/>
            </p:cNvSpPr>
            <p:nvPr/>
          </p:nvSpPr>
          <p:spPr bwMode="auto">
            <a:xfrm>
              <a:off x="8505824" y="37117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51" name="Oval 11"/>
            <p:cNvSpPr>
              <a:spLocks noChangeArrowheads="1"/>
            </p:cNvSpPr>
            <p:nvPr/>
          </p:nvSpPr>
          <p:spPr bwMode="auto">
            <a:xfrm>
              <a:off x="6553200" y="45720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55" name="AutoShape 16"/>
            <p:cNvCxnSpPr>
              <a:cxnSpLocks noChangeShapeType="1"/>
              <a:stCxn id="47" idx="5"/>
              <a:endCxn id="50" idx="1"/>
            </p:cNvCxnSpPr>
            <p:nvPr/>
          </p:nvCxnSpPr>
          <p:spPr bwMode="auto">
            <a:xfrm>
              <a:off x="8107367" y="31120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6" name="AutoShape 17"/>
            <p:cNvCxnSpPr>
              <a:cxnSpLocks noChangeShapeType="1"/>
              <a:stCxn id="50" idx="2"/>
              <a:endCxn id="49" idx="6"/>
            </p:cNvCxnSpPr>
            <p:nvPr/>
          </p:nvCxnSpPr>
          <p:spPr bwMode="auto">
            <a:xfrm flipH="1">
              <a:off x="7543799" y="38696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 name="AutoShape 19"/>
            <p:cNvCxnSpPr>
              <a:cxnSpLocks noChangeShapeType="1"/>
              <a:stCxn id="49" idx="3"/>
              <a:endCxn id="51" idx="7"/>
            </p:cNvCxnSpPr>
            <p:nvPr/>
          </p:nvCxnSpPr>
          <p:spPr bwMode="auto">
            <a:xfrm flipH="1">
              <a:off x="6829623" y="39812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8" name="AutoShape 22"/>
            <p:cNvCxnSpPr>
              <a:cxnSpLocks noChangeShapeType="1"/>
              <a:stCxn id="48" idx="5"/>
              <a:endCxn id="51" idx="1"/>
            </p:cNvCxnSpPr>
            <p:nvPr/>
          </p:nvCxnSpPr>
          <p:spPr bwMode="auto">
            <a:xfrm>
              <a:off x="6268804" y="39812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 name="AutoShape 23"/>
            <p:cNvCxnSpPr>
              <a:cxnSpLocks noChangeShapeType="1"/>
              <a:stCxn id="49" idx="2"/>
              <a:endCxn id="48" idx="6"/>
            </p:cNvCxnSpPr>
            <p:nvPr/>
          </p:nvCxnSpPr>
          <p:spPr bwMode="auto">
            <a:xfrm flipH="1">
              <a:off x="6324600" y="38696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0" name="AutoShape 24"/>
            <p:cNvCxnSpPr>
              <a:cxnSpLocks noChangeShapeType="1"/>
              <a:stCxn id="47" idx="3"/>
              <a:endCxn id="49" idx="7"/>
            </p:cNvCxnSpPr>
            <p:nvPr/>
          </p:nvCxnSpPr>
          <p:spPr bwMode="auto">
            <a:xfrm flipH="1">
              <a:off x="7497070" y="31120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61" name="Right Arrow 60"/>
          <p:cNvSpPr/>
          <p:nvPr/>
        </p:nvSpPr>
        <p:spPr bwMode="auto">
          <a:xfrm>
            <a:off x="3429000" y="2514600"/>
            <a:ext cx="3810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62" name="Bent Arrow 61"/>
          <p:cNvSpPr/>
          <p:nvPr/>
        </p:nvSpPr>
        <p:spPr bwMode="auto">
          <a:xfrm rot="5400000">
            <a:off x="6819900" y="2095500"/>
            <a:ext cx="609600" cy="685800"/>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nvGrpSpPr>
          <p:cNvPr id="101" name="Group 100"/>
          <p:cNvGrpSpPr/>
          <p:nvPr/>
        </p:nvGrpSpPr>
        <p:grpSpPr>
          <a:xfrm>
            <a:off x="5943600" y="5334000"/>
            <a:ext cx="2895599" cy="1187257"/>
            <a:chOff x="5943600" y="5334000"/>
            <a:chExt cx="2895599" cy="1187257"/>
          </a:xfrm>
        </p:grpSpPr>
        <p:sp>
          <p:nvSpPr>
            <p:cNvPr id="64" name="Oval 8"/>
            <p:cNvSpPr>
              <a:spLocks noChangeArrowheads="1"/>
            </p:cNvSpPr>
            <p:nvPr/>
          </p:nvSpPr>
          <p:spPr bwMode="auto">
            <a:xfrm>
              <a:off x="5943600" y="5334001"/>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65" name="Oval 9"/>
            <p:cNvSpPr>
              <a:spLocks noChangeArrowheads="1"/>
            </p:cNvSpPr>
            <p:nvPr/>
          </p:nvSpPr>
          <p:spPr bwMode="auto">
            <a:xfrm>
              <a:off x="7224712" y="5334001"/>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5</a:t>
              </a:r>
            </a:p>
          </p:txBody>
        </p:sp>
        <p:sp>
          <p:nvSpPr>
            <p:cNvPr id="66" name="Oval 10"/>
            <p:cNvSpPr>
              <a:spLocks noChangeArrowheads="1"/>
            </p:cNvSpPr>
            <p:nvPr/>
          </p:nvSpPr>
          <p:spPr bwMode="auto">
            <a:xfrm>
              <a:off x="8505824" y="5334000"/>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67" name="Oval 11"/>
            <p:cNvSpPr>
              <a:spLocks noChangeArrowheads="1"/>
            </p:cNvSpPr>
            <p:nvPr/>
          </p:nvSpPr>
          <p:spPr bwMode="auto">
            <a:xfrm>
              <a:off x="6553200" y="6194232"/>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69" name="AutoShape 17"/>
            <p:cNvCxnSpPr>
              <a:cxnSpLocks noChangeShapeType="1"/>
            </p:cNvCxnSpPr>
            <p:nvPr/>
          </p:nvCxnSpPr>
          <p:spPr bwMode="auto">
            <a:xfrm flipH="1">
              <a:off x="7543799" y="5496314"/>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 name="AutoShape 19"/>
            <p:cNvCxnSpPr>
              <a:cxnSpLocks noChangeShapeType="1"/>
              <a:stCxn id="65" idx="3"/>
              <a:endCxn id="67" idx="7"/>
            </p:cNvCxnSpPr>
            <p:nvPr/>
          </p:nvCxnSpPr>
          <p:spPr bwMode="auto">
            <a:xfrm flipH="1">
              <a:off x="6829623" y="5603484"/>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 name="AutoShape 22"/>
            <p:cNvCxnSpPr>
              <a:cxnSpLocks noChangeShapeType="1"/>
              <a:stCxn id="64" idx="5"/>
              <a:endCxn id="67" idx="1"/>
            </p:cNvCxnSpPr>
            <p:nvPr/>
          </p:nvCxnSpPr>
          <p:spPr bwMode="auto">
            <a:xfrm>
              <a:off x="6268804" y="5603484"/>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 name="AutoShape 23"/>
            <p:cNvCxnSpPr>
              <a:cxnSpLocks noChangeShapeType="1"/>
            </p:cNvCxnSpPr>
            <p:nvPr/>
          </p:nvCxnSpPr>
          <p:spPr bwMode="auto">
            <a:xfrm flipH="1">
              <a:off x="6324600" y="5496315"/>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74" name="Down Arrow 73"/>
          <p:cNvSpPr/>
          <p:nvPr/>
        </p:nvSpPr>
        <p:spPr bwMode="auto">
          <a:xfrm>
            <a:off x="7620000" y="4572000"/>
            <a:ext cx="228600" cy="53340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nvGrpSpPr>
          <p:cNvPr id="103" name="Group 102"/>
          <p:cNvGrpSpPr/>
          <p:nvPr/>
        </p:nvGrpSpPr>
        <p:grpSpPr>
          <a:xfrm>
            <a:off x="3581401" y="5334000"/>
            <a:ext cx="1600199" cy="1187256"/>
            <a:chOff x="3581401" y="5334000"/>
            <a:chExt cx="1600199" cy="1187256"/>
          </a:xfrm>
        </p:grpSpPr>
        <p:sp>
          <p:nvSpPr>
            <p:cNvPr id="75" name="Oval 8"/>
            <p:cNvSpPr>
              <a:spLocks noChangeArrowheads="1"/>
            </p:cNvSpPr>
            <p:nvPr/>
          </p:nvSpPr>
          <p:spPr bwMode="auto">
            <a:xfrm>
              <a:off x="3581401"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76" name="Oval 9"/>
            <p:cNvSpPr>
              <a:spLocks noChangeArrowheads="1"/>
            </p:cNvSpPr>
            <p:nvPr/>
          </p:nvSpPr>
          <p:spPr bwMode="auto">
            <a:xfrm>
              <a:off x="4862513" y="5334000"/>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78" name="Oval 11"/>
            <p:cNvSpPr>
              <a:spLocks noChangeArrowheads="1"/>
            </p:cNvSpPr>
            <p:nvPr/>
          </p:nvSpPr>
          <p:spPr bwMode="auto">
            <a:xfrm>
              <a:off x="4191001"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0" name="AutoShape 19"/>
            <p:cNvCxnSpPr>
              <a:cxnSpLocks noChangeShapeType="1"/>
              <a:stCxn id="76" idx="3"/>
              <a:endCxn id="78" idx="7"/>
            </p:cNvCxnSpPr>
            <p:nvPr/>
          </p:nvCxnSpPr>
          <p:spPr bwMode="auto">
            <a:xfrm flipH="1">
              <a:off x="4467424" y="5603483"/>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 name="AutoShape 22"/>
            <p:cNvCxnSpPr>
              <a:cxnSpLocks noChangeShapeType="1"/>
              <a:stCxn id="75" idx="5"/>
              <a:endCxn id="78" idx="1"/>
            </p:cNvCxnSpPr>
            <p:nvPr/>
          </p:nvCxnSpPr>
          <p:spPr bwMode="auto">
            <a:xfrm>
              <a:off x="3906605"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2" name="AutoShape 23"/>
            <p:cNvCxnSpPr>
              <a:cxnSpLocks noChangeShapeType="1"/>
            </p:cNvCxnSpPr>
            <p:nvPr/>
          </p:nvCxnSpPr>
          <p:spPr bwMode="auto">
            <a:xfrm flipH="1">
              <a:off x="3962401" y="549631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83" name="Left Arrow 82"/>
          <p:cNvSpPr/>
          <p:nvPr/>
        </p:nvSpPr>
        <p:spPr bwMode="auto">
          <a:xfrm>
            <a:off x="53340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nvGrpSpPr>
          <p:cNvPr id="105" name="Group 104"/>
          <p:cNvGrpSpPr/>
          <p:nvPr/>
        </p:nvGrpSpPr>
        <p:grpSpPr>
          <a:xfrm>
            <a:off x="1981200" y="5334000"/>
            <a:ext cx="1447800" cy="1187256"/>
            <a:chOff x="1981200" y="5334000"/>
            <a:chExt cx="1447800" cy="1187256"/>
          </a:xfrm>
        </p:grpSpPr>
        <p:sp>
          <p:nvSpPr>
            <p:cNvPr id="84" name="Oval 8"/>
            <p:cNvSpPr>
              <a:spLocks noChangeArrowheads="1"/>
            </p:cNvSpPr>
            <p:nvPr/>
          </p:nvSpPr>
          <p:spPr bwMode="auto">
            <a:xfrm>
              <a:off x="1981200"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86" name="Oval 11"/>
            <p:cNvSpPr>
              <a:spLocks noChangeArrowheads="1"/>
            </p:cNvSpPr>
            <p:nvPr/>
          </p:nvSpPr>
          <p:spPr bwMode="auto">
            <a:xfrm>
              <a:off x="2590800"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8" name="AutoShape 22"/>
            <p:cNvCxnSpPr>
              <a:cxnSpLocks noChangeShapeType="1"/>
              <a:stCxn id="84" idx="5"/>
              <a:endCxn id="86" idx="1"/>
            </p:cNvCxnSpPr>
            <p:nvPr/>
          </p:nvCxnSpPr>
          <p:spPr bwMode="auto">
            <a:xfrm>
              <a:off x="2306404"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0" name="Left Arrow 89"/>
            <p:cNvSpPr/>
            <p:nvPr/>
          </p:nvSpPr>
          <p:spPr bwMode="auto">
            <a:xfrm>
              <a:off x="29718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grpSp>
        <p:nvGrpSpPr>
          <p:cNvPr id="107" name="Group 106"/>
          <p:cNvGrpSpPr/>
          <p:nvPr/>
        </p:nvGrpSpPr>
        <p:grpSpPr>
          <a:xfrm>
            <a:off x="609600" y="5791200"/>
            <a:ext cx="1143000" cy="327025"/>
            <a:chOff x="609600" y="5791200"/>
            <a:chExt cx="1143000" cy="327025"/>
          </a:xfrm>
        </p:grpSpPr>
        <p:sp>
          <p:nvSpPr>
            <p:cNvPr id="92" name="Oval 11"/>
            <p:cNvSpPr>
              <a:spLocks noChangeArrowheads="1"/>
            </p:cNvSpPr>
            <p:nvPr/>
          </p:nvSpPr>
          <p:spPr bwMode="auto">
            <a:xfrm>
              <a:off x="609600" y="57912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4" name="Left Arrow 93"/>
            <p:cNvSpPr/>
            <p:nvPr/>
          </p:nvSpPr>
          <p:spPr bwMode="auto">
            <a:xfrm>
              <a:off x="12954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sp>
        <p:nvSpPr>
          <p:cNvPr id="96" name="Rectangle 95"/>
          <p:cNvSpPr/>
          <p:nvPr/>
        </p:nvSpPr>
        <p:spPr>
          <a:xfrm>
            <a:off x="1981200" y="4114800"/>
            <a:ext cx="463588" cy="523220"/>
          </a:xfrm>
          <a:prstGeom prst="rect">
            <a:avLst/>
          </a:prstGeom>
        </p:spPr>
        <p:txBody>
          <a:bodyPr wrap="none">
            <a:spAutoFit/>
          </a:bodyPr>
          <a:lstStyle/>
          <a:p>
            <a:r>
              <a:rPr lang="en-US" sz="2800" i="1" dirty="0"/>
              <a:t>v</a:t>
            </a:r>
            <a:r>
              <a:rPr lang="en-US" sz="2800" baseline="-25000" dirty="0"/>
              <a:t>1</a:t>
            </a:r>
            <a:endParaRPr lang="en-US" sz="2800" dirty="0"/>
          </a:p>
        </p:txBody>
      </p:sp>
      <p:sp>
        <p:nvSpPr>
          <p:cNvPr id="97" name="Rectangle 96"/>
          <p:cNvSpPr/>
          <p:nvPr/>
        </p:nvSpPr>
        <p:spPr>
          <a:xfrm>
            <a:off x="2286000" y="4114800"/>
            <a:ext cx="643125" cy="523220"/>
          </a:xfrm>
          <a:prstGeom prst="rect">
            <a:avLst/>
          </a:prstGeom>
        </p:spPr>
        <p:txBody>
          <a:bodyPr wrap="none">
            <a:spAutoFit/>
          </a:bodyPr>
          <a:lstStyle/>
          <a:p>
            <a:r>
              <a:rPr lang="en-US" sz="2800" dirty="0"/>
              <a:t>, </a:t>
            </a:r>
            <a:r>
              <a:rPr lang="en-US" sz="2800" i="1" dirty="0"/>
              <a:t>v</a:t>
            </a:r>
            <a:r>
              <a:rPr lang="en-US" sz="2800" baseline="-25000" dirty="0"/>
              <a:t>2</a:t>
            </a:r>
            <a:endParaRPr lang="en-US" sz="2800" dirty="0"/>
          </a:p>
        </p:txBody>
      </p:sp>
      <p:sp>
        <p:nvSpPr>
          <p:cNvPr id="98" name="Rectangle 97"/>
          <p:cNvSpPr/>
          <p:nvPr/>
        </p:nvSpPr>
        <p:spPr>
          <a:xfrm>
            <a:off x="2819400" y="4114800"/>
            <a:ext cx="643125" cy="523220"/>
          </a:xfrm>
          <a:prstGeom prst="rect">
            <a:avLst/>
          </a:prstGeom>
        </p:spPr>
        <p:txBody>
          <a:bodyPr wrap="none">
            <a:spAutoFit/>
          </a:bodyPr>
          <a:lstStyle/>
          <a:p>
            <a:r>
              <a:rPr lang="en-US" sz="2800" dirty="0"/>
              <a:t>, </a:t>
            </a:r>
            <a:r>
              <a:rPr lang="en-US" sz="2800" i="1" dirty="0"/>
              <a:t>v</a:t>
            </a:r>
            <a:r>
              <a:rPr lang="en-US" sz="2800" baseline="-25000" dirty="0"/>
              <a:t>3</a:t>
            </a:r>
            <a:endParaRPr lang="en-US" sz="2800" dirty="0"/>
          </a:p>
        </p:txBody>
      </p:sp>
      <p:sp>
        <p:nvSpPr>
          <p:cNvPr id="100" name="Rectangle 99"/>
          <p:cNvSpPr/>
          <p:nvPr/>
        </p:nvSpPr>
        <p:spPr>
          <a:xfrm>
            <a:off x="3352800" y="4114800"/>
            <a:ext cx="732893" cy="523220"/>
          </a:xfrm>
          <a:prstGeom prst="rect">
            <a:avLst/>
          </a:prstGeom>
        </p:spPr>
        <p:txBody>
          <a:bodyPr wrap="none">
            <a:spAutoFit/>
          </a:bodyPr>
          <a:lstStyle/>
          <a:p>
            <a:r>
              <a:rPr lang="en-US" sz="2800" dirty="0"/>
              <a:t>, </a:t>
            </a:r>
            <a:r>
              <a:rPr lang="en-US" sz="2800" i="1" dirty="0"/>
              <a:t>v</a:t>
            </a:r>
            <a:r>
              <a:rPr lang="en-US" sz="2800" baseline="-25000" dirty="0"/>
              <a:t>4</a:t>
            </a:r>
            <a:r>
              <a:rPr lang="en-US" sz="2800" dirty="0"/>
              <a:t> </a:t>
            </a:r>
          </a:p>
        </p:txBody>
      </p:sp>
      <p:sp>
        <p:nvSpPr>
          <p:cNvPr id="102" name="Rectangle 101"/>
          <p:cNvSpPr/>
          <p:nvPr/>
        </p:nvSpPr>
        <p:spPr>
          <a:xfrm>
            <a:off x="3886200" y="4114800"/>
            <a:ext cx="643125" cy="523220"/>
          </a:xfrm>
          <a:prstGeom prst="rect">
            <a:avLst/>
          </a:prstGeom>
        </p:spPr>
        <p:txBody>
          <a:bodyPr wrap="none">
            <a:spAutoFit/>
          </a:bodyPr>
          <a:lstStyle/>
          <a:p>
            <a:r>
              <a:rPr lang="en-US" sz="2800" dirty="0"/>
              <a:t>, </a:t>
            </a:r>
            <a:r>
              <a:rPr lang="en-US" sz="2800" i="1" dirty="0"/>
              <a:t>v</a:t>
            </a:r>
            <a:r>
              <a:rPr lang="en-US" sz="2800" baseline="-25000" dirty="0"/>
              <a:t>5</a:t>
            </a:r>
            <a:endParaRPr lang="en-US" sz="2800" dirty="0"/>
          </a:p>
        </p:txBody>
      </p:sp>
      <p:sp>
        <p:nvSpPr>
          <p:cNvPr id="104" name="Rectangle 103"/>
          <p:cNvSpPr/>
          <p:nvPr/>
        </p:nvSpPr>
        <p:spPr>
          <a:xfrm>
            <a:off x="4419600" y="4114800"/>
            <a:ext cx="732893" cy="523220"/>
          </a:xfrm>
          <a:prstGeom prst="rect">
            <a:avLst/>
          </a:prstGeom>
        </p:spPr>
        <p:txBody>
          <a:bodyPr wrap="none">
            <a:spAutoFit/>
          </a:bodyPr>
          <a:lstStyle/>
          <a:p>
            <a:r>
              <a:rPr lang="en-US" sz="2800" dirty="0"/>
              <a:t>, </a:t>
            </a:r>
            <a:r>
              <a:rPr lang="en-US" sz="2800" i="1" dirty="0"/>
              <a:t>v</a:t>
            </a:r>
            <a:r>
              <a:rPr lang="en-US" sz="2800" baseline="-25000" dirty="0"/>
              <a:t>6</a:t>
            </a:r>
            <a:r>
              <a:rPr lang="en-US" sz="2800" dirty="0"/>
              <a:t> </a:t>
            </a:r>
          </a:p>
        </p:txBody>
      </p:sp>
      <p:sp>
        <p:nvSpPr>
          <p:cNvPr id="106" name="Rectangle 105"/>
          <p:cNvSpPr/>
          <p:nvPr/>
        </p:nvSpPr>
        <p:spPr>
          <a:xfrm>
            <a:off x="4953000" y="4114800"/>
            <a:ext cx="732893" cy="523220"/>
          </a:xfrm>
          <a:prstGeom prst="rect">
            <a:avLst/>
          </a:prstGeom>
        </p:spPr>
        <p:txBody>
          <a:bodyPr wrap="none">
            <a:spAutoFit/>
          </a:bodyPr>
          <a:lstStyle/>
          <a:p>
            <a:r>
              <a:rPr lang="en-US" sz="2800" dirty="0"/>
              <a:t>, </a:t>
            </a:r>
            <a:r>
              <a:rPr lang="en-US" sz="2800" i="1" dirty="0"/>
              <a:t>v</a:t>
            </a:r>
            <a:r>
              <a:rPr lang="en-US" sz="2800" baseline="-25000" dirty="0"/>
              <a:t>7</a:t>
            </a:r>
            <a:r>
              <a:rPr lang="en-US" sz="2800" dirty="0"/>
              <a:t> </a:t>
            </a:r>
          </a:p>
        </p:txBody>
      </p:sp>
    </p:spTree>
    <p:extLst>
      <p:ext uri="{BB962C8B-B14F-4D97-AF65-F5344CB8AC3E}">
        <p14:creationId xmlns:p14="http://schemas.microsoft.com/office/powerpoint/2010/main" val="193793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74" grpId="0" animBg="1"/>
      <p:bldP spid="83" grpId="0" animBg="1"/>
      <p:bldP spid="96" grpId="0"/>
      <p:bldP spid="97" grpId="0"/>
      <p:bldP spid="98" grpId="0"/>
      <p:bldP spid="100" grpId="0"/>
      <p:bldP spid="102" grpId="0"/>
      <p:bldP spid="104" grpId="0"/>
      <p:bldP spid="10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533400" y="304800"/>
            <a:ext cx="8077200" cy="914400"/>
          </a:xfrm>
        </p:spPr>
        <p:txBody>
          <a:bodyPr/>
          <a:lstStyle/>
          <a:p>
            <a:r>
              <a:rPr lang="zh-CN" altLang="en-US" sz="3600" b="1" dirty="0">
                <a:solidFill>
                  <a:srgbClr val="0000CC"/>
                </a:solidFill>
              </a:rPr>
              <a:t>举例</a:t>
            </a:r>
            <a:r>
              <a:rPr lang="en-US" sz="3600" b="1" dirty="0">
                <a:solidFill>
                  <a:srgbClr val="0000CC"/>
                </a:solidFill>
              </a:rPr>
              <a:t>: </a:t>
            </a:r>
            <a:r>
              <a:rPr lang="zh-CN" altLang="en-US" sz="3600" b="1" dirty="0">
                <a:solidFill>
                  <a:srgbClr val="0000CC"/>
                </a:solidFill>
              </a:rPr>
              <a:t>另外一种拓扑排序</a:t>
            </a:r>
            <a:endParaRPr lang="en-US" sz="3600" b="1" dirty="0">
              <a:solidFill>
                <a:srgbClr val="0000CC"/>
              </a:solidFill>
            </a:endParaRPr>
          </a:p>
        </p:txBody>
      </p:sp>
      <p:sp>
        <p:nvSpPr>
          <p:cNvPr id="5" name="Oval 6"/>
          <p:cNvSpPr>
            <a:spLocks noChangeArrowheads="1"/>
          </p:cNvSpPr>
          <p:nvPr/>
        </p:nvSpPr>
        <p:spPr bwMode="auto">
          <a:xfrm>
            <a:off x="1047750" y="152400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7" name="Oval 7"/>
          <p:cNvSpPr>
            <a:spLocks noChangeArrowheads="1"/>
          </p:cNvSpPr>
          <p:nvPr/>
        </p:nvSpPr>
        <p:spPr bwMode="auto">
          <a:xfrm>
            <a:off x="2276474" y="15240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8" name="Oval 8"/>
          <p:cNvSpPr>
            <a:spLocks noChangeArrowheads="1"/>
          </p:cNvSpPr>
          <p:nvPr/>
        </p:nvSpPr>
        <p:spPr bwMode="auto">
          <a:xfrm>
            <a:off x="381000" y="24163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9" name="Oval 9"/>
          <p:cNvSpPr>
            <a:spLocks noChangeArrowheads="1"/>
          </p:cNvSpPr>
          <p:nvPr/>
        </p:nvSpPr>
        <p:spPr bwMode="auto">
          <a:xfrm>
            <a:off x="1662112" y="24163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0" name="Oval 10"/>
          <p:cNvSpPr>
            <a:spLocks noChangeArrowheads="1"/>
          </p:cNvSpPr>
          <p:nvPr/>
        </p:nvSpPr>
        <p:spPr bwMode="auto">
          <a:xfrm>
            <a:off x="2943224" y="24163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 name="Oval 11"/>
          <p:cNvSpPr>
            <a:spLocks noChangeArrowheads="1"/>
          </p:cNvSpPr>
          <p:nvPr/>
        </p:nvSpPr>
        <p:spPr bwMode="auto">
          <a:xfrm>
            <a:off x="990600" y="32766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2" name="Oval 12"/>
          <p:cNvSpPr>
            <a:spLocks noChangeArrowheads="1"/>
          </p:cNvSpPr>
          <p:nvPr/>
        </p:nvSpPr>
        <p:spPr bwMode="auto">
          <a:xfrm>
            <a:off x="2209800" y="3276600"/>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13" name="AutoShape 13"/>
          <p:cNvCxnSpPr>
            <a:cxnSpLocks noChangeShapeType="1"/>
            <a:stCxn id="5" idx="3"/>
            <a:endCxn id="8" idx="7"/>
          </p:cNvCxnSpPr>
          <p:nvPr/>
        </p:nvCxnSpPr>
        <p:spPr bwMode="auto">
          <a:xfrm flipH="1">
            <a:off x="706204" y="181668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9" idx="1"/>
          </p:cNvCxnSpPr>
          <p:nvPr/>
        </p:nvCxnSpPr>
        <p:spPr bwMode="auto">
          <a:xfrm>
            <a:off x="1324173" y="181668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5"/>
          <p:cNvCxnSpPr>
            <a:cxnSpLocks noChangeShapeType="1"/>
            <a:stCxn id="5" idx="6"/>
            <a:endCxn id="7" idx="2"/>
          </p:cNvCxnSpPr>
          <p:nvPr/>
        </p:nvCxnSpPr>
        <p:spPr bwMode="auto">
          <a:xfrm>
            <a:off x="1371600" y="169545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16"/>
          <p:cNvCxnSpPr>
            <a:cxnSpLocks noChangeShapeType="1"/>
            <a:stCxn id="7" idx="5"/>
            <a:endCxn id="10" idx="1"/>
          </p:cNvCxnSpPr>
          <p:nvPr/>
        </p:nvCxnSpPr>
        <p:spPr bwMode="auto">
          <a:xfrm>
            <a:off x="2544767" y="18166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7"/>
          <p:cNvCxnSpPr>
            <a:cxnSpLocks noChangeShapeType="1"/>
            <a:stCxn id="10" idx="2"/>
            <a:endCxn id="9" idx="6"/>
          </p:cNvCxnSpPr>
          <p:nvPr/>
        </p:nvCxnSpPr>
        <p:spPr bwMode="auto">
          <a:xfrm flipH="1">
            <a:off x="1981199" y="25742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8"/>
          <p:cNvCxnSpPr>
            <a:cxnSpLocks noChangeShapeType="1"/>
            <a:stCxn id="12" idx="7"/>
            <a:endCxn id="10" idx="3"/>
          </p:cNvCxnSpPr>
          <p:nvPr/>
        </p:nvCxnSpPr>
        <p:spPr bwMode="auto">
          <a:xfrm flipV="1">
            <a:off x="2494353" y="2685851"/>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9"/>
          <p:cNvCxnSpPr>
            <a:cxnSpLocks noChangeShapeType="1"/>
            <a:stCxn id="9" idx="3"/>
            <a:endCxn id="11" idx="7"/>
          </p:cNvCxnSpPr>
          <p:nvPr/>
        </p:nvCxnSpPr>
        <p:spPr bwMode="auto">
          <a:xfrm flipH="1">
            <a:off x="1267023" y="26858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0"/>
          <p:cNvCxnSpPr>
            <a:cxnSpLocks noChangeShapeType="1"/>
            <a:stCxn id="12" idx="1"/>
            <a:endCxn id="9" idx="5"/>
          </p:cNvCxnSpPr>
          <p:nvPr/>
        </p:nvCxnSpPr>
        <p:spPr bwMode="auto">
          <a:xfrm flipH="1" flipV="1">
            <a:off x="1934470" y="2685852"/>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21"/>
          <p:cNvCxnSpPr>
            <a:cxnSpLocks noChangeShapeType="1"/>
            <a:stCxn id="12" idx="2"/>
            <a:endCxn id="11" idx="6"/>
          </p:cNvCxnSpPr>
          <p:nvPr/>
        </p:nvCxnSpPr>
        <p:spPr bwMode="auto">
          <a:xfrm flipH="1">
            <a:off x="1314450" y="3436938"/>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22"/>
          <p:cNvCxnSpPr>
            <a:cxnSpLocks noChangeShapeType="1"/>
            <a:stCxn id="8" idx="5"/>
            <a:endCxn id="11" idx="1"/>
          </p:cNvCxnSpPr>
          <p:nvPr/>
        </p:nvCxnSpPr>
        <p:spPr bwMode="auto">
          <a:xfrm>
            <a:off x="706204" y="26858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3"/>
          <p:cNvCxnSpPr>
            <a:cxnSpLocks noChangeShapeType="1"/>
            <a:stCxn id="9" idx="2"/>
            <a:endCxn id="8" idx="6"/>
          </p:cNvCxnSpPr>
          <p:nvPr/>
        </p:nvCxnSpPr>
        <p:spPr bwMode="auto">
          <a:xfrm flipH="1">
            <a:off x="762000" y="25742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4"/>
          <p:cNvCxnSpPr>
            <a:cxnSpLocks noChangeShapeType="1"/>
            <a:stCxn id="7" idx="3"/>
            <a:endCxn id="9" idx="7"/>
          </p:cNvCxnSpPr>
          <p:nvPr/>
        </p:nvCxnSpPr>
        <p:spPr bwMode="auto">
          <a:xfrm flipH="1">
            <a:off x="1934470" y="18166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2" name="Bent Arrow 61"/>
          <p:cNvSpPr/>
          <p:nvPr/>
        </p:nvSpPr>
        <p:spPr bwMode="auto">
          <a:xfrm rot="5400000">
            <a:off x="7277100" y="2628900"/>
            <a:ext cx="609600" cy="685800"/>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nvGrpSpPr>
          <p:cNvPr id="136" name="Group 135"/>
          <p:cNvGrpSpPr/>
          <p:nvPr/>
        </p:nvGrpSpPr>
        <p:grpSpPr>
          <a:xfrm>
            <a:off x="5943600" y="4800600"/>
            <a:ext cx="2895599" cy="1720657"/>
            <a:chOff x="5943600" y="4800600"/>
            <a:chExt cx="2895599" cy="1720657"/>
          </a:xfrm>
        </p:grpSpPr>
        <p:sp>
          <p:nvSpPr>
            <p:cNvPr id="64" name="Oval 8"/>
            <p:cNvSpPr>
              <a:spLocks noChangeArrowheads="1"/>
            </p:cNvSpPr>
            <p:nvPr/>
          </p:nvSpPr>
          <p:spPr bwMode="auto">
            <a:xfrm>
              <a:off x="5943600" y="5334001"/>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65" name="Oval 9"/>
            <p:cNvSpPr>
              <a:spLocks noChangeArrowheads="1"/>
            </p:cNvSpPr>
            <p:nvPr/>
          </p:nvSpPr>
          <p:spPr bwMode="auto">
            <a:xfrm>
              <a:off x="7224712" y="5334001"/>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66" name="Oval 10"/>
            <p:cNvSpPr>
              <a:spLocks noChangeArrowheads="1"/>
            </p:cNvSpPr>
            <p:nvPr/>
          </p:nvSpPr>
          <p:spPr bwMode="auto">
            <a:xfrm>
              <a:off x="8505824" y="5334000"/>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67" name="Oval 11"/>
            <p:cNvSpPr>
              <a:spLocks noChangeArrowheads="1"/>
            </p:cNvSpPr>
            <p:nvPr/>
          </p:nvSpPr>
          <p:spPr bwMode="auto">
            <a:xfrm>
              <a:off x="6553200" y="6194232"/>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69" name="AutoShape 17"/>
            <p:cNvCxnSpPr>
              <a:cxnSpLocks noChangeShapeType="1"/>
            </p:cNvCxnSpPr>
            <p:nvPr/>
          </p:nvCxnSpPr>
          <p:spPr bwMode="auto">
            <a:xfrm flipH="1">
              <a:off x="7543799" y="5496314"/>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 name="AutoShape 19"/>
            <p:cNvCxnSpPr>
              <a:cxnSpLocks noChangeShapeType="1"/>
              <a:stCxn id="65" idx="3"/>
              <a:endCxn id="67" idx="7"/>
            </p:cNvCxnSpPr>
            <p:nvPr/>
          </p:nvCxnSpPr>
          <p:spPr bwMode="auto">
            <a:xfrm flipH="1">
              <a:off x="6829623" y="5603484"/>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 name="AutoShape 22"/>
            <p:cNvCxnSpPr>
              <a:cxnSpLocks noChangeShapeType="1"/>
              <a:stCxn id="64" idx="5"/>
              <a:endCxn id="67" idx="1"/>
            </p:cNvCxnSpPr>
            <p:nvPr/>
          </p:nvCxnSpPr>
          <p:spPr bwMode="auto">
            <a:xfrm>
              <a:off x="6268804" y="5603484"/>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 name="AutoShape 23"/>
            <p:cNvCxnSpPr>
              <a:cxnSpLocks noChangeShapeType="1"/>
            </p:cNvCxnSpPr>
            <p:nvPr/>
          </p:nvCxnSpPr>
          <p:spPr bwMode="auto">
            <a:xfrm flipH="1">
              <a:off x="6324600" y="5496315"/>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4" name="Down Arrow 73"/>
            <p:cNvSpPr/>
            <p:nvPr/>
          </p:nvSpPr>
          <p:spPr bwMode="auto">
            <a:xfrm>
              <a:off x="7620000" y="4800600"/>
              <a:ext cx="228600" cy="53340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grpSp>
        <p:nvGrpSpPr>
          <p:cNvPr id="137" name="Group 136"/>
          <p:cNvGrpSpPr/>
          <p:nvPr/>
        </p:nvGrpSpPr>
        <p:grpSpPr>
          <a:xfrm>
            <a:off x="3581401" y="5334000"/>
            <a:ext cx="2209799" cy="1187256"/>
            <a:chOff x="3581401" y="5334000"/>
            <a:chExt cx="2209799" cy="1187256"/>
          </a:xfrm>
        </p:grpSpPr>
        <p:sp>
          <p:nvSpPr>
            <p:cNvPr id="75" name="Oval 8"/>
            <p:cNvSpPr>
              <a:spLocks noChangeArrowheads="1"/>
            </p:cNvSpPr>
            <p:nvPr/>
          </p:nvSpPr>
          <p:spPr bwMode="auto">
            <a:xfrm>
              <a:off x="3581401"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76" name="Oval 9"/>
            <p:cNvSpPr>
              <a:spLocks noChangeArrowheads="1"/>
            </p:cNvSpPr>
            <p:nvPr/>
          </p:nvSpPr>
          <p:spPr bwMode="auto">
            <a:xfrm>
              <a:off x="4862513" y="5334000"/>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78" name="Oval 11"/>
            <p:cNvSpPr>
              <a:spLocks noChangeArrowheads="1"/>
            </p:cNvSpPr>
            <p:nvPr/>
          </p:nvSpPr>
          <p:spPr bwMode="auto">
            <a:xfrm>
              <a:off x="4191001"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0" name="AutoShape 19"/>
            <p:cNvCxnSpPr>
              <a:cxnSpLocks noChangeShapeType="1"/>
              <a:stCxn id="76" idx="3"/>
              <a:endCxn id="78" idx="7"/>
            </p:cNvCxnSpPr>
            <p:nvPr/>
          </p:nvCxnSpPr>
          <p:spPr bwMode="auto">
            <a:xfrm flipH="1">
              <a:off x="4467424" y="5603483"/>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 name="AutoShape 22"/>
            <p:cNvCxnSpPr>
              <a:cxnSpLocks noChangeShapeType="1"/>
              <a:stCxn id="75" idx="5"/>
              <a:endCxn id="78" idx="1"/>
            </p:cNvCxnSpPr>
            <p:nvPr/>
          </p:nvCxnSpPr>
          <p:spPr bwMode="auto">
            <a:xfrm>
              <a:off x="3906605"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2" name="AutoShape 23"/>
            <p:cNvCxnSpPr>
              <a:cxnSpLocks noChangeShapeType="1"/>
            </p:cNvCxnSpPr>
            <p:nvPr/>
          </p:nvCxnSpPr>
          <p:spPr bwMode="auto">
            <a:xfrm flipH="1">
              <a:off x="3962401" y="549631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3" name="Left Arrow 82"/>
            <p:cNvSpPr/>
            <p:nvPr/>
          </p:nvSpPr>
          <p:spPr bwMode="auto">
            <a:xfrm>
              <a:off x="53340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grpSp>
        <p:nvGrpSpPr>
          <p:cNvPr id="138" name="Group 137"/>
          <p:cNvGrpSpPr/>
          <p:nvPr/>
        </p:nvGrpSpPr>
        <p:grpSpPr>
          <a:xfrm>
            <a:off x="1981200" y="5334000"/>
            <a:ext cx="1447800" cy="1187256"/>
            <a:chOff x="1981200" y="5334000"/>
            <a:chExt cx="1447800" cy="1187256"/>
          </a:xfrm>
        </p:grpSpPr>
        <p:sp>
          <p:nvSpPr>
            <p:cNvPr id="84" name="Oval 8"/>
            <p:cNvSpPr>
              <a:spLocks noChangeArrowheads="1"/>
            </p:cNvSpPr>
            <p:nvPr/>
          </p:nvSpPr>
          <p:spPr bwMode="auto">
            <a:xfrm>
              <a:off x="1981200"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86" name="Oval 11"/>
            <p:cNvSpPr>
              <a:spLocks noChangeArrowheads="1"/>
            </p:cNvSpPr>
            <p:nvPr/>
          </p:nvSpPr>
          <p:spPr bwMode="auto">
            <a:xfrm>
              <a:off x="2590800"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8" name="AutoShape 22"/>
            <p:cNvCxnSpPr>
              <a:cxnSpLocks noChangeShapeType="1"/>
              <a:stCxn id="84" idx="5"/>
              <a:endCxn id="86" idx="1"/>
            </p:cNvCxnSpPr>
            <p:nvPr/>
          </p:nvCxnSpPr>
          <p:spPr bwMode="auto">
            <a:xfrm>
              <a:off x="2306404"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0" name="Left Arrow 89"/>
            <p:cNvSpPr/>
            <p:nvPr/>
          </p:nvSpPr>
          <p:spPr bwMode="auto">
            <a:xfrm>
              <a:off x="29718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grpSp>
        <p:nvGrpSpPr>
          <p:cNvPr id="139" name="Group 138"/>
          <p:cNvGrpSpPr/>
          <p:nvPr/>
        </p:nvGrpSpPr>
        <p:grpSpPr>
          <a:xfrm>
            <a:off x="609600" y="5791200"/>
            <a:ext cx="1143000" cy="327025"/>
            <a:chOff x="609600" y="5791200"/>
            <a:chExt cx="1143000" cy="327025"/>
          </a:xfrm>
        </p:grpSpPr>
        <p:sp>
          <p:nvSpPr>
            <p:cNvPr id="92" name="Oval 11"/>
            <p:cNvSpPr>
              <a:spLocks noChangeArrowheads="1"/>
            </p:cNvSpPr>
            <p:nvPr/>
          </p:nvSpPr>
          <p:spPr bwMode="auto">
            <a:xfrm>
              <a:off x="609600" y="57912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4" name="Left Arrow 93"/>
            <p:cNvSpPr/>
            <p:nvPr/>
          </p:nvSpPr>
          <p:spPr bwMode="auto">
            <a:xfrm>
              <a:off x="12954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grpSp>
        <p:nvGrpSpPr>
          <p:cNvPr id="134" name="Group 133"/>
          <p:cNvGrpSpPr/>
          <p:nvPr/>
        </p:nvGrpSpPr>
        <p:grpSpPr>
          <a:xfrm>
            <a:off x="3429000" y="1501775"/>
            <a:ext cx="3352800" cy="2079625"/>
            <a:chOff x="3429000" y="1501775"/>
            <a:chExt cx="3352800" cy="2079625"/>
          </a:xfrm>
        </p:grpSpPr>
        <p:sp>
          <p:nvSpPr>
            <p:cNvPr id="61" name="Right Arrow 60"/>
            <p:cNvSpPr/>
            <p:nvPr/>
          </p:nvSpPr>
          <p:spPr bwMode="auto">
            <a:xfrm>
              <a:off x="3429000" y="2514600"/>
              <a:ext cx="3810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77" name="Oval 7"/>
            <p:cNvSpPr>
              <a:spLocks noChangeArrowheads="1"/>
            </p:cNvSpPr>
            <p:nvPr/>
          </p:nvSpPr>
          <p:spPr bwMode="auto">
            <a:xfrm>
              <a:off x="5781675" y="1501775"/>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79" name="Oval 8"/>
            <p:cNvSpPr>
              <a:spLocks noChangeArrowheads="1"/>
            </p:cNvSpPr>
            <p:nvPr/>
          </p:nvSpPr>
          <p:spPr bwMode="auto">
            <a:xfrm>
              <a:off x="3886201" y="2394144"/>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85" name="Oval 9"/>
            <p:cNvSpPr>
              <a:spLocks noChangeArrowheads="1"/>
            </p:cNvSpPr>
            <p:nvPr/>
          </p:nvSpPr>
          <p:spPr bwMode="auto">
            <a:xfrm>
              <a:off x="5167313" y="2394144"/>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87" name="Oval 10"/>
            <p:cNvSpPr>
              <a:spLocks noChangeArrowheads="1"/>
            </p:cNvSpPr>
            <p:nvPr/>
          </p:nvSpPr>
          <p:spPr bwMode="auto">
            <a:xfrm>
              <a:off x="6448425" y="2394143"/>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89" name="Oval 11"/>
            <p:cNvSpPr>
              <a:spLocks noChangeArrowheads="1"/>
            </p:cNvSpPr>
            <p:nvPr/>
          </p:nvSpPr>
          <p:spPr bwMode="auto">
            <a:xfrm>
              <a:off x="4495801" y="3254375"/>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1" name="Oval 12"/>
            <p:cNvSpPr>
              <a:spLocks noChangeArrowheads="1"/>
            </p:cNvSpPr>
            <p:nvPr/>
          </p:nvSpPr>
          <p:spPr bwMode="auto">
            <a:xfrm>
              <a:off x="5715001" y="3254375"/>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97" name="AutoShape 16"/>
            <p:cNvCxnSpPr>
              <a:cxnSpLocks noChangeShapeType="1"/>
              <a:stCxn id="77" idx="5"/>
              <a:endCxn id="87" idx="1"/>
            </p:cNvCxnSpPr>
            <p:nvPr/>
          </p:nvCxnSpPr>
          <p:spPr bwMode="auto">
            <a:xfrm>
              <a:off x="6049968" y="1794458"/>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8" name="AutoShape 17"/>
            <p:cNvCxnSpPr>
              <a:cxnSpLocks noChangeShapeType="1"/>
              <a:stCxn id="87" idx="2"/>
              <a:endCxn id="85" idx="6"/>
            </p:cNvCxnSpPr>
            <p:nvPr/>
          </p:nvCxnSpPr>
          <p:spPr bwMode="auto">
            <a:xfrm flipH="1">
              <a:off x="5486400" y="2552003"/>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9" name="AutoShape 18"/>
            <p:cNvCxnSpPr>
              <a:cxnSpLocks noChangeShapeType="1"/>
              <a:stCxn id="91" idx="7"/>
              <a:endCxn id="87" idx="3"/>
            </p:cNvCxnSpPr>
            <p:nvPr/>
          </p:nvCxnSpPr>
          <p:spPr bwMode="auto">
            <a:xfrm flipV="1">
              <a:off x="5999554" y="2663626"/>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0" name="AutoShape 19"/>
            <p:cNvCxnSpPr>
              <a:cxnSpLocks noChangeShapeType="1"/>
              <a:stCxn id="85" idx="3"/>
              <a:endCxn id="89" idx="7"/>
            </p:cNvCxnSpPr>
            <p:nvPr/>
          </p:nvCxnSpPr>
          <p:spPr bwMode="auto">
            <a:xfrm flipH="1">
              <a:off x="4772224" y="2663627"/>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1" name="AutoShape 20"/>
            <p:cNvCxnSpPr>
              <a:cxnSpLocks noChangeShapeType="1"/>
              <a:stCxn id="91" idx="1"/>
              <a:endCxn id="85" idx="5"/>
            </p:cNvCxnSpPr>
            <p:nvPr/>
          </p:nvCxnSpPr>
          <p:spPr bwMode="auto">
            <a:xfrm flipH="1" flipV="1">
              <a:off x="5439671" y="2663627"/>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2" name="AutoShape 21"/>
            <p:cNvCxnSpPr>
              <a:cxnSpLocks noChangeShapeType="1"/>
              <a:stCxn id="91" idx="2"/>
              <a:endCxn id="89" idx="6"/>
            </p:cNvCxnSpPr>
            <p:nvPr/>
          </p:nvCxnSpPr>
          <p:spPr bwMode="auto">
            <a:xfrm flipH="1">
              <a:off x="4819651" y="3414713"/>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3" name="AutoShape 22"/>
            <p:cNvCxnSpPr>
              <a:cxnSpLocks noChangeShapeType="1"/>
              <a:stCxn id="79" idx="5"/>
              <a:endCxn id="89" idx="1"/>
            </p:cNvCxnSpPr>
            <p:nvPr/>
          </p:nvCxnSpPr>
          <p:spPr bwMode="auto">
            <a:xfrm>
              <a:off x="4211405" y="2663627"/>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4" name="AutoShape 23"/>
            <p:cNvCxnSpPr>
              <a:cxnSpLocks noChangeShapeType="1"/>
              <a:stCxn id="85" idx="2"/>
              <a:endCxn id="79" idx="6"/>
            </p:cNvCxnSpPr>
            <p:nvPr/>
          </p:nvCxnSpPr>
          <p:spPr bwMode="auto">
            <a:xfrm flipH="1">
              <a:off x="4267201" y="255200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5" name="AutoShape 24"/>
            <p:cNvCxnSpPr>
              <a:cxnSpLocks noChangeShapeType="1"/>
              <a:stCxn id="77" idx="3"/>
              <a:endCxn id="85" idx="7"/>
            </p:cNvCxnSpPr>
            <p:nvPr/>
          </p:nvCxnSpPr>
          <p:spPr bwMode="auto">
            <a:xfrm flipH="1">
              <a:off x="5439671" y="1794458"/>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135" name="Group 134"/>
          <p:cNvGrpSpPr/>
          <p:nvPr/>
        </p:nvGrpSpPr>
        <p:grpSpPr>
          <a:xfrm>
            <a:off x="6096000" y="3613343"/>
            <a:ext cx="2895599" cy="1187257"/>
            <a:chOff x="6096000" y="3613343"/>
            <a:chExt cx="2895599" cy="1187257"/>
          </a:xfrm>
        </p:grpSpPr>
        <p:sp>
          <p:nvSpPr>
            <p:cNvPr id="108" name="Oval 8"/>
            <p:cNvSpPr>
              <a:spLocks noChangeArrowheads="1"/>
            </p:cNvSpPr>
            <p:nvPr/>
          </p:nvSpPr>
          <p:spPr bwMode="auto">
            <a:xfrm>
              <a:off x="6096000" y="3613344"/>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109" name="Oval 9"/>
            <p:cNvSpPr>
              <a:spLocks noChangeArrowheads="1"/>
            </p:cNvSpPr>
            <p:nvPr/>
          </p:nvSpPr>
          <p:spPr bwMode="auto">
            <a:xfrm>
              <a:off x="7377112" y="3613344"/>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10" name="Oval 10"/>
            <p:cNvSpPr>
              <a:spLocks noChangeArrowheads="1"/>
            </p:cNvSpPr>
            <p:nvPr/>
          </p:nvSpPr>
          <p:spPr bwMode="auto">
            <a:xfrm>
              <a:off x="8658224" y="3613343"/>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1" name="Oval 11"/>
            <p:cNvSpPr>
              <a:spLocks noChangeArrowheads="1"/>
            </p:cNvSpPr>
            <p:nvPr/>
          </p:nvSpPr>
          <p:spPr bwMode="auto">
            <a:xfrm>
              <a:off x="6705600" y="4473575"/>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12" name="Oval 12"/>
            <p:cNvSpPr>
              <a:spLocks noChangeArrowheads="1"/>
            </p:cNvSpPr>
            <p:nvPr/>
          </p:nvSpPr>
          <p:spPr bwMode="auto">
            <a:xfrm>
              <a:off x="7924800" y="4473575"/>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117" name="AutoShape 17"/>
            <p:cNvCxnSpPr>
              <a:cxnSpLocks noChangeShapeType="1"/>
              <a:stCxn id="110" idx="2"/>
              <a:endCxn id="109" idx="6"/>
            </p:cNvCxnSpPr>
            <p:nvPr/>
          </p:nvCxnSpPr>
          <p:spPr bwMode="auto">
            <a:xfrm flipH="1">
              <a:off x="7696199" y="3771203"/>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8" name="AutoShape 18"/>
            <p:cNvCxnSpPr>
              <a:cxnSpLocks noChangeShapeType="1"/>
              <a:stCxn id="112" idx="7"/>
              <a:endCxn id="110" idx="3"/>
            </p:cNvCxnSpPr>
            <p:nvPr/>
          </p:nvCxnSpPr>
          <p:spPr bwMode="auto">
            <a:xfrm flipV="1">
              <a:off x="8209353" y="3882826"/>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9" name="AutoShape 19"/>
            <p:cNvCxnSpPr>
              <a:cxnSpLocks noChangeShapeType="1"/>
              <a:stCxn id="109" idx="3"/>
              <a:endCxn id="111" idx="7"/>
            </p:cNvCxnSpPr>
            <p:nvPr/>
          </p:nvCxnSpPr>
          <p:spPr bwMode="auto">
            <a:xfrm flipH="1">
              <a:off x="6982023" y="3882827"/>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0" name="AutoShape 20"/>
            <p:cNvCxnSpPr>
              <a:cxnSpLocks noChangeShapeType="1"/>
              <a:stCxn id="112" idx="1"/>
              <a:endCxn id="109" idx="5"/>
            </p:cNvCxnSpPr>
            <p:nvPr/>
          </p:nvCxnSpPr>
          <p:spPr bwMode="auto">
            <a:xfrm flipH="1" flipV="1">
              <a:off x="7649470" y="3882827"/>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1" name="AutoShape 21"/>
            <p:cNvCxnSpPr>
              <a:cxnSpLocks noChangeShapeType="1"/>
              <a:stCxn id="112" idx="2"/>
              <a:endCxn id="111" idx="6"/>
            </p:cNvCxnSpPr>
            <p:nvPr/>
          </p:nvCxnSpPr>
          <p:spPr bwMode="auto">
            <a:xfrm flipH="1">
              <a:off x="7029450" y="4633913"/>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2" name="AutoShape 22"/>
            <p:cNvCxnSpPr>
              <a:cxnSpLocks noChangeShapeType="1"/>
              <a:stCxn id="108" idx="5"/>
              <a:endCxn id="111" idx="1"/>
            </p:cNvCxnSpPr>
            <p:nvPr/>
          </p:nvCxnSpPr>
          <p:spPr bwMode="auto">
            <a:xfrm>
              <a:off x="6421204" y="3882827"/>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3" name="AutoShape 23"/>
            <p:cNvCxnSpPr>
              <a:cxnSpLocks noChangeShapeType="1"/>
              <a:stCxn id="109" idx="2"/>
              <a:endCxn id="108" idx="6"/>
            </p:cNvCxnSpPr>
            <p:nvPr/>
          </p:nvCxnSpPr>
          <p:spPr bwMode="auto">
            <a:xfrm flipH="1">
              <a:off x="6477000" y="377120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25" name="Rectangle 3"/>
          <p:cNvSpPr txBox="1">
            <a:spLocks noChangeArrowheads="1"/>
          </p:cNvSpPr>
          <p:nvPr/>
        </p:nvSpPr>
        <p:spPr bwMode="auto">
          <a:xfrm>
            <a:off x="609600" y="4038600"/>
            <a:ext cx="1447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20040" marR="0" lvl="0" indent="-320040" algn="l" defTabSz="914400" rtl="0" eaLnBrk="0" fontAlgn="base" latinLnBrk="0" hangingPunct="0">
              <a:lnSpc>
                <a:spcPct val="100000"/>
              </a:lnSpc>
              <a:spcBef>
                <a:spcPct val="20000"/>
              </a:spcBef>
              <a:spcAft>
                <a:spcPct val="0"/>
              </a:spcAft>
              <a:buClrTx/>
              <a:buSzTx/>
              <a:buFont typeface="Wingdings" pitchFamily="2" charset="2"/>
              <a:buNone/>
              <a:tabLst/>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输出</a:t>
            </a:r>
            <a:r>
              <a:rPr kumimoji="0" lang="en-US" sz="2800" b="1" i="0" u="none" strike="noStrike" kern="0" cap="none" spc="0" normalizeH="0" baseline="0" noProof="0" dirty="0">
                <a:ln>
                  <a:noFill/>
                </a:ln>
                <a:solidFill>
                  <a:schemeClr val="tx1"/>
                </a:solidFill>
                <a:effectLst/>
                <a:uLnTx/>
                <a:uFillTx/>
                <a:latin typeface="+mn-lt"/>
                <a:ea typeface="+mn-ea"/>
                <a:cs typeface="+mn-cs"/>
              </a:rPr>
              <a:t>:</a:t>
            </a:r>
          </a:p>
          <a:p>
            <a:pPr marL="320040" marR="0" lvl="0" indent="-320040" algn="l" defTabSz="914400" rtl="0" eaLnBrk="0" fontAlgn="base" latinLnBrk="0" hangingPunct="0">
              <a:lnSpc>
                <a:spcPct val="100000"/>
              </a:lnSpc>
              <a:spcBef>
                <a:spcPct val="20000"/>
              </a:spcBef>
              <a:spcAft>
                <a:spcPct val="0"/>
              </a:spcAft>
              <a:buClrTx/>
              <a:buSzTx/>
              <a:buFont typeface="Wingdings" pitchFamily="2" charset="2"/>
              <a:buNone/>
              <a:tabLst/>
              <a:defRPr/>
            </a:pPr>
            <a:endParaRPr kumimoji="0" 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126" name="Rectangle 125"/>
          <p:cNvSpPr/>
          <p:nvPr/>
        </p:nvSpPr>
        <p:spPr>
          <a:xfrm>
            <a:off x="1981200" y="4038600"/>
            <a:ext cx="463588" cy="523220"/>
          </a:xfrm>
          <a:prstGeom prst="rect">
            <a:avLst/>
          </a:prstGeom>
        </p:spPr>
        <p:txBody>
          <a:bodyPr wrap="none">
            <a:spAutoFit/>
          </a:bodyPr>
          <a:lstStyle/>
          <a:p>
            <a:r>
              <a:rPr lang="en-US" sz="2800" i="1" dirty="0"/>
              <a:t>v</a:t>
            </a:r>
            <a:r>
              <a:rPr lang="en-US" sz="2800" baseline="-25000" dirty="0"/>
              <a:t>2</a:t>
            </a:r>
            <a:endParaRPr lang="en-US" sz="2800" dirty="0"/>
          </a:p>
        </p:txBody>
      </p:sp>
      <p:sp>
        <p:nvSpPr>
          <p:cNvPr id="127" name="Rectangle 126"/>
          <p:cNvSpPr/>
          <p:nvPr/>
        </p:nvSpPr>
        <p:spPr>
          <a:xfrm>
            <a:off x="2286000" y="4038600"/>
            <a:ext cx="643125" cy="523220"/>
          </a:xfrm>
          <a:prstGeom prst="rect">
            <a:avLst/>
          </a:prstGeom>
        </p:spPr>
        <p:txBody>
          <a:bodyPr wrap="none">
            <a:spAutoFit/>
          </a:bodyPr>
          <a:lstStyle/>
          <a:p>
            <a:r>
              <a:rPr lang="en-US" sz="2800" dirty="0"/>
              <a:t>, </a:t>
            </a:r>
            <a:r>
              <a:rPr lang="en-US" sz="2800" i="1" dirty="0"/>
              <a:t>v</a:t>
            </a:r>
            <a:r>
              <a:rPr lang="en-US" sz="2800" baseline="-25000" dirty="0"/>
              <a:t>3</a:t>
            </a:r>
            <a:endParaRPr lang="en-US" sz="2800" dirty="0"/>
          </a:p>
        </p:txBody>
      </p:sp>
      <p:sp>
        <p:nvSpPr>
          <p:cNvPr id="128" name="Rectangle 127"/>
          <p:cNvSpPr/>
          <p:nvPr/>
        </p:nvSpPr>
        <p:spPr>
          <a:xfrm>
            <a:off x="2819400" y="4038600"/>
            <a:ext cx="643125" cy="523220"/>
          </a:xfrm>
          <a:prstGeom prst="rect">
            <a:avLst/>
          </a:prstGeom>
        </p:spPr>
        <p:txBody>
          <a:bodyPr wrap="none">
            <a:spAutoFit/>
          </a:bodyPr>
          <a:lstStyle/>
          <a:p>
            <a:r>
              <a:rPr lang="en-US" sz="2800" dirty="0"/>
              <a:t>, </a:t>
            </a:r>
            <a:r>
              <a:rPr lang="en-US" sz="2800" i="1" dirty="0"/>
              <a:t>v</a:t>
            </a:r>
            <a:r>
              <a:rPr lang="en-US" sz="2800" baseline="-25000" dirty="0"/>
              <a:t>1</a:t>
            </a:r>
            <a:endParaRPr lang="en-US" sz="2800" dirty="0"/>
          </a:p>
        </p:txBody>
      </p:sp>
      <p:sp>
        <p:nvSpPr>
          <p:cNvPr id="129" name="Rectangle 128"/>
          <p:cNvSpPr/>
          <p:nvPr/>
        </p:nvSpPr>
        <p:spPr>
          <a:xfrm>
            <a:off x="3352800" y="4038600"/>
            <a:ext cx="732893" cy="523220"/>
          </a:xfrm>
          <a:prstGeom prst="rect">
            <a:avLst/>
          </a:prstGeom>
        </p:spPr>
        <p:txBody>
          <a:bodyPr wrap="none">
            <a:spAutoFit/>
          </a:bodyPr>
          <a:lstStyle/>
          <a:p>
            <a:r>
              <a:rPr lang="en-US" sz="2800" dirty="0"/>
              <a:t>, </a:t>
            </a:r>
            <a:r>
              <a:rPr lang="en-US" sz="2800" i="1" dirty="0"/>
              <a:t>v</a:t>
            </a:r>
            <a:r>
              <a:rPr lang="en-US" sz="2800" baseline="-25000" dirty="0"/>
              <a:t>4</a:t>
            </a:r>
            <a:r>
              <a:rPr lang="en-US" sz="2800" dirty="0"/>
              <a:t> </a:t>
            </a:r>
          </a:p>
        </p:txBody>
      </p:sp>
      <p:sp>
        <p:nvSpPr>
          <p:cNvPr id="130" name="Rectangle 129"/>
          <p:cNvSpPr/>
          <p:nvPr/>
        </p:nvSpPr>
        <p:spPr>
          <a:xfrm>
            <a:off x="3886200" y="4038600"/>
            <a:ext cx="643125" cy="523220"/>
          </a:xfrm>
          <a:prstGeom prst="rect">
            <a:avLst/>
          </a:prstGeom>
        </p:spPr>
        <p:txBody>
          <a:bodyPr wrap="none">
            <a:spAutoFit/>
          </a:bodyPr>
          <a:lstStyle/>
          <a:p>
            <a:r>
              <a:rPr lang="en-US" sz="2800" dirty="0"/>
              <a:t>, </a:t>
            </a:r>
            <a:r>
              <a:rPr lang="en-US" sz="2800" i="1" dirty="0"/>
              <a:t>v</a:t>
            </a:r>
            <a:r>
              <a:rPr lang="en-US" sz="2800" baseline="-25000" dirty="0"/>
              <a:t>5</a:t>
            </a:r>
            <a:endParaRPr lang="en-US" sz="2800" dirty="0"/>
          </a:p>
        </p:txBody>
      </p:sp>
      <p:sp>
        <p:nvSpPr>
          <p:cNvPr id="131" name="Rectangle 130"/>
          <p:cNvSpPr/>
          <p:nvPr/>
        </p:nvSpPr>
        <p:spPr>
          <a:xfrm>
            <a:off x="4419600" y="4038600"/>
            <a:ext cx="732893" cy="523220"/>
          </a:xfrm>
          <a:prstGeom prst="rect">
            <a:avLst/>
          </a:prstGeom>
        </p:spPr>
        <p:txBody>
          <a:bodyPr wrap="none">
            <a:spAutoFit/>
          </a:bodyPr>
          <a:lstStyle/>
          <a:p>
            <a:r>
              <a:rPr lang="en-US" sz="2800" dirty="0"/>
              <a:t>, </a:t>
            </a:r>
            <a:r>
              <a:rPr lang="en-US" sz="2800" i="1" dirty="0"/>
              <a:t>v</a:t>
            </a:r>
            <a:r>
              <a:rPr lang="en-US" sz="2800" baseline="-25000" dirty="0"/>
              <a:t>6</a:t>
            </a:r>
            <a:r>
              <a:rPr lang="en-US" sz="2800" dirty="0"/>
              <a:t> </a:t>
            </a:r>
          </a:p>
        </p:txBody>
      </p:sp>
      <p:sp>
        <p:nvSpPr>
          <p:cNvPr id="132" name="Rectangle 131"/>
          <p:cNvSpPr/>
          <p:nvPr/>
        </p:nvSpPr>
        <p:spPr>
          <a:xfrm>
            <a:off x="4953000" y="4038600"/>
            <a:ext cx="732893" cy="523220"/>
          </a:xfrm>
          <a:prstGeom prst="rect">
            <a:avLst/>
          </a:prstGeom>
        </p:spPr>
        <p:txBody>
          <a:bodyPr wrap="none">
            <a:spAutoFit/>
          </a:bodyPr>
          <a:lstStyle/>
          <a:p>
            <a:r>
              <a:rPr lang="en-US" sz="2800" dirty="0"/>
              <a:t>, </a:t>
            </a:r>
            <a:r>
              <a:rPr lang="en-US" sz="2800" i="1" dirty="0"/>
              <a:t>v</a:t>
            </a:r>
            <a:r>
              <a:rPr lang="en-US" sz="2800" baseline="-25000" dirty="0"/>
              <a:t>7</a:t>
            </a:r>
            <a:r>
              <a:rPr lang="en-US" sz="2800" dirty="0"/>
              <a:t> </a:t>
            </a:r>
          </a:p>
        </p:txBody>
      </p:sp>
    </p:spTree>
    <p:extLst>
      <p:ext uri="{BB962C8B-B14F-4D97-AF65-F5344CB8AC3E}">
        <p14:creationId xmlns:p14="http://schemas.microsoft.com/office/powerpoint/2010/main" val="193793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126" grpId="0"/>
      <p:bldP spid="127" grpId="0"/>
      <p:bldP spid="128" grpId="0"/>
      <p:bldP spid="129" grpId="0"/>
      <p:bldP spid="130" grpId="0"/>
      <p:bldP spid="131" grpId="0"/>
      <p:bldP spid="13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a:xfrm>
            <a:off x="533400" y="1524000"/>
            <a:ext cx="8153400" cy="4419600"/>
          </a:xfrm>
        </p:spPr>
        <p:txBody>
          <a:bodyPr/>
          <a:lstStyle/>
          <a:p>
            <a:pPr marL="533400" indent="-533400">
              <a:buFont typeface="Monotype Sorts" pitchFamily="2" charset="2"/>
              <a:buNone/>
            </a:pPr>
            <a:endParaRPr lang="en-US" sz="2400" b="1" dirty="0"/>
          </a:p>
          <a:p>
            <a:pPr marL="533400" indent="-533400">
              <a:buFont typeface="Monotype Sorts" pitchFamily="2" charset="2"/>
              <a:buNone/>
            </a:pPr>
            <a:r>
              <a:rPr lang="en-US" sz="2400" b="1" dirty="0"/>
              <a:t>Topological-Sort2(</a:t>
            </a:r>
            <a:r>
              <a:rPr lang="en-US" sz="2400" b="1" i="1" dirty="0"/>
              <a:t>G</a:t>
            </a:r>
            <a:r>
              <a:rPr lang="en-US" sz="2400" b="1" dirty="0"/>
              <a:t>)</a:t>
            </a:r>
          </a:p>
          <a:p>
            <a:pPr marL="365760" indent="-365760">
              <a:buFont typeface="Monotype Sorts" pitchFamily="2" charset="2"/>
              <a:buAutoNum type="arabicPeriod"/>
            </a:pPr>
            <a:r>
              <a:rPr lang="zh-CN" altLang="en-US" sz="2400" b="1" dirty="0"/>
              <a:t>找到一个没有入边的节点</a:t>
            </a:r>
            <a:r>
              <a:rPr lang="en-US" altLang="zh-CN" sz="2400" b="1" i="1" dirty="0"/>
              <a:t>v</a:t>
            </a:r>
            <a:endParaRPr lang="en-US" sz="2400" b="1" dirty="0"/>
          </a:p>
          <a:p>
            <a:pPr marL="365760" indent="-365760">
              <a:buFont typeface="Monotype Sorts" pitchFamily="2" charset="2"/>
              <a:buAutoNum type="arabicPeriod"/>
            </a:pPr>
            <a:r>
              <a:rPr lang="zh-CN" altLang="en-US" sz="2400" b="1" dirty="0"/>
              <a:t>删除</a:t>
            </a:r>
            <a:r>
              <a:rPr lang="en-US" altLang="zh-CN" sz="2400" b="1" i="1" dirty="0"/>
              <a:t>v</a:t>
            </a:r>
            <a:r>
              <a:rPr lang="zh-CN" altLang="en-US" sz="2400" b="1" dirty="0"/>
              <a:t>和</a:t>
            </a:r>
            <a:r>
              <a:rPr lang="en-US" altLang="zh-CN" sz="2400" b="1" i="1" dirty="0"/>
              <a:t>v</a:t>
            </a:r>
            <a:r>
              <a:rPr lang="zh-CN" altLang="en-US" sz="2400" b="1" dirty="0"/>
              <a:t>相连的边</a:t>
            </a:r>
            <a:endParaRPr lang="en-US" sz="2400" b="1" dirty="0"/>
          </a:p>
          <a:p>
            <a:pPr marL="365760" indent="-365760">
              <a:buFont typeface="Monotype Sorts" pitchFamily="2" charset="2"/>
              <a:buAutoNum type="arabicPeriod"/>
            </a:pPr>
            <a:r>
              <a:rPr lang="zh-CN" altLang="en-US" sz="2400" b="1" dirty="0"/>
              <a:t>递归调用</a:t>
            </a:r>
            <a:r>
              <a:rPr lang="en-US" sz="2400" b="1" dirty="0"/>
              <a:t>Topological-Sort2(</a:t>
            </a:r>
            <a:r>
              <a:rPr lang="en-US" sz="2400" b="1" i="1" dirty="0"/>
              <a:t>G  </a:t>
            </a:r>
            <a:r>
              <a:rPr lang="en-US" sz="2400" b="1" dirty="0"/>
              <a:t>– {</a:t>
            </a:r>
            <a:r>
              <a:rPr lang="en-US" sz="2400" b="1" i="1" dirty="0"/>
              <a:t>v</a:t>
            </a:r>
            <a:r>
              <a:rPr lang="en-US" sz="2400" b="1" dirty="0"/>
              <a:t>})</a:t>
            </a:r>
          </a:p>
          <a:p>
            <a:pPr marL="0" indent="0">
              <a:buNone/>
            </a:pPr>
            <a:endParaRPr lang="en-US" altLang="zh-CN" sz="2400" b="1" dirty="0"/>
          </a:p>
          <a:p>
            <a:pPr marL="0" indent="0">
              <a:buNone/>
            </a:pPr>
            <a:r>
              <a:rPr lang="zh-CN" altLang="en-US" sz="2400" b="1" i="1" dirty="0">
                <a:solidFill>
                  <a:srgbClr val="FF0000"/>
                </a:solidFill>
              </a:rPr>
              <a:t>该算法删除节点的顺序即为一个拓扑序</a:t>
            </a:r>
            <a:endParaRPr lang="en-US" altLang="zh-CN" sz="2400" b="1" i="1" dirty="0">
              <a:solidFill>
                <a:srgbClr val="FF0000"/>
              </a:solidFill>
            </a:endParaRPr>
          </a:p>
          <a:p>
            <a:pPr marL="0" indent="0">
              <a:buNone/>
            </a:pPr>
            <a:endParaRPr lang="en-US" sz="2400" b="1" i="1" dirty="0">
              <a:solidFill>
                <a:srgbClr val="FF0000"/>
              </a:solidFill>
            </a:endParaRPr>
          </a:p>
          <a:p>
            <a:pPr marL="0" indent="0">
              <a:buNone/>
            </a:pPr>
            <a:r>
              <a:rPr lang="zh-CN" altLang="en-US" sz="2400" b="1" dirty="0">
                <a:solidFill>
                  <a:srgbClr val="3333FF"/>
                </a:solidFill>
              </a:rPr>
              <a:t>时间复杂度</a:t>
            </a:r>
            <a:r>
              <a:rPr lang="zh-CN" altLang="en-US" sz="2400" b="1" i="1" dirty="0"/>
              <a:t>：</a:t>
            </a:r>
            <a:r>
              <a:rPr lang="en-US" altLang="zh-CN" sz="2400" b="1" i="1" dirty="0"/>
              <a:t>O</a:t>
            </a:r>
            <a:r>
              <a:rPr lang="en-US" altLang="zh-CN" sz="2400" b="1" dirty="0"/>
              <a:t>(|</a:t>
            </a:r>
            <a:r>
              <a:rPr lang="en-US" altLang="zh-CN" sz="2400" b="1" i="1" dirty="0"/>
              <a:t>V</a:t>
            </a:r>
            <a:r>
              <a:rPr lang="en-US" altLang="zh-CN" sz="2400" b="1" dirty="0"/>
              <a:t> |</a:t>
            </a:r>
            <a:r>
              <a:rPr lang="en-US" altLang="zh-CN" sz="2400" b="1" i="1" dirty="0"/>
              <a:t> </a:t>
            </a:r>
            <a:r>
              <a:rPr lang="en-US" altLang="zh-CN" sz="2400" b="1" dirty="0"/>
              <a:t>+ | </a:t>
            </a:r>
            <a:r>
              <a:rPr lang="en-US" altLang="zh-CN" sz="2400" b="1" i="1" dirty="0"/>
              <a:t>E</a:t>
            </a:r>
            <a:r>
              <a:rPr lang="en-US" altLang="zh-CN" sz="2400" b="1" dirty="0"/>
              <a:t> |)</a:t>
            </a:r>
            <a:endParaRPr lang="en-US" sz="2400" b="1" dirty="0"/>
          </a:p>
          <a:p>
            <a:pPr marL="320040" indent="-320040">
              <a:buNone/>
            </a:pPr>
            <a:endParaRPr lang="en-US" sz="2400" b="1" dirty="0"/>
          </a:p>
        </p:txBody>
      </p:sp>
      <p:sp>
        <p:nvSpPr>
          <p:cNvPr id="6" name="Rectangle 2"/>
          <p:cNvSpPr>
            <a:spLocks noGrp="1" noChangeArrowheads="1"/>
          </p:cNvSpPr>
          <p:nvPr>
            <p:ph type="title"/>
          </p:nvPr>
        </p:nvSpPr>
        <p:spPr>
          <a:xfrm>
            <a:off x="533400" y="304800"/>
            <a:ext cx="8077200" cy="914400"/>
          </a:xfrm>
        </p:spPr>
        <p:txBody>
          <a:bodyPr/>
          <a:lstStyle/>
          <a:p>
            <a:r>
              <a:rPr lang="zh-CN" altLang="en-US" sz="3600" b="1" dirty="0">
                <a:solidFill>
                  <a:srgbClr val="0000CC"/>
                </a:solidFill>
              </a:rPr>
              <a:t>拓扑排序：算法一</a:t>
            </a:r>
            <a:endParaRPr lang="en-US" sz="3600" b="1" dirty="0">
              <a:solidFill>
                <a:srgbClr val="0000CC"/>
              </a:solidFill>
            </a:endParaRPr>
          </a:p>
        </p:txBody>
      </p:sp>
      <p:sp>
        <p:nvSpPr>
          <p:cNvPr id="4" name="TextBox 4">
            <a:extLst>
              <a:ext uri="{FF2B5EF4-FFF2-40B4-BE49-F238E27FC236}">
                <a16:creationId xmlns:a16="http://schemas.microsoft.com/office/drawing/2014/main" id="{C4DE944F-0E1D-46CB-9B84-320A2A063DF3}"/>
              </a:ext>
            </a:extLst>
          </p:cNvPr>
          <p:cNvSpPr txBox="1"/>
          <p:nvPr/>
        </p:nvSpPr>
        <p:spPr>
          <a:xfrm>
            <a:off x="563880" y="5867400"/>
            <a:ext cx="5570756" cy="461665"/>
          </a:xfrm>
          <a:prstGeom prst="rect">
            <a:avLst/>
          </a:prstGeom>
          <a:noFill/>
        </p:spPr>
        <p:txBody>
          <a:bodyPr wrap="none" rtlCol="0">
            <a:spAutoFit/>
          </a:bodyPr>
          <a:lstStyle/>
          <a:p>
            <a:pPr marL="342900" indent="-342900">
              <a:buFont typeface="Wingdings" pitchFamily="2" charset="2"/>
              <a:buChar char="§"/>
            </a:pPr>
            <a:r>
              <a:rPr lang="zh-CN" altLang="en-US" sz="2400" dirty="0"/>
              <a:t>思考</a:t>
            </a:r>
            <a:r>
              <a:rPr lang="en-US" sz="2400" dirty="0"/>
              <a:t>: </a:t>
            </a:r>
            <a:r>
              <a:rPr lang="zh-CN" altLang="en-US" sz="2400" dirty="0"/>
              <a:t>一个</a:t>
            </a:r>
            <a:r>
              <a:rPr lang="en-US" altLang="zh-CN" sz="2400" dirty="0"/>
              <a:t>DAG</a:t>
            </a:r>
            <a:r>
              <a:rPr lang="zh-CN" altLang="en-US" sz="2400" dirty="0"/>
              <a:t>的拓扑排序是否唯一</a:t>
            </a:r>
            <a:r>
              <a:rPr lang="en-US" sz="2400" dirty="0"/>
              <a:t>?</a:t>
            </a:r>
          </a:p>
        </p:txBody>
      </p:sp>
    </p:spTree>
    <p:extLst>
      <p:ext uri="{BB962C8B-B14F-4D97-AF65-F5344CB8AC3E}">
        <p14:creationId xmlns:p14="http://schemas.microsoft.com/office/powerpoint/2010/main" val="193793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b="1" dirty="0"/>
              <a:t>入度为</a:t>
            </a:r>
            <a:r>
              <a:rPr lang="en-US" altLang="zh-CN" b="1" dirty="0"/>
              <a:t>0</a:t>
            </a:r>
            <a:r>
              <a:rPr lang="zh-CN" altLang="en-US" b="1" dirty="0"/>
              <a:t>的顶点</a:t>
            </a:r>
          </a:p>
        </p:txBody>
      </p:sp>
      <p:sp>
        <p:nvSpPr>
          <p:cNvPr id="3" name="内容占位符 2"/>
          <p:cNvSpPr>
            <a:spLocks noGrp="1"/>
          </p:cNvSpPr>
          <p:nvPr>
            <p:ph idx="1"/>
          </p:nvPr>
        </p:nvSpPr>
        <p:spPr/>
        <p:txBody>
          <a:bodyPr/>
          <a:lstStyle/>
          <a:p>
            <a:r>
              <a:rPr lang="zh-CN" altLang="en-US" b="1" dirty="0"/>
              <a:t>思考：如何快速确定入度为</a:t>
            </a:r>
            <a:r>
              <a:rPr lang="en-US" altLang="zh-CN" b="1" dirty="0"/>
              <a:t>0</a:t>
            </a:r>
            <a:r>
              <a:rPr lang="zh-CN" altLang="en-US" b="1" dirty="0"/>
              <a:t>的顶点？</a:t>
            </a:r>
            <a:endParaRPr lang="en-US" altLang="zh-CN" b="1" dirty="0"/>
          </a:p>
          <a:p>
            <a:r>
              <a:rPr lang="zh-CN" altLang="en-US" b="1" dirty="0">
                <a:solidFill>
                  <a:srgbClr val="3333FF"/>
                </a:solidFill>
              </a:rPr>
              <a:t>时间复杂度</a:t>
            </a:r>
            <a:r>
              <a:rPr lang="zh-CN" altLang="en-US" b="1" i="1" dirty="0"/>
              <a:t>：</a:t>
            </a:r>
            <a:r>
              <a:rPr lang="en-US" altLang="zh-CN" b="1" i="1" dirty="0"/>
              <a:t>O</a:t>
            </a:r>
            <a:r>
              <a:rPr lang="en-US" altLang="zh-CN" b="1" dirty="0"/>
              <a:t>(|</a:t>
            </a:r>
            <a:r>
              <a:rPr lang="en-US" altLang="zh-CN" b="1" i="1" dirty="0"/>
              <a:t>V</a:t>
            </a:r>
            <a:r>
              <a:rPr lang="en-US" altLang="zh-CN" b="1" dirty="0"/>
              <a:t> |</a:t>
            </a:r>
            <a:r>
              <a:rPr lang="en-US" altLang="zh-CN" b="1" i="1" dirty="0"/>
              <a:t> </a:t>
            </a:r>
            <a:r>
              <a:rPr lang="en-US" altLang="zh-CN" b="1" dirty="0"/>
              <a:t>+ | </a:t>
            </a:r>
            <a:r>
              <a:rPr lang="en-US" altLang="zh-CN" b="1" i="1" dirty="0"/>
              <a:t>E</a:t>
            </a:r>
            <a:r>
              <a:rPr lang="en-US" altLang="zh-CN" b="1" dirty="0"/>
              <a:t> |)</a:t>
            </a:r>
          </a:p>
          <a:p>
            <a:endParaRPr lang="en-US" altLang="zh-CN" b="1" dirty="0"/>
          </a:p>
          <a:p>
            <a:r>
              <a:rPr lang="zh-CN" altLang="en-US" b="1" dirty="0"/>
              <a:t>思考：是不是所有的有向图都能够被拓扑排序呢？</a:t>
            </a:r>
            <a:endParaRPr lang="en-US" altLang="zh-CN" b="1" dirty="0"/>
          </a:p>
          <a:p>
            <a:endParaRPr lang="zh-CN" altLang="en-US" b="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拓扑排序：算法二</a:t>
            </a:r>
            <a:endParaRPr lang="en-US" sz="3600" b="1" dirty="0">
              <a:solidFill>
                <a:srgbClr val="0000CC"/>
              </a:solidFill>
            </a:endParaRPr>
          </a:p>
        </p:txBody>
      </p:sp>
      <p:sp>
        <p:nvSpPr>
          <p:cNvPr id="56323" name="Rectangle 3"/>
          <p:cNvSpPr>
            <a:spLocks noGrp="1" noChangeArrowheads="1"/>
          </p:cNvSpPr>
          <p:nvPr>
            <p:ph type="body" idx="1"/>
          </p:nvPr>
        </p:nvSpPr>
        <p:spPr>
          <a:xfrm>
            <a:off x="609600" y="1524000"/>
            <a:ext cx="8001000" cy="4572000"/>
          </a:xfrm>
        </p:spPr>
        <p:txBody>
          <a:bodyPr/>
          <a:lstStyle/>
          <a:p>
            <a:pPr marL="533400" indent="-533400">
              <a:buFont typeface="Monotype Sorts" pitchFamily="2" charset="2"/>
              <a:buNone/>
            </a:pPr>
            <a:r>
              <a:rPr lang="en-US" sz="2400" b="1" dirty="0"/>
              <a:t>Topological-Sort(</a:t>
            </a:r>
            <a:r>
              <a:rPr lang="en-US" sz="2400" b="1" i="1" dirty="0"/>
              <a:t>G</a:t>
            </a:r>
            <a:r>
              <a:rPr lang="en-US" sz="2400" b="1" dirty="0"/>
              <a:t>)</a:t>
            </a:r>
          </a:p>
          <a:p>
            <a:r>
              <a:rPr lang="zh-CN" altLang="en-US" sz="2400" b="1" dirty="0"/>
              <a:t>调用</a:t>
            </a:r>
            <a:r>
              <a:rPr lang="en-US" sz="2400" b="1" dirty="0"/>
              <a:t>DFS(</a:t>
            </a:r>
            <a:r>
              <a:rPr lang="en-US" sz="2400" b="1" i="1" dirty="0"/>
              <a:t>G</a:t>
            </a:r>
            <a:r>
              <a:rPr lang="en-US" sz="2400" b="1" dirty="0"/>
              <a:t>) </a:t>
            </a:r>
            <a:r>
              <a:rPr lang="zh-CN" altLang="en-US" sz="2400" b="1" dirty="0"/>
              <a:t>计算每个节点</a:t>
            </a:r>
            <a:r>
              <a:rPr lang="en-US" altLang="zh-CN" sz="2400" b="1" i="1" dirty="0"/>
              <a:t>u</a:t>
            </a:r>
            <a:r>
              <a:rPr lang="zh-CN" altLang="en-US" sz="2400" b="1" dirty="0"/>
              <a:t>被</a:t>
            </a:r>
            <a:r>
              <a:rPr lang="en-US" altLang="zh-CN" sz="2400" b="1" dirty="0"/>
              <a:t>DFS</a:t>
            </a:r>
            <a:r>
              <a:rPr lang="zh-CN" altLang="en-US" sz="2400" b="1" dirty="0"/>
              <a:t>访问的结束时间</a:t>
            </a:r>
            <a:r>
              <a:rPr lang="en-US" sz="2400" b="1" dirty="0"/>
              <a:t> </a:t>
            </a:r>
            <a:r>
              <a:rPr lang="en-US" sz="2400" b="1" i="1" dirty="0" err="1"/>
              <a:t>u</a:t>
            </a:r>
            <a:r>
              <a:rPr lang="en-US" sz="2400" b="1" dirty="0" err="1"/>
              <a:t>.</a:t>
            </a:r>
            <a:r>
              <a:rPr lang="en-US" sz="2400" b="1" i="1" dirty="0" err="1"/>
              <a:t>f</a:t>
            </a:r>
            <a:r>
              <a:rPr lang="en-US" sz="2400" b="1" dirty="0"/>
              <a:t> </a:t>
            </a:r>
          </a:p>
          <a:p>
            <a:r>
              <a:rPr lang="zh-CN" altLang="en-US" sz="2400" b="1" dirty="0"/>
              <a:t>当一个节点被</a:t>
            </a:r>
            <a:r>
              <a:rPr lang="en-US" altLang="zh-CN" sz="2400" b="1" dirty="0"/>
              <a:t>DFS</a:t>
            </a:r>
            <a:r>
              <a:rPr lang="zh-CN" altLang="en-US" sz="2400" b="1" dirty="0"/>
              <a:t>访问结束时，我们将该节点插入到一个链表中</a:t>
            </a:r>
            <a:endParaRPr lang="en-US" sz="2400" b="1" dirty="0"/>
          </a:p>
          <a:p>
            <a:r>
              <a:rPr lang="zh-CN" altLang="en-US" sz="2400" b="1" dirty="0"/>
              <a:t>返回整个链表</a:t>
            </a:r>
            <a:endParaRPr lang="en-US" sz="2400" b="1" dirty="0"/>
          </a:p>
          <a:p>
            <a:endParaRPr lang="en-US" sz="2400" b="1" dirty="0"/>
          </a:p>
          <a:p>
            <a:r>
              <a:rPr lang="zh-CN" altLang="en-US" sz="2400" b="1" dirty="0"/>
              <a:t>以节点结束时间从大到小的顺序输出节点即可</a:t>
            </a:r>
            <a:endParaRPr lang="en-US" sz="2400" b="1" dirty="0"/>
          </a:p>
          <a:p>
            <a:r>
              <a:rPr lang="zh-CN" altLang="en-US" sz="2400" b="1" dirty="0">
                <a:sym typeface="Symbol"/>
              </a:rPr>
              <a:t>时间复杂度：</a:t>
            </a:r>
            <a:r>
              <a:rPr lang="en-US" sz="2400" b="1" dirty="0">
                <a:sym typeface="Symbol"/>
              </a:rPr>
              <a:t>(|</a:t>
            </a:r>
            <a:r>
              <a:rPr lang="en-US" sz="2400" b="1" i="1" dirty="0">
                <a:sym typeface="Symbol"/>
              </a:rPr>
              <a:t>V</a:t>
            </a:r>
            <a:r>
              <a:rPr lang="en-US" sz="2400" b="1" dirty="0">
                <a:sym typeface="Symbol"/>
              </a:rPr>
              <a:t>| + |</a:t>
            </a:r>
            <a:r>
              <a:rPr lang="en-US" sz="2400" b="1" i="1" dirty="0">
                <a:sym typeface="Symbol"/>
              </a:rPr>
              <a:t>E</a:t>
            </a:r>
            <a:r>
              <a:rPr lang="en-US" sz="2400" b="1" dirty="0">
                <a:sym typeface="Symbol"/>
              </a:rPr>
              <a:t>|).</a:t>
            </a:r>
            <a:endParaRPr lang="en-US" sz="2400" b="1" dirty="0"/>
          </a:p>
          <a:p>
            <a:pPr marL="533400" indent="-533400">
              <a:buFont typeface="Monotype Sorts" pitchFamily="2" charset="2"/>
              <a:buNone/>
            </a:pPr>
            <a:endParaRPr lang="en-US" sz="2400" b="1" dirty="0"/>
          </a:p>
        </p:txBody>
      </p:sp>
    </p:spTree>
    <p:extLst>
      <p:ext uri="{BB962C8B-B14F-4D97-AF65-F5344CB8AC3E}">
        <p14:creationId xmlns:p14="http://schemas.microsoft.com/office/powerpoint/2010/main" val="14754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a:t>
            </a:r>
            <a:endParaRPr lang="en-US" sz="3600" b="1" dirty="0">
              <a:solidFill>
                <a:srgbClr val="0000CC"/>
              </a:solidFill>
            </a:endParaRPr>
          </a:p>
        </p:txBody>
      </p:sp>
      <p:sp>
        <p:nvSpPr>
          <p:cNvPr id="60419" name="Rectangle 3"/>
          <p:cNvSpPr>
            <a:spLocks noGrp="1" noChangeArrowheads="1"/>
          </p:cNvSpPr>
          <p:nvPr>
            <p:ph type="body" idx="1"/>
          </p:nvPr>
        </p:nvSpPr>
        <p:spPr>
          <a:xfrm>
            <a:off x="457200" y="1447800"/>
            <a:ext cx="8229600" cy="2362200"/>
          </a:xfrm>
        </p:spPr>
        <p:txBody>
          <a:bodyPr/>
          <a:lstStyle/>
          <a:p>
            <a:pPr marL="320040" indent="-320040"/>
            <a:r>
              <a:rPr lang="zh-CN" altLang="en-US" sz="2400" b="1" dirty="0"/>
              <a:t>一个有向图</a:t>
            </a:r>
            <a:r>
              <a:rPr lang="en-US" altLang="zh-CN" sz="2400" b="1" i="1" dirty="0"/>
              <a:t>G</a:t>
            </a:r>
            <a:r>
              <a:rPr lang="en-US" altLang="zh-CN" sz="2400" b="1" dirty="0"/>
              <a:t> = (</a:t>
            </a:r>
            <a:r>
              <a:rPr lang="en-US" altLang="zh-CN" sz="2400" b="1" i="1" dirty="0"/>
              <a:t>V</a:t>
            </a:r>
            <a:r>
              <a:rPr lang="en-US" altLang="zh-CN" sz="2400" b="1" dirty="0"/>
              <a:t>, </a:t>
            </a:r>
            <a:r>
              <a:rPr lang="en-US" altLang="zh-CN" sz="2400" b="1" i="1" dirty="0"/>
              <a:t>E</a:t>
            </a:r>
            <a:r>
              <a:rPr lang="en-US" altLang="zh-CN" sz="2400" b="1" dirty="0"/>
              <a:t>)</a:t>
            </a:r>
            <a:r>
              <a:rPr lang="zh-CN" altLang="en-US" sz="2400" b="1" dirty="0"/>
              <a:t>的</a:t>
            </a:r>
            <a:r>
              <a:rPr lang="zh-CN" altLang="en-US" sz="2400" b="1" i="1" dirty="0">
                <a:solidFill>
                  <a:srgbClr val="C00000"/>
                </a:solidFill>
              </a:rPr>
              <a:t>强连通分支</a:t>
            </a:r>
            <a:r>
              <a:rPr lang="zh-CN" altLang="en-US" sz="2400" b="1" dirty="0"/>
              <a:t>是一个最大的节点集合，该集合中的任意节点互相连通。</a:t>
            </a:r>
            <a:endParaRPr lang="en-US" altLang="zh-CN" sz="2400" b="1" dirty="0"/>
          </a:p>
          <a:p>
            <a:pPr marL="320040" indent="-320040"/>
            <a:r>
              <a:rPr lang="zh-CN" altLang="en-US" sz="2400" b="1" dirty="0"/>
              <a:t>如何把一个有向图分解为很多个强连通分支呢</a:t>
            </a:r>
            <a:r>
              <a:rPr lang="en-US" sz="2400" b="1" dirty="0"/>
              <a:t>? </a:t>
            </a:r>
          </a:p>
        </p:txBody>
      </p:sp>
      <p:pic>
        <p:nvPicPr>
          <p:cNvPr id="311298" name="Picture 2"/>
          <p:cNvPicPr>
            <a:picLocks noChangeAspect="1" noChangeArrowheads="1"/>
          </p:cNvPicPr>
          <p:nvPr/>
        </p:nvPicPr>
        <p:blipFill>
          <a:blip r:embed="rId3" cstate="print"/>
          <a:srcRect l="8176" b="68968"/>
          <a:stretch>
            <a:fillRect/>
          </a:stretch>
        </p:blipFill>
        <p:spPr bwMode="auto">
          <a:xfrm>
            <a:off x="1143000" y="3200400"/>
            <a:ext cx="6629400" cy="2420182"/>
          </a:xfrm>
          <a:prstGeom prst="rect">
            <a:avLst/>
          </a:prstGeom>
          <a:noFill/>
          <a:ln w="9525">
            <a:noFill/>
            <a:miter lim="800000"/>
            <a:headEnd/>
            <a:tailEnd/>
          </a:ln>
        </p:spPr>
      </p:pic>
    </p:spTree>
    <p:extLst>
      <p:ext uri="{BB962C8B-B14F-4D97-AF65-F5344CB8AC3E}">
        <p14:creationId xmlns:p14="http://schemas.microsoft.com/office/powerpoint/2010/main" val="402499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1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有向图的转置</a:t>
            </a:r>
            <a:endParaRPr lang="en-US" sz="3600" b="1" dirty="0">
              <a:solidFill>
                <a:srgbClr val="0000CC"/>
              </a:solidFill>
            </a:endParaRPr>
          </a:p>
        </p:txBody>
      </p:sp>
      <p:sp>
        <p:nvSpPr>
          <p:cNvPr id="60419" name="Rectangle 3"/>
          <p:cNvSpPr>
            <a:spLocks noGrp="1" noChangeArrowheads="1"/>
          </p:cNvSpPr>
          <p:nvPr>
            <p:ph type="body" idx="1"/>
          </p:nvPr>
        </p:nvSpPr>
        <p:spPr>
          <a:xfrm>
            <a:off x="457200" y="1447800"/>
            <a:ext cx="8153400" cy="5029200"/>
          </a:xfrm>
        </p:spPr>
        <p:txBody>
          <a:bodyPr/>
          <a:lstStyle/>
          <a:p>
            <a:pPr marL="320040" indent="-320040"/>
            <a:r>
              <a:rPr lang="zh-CN" altLang="en-US" sz="2400" b="1" dirty="0"/>
              <a:t>令</a:t>
            </a:r>
            <a:r>
              <a:rPr lang="en-US" sz="2400" b="1" i="1" dirty="0"/>
              <a:t>G</a:t>
            </a:r>
            <a:r>
              <a:rPr lang="en-US" sz="2400" b="1" dirty="0"/>
              <a:t> = (</a:t>
            </a:r>
            <a:r>
              <a:rPr lang="en-US" sz="2400" b="1" i="1" dirty="0"/>
              <a:t>V</a:t>
            </a:r>
            <a:r>
              <a:rPr lang="en-US" sz="2400" b="1" dirty="0"/>
              <a:t>, </a:t>
            </a:r>
            <a:r>
              <a:rPr lang="en-US" sz="2400" b="1" i="1" dirty="0"/>
              <a:t>E</a:t>
            </a:r>
            <a:r>
              <a:rPr lang="en-US" sz="2400" b="1" dirty="0"/>
              <a:t>) </a:t>
            </a:r>
            <a:r>
              <a:rPr lang="zh-CN" altLang="en-US" sz="2400" b="1" dirty="0"/>
              <a:t>为一个有向图，</a:t>
            </a:r>
            <a:r>
              <a:rPr lang="en-US" altLang="zh-CN" sz="2400" b="1" i="1" dirty="0"/>
              <a:t>G</a:t>
            </a:r>
            <a:r>
              <a:rPr lang="zh-CN" altLang="en-US" sz="2400" b="1" dirty="0"/>
              <a:t>的转置为</a:t>
            </a:r>
            <a:r>
              <a:rPr lang="en-US" sz="2400" b="1" dirty="0"/>
              <a:t> </a:t>
            </a:r>
            <a:r>
              <a:rPr lang="en-US" sz="2400" b="1" i="1" dirty="0"/>
              <a:t>G</a:t>
            </a:r>
            <a:r>
              <a:rPr lang="en-US" sz="2400" b="1" baseline="30000" dirty="0"/>
              <a:t>T </a:t>
            </a:r>
            <a:r>
              <a:rPr lang="en-US" sz="2400" b="1" dirty="0"/>
              <a:t>= (</a:t>
            </a:r>
            <a:r>
              <a:rPr lang="en-US" sz="2400" b="1" i="1" dirty="0"/>
              <a:t>V</a:t>
            </a:r>
            <a:r>
              <a:rPr lang="en-US" sz="2400" b="1" dirty="0"/>
              <a:t>, </a:t>
            </a:r>
            <a:r>
              <a:rPr lang="en-US" sz="2400" b="1" i="1" dirty="0"/>
              <a:t>E</a:t>
            </a:r>
            <a:r>
              <a:rPr lang="en-US" sz="2400" b="1" baseline="30000" dirty="0"/>
              <a:t>T</a:t>
            </a:r>
            <a:r>
              <a:rPr lang="en-US" sz="2400" b="1" dirty="0"/>
              <a:t>), </a:t>
            </a:r>
            <a:r>
              <a:rPr lang="zh-CN" altLang="en-US" sz="2400" b="1" dirty="0"/>
              <a:t>其中</a:t>
            </a:r>
            <a:r>
              <a:rPr lang="en-US" sz="2400" b="1" i="1" dirty="0"/>
              <a:t>E</a:t>
            </a:r>
            <a:r>
              <a:rPr lang="en-US" sz="2400" b="1" baseline="30000" dirty="0"/>
              <a:t>T</a:t>
            </a:r>
            <a:r>
              <a:rPr lang="en-US" sz="2400" b="1" dirty="0"/>
              <a:t> = {(</a:t>
            </a:r>
            <a:r>
              <a:rPr lang="en-US" sz="2400" b="1" i="1" dirty="0"/>
              <a:t>u</a:t>
            </a:r>
            <a:r>
              <a:rPr lang="en-US" sz="2400" b="1" dirty="0"/>
              <a:t>, </a:t>
            </a:r>
            <a:r>
              <a:rPr lang="en-US" sz="2400" b="1" i="1" dirty="0"/>
              <a:t>v</a:t>
            </a:r>
            <a:r>
              <a:rPr lang="en-US" sz="2400" b="1" dirty="0"/>
              <a:t>): (</a:t>
            </a:r>
            <a:r>
              <a:rPr lang="en-US" sz="2400" b="1" i="1" dirty="0"/>
              <a:t>v</a:t>
            </a:r>
            <a:r>
              <a:rPr lang="en-US" sz="2400" b="1" dirty="0"/>
              <a:t>, </a:t>
            </a:r>
            <a:r>
              <a:rPr lang="en-US" sz="2400" b="1" i="1" dirty="0"/>
              <a:t>u</a:t>
            </a:r>
            <a:r>
              <a:rPr lang="en-US" sz="2400" b="1" dirty="0"/>
              <a:t>) </a:t>
            </a:r>
            <a:r>
              <a:rPr lang="en-US" sz="2400" b="1" dirty="0">
                <a:sym typeface="Symbol"/>
              </a:rPr>
              <a:t> </a:t>
            </a:r>
            <a:r>
              <a:rPr lang="en-US" sz="2400" b="1" i="1" dirty="0">
                <a:sym typeface="Symbol"/>
              </a:rPr>
              <a:t>E</a:t>
            </a:r>
            <a:r>
              <a:rPr lang="en-US" sz="2400" b="1" dirty="0">
                <a:sym typeface="Symbol"/>
              </a:rPr>
              <a:t>}.</a:t>
            </a:r>
            <a:r>
              <a:rPr lang="en-US" sz="2200" b="1" dirty="0"/>
              <a:t> </a:t>
            </a:r>
            <a:endParaRPr lang="en-US" sz="2200" b="1" dirty="0">
              <a:sym typeface="Symbol"/>
            </a:endParaRPr>
          </a:p>
          <a:p>
            <a:pPr marL="320040" indent="-320040"/>
            <a:r>
              <a:rPr lang="zh-CN" altLang="en-US" sz="2400" b="1" dirty="0"/>
              <a:t>如果用邻接表存图，计算</a:t>
            </a:r>
            <a:r>
              <a:rPr lang="en-US" sz="2400" b="1" i="1" dirty="0"/>
              <a:t>G</a:t>
            </a:r>
            <a:r>
              <a:rPr lang="en-US" sz="2400" b="1" baseline="30000" dirty="0"/>
              <a:t>T</a:t>
            </a:r>
            <a:r>
              <a:rPr lang="en-US" sz="2400" b="1" dirty="0"/>
              <a:t> </a:t>
            </a:r>
            <a:r>
              <a:rPr lang="zh-CN" altLang="en-US" sz="2400" b="1" dirty="0"/>
              <a:t>的时间复杂度为</a:t>
            </a:r>
            <a:r>
              <a:rPr lang="en-US" sz="2400" b="1" i="1" dirty="0"/>
              <a:t>O</a:t>
            </a:r>
            <a:r>
              <a:rPr lang="en-US" sz="2400" b="1" dirty="0"/>
              <a:t>(|</a:t>
            </a:r>
            <a:r>
              <a:rPr lang="en-US" sz="2400" b="1" i="1" dirty="0"/>
              <a:t>V</a:t>
            </a:r>
            <a:r>
              <a:rPr lang="en-US" sz="2400" b="1" dirty="0"/>
              <a:t>| + |</a:t>
            </a:r>
            <a:r>
              <a:rPr lang="en-US" sz="2400" b="1" i="1" dirty="0"/>
              <a:t>E</a:t>
            </a:r>
            <a:r>
              <a:rPr lang="en-US" sz="2400" b="1" dirty="0"/>
              <a:t>|).</a:t>
            </a:r>
          </a:p>
          <a:p>
            <a:pPr marL="320040" indent="-320040"/>
            <a:r>
              <a:rPr lang="en-US" sz="2400" b="1" i="1" dirty="0"/>
              <a:t>G</a:t>
            </a:r>
            <a:r>
              <a:rPr lang="zh-CN" altLang="en-US" sz="2400" b="1" dirty="0"/>
              <a:t>和</a:t>
            </a:r>
            <a:r>
              <a:rPr lang="en-US" sz="2400" b="1" i="1" dirty="0"/>
              <a:t>G</a:t>
            </a:r>
            <a:r>
              <a:rPr lang="en-US" sz="2400" b="1" baseline="30000" dirty="0"/>
              <a:t>T</a:t>
            </a:r>
            <a:r>
              <a:rPr lang="en-US" sz="2400" b="1" dirty="0"/>
              <a:t> </a:t>
            </a:r>
            <a:r>
              <a:rPr lang="zh-CN" altLang="en-US" sz="2400" b="1" dirty="0"/>
              <a:t>有相同的强连通分支</a:t>
            </a:r>
            <a:endParaRPr lang="en-US" sz="2400" b="1" dirty="0">
              <a:sym typeface="Symbol"/>
            </a:endParaRPr>
          </a:p>
        </p:txBody>
      </p:sp>
      <p:grpSp>
        <p:nvGrpSpPr>
          <p:cNvPr id="5" name="组合 4"/>
          <p:cNvGrpSpPr/>
          <p:nvPr/>
        </p:nvGrpSpPr>
        <p:grpSpPr>
          <a:xfrm>
            <a:off x="838200" y="3429000"/>
            <a:ext cx="7152623" cy="2941637"/>
            <a:chOff x="1205565" y="2819400"/>
            <a:chExt cx="7152623" cy="2941637"/>
          </a:xfrm>
        </p:grpSpPr>
        <p:pic>
          <p:nvPicPr>
            <p:cNvPr id="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6380" r="36869" b="13611"/>
            <a:stretch/>
          </p:blipFill>
          <p:spPr bwMode="auto">
            <a:xfrm>
              <a:off x="5029200" y="2819400"/>
              <a:ext cx="3328988" cy="2941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5859" r="72125" b="13611"/>
            <a:stretch/>
          </p:blipFill>
          <p:spPr bwMode="auto">
            <a:xfrm>
              <a:off x="1205565" y="3276600"/>
              <a:ext cx="3468829" cy="2061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40249946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有向图转置举例</a:t>
            </a:r>
            <a:endParaRPr lang="en-US" sz="3600" b="1" dirty="0">
              <a:solidFill>
                <a:srgbClr val="0000CC"/>
              </a:solidFill>
            </a:endParaRPr>
          </a:p>
        </p:txBody>
      </p:sp>
      <p:pic>
        <p:nvPicPr>
          <p:cNvPr id="311299" name="Picture 3"/>
          <p:cNvPicPr>
            <a:picLocks noChangeAspect="1" noChangeArrowheads="1"/>
          </p:cNvPicPr>
          <p:nvPr/>
        </p:nvPicPr>
        <p:blipFill>
          <a:blip r:embed="rId3" cstate="print"/>
          <a:srcRect l="9808" b="31400"/>
          <a:stretch>
            <a:fillRect/>
          </a:stretch>
        </p:blipFill>
        <p:spPr bwMode="auto">
          <a:xfrm>
            <a:off x="1752600" y="1593412"/>
            <a:ext cx="5943600" cy="4883588"/>
          </a:xfrm>
          <a:prstGeom prst="rect">
            <a:avLst/>
          </a:prstGeom>
          <a:noFill/>
          <a:ln w="9525">
            <a:noFill/>
            <a:miter lim="800000"/>
            <a:headEnd/>
            <a:tailEnd/>
          </a:ln>
        </p:spPr>
      </p:pic>
      <p:sp>
        <p:nvSpPr>
          <p:cNvPr id="2" name="TextBox 1"/>
          <p:cNvSpPr txBox="1"/>
          <p:nvPr/>
        </p:nvSpPr>
        <p:spPr>
          <a:xfrm>
            <a:off x="948086" y="2362200"/>
            <a:ext cx="423514" cy="461665"/>
          </a:xfrm>
          <a:prstGeom prst="rect">
            <a:avLst/>
          </a:prstGeom>
          <a:noFill/>
        </p:spPr>
        <p:txBody>
          <a:bodyPr wrap="none" rtlCol="0">
            <a:spAutoFit/>
          </a:bodyPr>
          <a:lstStyle/>
          <a:p>
            <a:r>
              <a:rPr lang="en-US" sz="2400" i="1" dirty="0"/>
              <a:t>G</a:t>
            </a:r>
          </a:p>
        </p:txBody>
      </p:sp>
      <p:sp>
        <p:nvSpPr>
          <p:cNvPr id="5" name="TextBox 4"/>
          <p:cNvSpPr txBox="1"/>
          <p:nvPr/>
        </p:nvSpPr>
        <p:spPr>
          <a:xfrm>
            <a:off x="980261" y="4953000"/>
            <a:ext cx="543739" cy="461665"/>
          </a:xfrm>
          <a:prstGeom prst="rect">
            <a:avLst/>
          </a:prstGeom>
          <a:noFill/>
        </p:spPr>
        <p:txBody>
          <a:bodyPr wrap="none" rtlCol="0">
            <a:spAutoFit/>
          </a:bodyPr>
          <a:lstStyle/>
          <a:p>
            <a:r>
              <a:rPr lang="en-US" sz="2400" i="1" dirty="0"/>
              <a:t>G</a:t>
            </a:r>
            <a:r>
              <a:rPr lang="en-US" sz="2400" baseline="30000" dirty="0"/>
              <a:t>T</a:t>
            </a:r>
          </a:p>
        </p:txBody>
      </p:sp>
    </p:spTree>
    <p:extLst>
      <p:ext uri="{BB962C8B-B14F-4D97-AF65-F5344CB8AC3E}">
        <p14:creationId xmlns:p14="http://schemas.microsoft.com/office/powerpoint/2010/main" val="40249946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endParaRPr lang="en-US" sz="3600" b="1" dirty="0">
              <a:solidFill>
                <a:srgbClr val="0000CC"/>
              </a:solidFill>
            </a:endParaRPr>
          </a:p>
        </p:txBody>
      </p:sp>
      <p:sp>
        <p:nvSpPr>
          <p:cNvPr id="60419" name="Rectangle 3"/>
          <p:cNvSpPr>
            <a:spLocks noGrp="1" noChangeArrowheads="1"/>
          </p:cNvSpPr>
          <p:nvPr>
            <p:ph type="body" idx="1"/>
          </p:nvPr>
        </p:nvSpPr>
        <p:spPr>
          <a:xfrm>
            <a:off x="381000" y="1447800"/>
            <a:ext cx="8305800" cy="5029200"/>
          </a:xfrm>
        </p:spPr>
        <p:txBody>
          <a:bodyPr/>
          <a:lstStyle/>
          <a:p>
            <a:pPr marL="320040" indent="-320040">
              <a:buNone/>
            </a:pPr>
            <a:r>
              <a:rPr lang="en-US" sz="2400" b="1" dirty="0"/>
              <a:t>SCC(</a:t>
            </a:r>
            <a:r>
              <a:rPr lang="en-US" sz="2400" b="1" i="1" dirty="0"/>
              <a:t>G</a:t>
            </a:r>
            <a:r>
              <a:rPr lang="en-US" sz="2400" b="1" dirty="0"/>
              <a:t>)</a:t>
            </a:r>
          </a:p>
          <a:p>
            <a:pPr marL="0" indent="0">
              <a:buNone/>
            </a:pPr>
            <a:r>
              <a:rPr lang="en-US" sz="2400" b="1" dirty="0"/>
              <a:t>1.  </a:t>
            </a:r>
            <a:r>
              <a:rPr lang="zh-CN" altLang="en-US" sz="2400" b="1" dirty="0"/>
              <a:t>调用</a:t>
            </a:r>
            <a:r>
              <a:rPr lang="en-US" altLang="zh-CN" sz="2400" b="1" dirty="0"/>
              <a:t>DFS(</a:t>
            </a:r>
            <a:r>
              <a:rPr lang="en-US" altLang="zh-CN" sz="2400" b="1" i="1" dirty="0"/>
              <a:t>G</a:t>
            </a:r>
            <a:r>
              <a:rPr lang="en-US" altLang="zh-CN" sz="2400" b="1" dirty="0"/>
              <a:t>) </a:t>
            </a:r>
            <a:r>
              <a:rPr lang="zh-CN" altLang="en-US" sz="2400" b="1" dirty="0"/>
              <a:t>计算每个节点</a:t>
            </a:r>
            <a:r>
              <a:rPr lang="en-US" altLang="zh-CN" sz="2400" b="1" i="1" dirty="0"/>
              <a:t>u</a:t>
            </a:r>
            <a:r>
              <a:rPr lang="zh-CN" altLang="en-US" sz="2400" b="1" dirty="0"/>
              <a:t>被</a:t>
            </a:r>
            <a:r>
              <a:rPr lang="en-US" altLang="zh-CN" sz="2400" b="1" dirty="0"/>
              <a:t>DFS</a:t>
            </a:r>
            <a:r>
              <a:rPr lang="zh-CN" altLang="en-US" sz="2400" b="1" dirty="0"/>
              <a:t>访问的结束时间</a:t>
            </a:r>
            <a:r>
              <a:rPr lang="en-US" altLang="zh-CN" sz="2400" b="1" dirty="0"/>
              <a:t> </a:t>
            </a:r>
            <a:r>
              <a:rPr lang="en-US" altLang="zh-CN" sz="2400" b="1" i="1" dirty="0" err="1"/>
              <a:t>u</a:t>
            </a:r>
            <a:r>
              <a:rPr lang="en-US" altLang="zh-CN" sz="2400" b="1" dirty="0" err="1"/>
              <a:t>.</a:t>
            </a:r>
            <a:r>
              <a:rPr lang="en-US" altLang="zh-CN" sz="2400" b="1" i="1" dirty="0" err="1"/>
              <a:t>f</a:t>
            </a:r>
            <a:r>
              <a:rPr lang="en-US" altLang="zh-CN" sz="2400" b="1" dirty="0"/>
              <a:t> </a:t>
            </a:r>
          </a:p>
          <a:p>
            <a:pPr>
              <a:buNone/>
            </a:pPr>
            <a:r>
              <a:rPr lang="en-US" sz="2400" b="1" dirty="0"/>
              <a:t>2.  </a:t>
            </a:r>
            <a:r>
              <a:rPr lang="zh-CN" altLang="en-US" sz="2400" b="1" dirty="0"/>
              <a:t>计算</a:t>
            </a:r>
            <a:r>
              <a:rPr lang="en-US" sz="2400" b="1" i="1" dirty="0"/>
              <a:t>G</a:t>
            </a:r>
            <a:r>
              <a:rPr lang="en-US" sz="2400" b="1" baseline="30000" dirty="0"/>
              <a:t>T</a:t>
            </a:r>
            <a:endParaRPr lang="en-US" sz="2400" b="1" dirty="0"/>
          </a:p>
          <a:p>
            <a:pPr>
              <a:buNone/>
            </a:pPr>
            <a:r>
              <a:rPr lang="en-US" sz="2400" b="1" dirty="0"/>
              <a:t>3.  </a:t>
            </a:r>
            <a:r>
              <a:rPr lang="zh-CN" altLang="en-US" sz="2400" b="1" dirty="0"/>
              <a:t>调用</a:t>
            </a:r>
            <a:r>
              <a:rPr lang="en-US" sz="2400" b="1" dirty="0"/>
              <a:t>DFS(</a:t>
            </a:r>
            <a:r>
              <a:rPr lang="en-US" sz="2200" b="1" i="1" dirty="0"/>
              <a:t>G</a:t>
            </a:r>
            <a:r>
              <a:rPr lang="en-US" sz="2200" b="1" baseline="30000" dirty="0"/>
              <a:t>T</a:t>
            </a:r>
            <a:r>
              <a:rPr kumimoji="1" lang="en-US" sz="2200" b="1" dirty="0"/>
              <a:t>)</a:t>
            </a:r>
            <a:r>
              <a:rPr kumimoji="1" lang="zh-CN" altLang="en-US" sz="2200" b="1" dirty="0"/>
              <a:t>，在</a:t>
            </a:r>
            <a:r>
              <a:rPr kumimoji="1" lang="en-US" altLang="zh-CN" sz="2200" b="1" dirty="0"/>
              <a:t>DFS</a:t>
            </a:r>
            <a:r>
              <a:rPr kumimoji="1" lang="zh-CN" altLang="en-US" sz="2200" b="1" dirty="0"/>
              <a:t>的主循环中，以</a:t>
            </a:r>
            <a:r>
              <a:rPr kumimoji="1" lang="en-US" altLang="zh-CN" sz="2200" b="1" i="1" dirty="0" err="1"/>
              <a:t>u</a:t>
            </a:r>
            <a:r>
              <a:rPr kumimoji="1" lang="en-US" altLang="zh-CN" sz="2200" b="1" dirty="0" err="1"/>
              <a:t>.</a:t>
            </a:r>
            <a:r>
              <a:rPr kumimoji="1" lang="en-US" altLang="zh-CN" sz="2200" b="1" i="1" dirty="0" err="1"/>
              <a:t>f</a:t>
            </a:r>
            <a:r>
              <a:rPr kumimoji="1" lang="zh-CN" altLang="en-US" sz="2200" b="1" dirty="0"/>
              <a:t>下降的顺序遍历节点</a:t>
            </a:r>
            <a:endParaRPr kumimoji="1" lang="en-US" sz="2200" b="1" dirty="0"/>
          </a:p>
          <a:p>
            <a:pPr marL="457200" indent="-457200">
              <a:buNone/>
            </a:pPr>
            <a:r>
              <a:rPr kumimoji="1" lang="en-US" sz="2200" b="1" dirty="0"/>
              <a:t>4.  </a:t>
            </a:r>
            <a:r>
              <a:rPr kumimoji="1" lang="zh-CN" altLang="en-US" sz="2200" b="1" dirty="0"/>
              <a:t>对于在第</a:t>
            </a:r>
            <a:r>
              <a:rPr kumimoji="1" lang="en-US" altLang="zh-CN" sz="2200" b="1" dirty="0"/>
              <a:t>3</a:t>
            </a:r>
            <a:r>
              <a:rPr kumimoji="1" lang="zh-CN" altLang="en-US" sz="2200" b="1" dirty="0"/>
              <a:t>行中输出的</a:t>
            </a:r>
            <a:r>
              <a:rPr kumimoji="1" lang="en-US" altLang="zh-CN" sz="2200" b="1" dirty="0"/>
              <a:t>DFS</a:t>
            </a:r>
            <a:r>
              <a:rPr kumimoji="1" lang="zh-CN" altLang="en-US" sz="2200" b="1" dirty="0"/>
              <a:t>树，每颗</a:t>
            </a:r>
            <a:r>
              <a:rPr kumimoji="1" lang="en-US" altLang="zh-CN" sz="2200" b="1" dirty="0"/>
              <a:t>DFS</a:t>
            </a:r>
            <a:r>
              <a:rPr kumimoji="1" lang="zh-CN" altLang="en-US" sz="2200" b="1" dirty="0"/>
              <a:t>树中的节点形成一个强连通分支</a:t>
            </a:r>
            <a:endParaRPr kumimoji="1" lang="en-US" sz="2200" b="1" dirty="0"/>
          </a:p>
          <a:p>
            <a:pPr marL="342900" lvl="1" indent="-342900">
              <a:spcBef>
                <a:spcPts val="2400"/>
              </a:spcBef>
              <a:buClrTx/>
            </a:pPr>
            <a:r>
              <a:rPr kumimoji="1" lang="zh-CN" altLang="en-US" sz="2200" b="1" i="1" dirty="0">
                <a:solidFill>
                  <a:srgbClr val="C00000"/>
                </a:solidFill>
              </a:rPr>
              <a:t>时间复杂度</a:t>
            </a:r>
            <a:r>
              <a:rPr kumimoji="1" lang="en-US" sz="2200" b="1" dirty="0"/>
              <a:t>: </a:t>
            </a:r>
            <a:r>
              <a:rPr kumimoji="1" lang="en-US" altLang="zh-CN" sz="2200" b="1" dirty="0">
                <a:sym typeface="Symbol"/>
              </a:rPr>
              <a:t>(|</a:t>
            </a:r>
            <a:r>
              <a:rPr kumimoji="1" lang="en-US" altLang="zh-CN" sz="2200" b="1" i="1" dirty="0">
                <a:sym typeface="Symbol"/>
              </a:rPr>
              <a:t>V</a:t>
            </a:r>
            <a:r>
              <a:rPr kumimoji="1" lang="en-US" altLang="zh-CN" sz="2200" b="1" dirty="0">
                <a:sym typeface="Symbol"/>
              </a:rPr>
              <a:t>| + |</a:t>
            </a:r>
            <a:r>
              <a:rPr kumimoji="1" lang="en-US" altLang="zh-CN" sz="2200" b="1" i="1" dirty="0">
                <a:sym typeface="Symbol"/>
              </a:rPr>
              <a:t>E</a:t>
            </a:r>
            <a:r>
              <a:rPr kumimoji="1" lang="en-US" altLang="zh-CN" sz="2200" b="1" dirty="0">
                <a:sym typeface="Symbol"/>
              </a:rPr>
              <a:t>|)</a:t>
            </a:r>
          </a:p>
          <a:p>
            <a:pPr>
              <a:spcBef>
                <a:spcPts val="2400"/>
              </a:spcBef>
            </a:pPr>
            <a:endParaRPr kumimoji="1" lang="en-US" sz="2200" b="1" dirty="0"/>
          </a:p>
          <a:p>
            <a:pPr lvl="1"/>
            <a:endParaRPr kumimoji="1" lang="en-US" sz="2200" b="1" dirty="0"/>
          </a:p>
        </p:txBody>
      </p:sp>
    </p:spTree>
    <p:extLst>
      <p:ext uri="{BB962C8B-B14F-4D97-AF65-F5344CB8AC3E}">
        <p14:creationId xmlns:p14="http://schemas.microsoft.com/office/powerpoint/2010/main" val="402499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sz="3600" b="1" dirty="0">
                <a:solidFill>
                  <a:srgbClr val="0000CC"/>
                </a:solidFill>
              </a:rPr>
              <a:t>: </a:t>
            </a:r>
            <a:r>
              <a:rPr lang="zh-CN" altLang="en-US" sz="3600" b="1" dirty="0">
                <a:solidFill>
                  <a:srgbClr val="0000CC"/>
                </a:solidFill>
              </a:rPr>
              <a:t>举例</a:t>
            </a:r>
            <a:r>
              <a:rPr lang="en-US" sz="3600" b="1" dirty="0">
                <a:solidFill>
                  <a:srgbClr val="0000CC"/>
                </a:solidFill>
              </a:rPr>
              <a:t>(1)</a:t>
            </a:r>
          </a:p>
        </p:txBody>
      </p:sp>
      <p:sp>
        <p:nvSpPr>
          <p:cNvPr id="60419" name="Rectangle 3"/>
          <p:cNvSpPr>
            <a:spLocks noGrp="1" noChangeArrowheads="1"/>
          </p:cNvSpPr>
          <p:nvPr>
            <p:ph type="body" idx="1"/>
          </p:nvPr>
        </p:nvSpPr>
        <p:spPr>
          <a:xfrm>
            <a:off x="381000" y="1524000"/>
            <a:ext cx="8305800" cy="4648200"/>
          </a:xfrm>
        </p:spPr>
        <p:txBody>
          <a:bodyPr/>
          <a:lstStyle/>
          <a:p>
            <a:pPr marL="320040" indent="-320040">
              <a:buNone/>
            </a:pPr>
            <a:r>
              <a:rPr lang="en-US" sz="2400" b="1" dirty="0"/>
              <a:t>1.  </a:t>
            </a:r>
            <a:r>
              <a:rPr lang="zh-CN" altLang="en-US" sz="2400" b="1" dirty="0"/>
              <a:t>调用</a:t>
            </a:r>
            <a:r>
              <a:rPr lang="en-US" sz="2400" b="1" dirty="0"/>
              <a:t>DFS(</a:t>
            </a:r>
            <a:r>
              <a:rPr lang="en-US" sz="2400" b="1" i="1" dirty="0"/>
              <a:t>G</a:t>
            </a:r>
            <a:r>
              <a:rPr lang="en-US" sz="2400" b="1" dirty="0"/>
              <a:t>)</a:t>
            </a:r>
            <a:r>
              <a:rPr lang="zh-CN" altLang="en-US" sz="2400" b="1" dirty="0"/>
              <a:t>，计算被</a:t>
            </a:r>
            <a:r>
              <a:rPr lang="en-US" altLang="zh-CN" sz="2400" b="1" dirty="0"/>
              <a:t>DFS</a:t>
            </a:r>
            <a:r>
              <a:rPr lang="zh-CN" altLang="en-US" sz="2400" b="1" dirty="0"/>
              <a:t>访问的结束时间</a:t>
            </a:r>
            <a:r>
              <a:rPr lang="en-US" altLang="zh-CN" sz="2400" b="1" dirty="0"/>
              <a:t> </a:t>
            </a:r>
            <a:r>
              <a:rPr lang="en-US" sz="2400" b="1" i="1" dirty="0" err="1"/>
              <a:t>u</a:t>
            </a:r>
            <a:r>
              <a:rPr lang="en-US" sz="2400" b="1" dirty="0" err="1"/>
              <a:t>.</a:t>
            </a:r>
            <a:r>
              <a:rPr lang="en-US" sz="2400" b="1" i="1" dirty="0" err="1"/>
              <a:t>f</a:t>
            </a:r>
            <a:endParaRPr lang="en-US" sz="2400" b="1" dirty="0"/>
          </a:p>
          <a:p>
            <a:pPr>
              <a:buNone/>
            </a:pPr>
            <a:endParaRPr lang="en-US" sz="2400" b="1" dirty="0"/>
          </a:p>
          <a:p>
            <a:pPr>
              <a:buNone/>
            </a:pPr>
            <a:endParaRPr lang="en-US" sz="2400" b="1" dirty="0"/>
          </a:p>
          <a:p>
            <a:pPr>
              <a:buNone/>
            </a:pPr>
            <a:endParaRPr lang="en-US" sz="2400" b="1" dirty="0"/>
          </a:p>
          <a:p>
            <a:pPr>
              <a:buNone/>
            </a:pPr>
            <a:endParaRPr lang="en-US" sz="2400" b="1" dirty="0"/>
          </a:p>
          <a:p>
            <a:pPr>
              <a:buNone/>
            </a:pPr>
            <a:endParaRPr kumimoji="1" lang="en-US" sz="2200" b="1" dirty="0"/>
          </a:p>
        </p:txBody>
      </p:sp>
      <p:pic>
        <p:nvPicPr>
          <p:cNvPr id="4" name="Picture 2"/>
          <p:cNvPicPr>
            <a:picLocks noChangeAspect="1" noChangeArrowheads="1"/>
          </p:cNvPicPr>
          <p:nvPr/>
        </p:nvPicPr>
        <p:blipFill>
          <a:blip r:embed="rId3" cstate="print"/>
          <a:srcRect l="8176" b="68968"/>
          <a:stretch>
            <a:fillRect/>
          </a:stretch>
        </p:blipFill>
        <p:spPr bwMode="auto">
          <a:xfrm>
            <a:off x="1346200" y="2286000"/>
            <a:ext cx="6261848" cy="2286000"/>
          </a:xfrm>
          <a:prstGeom prst="rect">
            <a:avLst/>
          </a:prstGeom>
          <a:noFill/>
          <a:ln w="9525">
            <a:noFill/>
            <a:miter lim="800000"/>
            <a:headEnd/>
            <a:tailEnd/>
          </a:ln>
        </p:spPr>
      </p:pic>
    </p:spTree>
    <p:extLst>
      <p:ext uri="{BB962C8B-B14F-4D97-AF65-F5344CB8AC3E}">
        <p14:creationId xmlns:p14="http://schemas.microsoft.com/office/powerpoint/2010/main" val="55674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altLang="zh-CN" sz="3600" b="1" dirty="0">
                <a:solidFill>
                  <a:srgbClr val="0000CC"/>
                </a:solidFill>
              </a:rPr>
              <a:t>: </a:t>
            </a:r>
            <a:r>
              <a:rPr lang="zh-CN" altLang="en-US" sz="3600" b="1" dirty="0">
                <a:solidFill>
                  <a:srgbClr val="0000CC"/>
                </a:solidFill>
              </a:rPr>
              <a:t>举例</a:t>
            </a:r>
            <a:r>
              <a:rPr lang="en-US" altLang="zh-CN" sz="3600" b="1" dirty="0">
                <a:solidFill>
                  <a:srgbClr val="0000CC"/>
                </a:solidFill>
              </a:rPr>
              <a:t>(2)</a:t>
            </a:r>
            <a:endParaRPr lang="en-US" sz="3600" b="1" dirty="0">
              <a:solidFill>
                <a:srgbClr val="0000CC"/>
              </a:solidFill>
            </a:endParaRPr>
          </a:p>
        </p:txBody>
      </p:sp>
      <p:sp>
        <p:nvSpPr>
          <p:cNvPr id="60419" name="Rectangle 3"/>
          <p:cNvSpPr>
            <a:spLocks noGrp="1" noChangeArrowheads="1"/>
          </p:cNvSpPr>
          <p:nvPr>
            <p:ph type="body" idx="1"/>
          </p:nvPr>
        </p:nvSpPr>
        <p:spPr>
          <a:xfrm>
            <a:off x="381000" y="1371600"/>
            <a:ext cx="8305800" cy="4800600"/>
          </a:xfrm>
        </p:spPr>
        <p:txBody>
          <a:bodyPr/>
          <a:lstStyle/>
          <a:p>
            <a:pPr marL="320040" indent="-320040">
              <a:buNone/>
            </a:pPr>
            <a:r>
              <a:rPr lang="en-US" sz="2400" b="1" dirty="0"/>
              <a:t>2.  </a:t>
            </a:r>
            <a:r>
              <a:rPr lang="zh-CN" altLang="en-US" sz="2400" b="1" dirty="0"/>
              <a:t>计算</a:t>
            </a:r>
            <a:r>
              <a:rPr lang="en-US" sz="2400" b="1" i="1" dirty="0"/>
              <a:t>G</a:t>
            </a:r>
            <a:r>
              <a:rPr lang="en-US" sz="2400" b="1" baseline="30000" dirty="0"/>
              <a:t>T</a:t>
            </a:r>
            <a:endParaRPr lang="en-US" sz="2400" b="1" dirty="0"/>
          </a:p>
          <a:p>
            <a:pPr>
              <a:buNone/>
            </a:pPr>
            <a:r>
              <a:rPr lang="en-US" sz="2400" b="1" dirty="0"/>
              <a:t>3. </a:t>
            </a:r>
            <a:r>
              <a:rPr lang="zh-CN" altLang="en-US" sz="2400" b="1" dirty="0"/>
              <a:t>调用</a:t>
            </a:r>
            <a:r>
              <a:rPr lang="en-US" altLang="zh-CN" sz="2400" b="1" dirty="0"/>
              <a:t>DFS(</a:t>
            </a:r>
            <a:r>
              <a:rPr lang="en-US" altLang="zh-CN" sz="2400" b="1" i="1" dirty="0"/>
              <a:t>G</a:t>
            </a:r>
            <a:r>
              <a:rPr lang="en-US" altLang="zh-CN" sz="2400" b="1" baseline="30000" dirty="0"/>
              <a:t>T</a:t>
            </a:r>
            <a:r>
              <a:rPr kumimoji="1" lang="en-US" altLang="zh-CN" sz="2400" b="1" dirty="0"/>
              <a:t>)</a:t>
            </a:r>
            <a:r>
              <a:rPr kumimoji="1" lang="zh-CN" altLang="en-US" sz="2400" b="1" dirty="0"/>
              <a:t>，在</a:t>
            </a:r>
            <a:r>
              <a:rPr kumimoji="1" lang="en-US" altLang="zh-CN" sz="2400" b="1" dirty="0"/>
              <a:t>DFS</a:t>
            </a:r>
            <a:r>
              <a:rPr kumimoji="1" lang="zh-CN" altLang="en-US" sz="2400" b="1" dirty="0"/>
              <a:t>的主循环中，以</a:t>
            </a:r>
            <a:r>
              <a:rPr kumimoji="1" lang="en-US" altLang="zh-CN" sz="2400" b="1" i="1" dirty="0" err="1"/>
              <a:t>u</a:t>
            </a:r>
            <a:r>
              <a:rPr kumimoji="1" lang="en-US" altLang="zh-CN" sz="2400" b="1" dirty="0" err="1"/>
              <a:t>.</a:t>
            </a:r>
            <a:r>
              <a:rPr kumimoji="1" lang="en-US" altLang="zh-CN" sz="2400" b="1" i="1" dirty="0" err="1"/>
              <a:t>f</a:t>
            </a:r>
            <a:r>
              <a:rPr kumimoji="1" lang="zh-CN" altLang="en-US" sz="2400" b="1" dirty="0"/>
              <a:t>下降的顺序遍历节点</a:t>
            </a:r>
            <a:endParaRPr kumimoji="1" lang="en-US" altLang="zh-CN" sz="2400" b="1" dirty="0"/>
          </a:p>
        </p:txBody>
      </p:sp>
      <p:pic>
        <p:nvPicPr>
          <p:cNvPr id="5" name="Picture 3"/>
          <p:cNvPicPr>
            <a:picLocks noChangeAspect="1" noChangeArrowheads="1"/>
          </p:cNvPicPr>
          <p:nvPr/>
        </p:nvPicPr>
        <p:blipFill rotWithShape="1">
          <a:blip r:embed="rId3" cstate="print"/>
          <a:srcRect l="9808" t="36489" b="31400"/>
          <a:stretch/>
        </p:blipFill>
        <p:spPr bwMode="auto">
          <a:xfrm>
            <a:off x="457200" y="2667000"/>
            <a:ext cx="5791200" cy="2227385"/>
          </a:xfrm>
          <a:prstGeom prst="rect">
            <a:avLst/>
          </a:prstGeom>
          <a:noFill/>
          <a:ln w="9525">
            <a:noFill/>
            <a:miter lim="800000"/>
            <a:headEnd/>
            <a:tailEnd/>
          </a:ln>
        </p:spPr>
      </p:pic>
      <p:pic>
        <p:nvPicPr>
          <p:cNvPr id="6" name="Picture 2"/>
          <p:cNvPicPr>
            <a:picLocks noChangeAspect="1" noChangeArrowheads="1"/>
          </p:cNvPicPr>
          <p:nvPr/>
        </p:nvPicPr>
        <p:blipFill>
          <a:blip r:embed="rId3" cstate="print"/>
          <a:srcRect l="8176" b="68968"/>
          <a:stretch>
            <a:fillRect/>
          </a:stretch>
        </p:blipFill>
        <p:spPr bwMode="auto">
          <a:xfrm>
            <a:off x="3886200" y="4911318"/>
            <a:ext cx="4800750" cy="1752600"/>
          </a:xfrm>
          <a:prstGeom prst="rect">
            <a:avLst/>
          </a:prstGeom>
          <a:noFill/>
          <a:ln w="9525">
            <a:noFill/>
            <a:miter lim="800000"/>
            <a:headEnd/>
            <a:tailEnd/>
          </a:ln>
        </p:spPr>
      </p:pic>
      <p:sp>
        <p:nvSpPr>
          <p:cNvPr id="2" name="TextBox 1"/>
          <p:cNvSpPr txBox="1"/>
          <p:nvPr/>
        </p:nvSpPr>
        <p:spPr>
          <a:xfrm>
            <a:off x="609600" y="5164667"/>
            <a:ext cx="2882520" cy="830997"/>
          </a:xfrm>
          <a:prstGeom prst="rect">
            <a:avLst/>
          </a:prstGeom>
          <a:noFill/>
          <a:ln>
            <a:solidFill>
              <a:srgbClr val="FF0000"/>
            </a:solidFill>
          </a:ln>
        </p:spPr>
        <p:txBody>
          <a:bodyPr wrap="none" rtlCol="0">
            <a:spAutoFit/>
          </a:bodyPr>
          <a:lstStyle/>
          <a:p>
            <a:r>
              <a:rPr lang="zh-CN" altLang="en-US" sz="2400" dirty="0"/>
              <a:t>先考虑节点</a:t>
            </a:r>
            <a:r>
              <a:rPr lang="en-US" altLang="zh-CN" sz="2400" dirty="0"/>
              <a:t>b</a:t>
            </a:r>
            <a:r>
              <a:rPr lang="zh-CN" altLang="en-US" sz="2400" dirty="0"/>
              <a:t>，然后</a:t>
            </a:r>
            <a:endParaRPr lang="en-US" altLang="zh-CN" sz="2400" dirty="0"/>
          </a:p>
          <a:p>
            <a:r>
              <a:rPr lang="zh-CN" altLang="en-US" sz="2400" dirty="0"/>
              <a:t>考虑节点</a:t>
            </a:r>
            <a:r>
              <a:rPr lang="en-US" sz="2400" i="1" dirty="0"/>
              <a:t>c</a:t>
            </a:r>
            <a:r>
              <a:rPr lang="zh-CN" altLang="en-US" sz="2400" i="1" dirty="0"/>
              <a:t>，</a:t>
            </a:r>
            <a:r>
              <a:rPr lang="en-US" sz="2400" i="1" dirty="0"/>
              <a:t>g</a:t>
            </a:r>
            <a:r>
              <a:rPr lang="zh-CN" altLang="en-US" sz="2400" dirty="0"/>
              <a:t>和</a:t>
            </a:r>
            <a:r>
              <a:rPr lang="en-US" sz="2400" i="1" dirty="0"/>
              <a:t>h</a:t>
            </a:r>
            <a:endParaRPr lang="en-US" sz="2400" dirty="0"/>
          </a:p>
        </p:txBody>
      </p:sp>
    </p:spTree>
    <p:extLst>
      <p:ext uri="{BB962C8B-B14F-4D97-AF65-F5344CB8AC3E}">
        <p14:creationId xmlns:p14="http://schemas.microsoft.com/office/powerpoint/2010/main" val="360070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altLang="zh-CN" sz="3600" b="1" dirty="0">
                <a:solidFill>
                  <a:srgbClr val="0000CC"/>
                </a:solidFill>
              </a:rPr>
              <a:t>: </a:t>
            </a:r>
            <a:r>
              <a:rPr lang="zh-CN" altLang="en-US" sz="3600" b="1" dirty="0">
                <a:solidFill>
                  <a:srgbClr val="0000CC"/>
                </a:solidFill>
              </a:rPr>
              <a:t>举例</a:t>
            </a:r>
            <a:r>
              <a:rPr lang="en-US" altLang="zh-CN" sz="3600" b="1" dirty="0">
                <a:solidFill>
                  <a:srgbClr val="0000CC"/>
                </a:solidFill>
              </a:rPr>
              <a:t>(3)</a:t>
            </a:r>
            <a:endParaRPr lang="en-US" sz="3600" b="1" dirty="0">
              <a:solidFill>
                <a:srgbClr val="0000CC"/>
              </a:solidFill>
            </a:endParaRPr>
          </a:p>
        </p:txBody>
      </p:sp>
      <p:sp>
        <p:nvSpPr>
          <p:cNvPr id="60419" name="Rectangle 3"/>
          <p:cNvSpPr>
            <a:spLocks noGrp="1" noChangeArrowheads="1"/>
          </p:cNvSpPr>
          <p:nvPr>
            <p:ph type="body" idx="1"/>
          </p:nvPr>
        </p:nvSpPr>
        <p:spPr>
          <a:xfrm>
            <a:off x="381000" y="1524000"/>
            <a:ext cx="8305800" cy="4648200"/>
          </a:xfrm>
        </p:spPr>
        <p:txBody>
          <a:bodyPr/>
          <a:lstStyle/>
          <a:p>
            <a:pPr marL="457200" indent="-457200">
              <a:buNone/>
            </a:pPr>
            <a:r>
              <a:rPr kumimoji="1" lang="en-US" sz="2400" b="1" dirty="0"/>
              <a:t>4. </a:t>
            </a:r>
            <a:r>
              <a:rPr kumimoji="1" lang="zh-CN" altLang="en-US" sz="2400" b="1" dirty="0"/>
              <a:t>对于在第</a:t>
            </a:r>
            <a:r>
              <a:rPr kumimoji="1" lang="en-US" altLang="zh-CN" sz="2400" b="1" dirty="0"/>
              <a:t>3</a:t>
            </a:r>
            <a:r>
              <a:rPr kumimoji="1" lang="zh-CN" altLang="en-US" sz="2400" b="1" dirty="0"/>
              <a:t>行中输出的</a:t>
            </a:r>
            <a:r>
              <a:rPr kumimoji="1" lang="en-US" altLang="zh-CN" sz="2400" b="1" dirty="0"/>
              <a:t>DFS</a:t>
            </a:r>
            <a:r>
              <a:rPr kumimoji="1" lang="zh-CN" altLang="en-US" sz="2400" b="1" dirty="0"/>
              <a:t>树，每颗</a:t>
            </a:r>
            <a:r>
              <a:rPr kumimoji="1" lang="en-US" altLang="zh-CN" sz="2400" b="1" dirty="0"/>
              <a:t>DFS</a:t>
            </a:r>
            <a:r>
              <a:rPr kumimoji="1" lang="zh-CN" altLang="en-US" sz="2400" b="1" dirty="0"/>
              <a:t>树中的节点形成一个强连通分支</a:t>
            </a:r>
            <a:endParaRPr kumimoji="1" lang="en-US" altLang="zh-CN" sz="2400" b="1" dirty="0"/>
          </a:p>
        </p:txBody>
      </p:sp>
      <p:pic>
        <p:nvPicPr>
          <p:cNvPr id="5" name="Picture 3"/>
          <p:cNvPicPr>
            <a:picLocks noChangeAspect="1" noChangeArrowheads="1"/>
          </p:cNvPicPr>
          <p:nvPr/>
        </p:nvPicPr>
        <p:blipFill rotWithShape="1">
          <a:blip r:embed="rId3" cstate="print"/>
          <a:srcRect l="9808" t="36489" b="31400"/>
          <a:stretch/>
        </p:blipFill>
        <p:spPr bwMode="auto">
          <a:xfrm>
            <a:off x="1219200" y="2608385"/>
            <a:ext cx="6096000" cy="2344615"/>
          </a:xfrm>
          <a:prstGeom prst="rect">
            <a:avLst/>
          </a:prstGeom>
          <a:noFill/>
          <a:ln w="9525">
            <a:noFill/>
            <a:miter lim="800000"/>
            <a:headEnd/>
            <a:tailEnd/>
          </a:ln>
        </p:spPr>
      </p:pic>
      <p:sp>
        <p:nvSpPr>
          <p:cNvPr id="2" name="TextBox 1"/>
          <p:cNvSpPr txBox="1"/>
          <p:nvPr/>
        </p:nvSpPr>
        <p:spPr>
          <a:xfrm>
            <a:off x="914400" y="5253335"/>
            <a:ext cx="6553200" cy="461665"/>
          </a:xfrm>
          <a:prstGeom prst="rect">
            <a:avLst/>
          </a:prstGeom>
          <a:noFill/>
          <a:ln>
            <a:solidFill>
              <a:srgbClr val="FF0000"/>
            </a:solidFill>
          </a:ln>
        </p:spPr>
        <p:txBody>
          <a:bodyPr wrap="square" rtlCol="0">
            <a:spAutoFit/>
          </a:bodyPr>
          <a:lstStyle/>
          <a:p>
            <a:r>
              <a:rPr lang="zh-CN" altLang="en-US" sz="2400" dirty="0"/>
              <a:t>一共有</a:t>
            </a:r>
            <a:r>
              <a:rPr lang="en-US" sz="2400" dirty="0"/>
              <a:t>4</a:t>
            </a:r>
            <a:r>
              <a:rPr lang="zh-CN" altLang="en-US" sz="2400" dirty="0"/>
              <a:t>个</a:t>
            </a:r>
            <a:r>
              <a:rPr lang="en-US" altLang="zh-CN" sz="2400" dirty="0"/>
              <a:t>DFS</a:t>
            </a:r>
            <a:r>
              <a:rPr lang="zh-CN" altLang="en-US" sz="2400" dirty="0"/>
              <a:t>树，因此有</a:t>
            </a:r>
            <a:r>
              <a:rPr lang="en-US" altLang="zh-CN" sz="2400" dirty="0"/>
              <a:t>4</a:t>
            </a:r>
            <a:r>
              <a:rPr lang="zh-CN" altLang="en-US" sz="2400" dirty="0"/>
              <a:t>个强连通分支</a:t>
            </a:r>
            <a:endParaRPr lang="en-US" sz="2400" dirty="0"/>
          </a:p>
        </p:txBody>
      </p:sp>
    </p:spTree>
    <p:extLst>
      <p:ext uri="{BB962C8B-B14F-4D97-AF65-F5344CB8AC3E}">
        <p14:creationId xmlns:p14="http://schemas.microsoft.com/office/powerpoint/2010/main" val="26180391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强连通分支算法原理解释（</a:t>
            </a:r>
            <a:r>
              <a:rPr lang="en-US" altLang="zh-CN" sz="3600" b="1" dirty="0">
                <a:solidFill>
                  <a:srgbClr val="0000CC"/>
                </a:solidFill>
              </a:rPr>
              <a:t>1</a:t>
            </a:r>
            <a:r>
              <a:rPr lang="zh-CN" altLang="en-US" sz="3600" b="1" dirty="0">
                <a:solidFill>
                  <a:srgbClr val="0000CC"/>
                </a:solidFill>
              </a:rPr>
              <a:t>）</a:t>
            </a:r>
            <a:endParaRPr lang="en-US" sz="3600" b="1" dirty="0">
              <a:solidFill>
                <a:srgbClr val="0000CC"/>
              </a:solidFill>
            </a:endParaRPr>
          </a:p>
        </p:txBody>
      </p:sp>
      <p:sp>
        <p:nvSpPr>
          <p:cNvPr id="60419" name="Rectangle 3"/>
          <p:cNvSpPr>
            <a:spLocks noGrp="1" noChangeArrowheads="1"/>
          </p:cNvSpPr>
          <p:nvPr>
            <p:ph type="body" idx="1"/>
          </p:nvPr>
        </p:nvSpPr>
        <p:spPr>
          <a:xfrm>
            <a:off x="381000" y="1524000"/>
            <a:ext cx="8305800" cy="4648200"/>
          </a:xfrm>
        </p:spPr>
        <p:txBody>
          <a:bodyPr/>
          <a:lstStyle/>
          <a:p>
            <a:pPr marL="457200" indent="-457200">
              <a:buNone/>
            </a:pPr>
            <a:r>
              <a:rPr kumimoji="1" lang="zh-CN" altLang="en-US" sz="2400" b="1" dirty="0"/>
              <a:t>引理</a:t>
            </a:r>
            <a:r>
              <a:rPr kumimoji="1" lang="en-US" altLang="zh-CN" sz="2400" b="1" dirty="0"/>
              <a:t>1</a:t>
            </a:r>
            <a:r>
              <a:rPr kumimoji="1" lang="en-US" sz="2400" b="1" dirty="0"/>
              <a:t>. </a:t>
            </a:r>
            <a:r>
              <a:rPr kumimoji="1" lang="zh-CN" altLang="en-US" sz="2400" b="1" dirty="0"/>
              <a:t>设</a:t>
            </a:r>
            <a:r>
              <a:rPr kumimoji="1" lang="en-US" altLang="zh-CN" sz="2400" b="1" dirty="0"/>
              <a:t>C</a:t>
            </a:r>
            <a:r>
              <a:rPr kumimoji="1" lang="zh-CN" altLang="en-US" sz="2400" b="1" dirty="0"/>
              <a:t>和</a:t>
            </a:r>
            <a:r>
              <a:rPr kumimoji="1" lang="en-US" altLang="zh-CN" sz="2400" b="1" dirty="0"/>
              <a:t>C′</a:t>
            </a:r>
            <a:r>
              <a:rPr kumimoji="1" lang="zh-CN" altLang="en-US" sz="2400" b="1" dirty="0"/>
              <a:t>为有向图</a:t>
            </a:r>
            <a:r>
              <a:rPr kumimoji="1" lang="en-US" altLang="zh-CN" sz="2400" b="1" dirty="0"/>
              <a:t>G=(V,E)</a:t>
            </a:r>
            <a:r>
              <a:rPr kumimoji="1" lang="zh-CN" altLang="en-US" sz="2400" b="1" dirty="0"/>
              <a:t>的两个不同的强连通分量，设结点</a:t>
            </a:r>
            <a:r>
              <a:rPr kumimoji="1" lang="en-US" altLang="zh-CN" sz="2400" b="1" dirty="0"/>
              <a:t>u, v ∈C</a:t>
            </a:r>
            <a:r>
              <a:rPr kumimoji="1" lang="zh-CN" altLang="en-US" sz="2400" b="1" dirty="0"/>
              <a:t>，结点</a:t>
            </a:r>
            <a:r>
              <a:rPr kumimoji="1" lang="en-US" altLang="zh-CN" sz="2400" b="1" dirty="0"/>
              <a:t>u ′, v ′ ∈C ′ </a:t>
            </a:r>
            <a:r>
              <a:rPr kumimoji="1" lang="zh-CN" altLang="en-US" sz="2400" b="1" dirty="0"/>
              <a:t>，假定图</a:t>
            </a:r>
            <a:r>
              <a:rPr kumimoji="1" lang="en-US" altLang="zh-CN" sz="2400" b="1" dirty="0"/>
              <a:t>G</a:t>
            </a:r>
            <a:r>
              <a:rPr kumimoji="1" lang="zh-CN" altLang="en-US" sz="2400" b="1" dirty="0"/>
              <a:t>包含一条从结点</a:t>
            </a:r>
            <a:r>
              <a:rPr kumimoji="1" lang="en-US" altLang="zh-CN" sz="2400" b="1" dirty="0"/>
              <a:t>u</a:t>
            </a:r>
            <a:r>
              <a:rPr kumimoji="1" lang="zh-CN" altLang="en-US" sz="2400" b="1" dirty="0"/>
              <a:t>到结点</a:t>
            </a:r>
            <a:r>
              <a:rPr kumimoji="1" lang="en-US" altLang="zh-CN" sz="2400" b="1" dirty="0"/>
              <a:t>u ′</a:t>
            </a:r>
            <a:r>
              <a:rPr kumimoji="1" lang="zh-CN" altLang="en-US" sz="2400" b="1" dirty="0"/>
              <a:t>的路径</a:t>
            </a:r>
            <a:r>
              <a:rPr kumimoji="1" lang="en-US" altLang="zh-CN" sz="2400" b="1" dirty="0"/>
              <a:t>u </a:t>
            </a:r>
            <a:r>
              <a:rPr kumimoji="1" lang="zh-CN" altLang="en-US" sz="2400" b="1" dirty="0"/>
              <a:t>～</a:t>
            </a:r>
            <a:r>
              <a:rPr kumimoji="1" lang="en-US" altLang="zh-CN" sz="2400" b="1" dirty="0"/>
              <a:t> u ′</a:t>
            </a:r>
            <a:r>
              <a:rPr kumimoji="1" lang="zh-CN" altLang="en-US" sz="2400" b="1" dirty="0"/>
              <a:t>，那么图</a:t>
            </a:r>
            <a:r>
              <a:rPr kumimoji="1" lang="en-US" altLang="zh-CN" sz="2400" b="1" dirty="0"/>
              <a:t>G</a:t>
            </a:r>
            <a:r>
              <a:rPr kumimoji="1" lang="zh-CN" altLang="en-US" sz="2400" b="1" dirty="0"/>
              <a:t>不可能包含一条从结点</a:t>
            </a:r>
            <a:r>
              <a:rPr kumimoji="1" lang="en-US" altLang="zh-CN" sz="2400" b="1" dirty="0"/>
              <a:t>v ′</a:t>
            </a:r>
            <a:r>
              <a:rPr kumimoji="1" lang="zh-CN" altLang="en-US" sz="2400" b="1" dirty="0"/>
              <a:t>到</a:t>
            </a:r>
            <a:r>
              <a:rPr kumimoji="1" lang="en-US" altLang="zh-CN" sz="2400" b="1" dirty="0"/>
              <a:t>v</a:t>
            </a:r>
            <a:r>
              <a:rPr kumimoji="1" lang="zh-CN" altLang="en-US" sz="2400" b="1" dirty="0"/>
              <a:t>的路径</a:t>
            </a:r>
            <a:r>
              <a:rPr kumimoji="1" lang="en-US" altLang="zh-CN" sz="2400" b="1" dirty="0"/>
              <a:t>v </a:t>
            </a:r>
            <a:r>
              <a:rPr kumimoji="1" lang="zh-CN" altLang="en-US" sz="2400" b="1" dirty="0"/>
              <a:t>～</a:t>
            </a:r>
            <a:r>
              <a:rPr kumimoji="1" lang="en-US" altLang="zh-CN" sz="2400" b="1" dirty="0"/>
              <a:t> v ′</a:t>
            </a:r>
            <a:r>
              <a:rPr kumimoji="1" lang="zh-CN" altLang="en-US" sz="2400" b="1" dirty="0"/>
              <a:t>。</a:t>
            </a:r>
            <a:endParaRPr kumimoji="1" lang="en-US" altLang="zh-CN" sz="2400" b="1" dirty="0"/>
          </a:p>
        </p:txBody>
      </p:sp>
      <p:sp>
        <p:nvSpPr>
          <p:cNvPr id="6" name="任意多边形 5"/>
          <p:cNvSpPr/>
          <p:nvPr/>
        </p:nvSpPr>
        <p:spPr bwMode="auto">
          <a:xfrm>
            <a:off x="1143000" y="3200400"/>
            <a:ext cx="1793429" cy="1774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任意多边形 6"/>
          <p:cNvSpPr/>
          <p:nvPr/>
        </p:nvSpPr>
        <p:spPr bwMode="auto">
          <a:xfrm>
            <a:off x="4926543" y="3773606"/>
            <a:ext cx="2286685" cy="15490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8" name="矩形 7"/>
          <p:cNvSpPr/>
          <p:nvPr/>
        </p:nvSpPr>
        <p:spPr>
          <a:xfrm>
            <a:off x="1828800" y="3276600"/>
            <a:ext cx="418601"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9" name="矩形 8"/>
          <p:cNvSpPr/>
          <p:nvPr/>
        </p:nvSpPr>
        <p:spPr>
          <a:xfrm>
            <a:off x="5943600" y="3810000"/>
            <a:ext cx="1143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10" name="椭圆 9"/>
          <p:cNvSpPr/>
          <p:nvPr/>
        </p:nvSpPr>
        <p:spPr bwMode="auto">
          <a:xfrm>
            <a:off x="1752600" y="4419600"/>
            <a:ext cx="152400" cy="17151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TextBox 10"/>
          <p:cNvSpPr txBox="1"/>
          <p:nvPr/>
        </p:nvSpPr>
        <p:spPr>
          <a:xfrm>
            <a:off x="1371600" y="4267200"/>
            <a:ext cx="381000" cy="400110"/>
          </a:xfrm>
          <a:prstGeom prst="rect">
            <a:avLst/>
          </a:prstGeom>
          <a:noFill/>
        </p:spPr>
        <p:txBody>
          <a:bodyPr wrap="square" rtlCol="0">
            <a:spAutoFit/>
          </a:bodyPr>
          <a:lstStyle/>
          <a:p>
            <a:r>
              <a:rPr lang="en-US" altLang="zh-CN" dirty="0"/>
              <a:t>u</a:t>
            </a:r>
            <a:endParaRPr lang="zh-CN" altLang="en-US" dirty="0"/>
          </a:p>
        </p:txBody>
      </p:sp>
      <p:sp>
        <p:nvSpPr>
          <p:cNvPr id="12" name="椭圆 11"/>
          <p:cNvSpPr/>
          <p:nvPr/>
        </p:nvSpPr>
        <p:spPr bwMode="auto">
          <a:xfrm>
            <a:off x="2438400" y="4191000"/>
            <a:ext cx="138752" cy="15240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3" name="TextBox 12"/>
          <p:cNvSpPr txBox="1"/>
          <p:nvPr/>
        </p:nvSpPr>
        <p:spPr>
          <a:xfrm>
            <a:off x="2514600" y="3810000"/>
            <a:ext cx="381000" cy="400110"/>
          </a:xfrm>
          <a:prstGeom prst="rect">
            <a:avLst/>
          </a:prstGeom>
          <a:noFill/>
        </p:spPr>
        <p:txBody>
          <a:bodyPr wrap="square" rtlCol="0">
            <a:spAutoFit/>
          </a:bodyPr>
          <a:lstStyle/>
          <a:p>
            <a:r>
              <a:rPr lang="en-US" altLang="zh-CN" dirty="0"/>
              <a:t>v</a:t>
            </a:r>
            <a:endParaRPr lang="zh-CN" altLang="en-US" dirty="0"/>
          </a:p>
        </p:txBody>
      </p:sp>
      <p:sp>
        <p:nvSpPr>
          <p:cNvPr id="14" name="TextBox 13"/>
          <p:cNvSpPr txBox="1"/>
          <p:nvPr/>
        </p:nvSpPr>
        <p:spPr>
          <a:xfrm>
            <a:off x="5257800" y="4781490"/>
            <a:ext cx="533400" cy="400110"/>
          </a:xfrm>
          <a:prstGeom prst="rect">
            <a:avLst/>
          </a:prstGeom>
          <a:noFill/>
        </p:spPr>
        <p:txBody>
          <a:bodyPr wrap="square" rtlCol="0">
            <a:spAutoFit/>
          </a:bodyPr>
          <a:lstStyle/>
          <a:p>
            <a:r>
              <a:rPr lang="en-US" altLang="zh-CN" dirty="0"/>
              <a:t>u</a:t>
            </a:r>
            <a:r>
              <a:rPr kumimoji="1" lang="en-US" altLang="zh-CN" dirty="0"/>
              <a:t>′</a:t>
            </a:r>
            <a:endParaRPr lang="zh-CN" altLang="en-US" dirty="0"/>
          </a:p>
        </p:txBody>
      </p:sp>
      <p:sp>
        <p:nvSpPr>
          <p:cNvPr id="15" name="TextBox 14"/>
          <p:cNvSpPr txBox="1"/>
          <p:nvPr/>
        </p:nvSpPr>
        <p:spPr>
          <a:xfrm>
            <a:off x="5715000" y="4400490"/>
            <a:ext cx="609600" cy="400110"/>
          </a:xfrm>
          <a:prstGeom prst="rect">
            <a:avLst/>
          </a:prstGeom>
          <a:noFill/>
        </p:spPr>
        <p:txBody>
          <a:bodyPr wrap="square" rtlCol="0">
            <a:spAutoFit/>
          </a:bodyPr>
          <a:lstStyle/>
          <a:p>
            <a:r>
              <a:rPr lang="en-US" altLang="zh-CN" dirty="0"/>
              <a:t>v</a:t>
            </a:r>
            <a:r>
              <a:rPr kumimoji="1" lang="en-US" altLang="zh-CN" dirty="0"/>
              <a:t>′</a:t>
            </a:r>
            <a:endParaRPr lang="zh-CN" altLang="en-US" dirty="0"/>
          </a:p>
        </p:txBody>
      </p:sp>
      <p:sp>
        <p:nvSpPr>
          <p:cNvPr id="16" name="椭圆 15"/>
          <p:cNvSpPr/>
          <p:nvPr/>
        </p:nvSpPr>
        <p:spPr bwMode="auto">
          <a:xfrm>
            <a:off x="5181600" y="4700516"/>
            <a:ext cx="152400" cy="176284"/>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7" name="椭圆 16"/>
          <p:cNvSpPr/>
          <p:nvPr/>
        </p:nvSpPr>
        <p:spPr bwMode="auto">
          <a:xfrm>
            <a:off x="5717275" y="4286310"/>
            <a:ext cx="150125" cy="13329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9" name="任意多边形 18"/>
          <p:cNvSpPr/>
          <p:nvPr/>
        </p:nvSpPr>
        <p:spPr bwMode="auto">
          <a:xfrm>
            <a:off x="1842448" y="4496937"/>
            <a:ext cx="3370997" cy="6230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4450" cap="flat" cmpd="sng" algn="ctr">
            <a:solidFill>
              <a:schemeClr val="tx1"/>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0" name="任意多边形 19"/>
          <p:cNvSpPr/>
          <p:nvPr/>
        </p:nvSpPr>
        <p:spPr bwMode="auto">
          <a:xfrm>
            <a:off x="2579427" y="3923900"/>
            <a:ext cx="3057098" cy="395616"/>
          </a:xfrm>
          <a:custGeom>
            <a:avLst/>
            <a:gdLst>
              <a:gd name="connsiteX0" fmla="*/ 3057098 w 3057098"/>
              <a:gd name="connsiteY0" fmla="*/ 395616 h 395616"/>
              <a:gd name="connsiteX1" fmla="*/ 3036627 w 3057098"/>
              <a:gd name="connsiteY1" fmla="*/ 388793 h 395616"/>
              <a:gd name="connsiteX2" fmla="*/ 3002507 w 3057098"/>
              <a:gd name="connsiteY2" fmla="*/ 354673 h 395616"/>
              <a:gd name="connsiteX3" fmla="*/ 2947916 w 3057098"/>
              <a:gd name="connsiteY3" fmla="*/ 341025 h 395616"/>
              <a:gd name="connsiteX4" fmla="*/ 2838734 w 3057098"/>
              <a:gd name="connsiteY4" fmla="*/ 286434 h 395616"/>
              <a:gd name="connsiteX5" fmla="*/ 2729552 w 3057098"/>
              <a:gd name="connsiteY5" fmla="*/ 252315 h 395616"/>
              <a:gd name="connsiteX6" fmla="*/ 2627194 w 3057098"/>
              <a:gd name="connsiteY6" fmla="*/ 218196 h 395616"/>
              <a:gd name="connsiteX7" fmla="*/ 2436125 w 3057098"/>
              <a:gd name="connsiteY7" fmla="*/ 156781 h 395616"/>
              <a:gd name="connsiteX8" fmla="*/ 2272352 w 3057098"/>
              <a:gd name="connsiteY8" fmla="*/ 102190 h 395616"/>
              <a:gd name="connsiteX9" fmla="*/ 2149522 w 3057098"/>
              <a:gd name="connsiteY9" fmla="*/ 81718 h 395616"/>
              <a:gd name="connsiteX10" fmla="*/ 1972101 w 3057098"/>
              <a:gd name="connsiteY10" fmla="*/ 40775 h 395616"/>
              <a:gd name="connsiteX11" fmla="*/ 1828800 w 3057098"/>
              <a:gd name="connsiteY11" fmla="*/ 33951 h 395616"/>
              <a:gd name="connsiteX12" fmla="*/ 1241946 w 3057098"/>
              <a:gd name="connsiteY12" fmla="*/ 27127 h 395616"/>
              <a:gd name="connsiteX13" fmla="*/ 1187355 w 3057098"/>
              <a:gd name="connsiteY13" fmla="*/ 33951 h 395616"/>
              <a:gd name="connsiteX14" fmla="*/ 1023582 w 3057098"/>
              <a:gd name="connsiteY14" fmla="*/ 68070 h 395616"/>
              <a:gd name="connsiteX15" fmla="*/ 907576 w 3057098"/>
              <a:gd name="connsiteY15" fmla="*/ 74894 h 395616"/>
              <a:gd name="connsiteX16" fmla="*/ 750627 w 3057098"/>
              <a:gd name="connsiteY16" fmla="*/ 95366 h 395616"/>
              <a:gd name="connsiteX17" fmla="*/ 689212 w 3057098"/>
              <a:gd name="connsiteY17" fmla="*/ 102190 h 395616"/>
              <a:gd name="connsiteX18" fmla="*/ 586854 w 3057098"/>
              <a:gd name="connsiteY18" fmla="*/ 122661 h 395616"/>
              <a:gd name="connsiteX19" fmla="*/ 559558 w 3057098"/>
              <a:gd name="connsiteY19" fmla="*/ 136309 h 395616"/>
              <a:gd name="connsiteX20" fmla="*/ 525439 w 3057098"/>
              <a:gd name="connsiteY20" fmla="*/ 149957 h 395616"/>
              <a:gd name="connsiteX21" fmla="*/ 504967 w 3057098"/>
              <a:gd name="connsiteY21" fmla="*/ 163604 h 395616"/>
              <a:gd name="connsiteX22" fmla="*/ 470848 w 3057098"/>
              <a:gd name="connsiteY22" fmla="*/ 177252 h 395616"/>
              <a:gd name="connsiteX23" fmla="*/ 361666 w 3057098"/>
              <a:gd name="connsiteY23" fmla="*/ 245491 h 395616"/>
              <a:gd name="connsiteX24" fmla="*/ 327546 w 3057098"/>
              <a:gd name="connsiteY24" fmla="*/ 259139 h 395616"/>
              <a:gd name="connsiteX25" fmla="*/ 307074 w 3057098"/>
              <a:gd name="connsiteY25" fmla="*/ 272787 h 395616"/>
              <a:gd name="connsiteX26" fmla="*/ 272955 w 3057098"/>
              <a:gd name="connsiteY26" fmla="*/ 279610 h 395616"/>
              <a:gd name="connsiteX27" fmla="*/ 225188 w 3057098"/>
              <a:gd name="connsiteY27" fmla="*/ 306906 h 395616"/>
              <a:gd name="connsiteX28" fmla="*/ 184245 w 3057098"/>
              <a:gd name="connsiteY28" fmla="*/ 313730 h 395616"/>
              <a:gd name="connsiteX29" fmla="*/ 61415 w 3057098"/>
              <a:gd name="connsiteY29" fmla="*/ 334201 h 395616"/>
              <a:gd name="connsiteX30" fmla="*/ 0 w 3057098"/>
              <a:gd name="connsiteY30" fmla="*/ 334201 h 395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7098" h="395616">
                <a:moveTo>
                  <a:pt x="3057098" y="395616"/>
                </a:moveTo>
                <a:cubicBezTo>
                  <a:pt x="3050274" y="393342"/>
                  <a:pt x="3042381" y="393109"/>
                  <a:pt x="3036627" y="388793"/>
                </a:cubicBezTo>
                <a:cubicBezTo>
                  <a:pt x="3023760" y="379142"/>
                  <a:pt x="3016669" y="362299"/>
                  <a:pt x="3002507" y="354673"/>
                </a:cubicBezTo>
                <a:cubicBezTo>
                  <a:pt x="2985992" y="345780"/>
                  <a:pt x="2966113" y="345574"/>
                  <a:pt x="2947916" y="341025"/>
                </a:cubicBezTo>
                <a:cubicBezTo>
                  <a:pt x="2906024" y="299133"/>
                  <a:pt x="2933229" y="320796"/>
                  <a:pt x="2838734" y="286434"/>
                </a:cubicBezTo>
                <a:cubicBezTo>
                  <a:pt x="2749279" y="253905"/>
                  <a:pt x="2807530" y="277126"/>
                  <a:pt x="2729552" y="252315"/>
                </a:cubicBezTo>
                <a:cubicBezTo>
                  <a:pt x="2695280" y="241410"/>
                  <a:pt x="2660787" y="231040"/>
                  <a:pt x="2627194" y="218196"/>
                </a:cubicBezTo>
                <a:cubicBezTo>
                  <a:pt x="2457349" y="153255"/>
                  <a:pt x="2553462" y="169817"/>
                  <a:pt x="2436125" y="156781"/>
                </a:cubicBezTo>
                <a:cubicBezTo>
                  <a:pt x="2360911" y="123352"/>
                  <a:pt x="2367245" y="122319"/>
                  <a:pt x="2272352" y="102190"/>
                </a:cubicBezTo>
                <a:cubicBezTo>
                  <a:pt x="2231747" y="93577"/>
                  <a:pt x="2190127" y="90331"/>
                  <a:pt x="2149522" y="81718"/>
                </a:cubicBezTo>
                <a:cubicBezTo>
                  <a:pt x="2077522" y="66445"/>
                  <a:pt x="2042346" y="47360"/>
                  <a:pt x="1972101" y="40775"/>
                </a:cubicBezTo>
                <a:cubicBezTo>
                  <a:pt x="1924489" y="36311"/>
                  <a:pt x="1876567" y="36226"/>
                  <a:pt x="1828800" y="33951"/>
                </a:cubicBezTo>
                <a:cubicBezTo>
                  <a:pt x="1574174" y="0"/>
                  <a:pt x="1724122" y="14920"/>
                  <a:pt x="1241946" y="27127"/>
                </a:cubicBezTo>
                <a:cubicBezTo>
                  <a:pt x="1223613" y="27591"/>
                  <a:pt x="1205380" y="30571"/>
                  <a:pt x="1187355" y="33951"/>
                </a:cubicBezTo>
                <a:cubicBezTo>
                  <a:pt x="1132547" y="44227"/>
                  <a:pt x="1078173" y="56697"/>
                  <a:pt x="1023582" y="68070"/>
                </a:cubicBezTo>
                <a:cubicBezTo>
                  <a:pt x="985661" y="75970"/>
                  <a:pt x="946197" y="71923"/>
                  <a:pt x="907576" y="74894"/>
                </a:cubicBezTo>
                <a:cubicBezTo>
                  <a:pt x="856621" y="78814"/>
                  <a:pt x="800286" y="88889"/>
                  <a:pt x="750627" y="95366"/>
                </a:cubicBezTo>
                <a:cubicBezTo>
                  <a:pt x="730202" y="98030"/>
                  <a:pt x="709684" y="99915"/>
                  <a:pt x="689212" y="102190"/>
                </a:cubicBezTo>
                <a:cubicBezTo>
                  <a:pt x="567024" y="142917"/>
                  <a:pt x="750915" y="84800"/>
                  <a:pt x="586854" y="122661"/>
                </a:cubicBezTo>
                <a:cubicBezTo>
                  <a:pt x="576942" y="124948"/>
                  <a:pt x="568854" y="132177"/>
                  <a:pt x="559558" y="136309"/>
                </a:cubicBezTo>
                <a:cubicBezTo>
                  <a:pt x="548365" y="141284"/>
                  <a:pt x="536395" y="144479"/>
                  <a:pt x="525439" y="149957"/>
                </a:cubicBezTo>
                <a:cubicBezTo>
                  <a:pt x="518104" y="153625"/>
                  <a:pt x="512302" y="159936"/>
                  <a:pt x="504967" y="163604"/>
                </a:cubicBezTo>
                <a:cubicBezTo>
                  <a:pt x="494011" y="169082"/>
                  <a:pt x="481633" y="171445"/>
                  <a:pt x="470848" y="177252"/>
                </a:cubicBezTo>
                <a:cubicBezTo>
                  <a:pt x="470840" y="177256"/>
                  <a:pt x="361675" y="245487"/>
                  <a:pt x="361666" y="245491"/>
                </a:cubicBezTo>
                <a:cubicBezTo>
                  <a:pt x="350293" y="250040"/>
                  <a:pt x="338502" y="253661"/>
                  <a:pt x="327546" y="259139"/>
                </a:cubicBezTo>
                <a:cubicBezTo>
                  <a:pt x="320210" y="262807"/>
                  <a:pt x="314753" y="269907"/>
                  <a:pt x="307074" y="272787"/>
                </a:cubicBezTo>
                <a:cubicBezTo>
                  <a:pt x="296214" y="276859"/>
                  <a:pt x="284328" y="277336"/>
                  <a:pt x="272955" y="279610"/>
                </a:cubicBezTo>
                <a:cubicBezTo>
                  <a:pt x="257033" y="288709"/>
                  <a:pt x="242304" y="300323"/>
                  <a:pt x="225188" y="306906"/>
                </a:cubicBezTo>
                <a:cubicBezTo>
                  <a:pt x="212274" y="311873"/>
                  <a:pt x="197858" y="311255"/>
                  <a:pt x="184245" y="313730"/>
                </a:cubicBezTo>
                <a:cubicBezTo>
                  <a:pt x="134982" y="322687"/>
                  <a:pt x="124976" y="328423"/>
                  <a:pt x="61415" y="334201"/>
                </a:cubicBezTo>
                <a:cubicBezTo>
                  <a:pt x="41027" y="336054"/>
                  <a:pt x="20472" y="334201"/>
                  <a:pt x="0" y="334201"/>
                </a:cubicBezTo>
              </a:path>
            </a:pathLst>
          </a:custGeom>
          <a:noFill/>
          <a:ln w="44450" cap="flat" cmpd="sng" algn="ctr">
            <a:solidFill>
              <a:srgbClr val="00B0F0"/>
            </a:solidFill>
            <a:prstDash val="dash"/>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61803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down)">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linds(horizontal)">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linds(horizontal)">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20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0"/>
                                        <p:tgtEl>
                                          <p:spTgt spid="14"/>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blinds(horizontal)">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right)">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p:bldP spid="12" grpId="0" animBg="1"/>
      <p:bldP spid="13" grpId="0"/>
      <p:bldP spid="14" grpId="0"/>
      <p:bldP spid="15" grpId="0"/>
      <p:bldP spid="16" grpId="0" animBg="1"/>
      <p:bldP spid="17" grpId="0" animBg="1"/>
      <p:bldP spid="19" grpId="0" animBg="1"/>
      <p:bldP spid="2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强连通分支算法原理解释（</a:t>
            </a:r>
            <a:r>
              <a:rPr lang="en-US" altLang="zh-CN" sz="3600" b="1" dirty="0">
                <a:solidFill>
                  <a:srgbClr val="0000CC"/>
                </a:solidFill>
              </a:rPr>
              <a:t>2</a:t>
            </a:r>
            <a:r>
              <a:rPr lang="zh-CN" altLang="en-US" sz="3600" b="1" dirty="0">
                <a:solidFill>
                  <a:srgbClr val="0000CC"/>
                </a:solidFill>
              </a:rPr>
              <a:t>）</a:t>
            </a:r>
            <a:endParaRPr lang="en-US" sz="3600" b="1" dirty="0">
              <a:solidFill>
                <a:srgbClr val="0000CC"/>
              </a:solidFill>
            </a:endParaRPr>
          </a:p>
        </p:txBody>
      </p:sp>
      <p:sp>
        <p:nvSpPr>
          <p:cNvPr id="60419" name="Rectangle 3"/>
          <p:cNvSpPr>
            <a:spLocks noGrp="1" noChangeArrowheads="1"/>
          </p:cNvSpPr>
          <p:nvPr>
            <p:ph type="body" idx="1"/>
          </p:nvPr>
        </p:nvSpPr>
        <p:spPr>
          <a:xfrm>
            <a:off x="381000" y="1524000"/>
            <a:ext cx="8305800" cy="4648200"/>
          </a:xfrm>
        </p:spPr>
        <p:txBody>
          <a:bodyPr/>
          <a:lstStyle/>
          <a:p>
            <a:pPr marL="457200" indent="-457200">
              <a:buNone/>
            </a:pPr>
            <a:r>
              <a:rPr kumimoji="1" lang="zh-CN" altLang="en-US" sz="2400" b="1" dirty="0"/>
              <a:t>引理</a:t>
            </a:r>
            <a:r>
              <a:rPr kumimoji="1" lang="en-US" altLang="zh-CN" sz="2400" b="1" dirty="0"/>
              <a:t>2</a:t>
            </a:r>
            <a:r>
              <a:rPr kumimoji="1" lang="en-US" sz="2400" b="1" dirty="0"/>
              <a:t>. </a:t>
            </a:r>
            <a:r>
              <a:rPr kumimoji="1" lang="zh-CN" altLang="en-US" sz="2400" b="1" dirty="0"/>
              <a:t>设</a:t>
            </a:r>
            <a:r>
              <a:rPr kumimoji="1" lang="en-US" altLang="zh-CN" sz="2400" b="1" dirty="0"/>
              <a:t>C</a:t>
            </a:r>
            <a:r>
              <a:rPr kumimoji="1" lang="zh-CN" altLang="en-US" sz="2400" b="1" dirty="0"/>
              <a:t>和</a:t>
            </a:r>
            <a:r>
              <a:rPr kumimoji="1" lang="en-US" altLang="zh-CN" sz="2400" b="1" dirty="0"/>
              <a:t>C′</a:t>
            </a:r>
            <a:r>
              <a:rPr kumimoji="1" lang="zh-CN" altLang="en-US" sz="2400" b="1" dirty="0"/>
              <a:t>为有向图</a:t>
            </a:r>
            <a:r>
              <a:rPr kumimoji="1" lang="en-US" altLang="zh-CN" sz="2400" b="1" dirty="0"/>
              <a:t>G=(V,E)</a:t>
            </a:r>
            <a:r>
              <a:rPr kumimoji="1" lang="zh-CN" altLang="en-US" sz="2400" b="1" dirty="0"/>
              <a:t>的两个不同的强连通分量，假如存在一条边</a:t>
            </a:r>
            <a:r>
              <a:rPr kumimoji="1" lang="en-US" altLang="zh-CN" sz="2400" b="1" dirty="0"/>
              <a:t>(u, v) ∈E</a:t>
            </a:r>
            <a:r>
              <a:rPr kumimoji="1" lang="zh-CN" altLang="en-US" sz="2400" b="1" dirty="0"/>
              <a:t>，这里</a:t>
            </a:r>
            <a:r>
              <a:rPr kumimoji="1" lang="en-US" altLang="zh-CN" sz="2400" b="1" dirty="0"/>
              <a:t>u ∈C  , v  ∈C′ </a:t>
            </a:r>
            <a:r>
              <a:rPr kumimoji="1" lang="zh-CN" altLang="en-US" sz="2400" b="1" dirty="0"/>
              <a:t>，则</a:t>
            </a:r>
            <a:r>
              <a:rPr kumimoji="1" lang="en-US" altLang="zh-CN" sz="2400" b="1" dirty="0"/>
              <a:t>C</a:t>
            </a:r>
            <a:r>
              <a:rPr kumimoji="1" lang="zh-CN" altLang="en-US" sz="2400" b="1" dirty="0"/>
              <a:t>的最晚结束时间</a:t>
            </a:r>
            <a:r>
              <a:rPr kumimoji="1" lang="en-US" altLang="zh-CN" sz="2400" b="1" dirty="0"/>
              <a:t>&gt; C′</a:t>
            </a:r>
            <a:r>
              <a:rPr kumimoji="1" lang="zh-CN" altLang="en-US" sz="2400" b="1" dirty="0"/>
              <a:t>的最晚结束时间</a:t>
            </a:r>
            <a:r>
              <a:rPr kumimoji="1" lang="en-US" altLang="zh-CN" sz="2400" b="1" dirty="0"/>
              <a:t> </a:t>
            </a:r>
            <a:r>
              <a:rPr kumimoji="1" lang="zh-CN" altLang="en-US" sz="2400" b="1" dirty="0"/>
              <a:t>。</a:t>
            </a:r>
            <a:endParaRPr kumimoji="1" lang="en-US" altLang="zh-CN" sz="2400" b="1" dirty="0"/>
          </a:p>
        </p:txBody>
      </p:sp>
      <p:sp>
        <p:nvSpPr>
          <p:cNvPr id="6" name="任意多边形 5"/>
          <p:cNvSpPr/>
          <p:nvPr/>
        </p:nvSpPr>
        <p:spPr bwMode="auto">
          <a:xfrm>
            <a:off x="1143000" y="3200400"/>
            <a:ext cx="1793429" cy="1774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任意多边形 6"/>
          <p:cNvSpPr/>
          <p:nvPr/>
        </p:nvSpPr>
        <p:spPr bwMode="auto">
          <a:xfrm>
            <a:off x="4926543" y="3773606"/>
            <a:ext cx="2286685" cy="15490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8" name="矩形 7"/>
          <p:cNvSpPr/>
          <p:nvPr/>
        </p:nvSpPr>
        <p:spPr>
          <a:xfrm>
            <a:off x="1828800" y="3276600"/>
            <a:ext cx="418601"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9" name="矩形 8"/>
          <p:cNvSpPr/>
          <p:nvPr/>
        </p:nvSpPr>
        <p:spPr>
          <a:xfrm>
            <a:off x="5943600" y="3810000"/>
            <a:ext cx="1143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10" name="椭圆 9"/>
          <p:cNvSpPr/>
          <p:nvPr/>
        </p:nvSpPr>
        <p:spPr bwMode="auto">
          <a:xfrm>
            <a:off x="1676400" y="4343400"/>
            <a:ext cx="152400" cy="15240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TextBox 10"/>
          <p:cNvSpPr txBox="1"/>
          <p:nvPr/>
        </p:nvSpPr>
        <p:spPr>
          <a:xfrm>
            <a:off x="1371600" y="4267200"/>
            <a:ext cx="381000" cy="400110"/>
          </a:xfrm>
          <a:prstGeom prst="rect">
            <a:avLst/>
          </a:prstGeom>
          <a:noFill/>
        </p:spPr>
        <p:txBody>
          <a:bodyPr wrap="square" rtlCol="0">
            <a:spAutoFit/>
          </a:bodyPr>
          <a:lstStyle/>
          <a:p>
            <a:r>
              <a:rPr lang="en-US" altLang="zh-CN" dirty="0"/>
              <a:t>u</a:t>
            </a:r>
            <a:endParaRPr lang="zh-CN" altLang="en-US" dirty="0"/>
          </a:p>
        </p:txBody>
      </p:sp>
      <p:sp>
        <p:nvSpPr>
          <p:cNvPr id="14" name="TextBox 13"/>
          <p:cNvSpPr txBox="1"/>
          <p:nvPr/>
        </p:nvSpPr>
        <p:spPr>
          <a:xfrm>
            <a:off x="5334000" y="4781490"/>
            <a:ext cx="533400" cy="400110"/>
          </a:xfrm>
          <a:prstGeom prst="rect">
            <a:avLst/>
          </a:prstGeom>
          <a:noFill/>
        </p:spPr>
        <p:txBody>
          <a:bodyPr wrap="square" rtlCol="0">
            <a:spAutoFit/>
          </a:bodyPr>
          <a:lstStyle/>
          <a:p>
            <a:r>
              <a:rPr lang="en-US" altLang="zh-CN" dirty="0"/>
              <a:t>v</a:t>
            </a:r>
            <a:endParaRPr lang="zh-CN" altLang="en-US" dirty="0"/>
          </a:p>
        </p:txBody>
      </p:sp>
      <p:sp>
        <p:nvSpPr>
          <p:cNvPr id="16" name="椭圆 15"/>
          <p:cNvSpPr/>
          <p:nvPr/>
        </p:nvSpPr>
        <p:spPr bwMode="auto">
          <a:xfrm>
            <a:off x="5257800" y="4724400"/>
            <a:ext cx="152400" cy="15240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9" name="任意多边形 18"/>
          <p:cNvSpPr/>
          <p:nvPr/>
        </p:nvSpPr>
        <p:spPr bwMode="auto">
          <a:xfrm>
            <a:off x="1842448" y="4496937"/>
            <a:ext cx="3370997" cy="6230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7625" cap="flat" cmpd="sng" algn="ctr">
            <a:solidFill>
              <a:schemeClr val="tx1"/>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8" name="TextBox 17"/>
          <p:cNvSpPr txBox="1"/>
          <p:nvPr/>
        </p:nvSpPr>
        <p:spPr>
          <a:xfrm>
            <a:off x="3581400" y="2895600"/>
            <a:ext cx="838200" cy="584775"/>
          </a:xfrm>
          <a:prstGeom prst="rect">
            <a:avLst/>
          </a:prstGeom>
          <a:noFill/>
        </p:spPr>
        <p:txBody>
          <a:bodyPr wrap="square" rtlCol="0">
            <a:spAutoFit/>
          </a:bodyPr>
          <a:lstStyle/>
          <a:p>
            <a:r>
              <a:rPr lang="en-US" altLang="zh-CN" sz="3200" dirty="0"/>
              <a:t>G</a:t>
            </a:r>
            <a:endParaRPr lang="zh-CN" altLang="en-US" sz="3200" dirty="0"/>
          </a:p>
        </p:txBody>
      </p:sp>
    </p:spTree>
    <p:extLst>
      <p:ext uri="{BB962C8B-B14F-4D97-AF65-F5344CB8AC3E}">
        <p14:creationId xmlns:p14="http://schemas.microsoft.com/office/powerpoint/2010/main" val="261803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down)">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0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20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p:bldP spid="14" grpId="0"/>
      <p:bldP spid="16" grpId="0" animBg="1"/>
      <p:bldP spid="19" grpId="0" animBg="1"/>
      <p:bldP spid="1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强连通分支算法原理解释（</a:t>
            </a:r>
            <a:r>
              <a:rPr lang="en-US" altLang="zh-CN" sz="3600" b="1" dirty="0">
                <a:solidFill>
                  <a:srgbClr val="0000CC"/>
                </a:solidFill>
              </a:rPr>
              <a:t>3</a:t>
            </a:r>
            <a:r>
              <a:rPr lang="zh-CN" altLang="en-US" sz="3600" b="1" dirty="0">
                <a:solidFill>
                  <a:srgbClr val="0000CC"/>
                </a:solidFill>
              </a:rPr>
              <a:t>）</a:t>
            </a:r>
            <a:endParaRPr lang="en-US" sz="3600" b="1" dirty="0">
              <a:solidFill>
                <a:srgbClr val="0000CC"/>
              </a:solidFill>
            </a:endParaRPr>
          </a:p>
        </p:txBody>
      </p:sp>
      <p:sp>
        <p:nvSpPr>
          <p:cNvPr id="60419" name="Rectangle 3"/>
          <p:cNvSpPr>
            <a:spLocks noGrp="1" noChangeArrowheads="1"/>
          </p:cNvSpPr>
          <p:nvPr>
            <p:ph type="body" idx="1"/>
          </p:nvPr>
        </p:nvSpPr>
        <p:spPr>
          <a:xfrm>
            <a:off x="381000" y="1524000"/>
            <a:ext cx="8305800" cy="4648200"/>
          </a:xfrm>
        </p:spPr>
        <p:txBody>
          <a:bodyPr/>
          <a:lstStyle/>
          <a:p>
            <a:pPr marL="457200" indent="-457200">
              <a:buNone/>
            </a:pPr>
            <a:r>
              <a:rPr kumimoji="1" lang="zh-CN" altLang="en-US" sz="2400" b="1" dirty="0"/>
              <a:t>引理</a:t>
            </a:r>
            <a:r>
              <a:rPr kumimoji="1" lang="en-US" altLang="zh-CN" sz="2400" b="1" dirty="0"/>
              <a:t>3</a:t>
            </a:r>
            <a:r>
              <a:rPr kumimoji="1" lang="en-US" sz="2400" b="1" dirty="0"/>
              <a:t>. </a:t>
            </a:r>
            <a:r>
              <a:rPr kumimoji="1" lang="zh-CN" altLang="en-US" sz="2400" b="1" dirty="0"/>
              <a:t>设</a:t>
            </a:r>
            <a:r>
              <a:rPr kumimoji="1" lang="en-US" altLang="zh-CN" sz="2400" b="1" dirty="0"/>
              <a:t>C</a:t>
            </a:r>
            <a:r>
              <a:rPr kumimoji="1" lang="zh-CN" altLang="en-US" sz="2400" b="1" dirty="0"/>
              <a:t>和</a:t>
            </a:r>
            <a:r>
              <a:rPr kumimoji="1" lang="en-US" altLang="zh-CN" sz="2400" b="1" dirty="0"/>
              <a:t>C′</a:t>
            </a:r>
            <a:r>
              <a:rPr kumimoji="1" lang="zh-CN" altLang="en-US" sz="2400" b="1" dirty="0"/>
              <a:t>为有向图</a:t>
            </a:r>
            <a:r>
              <a:rPr kumimoji="1" lang="en-US" altLang="zh-CN" sz="2400" b="1" dirty="0"/>
              <a:t>G=(V,E)</a:t>
            </a:r>
            <a:r>
              <a:rPr kumimoji="1" lang="zh-CN" altLang="en-US" sz="2400" b="1" dirty="0"/>
              <a:t>的两个不同的强连通分量，假如存在一条边</a:t>
            </a:r>
            <a:r>
              <a:rPr kumimoji="1" lang="en-US" altLang="zh-CN" sz="2400" b="1" dirty="0"/>
              <a:t>(u, v) ∈E</a:t>
            </a:r>
            <a:r>
              <a:rPr kumimoji="1" lang="en-US" altLang="zh-CN" sz="2400" b="1" baseline="30000" dirty="0"/>
              <a:t>T</a:t>
            </a:r>
            <a:r>
              <a:rPr kumimoji="1" lang="zh-CN" altLang="en-US" sz="2400" b="1" dirty="0"/>
              <a:t>，这里</a:t>
            </a:r>
            <a:r>
              <a:rPr kumimoji="1" lang="en-US" altLang="zh-CN" sz="2400" b="1" dirty="0"/>
              <a:t>u ∈C  , v  ∈C′ </a:t>
            </a:r>
            <a:r>
              <a:rPr kumimoji="1" lang="zh-CN" altLang="en-US" sz="2400" b="1" dirty="0"/>
              <a:t>，则</a:t>
            </a:r>
            <a:r>
              <a:rPr kumimoji="1" lang="en-US" altLang="zh-CN" sz="2400" b="1" dirty="0"/>
              <a:t>C</a:t>
            </a:r>
            <a:r>
              <a:rPr kumimoji="1" lang="zh-CN" altLang="en-US" sz="2400" b="1" dirty="0"/>
              <a:t>的最晚结束时间</a:t>
            </a:r>
            <a:r>
              <a:rPr kumimoji="1" lang="en-US" altLang="zh-CN" sz="2400" b="1" dirty="0"/>
              <a:t>&lt; C′</a:t>
            </a:r>
            <a:r>
              <a:rPr kumimoji="1" lang="zh-CN" altLang="en-US" sz="2400" b="1" dirty="0"/>
              <a:t>的最晚结束时间</a:t>
            </a:r>
            <a:r>
              <a:rPr kumimoji="1" lang="en-US" altLang="zh-CN" sz="2400" b="1" dirty="0"/>
              <a:t> </a:t>
            </a:r>
            <a:r>
              <a:rPr kumimoji="1" lang="zh-CN" altLang="en-US" sz="2400" b="1" dirty="0"/>
              <a:t>。</a:t>
            </a:r>
            <a:endParaRPr kumimoji="1" lang="en-US" altLang="zh-CN" sz="2400" b="1" dirty="0"/>
          </a:p>
        </p:txBody>
      </p:sp>
      <p:sp>
        <p:nvSpPr>
          <p:cNvPr id="6" name="任意多边形 5"/>
          <p:cNvSpPr/>
          <p:nvPr/>
        </p:nvSpPr>
        <p:spPr bwMode="auto">
          <a:xfrm>
            <a:off x="228601" y="3505200"/>
            <a:ext cx="1524000" cy="1393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任意多边形 6"/>
          <p:cNvSpPr/>
          <p:nvPr/>
        </p:nvSpPr>
        <p:spPr bwMode="auto">
          <a:xfrm>
            <a:off x="2438400" y="3962400"/>
            <a:ext cx="1981200" cy="13204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8" name="矩形 7"/>
          <p:cNvSpPr/>
          <p:nvPr/>
        </p:nvSpPr>
        <p:spPr>
          <a:xfrm>
            <a:off x="914401" y="3505200"/>
            <a:ext cx="381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9" name="矩形 8"/>
          <p:cNvSpPr/>
          <p:nvPr/>
        </p:nvSpPr>
        <p:spPr>
          <a:xfrm>
            <a:off x="3124199" y="4114800"/>
            <a:ext cx="1143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10" name="椭圆 9"/>
          <p:cNvSpPr/>
          <p:nvPr/>
        </p:nvSpPr>
        <p:spPr bwMode="auto">
          <a:xfrm>
            <a:off x="685800" y="4419600"/>
            <a:ext cx="152400" cy="17151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TextBox 10"/>
          <p:cNvSpPr txBox="1"/>
          <p:nvPr/>
        </p:nvSpPr>
        <p:spPr>
          <a:xfrm>
            <a:off x="381000" y="4038600"/>
            <a:ext cx="381000" cy="400110"/>
          </a:xfrm>
          <a:prstGeom prst="rect">
            <a:avLst/>
          </a:prstGeom>
          <a:noFill/>
        </p:spPr>
        <p:txBody>
          <a:bodyPr wrap="square" rtlCol="0">
            <a:spAutoFit/>
          </a:bodyPr>
          <a:lstStyle/>
          <a:p>
            <a:r>
              <a:rPr lang="en-US" altLang="zh-CN" dirty="0"/>
              <a:t>u</a:t>
            </a:r>
            <a:endParaRPr lang="zh-CN" altLang="en-US" dirty="0"/>
          </a:p>
        </p:txBody>
      </p:sp>
      <p:sp>
        <p:nvSpPr>
          <p:cNvPr id="14" name="TextBox 13"/>
          <p:cNvSpPr txBox="1"/>
          <p:nvPr/>
        </p:nvSpPr>
        <p:spPr>
          <a:xfrm>
            <a:off x="2895600" y="4781490"/>
            <a:ext cx="533400" cy="400110"/>
          </a:xfrm>
          <a:prstGeom prst="rect">
            <a:avLst/>
          </a:prstGeom>
          <a:noFill/>
        </p:spPr>
        <p:txBody>
          <a:bodyPr wrap="square" rtlCol="0">
            <a:spAutoFit/>
          </a:bodyPr>
          <a:lstStyle/>
          <a:p>
            <a:r>
              <a:rPr lang="en-US" altLang="zh-CN" dirty="0"/>
              <a:t>v</a:t>
            </a:r>
            <a:endParaRPr lang="zh-CN" altLang="en-US" dirty="0"/>
          </a:p>
        </p:txBody>
      </p:sp>
      <p:sp>
        <p:nvSpPr>
          <p:cNvPr id="16" name="椭圆 15"/>
          <p:cNvSpPr/>
          <p:nvPr/>
        </p:nvSpPr>
        <p:spPr bwMode="auto">
          <a:xfrm>
            <a:off x="2845858" y="4648201"/>
            <a:ext cx="125940" cy="13329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9" name="任意多边形 18"/>
          <p:cNvSpPr/>
          <p:nvPr/>
        </p:nvSpPr>
        <p:spPr bwMode="auto">
          <a:xfrm>
            <a:off x="838200" y="4558540"/>
            <a:ext cx="1981200" cy="3182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4450" cap="flat" cmpd="sng" algn="ctr">
            <a:solidFill>
              <a:schemeClr val="tx1"/>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3" name="TextBox 12"/>
          <p:cNvSpPr txBox="1"/>
          <p:nvPr/>
        </p:nvSpPr>
        <p:spPr>
          <a:xfrm>
            <a:off x="1981200" y="3200400"/>
            <a:ext cx="838200" cy="584775"/>
          </a:xfrm>
          <a:prstGeom prst="rect">
            <a:avLst/>
          </a:prstGeom>
          <a:noFill/>
        </p:spPr>
        <p:txBody>
          <a:bodyPr wrap="square" rtlCol="0">
            <a:spAutoFit/>
          </a:bodyPr>
          <a:lstStyle/>
          <a:p>
            <a:r>
              <a:rPr lang="en-US" altLang="zh-CN" sz="3200" dirty="0"/>
              <a:t>G</a:t>
            </a:r>
            <a:r>
              <a:rPr kumimoji="1" lang="en-US" altLang="zh-CN" sz="3200" baseline="30000" dirty="0"/>
              <a:t>T</a:t>
            </a:r>
            <a:endParaRPr lang="zh-CN" altLang="en-US" sz="3200" dirty="0"/>
          </a:p>
        </p:txBody>
      </p:sp>
      <p:sp>
        <p:nvSpPr>
          <p:cNvPr id="15" name="任意多边形 14"/>
          <p:cNvSpPr/>
          <p:nvPr/>
        </p:nvSpPr>
        <p:spPr bwMode="auto">
          <a:xfrm>
            <a:off x="5029201" y="3429000"/>
            <a:ext cx="1524000" cy="1393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7" name="任意多边形 16"/>
          <p:cNvSpPr/>
          <p:nvPr/>
        </p:nvSpPr>
        <p:spPr bwMode="auto">
          <a:xfrm>
            <a:off x="7162801" y="4038600"/>
            <a:ext cx="1828800" cy="12442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18" name="矩形 17"/>
          <p:cNvSpPr/>
          <p:nvPr/>
        </p:nvSpPr>
        <p:spPr>
          <a:xfrm>
            <a:off x="5410201" y="3429000"/>
            <a:ext cx="381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20" name="矩形 19"/>
          <p:cNvSpPr/>
          <p:nvPr/>
        </p:nvSpPr>
        <p:spPr>
          <a:xfrm>
            <a:off x="8001000" y="4114800"/>
            <a:ext cx="964143"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21" name="椭圆 20"/>
          <p:cNvSpPr/>
          <p:nvPr/>
        </p:nvSpPr>
        <p:spPr bwMode="auto">
          <a:xfrm>
            <a:off x="5333999" y="4343400"/>
            <a:ext cx="152399" cy="15240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2" name="TextBox 21"/>
          <p:cNvSpPr txBox="1"/>
          <p:nvPr/>
        </p:nvSpPr>
        <p:spPr>
          <a:xfrm>
            <a:off x="5029200" y="4248090"/>
            <a:ext cx="381000" cy="400110"/>
          </a:xfrm>
          <a:prstGeom prst="rect">
            <a:avLst/>
          </a:prstGeom>
          <a:noFill/>
        </p:spPr>
        <p:txBody>
          <a:bodyPr wrap="square" rtlCol="0">
            <a:spAutoFit/>
          </a:bodyPr>
          <a:lstStyle/>
          <a:p>
            <a:r>
              <a:rPr lang="en-US" altLang="zh-CN" dirty="0"/>
              <a:t>u</a:t>
            </a:r>
            <a:endParaRPr lang="zh-CN" altLang="en-US" dirty="0"/>
          </a:p>
        </p:txBody>
      </p:sp>
      <p:sp>
        <p:nvSpPr>
          <p:cNvPr id="23" name="TextBox 22"/>
          <p:cNvSpPr txBox="1"/>
          <p:nvPr/>
        </p:nvSpPr>
        <p:spPr>
          <a:xfrm>
            <a:off x="7620000" y="4705290"/>
            <a:ext cx="533400" cy="400110"/>
          </a:xfrm>
          <a:prstGeom prst="rect">
            <a:avLst/>
          </a:prstGeom>
          <a:noFill/>
        </p:spPr>
        <p:txBody>
          <a:bodyPr wrap="square" rtlCol="0">
            <a:spAutoFit/>
          </a:bodyPr>
          <a:lstStyle/>
          <a:p>
            <a:r>
              <a:rPr lang="en-US" altLang="zh-CN" dirty="0"/>
              <a:t>v</a:t>
            </a:r>
            <a:endParaRPr lang="zh-CN" altLang="en-US" dirty="0"/>
          </a:p>
        </p:txBody>
      </p:sp>
      <p:sp>
        <p:nvSpPr>
          <p:cNvPr id="24" name="椭圆 23"/>
          <p:cNvSpPr/>
          <p:nvPr/>
        </p:nvSpPr>
        <p:spPr bwMode="auto">
          <a:xfrm>
            <a:off x="7494057" y="4591110"/>
            <a:ext cx="202142" cy="169684"/>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5" name="任意多边形 24"/>
          <p:cNvSpPr/>
          <p:nvPr/>
        </p:nvSpPr>
        <p:spPr bwMode="auto">
          <a:xfrm>
            <a:off x="5486400" y="4495800"/>
            <a:ext cx="1981200" cy="3182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4450" cap="flat" cmpd="sng" algn="ctr">
            <a:solidFill>
              <a:schemeClr val="tx1"/>
            </a:solidFill>
            <a:prstDash val="solid"/>
            <a:round/>
            <a:headEnd type="triangle" w="lg" len="lg"/>
            <a:tailEnd type="non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6" name="TextBox 25"/>
          <p:cNvSpPr txBox="1"/>
          <p:nvPr/>
        </p:nvSpPr>
        <p:spPr>
          <a:xfrm>
            <a:off x="6781800" y="3200400"/>
            <a:ext cx="838200" cy="584775"/>
          </a:xfrm>
          <a:prstGeom prst="rect">
            <a:avLst/>
          </a:prstGeom>
          <a:noFill/>
        </p:spPr>
        <p:txBody>
          <a:bodyPr wrap="square" rtlCol="0">
            <a:spAutoFit/>
          </a:bodyPr>
          <a:lstStyle/>
          <a:p>
            <a:r>
              <a:rPr lang="en-US" altLang="zh-CN" sz="3200" dirty="0"/>
              <a:t>G</a:t>
            </a:r>
            <a:endParaRPr lang="zh-CN" altLang="en-US" sz="3200" dirty="0"/>
          </a:p>
        </p:txBody>
      </p:sp>
      <p:cxnSp>
        <p:nvCxnSpPr>
          <p:cNvPr id="28" name="直接连接符 27"/>
          <p:cNvCxnSpPr/>
          <p:nvPr/>
        </p:nvCxnSpPr>
        <p:spPr bwMode="auto">
          <a:xfrm>
            <a:off x="4724400" y="2743200"/>
            <a:ext cx="76200" cy="2819400"/>
          </a:xfrm>
          <a:prstGeom prst="line">
            <a:avLst/>
          </a:prstGeom>
          <a:solidFill>
            <a:schemeClr val="accent1"/>
          </a:solidFill>
          <a:ln w="38100" cap="flat" cmpd="sng" algn="ctr">
            <a:solidFill>
              <a:srgbClr val="FF0000"/>
            </a:solidFill>
            <a:prstDash val="dash"/>
            <a:round/>
            <a:headEnd type="none" w="med" len="med"/>
            <a:tailEnd type="none" w="med" len="med"/>
          </a:ln>
          <a:effectLst/>
        </p:spPr>
      </p:cxnSp>
    </p:spTree>
    <p:extLst>
      <p:ext uri="{BB962C8B-B14F-4D97-AF65-F5344CB8AC3E}">
        <p14:creationId xmlns:p14="http://schemas.microsoft.com/office/powerpoint/2010/main" val="261803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20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20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20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down)">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down)">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down)">
                                      <p:cBhvr>
                                        <p:cTn id="57" dur="500"/>
                                        <p:tgtEl>
                                          <p:spTgt spid="15"/>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wipe(down)">
                                      <p:cBhvr>
                                        <p:cTn id="60" dur="500"/>
                                        <p:tgtEl>
                                          <p:spTgt spid="18"/>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wipe(down)">
                                      <p:cBhvr>
                                        <p:cTn id="63" dur="500"/>
                                        <p:tgtEl>
                                          <p:spTgt spid="17"/>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wipe(down)">
                                      <p:cBhvr>
                                        <p:cTn id="66" dur="5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wipe(down)">
                                      <p:cBhvr>
                                        <p:cTn id="71" dur="500"/>
                                        <p:tgtEl>
                                          <p:spTgt spid="21"/>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2000"/>
                                        <p:tgtEl>
                                          <p:spTgt spid="2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2000"/>
                                        <p:tgtEl>
                                          <p:spTgt spid="2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2000"/>
                                        <p:tgtEl>
                                          <p:spTgt spid="2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wipe(left)">
                                      <p:cBhvr>
                                        <p:cTn id="8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p:bldP spid="14" grpId="0"/>
      <p:bldP spid="16" grpId="0" animBg="1"/>
      <p:bldP spid="19" grpId="0" animBg="1"/>
      <p:bldP spid="13" grpId="0"/>
      <p:bldP spid="15" grpId="0" animBg="1"/>
      <p:bldP spid="17" grpId="0" animBg="1"/>
      <p:bldP spid="18" grpId="0"/>
      <p:bldP spid="20" grpId="0"/>
      <p:bldP spid="21" grpId="0" animBg="1"/>
      <p:bldP spid="22" grpId="0"/>
      <p:bldP spid="23" grpId="0"/>
      <p:bldP spid="24" grpId="0" animBg="1"/>
      <p:bldP spid="25" grpId="0" animBg="1"/>
      <p:bldP spid="2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4D7546-5A4C-479F-A064-62FB68CE77FB}"/>
              </a:ext>
            </a:extLst>
          </p:cNvPr>
          <p:cNvSpPr>
            <a:spLocks noGrp="1"/>
          </p:cNvSpPr>
          <p:nvPr>
            <p:ph type="title"/>
          </p:nvPr>
        </p:nvSpPr>
        <p:spPr>
          <a:xfrm>
            <a:off x="685800" y="190500"/>
            <a:ext cx="7772400" cy="1143000"/>
          </a:xfrm>
        </p:spPr>
        <p:txBody>
          <a:bodyPr/>
          <a:lstStyle/>
          <a:p>
            <a:r>
              <a:rPr lang="zh-CN" altLang="en-US" b="1" dirty="0">
                <a:solidFill>
                  <a:srgbClr val="0000CC"/>
                </a:solidFill>
              </a:rPr>
              <a:t>强连通分支算法原理解释（</a:t>
            </a:r>
            <a:r>
              <a:rPr lang="en-US" altLang="zh-CN" b="1" dirty="0">
                <a:solidFill>
                  <a:srgbClr val="0000CC"/>
                </a:solidFill>
              </a:rPr>
              <a:t>4</a:t>
            </a:r>
            <a:r>
              <a:rPr lang="zh-CN" altLang="en-US" b="1" dirty="0">
                <a:solidFill>
                  <a:srgbClr val="0000CC"/>
                </a:solidFill>
              </a:rPr>
              <a:t>）</a:t>
            </a:r>
            <a:endParaRPr lang="zh-CN" altLang="en-US" dirty="0"/>
          </a:p>
        </p:txBody>
      </p:sp>
      <p:sp>
        <p:nvSpPr>
          <p:cNvPr id="3" name="内容占位符 2">
            <a:extLst>
              <a:ext uri="{FF2B5EF4-FFF2-40B4-BE49-F238E27FC236}">
                <a16:creationId xmlns:a16="http://schemas.microsoft.com/office/drawing/2014/main" id="{83DBD887-1F4B-4154-A497-3FC65A0B4CF1}"/>
              </a:ext>
            </a:extLst>
          </p:cNvPr>
          <p:cNvSpPr>
            <a:spLocks noGrp="1"/>
          </p:cNvSpPr>
          <p:nvPr>
            <p:ph idx="1"/>
          </p:nvPr>
        </p:nvSpPr>
        <p:spPr>
          <a:xfrm>
            <a:off x="102658" y="1600200"/>
            <a:ext cx="8888942" cy="4495800"/>
          </a:xfrm>
        </p:spPr>
        <p:txBody>
          <a:bodyPr/>
          <a:lstStyle/>
          <a:p>
            <a:pPr marL="320040" indent="-320040">
              <a:buNone/>
            </a:pPr>
            <a:r>
              <a:rPr lang="en-US" altLang="zh-CN" b="1" dirty="0"/>
              <a:t>1.  </a:t>
            </a:r>
            <a:r>
              <a:rPr lang="zh-CN" altLang="en-US" b="1" dirty="0"/>
              <a:t>调用</a:t>
            </a:r>
            <a:r>
              <a:rPr lang="en-US" altLang="zh-CN" b="1" dirty="0"/>
              <a:t>DFS(</a:t>
            </a:r>
            <a:r>
              <a:rPr lang="en-US" altLang="zh-CN" b="1" i="1" dirty="0"/>
              <a:t>G</a:t>
            </a:r>
            <a:r>
              <a:rPr lang="en-US" altLang="zh-CN" b="1" dirty="0"/>
              <a:t>)</a:t>
            </a:r>
            <a:r>
              <a:rPr lang="zh-CN" altLang="en-US" b="1" dirty="0"/>
              <a:t>，计算被</a:t>
            </a:r>
            <a:r>
              <a:rPr lang="en-US" altLang="zh-CN" b="1" dirty="0"/>
              <a:t>DFS</a:t>
            </a:r>
            <a:r>
              <a:rPr lang="zh-CN" altLang="en-US" b="1" dirty="0"/>
              <a:t>访问的结束时间</a:t>
            </a:r>
            <a:r>
              <a:rPr lang="en-US" altLang="zh-CN" b="1" dirty="0"/>
              <a:t> </a:t>
            </a:r>
            <a:r>
              <a:rPr lang="en-US" altLang="zh-CN" b="1" i="1" dirty="0" err="1"/>
              <a:t>u</a:t>
            </a:r>
            <a:r>
              <a:rPr lang="en-US" altLang="zh-CN" b="1" dirty="0" err="1"/>
              <a:t>.</a:t>
            </a:r>
            <a:r>
              <a:rPr lang="en-US" altLang="zh-CN" b="1" i="1" dirty="0" err="1"/>
              <a:t>f</a:t>
            </a:r>
            <a:endParaRPr lang="en-US" altLang="zh-CN" b="1" dirty="0"/>
          </a:p>
          <a:p>
            <a:pPr marL="514350" indent="-514350">
              <a:buAutoNum type="arabicPeriod" startAt="2"/>
            </a:pPr>
            <a:r>
              <a:rPr lang="zh-CN" altLang="en-US" b="1" dirty="0"/>
              <a:t>计算</a:t>
            </a:r>
            <a:r>
              <a:rPr lang="en-US" altLang="zh-CN" b="1" i="1" dirty="0"/>
              <a:t>G</a:t>
            </a:r>
            <a:r>
              <a:rPr lang="en-US" altLang="zh-CN" b="1" baseline="30000" dirty="0"/>
              <a:t>T</a:t>
            </a:r>
          </a:p>
          <a:p>
            <a:pPr marL="514350" indent="-514350">
              <a:buAutoNum type="arabicPeriod" startAt="2"/>
            </a:pPr>
            <a:r>
              <a:rPr lang="zh-CN" altLang="en-US" b="1" dirty="0"/>
              <a:t>调用</a:t>
            </a:r>
            <a:r>
              <a:rPr lang="en-US" altLang="zh-CN" b="1" dirty="0"/>
              <a:t>DFS(</a:t>
            </a:r>
            <a:r>
              <a:rPr lang="en-US" altLang="zh-CN" b="1" i="1" dirty="0"/>
              <a:t>G</a:t>
            </a:r>
            <a:r>
              <a:rPr lang="en-US" altLang="zh-CN" b="1" baseline="30000" dirty="0"/>
              <a:t>T</a:t>
            </a:r>
            <a:r>
              <a:rPr kumimoji="1" lang="en-US" altLang="zh-CN" b="1" dirty="0"/>
              <a:t>)</a:t>
            </a:r>
            <a:r>
              <a:rPr kumimoji="1" lang="zh-CN" altLang="en-US" b="1" dirty="0"/>
              <a:t>，在</a:t>
            </a:r>
            <a:r>
              <a:rPr kumimoji="1" lang="en-US" altLang="zh-CN" b="1" dirty="0"/>
              <a:t>DFS</a:t>
            </a:r>
            <a:r>
              <a:rPr kumimoji="1" lang="zh-CN" altLang="en-US" b="1" dirty="0"/>
              <a:t>的主循环中，以</a:t>
            </a:r>
            <a:r>
              <a:rPr kumimoji="1" lang="en-US" altLang="zh-CN" b="1" i="1" dirty="0" err="1"/>
              <a:t>u</a:t>
            </a:r>
            <a:r>
              <a:rPr kumimoji="1" lang="en-US" altLang="zh-CN" b="1" dirty="0" err="1"/>
              <a:t>.</a:t>
            </a:r>
            <a:r>
              <a:rPr kumimoji="1" lang="en-US" altLang="zh-CN" b="1" i="1" dirty="0" err="1"/>
              <a:t>f</a:t>
            </a:r>
            <a:r>
              <a:rPr kumimoji="1" lang="zh-CN" altLang="en-US" b="1" dirty="0"/>
              <a:t>下降的顺序遍历节点</a:t>
            </a:r>
            <a:endParaRPr kumimoji="1" lang="en-US" altLang="zh-CN" b="1" dirty="0"/>
          </a:p>
          <a:p>
            <a:pPr marL="0" indent="0">
              <a:buNone/>
            </a:pPr>
            <a:endParaRPr kumimoji="1" lang="en-US" altLang="zh-CN" b="1" dirty="0"/>
          </a:p>
          <a:p>
            <a:endParaRPr lang="en-US" altLang="zh-CN" dirty="0"/>
          </a:p>
          <a:p>
            <a:endParaRPr lang="en-US" altLang="zh-CN" dirty="0"/>
          </a:p>
          <a:p>
            <a:endParaRPr lang="en-US" altLang="zh-CN" dirty="0"/>
          </a:p>
          <a:p>
            <a:endParaRPr lang="en-US" altLang="zh-CN" dirty="0"/>
          </a:p>
          <a:p>
            <a:pPr marL="0" indent="0">
              <a:buNone/>
            </a:pPr>
            <a:endParaRPr lang="zh-CN" altLang="en-US" dirty="0"/>
          </a:p>
        </p:txBody>
      </p:sp>
      <p:sp>
        <p:nvSpPr>
          <p:cNvPr id="4" name="任意多边形 5">
            <a:extLst>
              <a:ext uri="{FF2B5EF4-FFF2-40B4-BE49-F238E27FC236}">
                <a16:creationId xmlns:a16="http://schemas.microsoft.com/office/drawing/2014/main" id="{C7F987FA-C03B-4682-8548-378E9853B740}"/>
              </a:ext>
            </a:extLst>
          </p:cNvPr>
          <p:cNvSpPr/>
          <p:nvPr/>
        </p:nvSpPr>
        <p:spPr bwMode="auto">
          <a:xfrm>
            <a:off x="4876800" y="4394579"/>
            <a:ext cx="1524000" cy="1393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5" name="任意多边形 6">
            <a:extLst>
              <a:ext uri="{FF2B5EF4-FFF2-40B4-BE49-F238E27FC236}">
                <a16:creationId xmlns:a16="http://schemas.microsoft.com/office/drawing/2014/main" id="{6405DEC3-564A-468C-9BF4-048533917C1E}"/>
              </a:ext>
            </a:extLst>
          </p:cNvPr>
          <p:cNvSpPr/>
          <p:nvPr/>
        </p:nvSpPr>
        <p:spPr bwMode="auto">
          <a:xfrm>
            <a:off x="7086599" y="4851779"/>
            <a:ext cx="1981200" cy="13204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6" name="矩形 5">
            <a:extLst>
              <a:ext uri="{FF2B5EF4-FFF2-40B4-BE49-F238E27FC236}">
                <a16:creationId xmlns:a16="http://schemas.microsoft.com/office/drawing/2014/main" id="{905C756B-292B-48D3-8D49-83F849D7B3F2}"/>
              </a:ext>
            </a:extLst>
          </p:cNvPr>
          <p:cNvSpPr/>
          <p:nvPr/>
        </p:nvSpPr>
        <p:spPr>
          <a:xfrm>
            <a:off x="5562600" y="4394579"/>
            <a:ext cx="381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7" name="矩形 6">
            <a:extLst>
              <a:ext uri="{FF2B5EF4-FFF2-40B4-BE49-F238E27FC236}">
                <a16:creationId xmlns:a16="http://schemas.microsoft.com/office/drawing/2014/main" id="{C4F9C606-1388-4243-888F-4E753DF20D6B}"/>
              </a:ext>
            </a:extLst>
          </p:cNvPr>
          <p:cNvSpPr/>
          <p:nvPr/>
        </p:nvSpPr>
        <p:spPr>
          <a:xfrm>
            <a:off x="7772398" y="5004179"/>
            <a:ext cx="1143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8" name="椭圆 7">
            <a:extLst>
              <a:ext uri="{FF2B5EF4-FFF2-40B4-BE49-F238E27FC236}">
                <a16:creationId xmlns:a16="http://schemas.microsoft.com/office/drawing/2014/main" id="{13C49B45-DB49-4D77-B55C-E7454437109A}"/>
              </a:ext>
            </a:extLst>
          </p:cNvPr>
          <p:cNvSpPr/>
          <p:nvPr/>
        </p:nvSpPr>
        <p:spPr bwMode="auto">
          <a:xfrm>
            <a:off x="5333999" y="5308979"/>
            <a:ext cx="152400" cy="17151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9" name="TextBox 10">
            <a:extLst>
              <a:ext uri="{FF2B5EF4-FFF2-40B4-BE49-F238E27FC236}">
                <a16:creationId xmlns:a16="http://schemas.microsoft.com/office/drawing/2014/main" id="{E4D4BF0B-C683-4A97-94D8-8E011E320597}"/>
              </a:ext>
            </a:extLst>
          </p:cNvPr>
          <p:cNvSpPr txBox="1"/>
          <p:nvPr/>
        </p:nvSpPr>
        <p:spPr>
          <a:xfrm>
            <a:off x="5029199" y="4927979"/>
            <a:ext cx="381000" cy="461665"/>
          </a:xfrm>
          <a:prstGeom prst="rect">
            <a:avLst/>
          </a:prstGeom>
          <a:noFill/>
        </p:spPr>
        <p:txBody>
          <a:bodyPr wrap="square" rtlCol="0">
            <a:spAutoFit/>
          </a:bodyPr>
          <a:lstStyle/>
          <a:p>
            <a:r>
              <a:rPr lang="en-US" altLang="zh-CN" sz="2400" dirty="0"/>
              <a:t>u</a:t>
            </a:r>
            <a:endParaRPr lang="zh-CN" altLang="en-US" sz="2400" dirty="0"/>
          </a:p>
        </p:txBody>
      </p:sp>
      <p:sp>
        <p:nvSpPr>
          <p:cNvPr id="10" name="TextBox 13">
            <a:extLst>
              <a:ext uri="{FF2B5EF4-FFF2-40B4-BE49-F238E27FC236}">
                <a16:creationId xmlns:a16="http://schemas.microsoft.com/office/drawing/2014/main" id="{4568E7D6-BE54-4211-822D-74D132B98990}"/>
              </a:ext>
            </a:extLst>
          </p:cNvPr>
          <p:cNvSpPr txBox="1"/>
          <p:nvPr/>
        </p:nvSpPr>
        <p:spPr>
          <a:xfrm>
            <a:off x="7543799" y="5670869"/>
            <a:ext cx="533400" cy="461665"/>
          </a:xfrm>
          <a:prstGeom prst="rect">
            <a:avLst/>
          </a:prstGeom>
          <a:noFill/>
        </p:spPr>
        <p:txBody>
          <a:bodyPr wrap="square" rtlCol="0">
            <a:spAutoFit/>
          </a:bodyPr>
          <a:lstStyle/>
          <a:p>
            <a:r>
              <a:rPr lang="en-US" altLang="zh-CN" sz="2400" dirty="0"/>
              <a:t>v</a:t>
            </a:r>
            <a:endParaRPr lang="zh-CN" altLang="en-US" sz="2400" dirty="0"/>
          </a:p>
        </p:txBody>
      </p:sp>
      <p:sp>
        <p:nvSpPr>
          <p:cNvPr id="11" name="椭圆 10">
            <a:extLst>
              <a:ext uri="{FF2B5EF4-FFF2-40B4-BE49-F238E27FC236}">
                <a16:creationId xmlns:a16="http://schemas.microsoft.com/office/drawing/2014/main" id="{285DD80F-6E1F-490A-8C65-2D24E392C234}"/>
              </a:ext>
            </a:extLst>
          </p:cNvPr>
          <p:cNvSpPr/>
          <p:nvPr/>
        </p:nvSpPr>
        <p:spPr bwMode="auto">
          <a:xfrm>
            <a:off x="7494057" y="5537580"/>
            <a:ext cx="125940" cy="13329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2" name="任意多边形 18">
            <a:extLst>
              <a:ext uri="{FF2B5EF4-FFF2-40B4-BE49-F238E27FC236}">
                <a16:creationId xmlns:a16="http://schemas.microsoft.com/office/drawing/2014/main" id="{DDEFAFE2-7549-4619-B358-77F2857D54E9}"/>
              </a:ext>
            </a:extLst>
          </p:cNvPr>
          <p:cNvSpPr/>
          <p:nvPr/>
        </p:nvSpPr>
        <p:spPr bwMode="auto">
          <a:xfrm>
            <a:off x="5486399" y="5447919"/>
            <a:ext cx="1981200" cy="3182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7625" cap="flat" cmpd="sng" algn="ctr">
            <a:solidFill>
              <a:schemeClr val="tx1"/>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3" name="TextBox 12">
            <a:extLst>
              <a:ext uri="{FF2B5EF4-FFF2-40B4-BE49-F238E27FC236}">
                <a16:creationId xmlns:a16="http://schemas.microsoft.com/office/drawing/2014/main" id="{94CB232B-A916-42D5-A24E-F95433028C03}"/>
              </a:ext>
            </a:extLst>
          </p:cNvPr>
          <p:cNvSpPr txBox="1"/>
          <p:nvPr/>
        </p:nvSpPr>
        <p:spPr>
          <a:xfrm>
            <a:off x="6629399" y="4089779"/>
            <a:ext cx="838200" cy="584775"/>
          </a:xfrm>
          <a:prstGeom prst="rect">
            <a:avLst/>
          </a:prstGeom>
          <a:noFill/>
        </p:spPr>
        <p:txBody>
          <a:bodyPr wrap="square" rtlCol="0">
            <a:spAutoFit/>
          </a:bodyPr>
          <a:lstStyle/>
          <a:p>
            <a:r>
              <a:rPr lang="en-US" altLang="zh-CN" sz="3200" dirty="0"/>
              <a:t>G</a:t>
            </a:r>
            <a:r>
              <a:rPr kumimoji="1" lang="en-US" altLang="zh-CN" sz="3200" baseline="30000" dirty="0"/>
              <a:t>T</a:t>
            </a:r>
            <a:endParaRPr lang="zh-CN" altLang="en-US" sz="3200" dirty="0"/>
          </a:p>
        </p:txBody>
      </p:sp>
      <p:sp>
        <p:nvSpPr>
          <p:cNvPr id="14" name="任意多边形 14">
            <a:extLst>
              <a:ext uri="{FF2B5EF4-FFF2-40B4-BE49-F238E27FC236}">
                <a16:creationId xmlns:a16="http://schemas.microsoft.com/office/drawing/2014/main" id="{80A5FF70-3711-403C-9587-A6D03240B600}"/>
              </a:ext>
            </a:extLst>
          </p:cNvPr>
          <p:cNvSpPr/>
          <p:nvPr/>
        </p:nvSpPr>
        <p:spPr bwMode="auto">
          <a:xfrm>
            <a:off x="228600" y="4256602"/>
            <a:ext cx="1524000" cy="1393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5" name="任意多边形 16">
            <a:extLst>
              <a:ext uri="{FF2B5EF4-FFF2-40B4-BE49-F238E27FC236}">
                <a16:creationId xmlns:a16="http://schemas.microsoft.com/office/drawing/2014/main" id="{AB07AB2C-D2F6-4D95-ADAA-11A1A4E5D12C}"/>
              </a:ext>
            </a:extLst>
          </p:cNvPr>
          <p:cNvSpPr/>
          <p:nvPr/>
        </p:nvSpPr>
        <p:spPr bwMode="auto">
          <a:xfrm>
            <a:off x="2362200" y="4866202"/>
            <a:ext cx="1828800" cy="12442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16" name="矩形 15">
            <a:extLst>
              <a:ext uri="{FF2B5EF4-FFF2-40B4-BE49-F238E27FC236}">
                <a16:creationId xmlns:a16="http://schemas.microsoft.com/office/drawing/2014/main" id="{76A4228D-C98B-4109-9302-970BFC32EC8F}"/>
              </a:ext>
            </a:extLst>
          </p:cNvPr>
          <p:cNvSpPr/>
          <p:nvPr/>
        </p:nvSpPr>
        <p:spPr>
          <a:xfrm>
            <a:off x="609600" y="4256602"/>
            <a:ext cx="381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17" name="矩形 16">
            <a:extLst>
              <a:ext uri="{FF2B5EF4-FFF2-40B4-BE49-F238E27FC236}">
                <a16:creationId xmlns:a16="http://schemas.microsoft.com/office/drawing/2014/main" id="{A990BD9D-8EF3-4F17-8470-5840E632CF4A}"/>
              </a:ext>
            </a:extLst>
          </p:cNvPr>
          <p:cNvSpPr/>
          <p:nvPr/>
        </p:nvSpPr>
        <p:spPr>
          <a:xfrm>
            <a:off x="3200399" y="4942402"/>
            <a:ext cx="964143"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18" name="椭圆 17">
            <a:extLst>
              <a:ext uri="{FF2B5EF4-FFF2-40B4-BE49-F238E27FC236}">
                <a16:creationId xmlns:a16="http://schemas.microsoft.com/office/drawing/2014/main" id="{BD85950A-ECE8-4117-9F25-58FF295D2901}"/>
              </a:ext>
            </a:extLst>
          </p:cNvPr>
          <p:cNvSpPr/>
          <p:nvPr/>
        </p:nvSpPr>
        <p:spPr bwMode="auto">
          <a:xfrm>
            <a:off x="533398" y="5171002"/>
            <a:ext cx="152399" cy="15240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9" name="TextBox 21">
            <a:extLst>
              <a:ext uri="{FF2B5EF4-FFF2-40B4-BE49-F238E27FC236}">
                <a16:creationId xmlns:a16="http://schemas.microsoft.com/office/drawing/2014/main" id="{86876BFC-C581-4A34-9998-7C242CC72A04}"/>
              </a:ext>
            </a:extLst>
          </p:cNvPr>
          <p:cNvSpPr txBox="1"/>
          <p:nvPr/>
        </p:nvSpPr>
        <p:spPr>
          <a:xfrm>
            <a:off x="228599" y="5075692"/>
            <a:ext cx="381000" cy="461665"/>
          </a:xfrm>
          <a:prstGeom prst="rect">
            <a:avLst/>
          </a:prstGeom>
          <a:noFill/>
        </p:spPr>
        <p:txBody>
          <a:bodyPr wrap="square" rtlCol="0">
            <a:spAutoFit/>
          </a:bodyPr>
          <a:lstStyle/>
          <a:p>
            <a:r>
              <a:rPr lang="en-US" altLang="zh-CN" sz="2400" dirty="0"/>
              <a:t>u</a:t>
            </a:r>
            <a:endParaRPr lang="zh-CN" altLang="en-US" sz="2400" dirty="0"/>
          </a:p>
        </p:txBody>
      </p:sp>
      <p:sp>
        <p:nvSpPr>
          <p:cNvPr id="20" name="TextBox 22">
            <a:extLst>
              <a:ext uri="{FF2B5EF4-FFF2-40B4-BE49-F238E27FC236}">
                <a16:creationId xmlns:a16="http://schemas.microsoft.com/office/drawing/2014/main" id="{079CC3D8-DE99-449E-80CD-9627A8561B2E}"/>
              </a:ext>
            </a:extLst>
          </p:cNvPr>
          <p:cNvSpPr txBox="1"/>
          <p:nvPr/>
        </p:nvSpPr>
        <p:spPr>
          <a:xfrm>
            <a:off x="2819399" y="5532892"/>
            <a:ext cx="533400" cy="461665"/>
          </a:xfrm>
          <a:prstGeom prst="rect">
            <a:avLst/>
          </a:prstGeom>
          <a:noFill/>
        </p:spPr>
        <p:txBody>
          <a:bodyPr wrap="square" rtlCol="0">
            <a:spAutoFit/>
          </a:bodyPr>
          <a:lstStyle/>
          <a:p>
            <a:r>
              <a:rPr lang="en-US" altLang="zh-CN" sz="2400" dirty="0"/>
              <a:t>v</a:t>
            </a:r>
            <a:endParaRPr lang="zh-CN" altLang="en-US" sz="2400" dirty="0"/>
          </a:p>
        </p:txBody>
      </p:sp>
      <p:sp>
        <p:nvSpPr>
          <p:cNvPr id="21" name="椭圆 20">
            <a:extLst>
              <a:ext uri="{FF2B5EF4-FFF2-40B4-BE49-F238E27FC236}">
                <a16:creationId xmlns:a16="http://schemas.microsoft.com/office/drawing/2014/main" id="{5EFD3156-404F-4F61-BD81-FE6AC355CA96}"/>
              </a:ext>
            </a:extLst>
          </p:cNvPr>
          <p:cNvSpPr/>
          <p:nvPr/>
        </p:nvSpPr>
        <p:spPr bwMode="auto">
          <a:xfrm>
            <a:off x="2693456" y="5418712"/>
            <a:ext cx="202142" cy="169684"/>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2" name="任意多边形 24">
            <a:extLst>
              <a:ext uri="{FF2B5EF4-FFF2-40B4-BE49-F238E27FC236}">
                <a16:creationId xmlns:a16="http://schemas.microsoft.com/office/drawing/2014/main" id="{A2AAEF16-C03E-41E8-929D-01771A2CF8D7}"/>
              </a:ext>
            </a:extLst>
          </p:cNvPr>
          <p:cNvSpPr/>
          <p:nvPr/>
        </p:nvSpPr>
        <p:spPr bwMode="auto">
          <a:xfrm>
            <a:off x="685799" y="5323402"/>
            <a:ext cx="1981200" cy="3182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7625" cap="flat" cmpd="sng" algn="ctr">
            <a:solidFill>
              <a:schemeClr val="tx1"/>
            </a:solidFill>
            <a:prstDash val="solid"/>
            <a:round/>
            <a:headEnd type="triangle" w="lg" len="lg"/>
            <a:tailEnd type="non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3" name="TextBox 25">
            <a:extLst>
              <a:ext uri="{FF2B5EF4-FFF2-40B4-BE49-F238E27FC236}">
                <a16:creationId xmlns:a16="http://schemas.microsoft.com/office/drawing/2014/main" id="{98E7EA4D-F81C-48ED-8E65-43B7C578F4F0}"/>
              </a:ext>
            </a:extLst>
          </p:cNvPr>
          <p:cNvSpPr txBox="1"/>
          <p:nvPr/>
        </p:nvSpPr>
        <p:spPr>
          <a:xfrm>
            <a:off x="1981199" y="4028002"/>
            <a:ext cx="838200" cy="584775"/>
          </a:xfrm>
          <a:prstGeom prst="rect">
            <a:avLst/>
          </a:prstGeom>
          <a:noFill/>
        </p:spPr>
        <p:txBody>
          <a:bodyPr wrap="square" rtlCol="0">
            <a:spAutoFit/>
          </a:bodyPr>
          <a:lstStyle/>
          <a:p>
            <a:r>
              <a:rPr lang="en-US" altLang="zh-CN" sz="3200" dirty="0"/>
              <a:t>G</a:t>
            </a:r>
            <a:endParaRPr lang="zh-CN" altLang="en-US" sz="3200" dirty="0"/>
          </a:p>
        </p:txBody>
      </p:sp>
      <p:sp>
        <p:nvSpPr>
          <p:cNvPr id="24" name="对话气泡: 圆角矩形 23">
            <a:extLst>
              <a:ext uri="{FF2B5EF4-FFF2-40B4-BE49-F238E27FC236}">
                <a16:creationId xmlns:a16="http://schemas.microsoft.com/office/drawing/2014/main" id="{0D10D1FD-2D50-4DFD-9353-0EB0E2F5B381}"/>
              </a:ext>
            </a:extLst>
          </p:cNvPr>
          <p:cNvSpPr/>
          <p:nvPr/>
        </p:nvSpPr>
        <p:spPr bwMode="auto">
          <a:xfrm>
            <a:off x="2743200" y="4046650"/>
            <a:ext cx="1524000" cy="492287"/>
          </a:xfrm>
          <a:prstGeom prst="wedgeRoundRectCallout">
            <a:avLst>
              <a:gd name="adj1" fmla="val -20833"/>
              <a:gd name="adj2" fmla="val 86891"/>
              <a:gd name="adj3" fmla="val 16667"/>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dirty="0"/>
              <a:t>结束时间晚</a:t>
            </a: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25" name="对话气泡: 圆角矩形 24">
            <a:extLst>
              <a:ext uri="{FF2B5EF4-FFF2-40B4-BE49-F238E27FC236}">
                <a16:creationId xmlns:a16="http://schemas.microsoft.com/office/drawing/2014/main" id="{3757F9B1-77F8-4CD8-B1E7-8E3C27767093}"/>
              </a:ext>
            </a:extLst>
          </p:cNvPr>
          <p:cNvSpPr/>
          <p:nvPr/>
        </p:nvSpPr>
        <p:spPr bwMode="auto">
          <a:xfrm>
            <a:off x="685797" y="3573614"/>
            <a:ext cx="1524000" cy="492287"/>
          </a:xfrm>
          <a:prstGeom prst="wedgeRoundRectCallout">
            <a:avLst>
              <a:gd name="adj1" fmla="val -20833"/>
              <a:gd name="adj2" fmla="val 86891"/>
              <a:gd name="adj3" fmla="val 16667"/>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dirty="0"/>
              <a:t>结束时间早</a:t>
            </a: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26" name="对话气泡: 圆角矩形 25">
            <a:extLst>
              <a:ext uri="{FF2B5EF4-FFF2-40B4-BE49-F238E27FC236}">
                <a16:creationId xmlns:a16="http://schemas.microsoft.com/office/drawing/2014/main" id="{98EF46B5-D0A6-4968-8BE9-FD217F16AA8B}"/>
              </a:ext>
            </a:extLst>
          </p:cNvPr>
          <p:cNvSpPr/>
          <p:nvPr/>
        </p:nvSpPr>
        <p:spPr bwMode="auto">
          <a:xfrm>
            <a:off x="7332835" y="3316414"/>
            <a:ext cx="1582563" cy="1080523"/>
          </a:xfrm>
          <a:prstGeom prst="wedgeRoundRectCallout">
            <a:avLst>
              <a:gd name="adj1" fmla="val -29618"/>
              <a:gd name="adj2" fmla="val 130912"/>
              <a:gd name="adj3" fmla="val 16667"/>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dirty="0"/>
              <a:t>由此出发</a:t>
            </a:r>
            <a:endParaRPr lang="en-US" altLang="zh-CN" dirty="0"/>
          </a:p>
          <a:p>
            <a:pPr marL="0" marR="0" indent="0" algn="l" defTabSz="914400" rtl="0" eaLnBrk="0" fontAlgn="base" latinLnBrk="0" hangingPunct="0">
              <a:lnSpc>
                <a:spcPct val="100000"/>
              </a:lnSpc>
              <a:spcBef>
                <a:spcPct val="0"/>
              </a:spcBef>
              <a:spcAft>
                <a:spcPct val="0"/>
              </a:spcAft>
              <a:buClrTx/>
              <a:buSzTx/>
              <a:buFontTx/>
              <a:buNone/>
              <a:tabLst/>
            </a:pPr>
            <a:r>
              <a:rPr lang="zh-CN" altLang="en-US" dirty="0"/>
              <a:t>（不可能达到</a:t>
            </a:r>
            <a:r>
              <a:rPr lang="en-US" altLang="zh-CN" dirty="0"/>
              <a:t>C</a:t>
            </a:r>
            <a:r>
              <a:rPr lang="zh-CN" altLang="en-US" dirty="0"/>
              <a:t>）</a:t>
            </a: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30" name="文本框 29">
            <a:extLst>
              <a:ext uri="{FF2B5EF4-FFF2-40B4-BE49-F238E27FC236}">
                <a16:creationId xmlns:a16="http://schemas.microsoft.com/office/drawing/2014/main" id="{0C075AF6-0491-400E-A489-3ACC169C8115}"/>
              </a:ext>
            </a:extLst>
          </p:cNvPr>
          <p:cNvSpPr txBox="1"/>
          <p:nvPr/>
        </p:nvSpPr>
        <p:spPr>
          <a:xfrm>
            <a:off x="111377" y="6170017"/>
            <a:ext cx="5067302" cy="523220"/>
          </a:xfrm>
          <a:prstGeom prst="rect">
            <a:avLst/>
          </a:prstGeom>
          <a:noFill/>
        </p:spPr>
        <p:txBody>
          <a:bodyPr wrap="square" rtlCol="0">
            <a:spAutoFit/>
          </a:bodyPr>
          <a:lstStyle/>
          <a:p>
            <a:r>
              <a:rPr lang="zh-CN" altLang="en-US" sz="2800" dirty="0">
                <a:solidFill>
                  <a:srgbClr val="FF0000"/>
                </a:solidFill>
              </a:rPr>
              <a:t>会有从</a:t>
            </a:r>
            <a:r>
              <a:rPr lang="en-US" altLang="zh-CN" sz="2800" dirty="0">
                <a:solidFill>
                  <a:srgbClr val="FF0000"/>
                </a:solidFill>
              </a:rPr>
              <a:t>C’</a:t>
            </a:r>
            <a:r>
              <a:rPr lang="zh-CN" altLang="en-US" sz="2800" dirty="0">
                <a:solidFill>
                  <a:srgbClr val="FF0000"/>
                </a:solidFill>
              </a:rPr>
              <a:t>到</a:t>
            </a:r>
            <a:r>
              <a:rPr lang="en-US" altLang="zh-CN" sz="2800" dirty="0">
                <a:solidFill>
                  <a:srgbClr val="FF0000"/>
                </a:solidFill>
              </a:rPr>
              <a:t>C</a:t>
            </a:r>
            <a:r>
              <a:rPr lang="zh-CN" altLang="en-US" sz="2800" dirty="0">
                <a:solidFill>
                  <a:srgbClr val="FF0000"/>
                </a:solidFill>
              </a:rPr>
              <a:t>的其他路径吗？</a:t>
            </a:r>
          </a:p>
        </p:txBody>
      </p:sp>
    </p:spTree>
    <p:extLst>
      <p:ext uri="{BB962C8B-B14F-4D97-AF65-F5344CB8AC3E}">
        <p14:creationId xmlns:p14="http://schemas.microsoft.com/office/powerpoint/2010/main" val="196186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down)">
                                      <p:cBhvr>
                                        <p:cTn id="15" dur="500"/>
                                        <p:tgtEl>
                                          <p:spTgt spid="16"/>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down)">
                                      <p:cBhvr>
                                        <p:cTn id="18" dur="500"/>
                                        <p:tgtEl>
                                          <p:spTgt spid="1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0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20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20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down)">
                                      <p:cBhvr>
                                        <p:cTn id="55" dur="500"/>
                                        <p:tgtEl>
                                          <p:spTgt spid="1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down)">
                                      <p:cBhvr>
                                        <p:cTn id="60" dur="500"/>
                                        <p:tgtEl>
                                          <p:spTgt spid="4"/>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down)">
                                      <p:cBhvr>
                                        <p:cTn id="63" dur="500"/>
                                        <p:tgtEl>
                                          <p:spTgt spid="6"/>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5"/>
                                        </p:tgtEl>
                                        <p:attrNameLst>
                                          <p:attrName>style.visibility</p:attrName>
                                        </p:attrNameLst>
                                      </p:cBhvr>
                                      <p:to>
                                        <p:strVal val="visible"/>
                                      </p:to>
                                    </p:set>
                                    <p:animEffect transition="in" filter="wipe(down)">
                                      <p:cBhvr>
                                        <p:cTn id="66" dur="500"/>
                                        <p:tgtEl>
                                          <p:spTgt spid="5"/>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wipe(down)">
                                      <p:cBhvr>
                                        <p:cTn id="69" dur="500"/>
                                        <p:tgtEl>
                                          <p:spTgt spid="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wipe(down)">
                                      <p:cBhvr>
                                        <p:cTn id="74" dur="500"/>
                                        <p:tgtEl>
                                          <p:spTgt spid="8"/>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1"/>
                                        </p:tgtEl>
                                        <p:attrNameLst>
                                          <p:attrName>style.visibility</p:attrName>
                                        </p:attrNameLst>
                                      </p:cBhvr>
                                      <p:to>
                                        <p:strVal val="visible"/>
                                      </p:to>
                                    </p:set>
                                    <p:animEffect transition="in" filter="fade">
                                      <p:cBhvr>
                                        <p:cTn id="79" dur="2000"/>
                                        <p:tgtEl>
                                          <p:spTgt spid="1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fade">
                                      <p:cBhvr>
                                        <p:cTn id="82" dur="2000"/>
                                        <p:tgtEl>
                                          <p:spTgt spid="1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fade">
                                      <p:cBhvr>
                                        <p:cTn id="85" dur="2000"/>
                                        <p:tgtEl>
                                          <p:spTgt spid="9"/>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2"/>
                                        </p:tgtEl>
                                        <p:attrNameLst>
                                          <p:attrName>style.visibility</p:attrName>
                                        </p:attrNameLst>
                                      </p:cBhvr>
                                      <p:to>
                                        <p:strVal val="visible"/>
                                      </p:to>
                                    </p:set>
                                    <p:animEffect transition="in" filter="wipe(left)">
                                      <p:cBhvr>
                                        <p:cTn id="90" dur="500"/>
                                        <p:tgtEl>
                                          <p:spTgt spid="12"/>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ppt_x"/>
                                          </p:val>
                                        </p:tav>
                                        <p:tav tm="100000">
                                          <p:val>
                                            <p:strVal val="#ppt_x"/>
                                          </p:val>
                                        </p:tav>
                                      </p:tavLst>
                                    </p:anim>
                                    <p:anim calcmode="lin" valueType="num">
                                      <p:cBhvr additive="base">
                                        <p:cTn id="10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animBg="1"/>
      <p:bldP spid="13" grpId="0"/>
      <p:bldP spid="14" grpId="0" animBg="1"/>
      <p:bldP spid="15" grpId="0" animBg="1"/>
      <p:bldP spid="16" grpId="0"/>
      <p:bldP spid="17" grpId="0"/>
      <p:bldP spid="18" grpId="0" animBg="1"/>
      <p:bldP spid="19" grpId="0"/>
      <p:bldP spid="20" grpId="0"/>
      <p:bldP spid="21" grpId="0" animBg="1"/>
      <p:bldP spid="22" grpId="0" animBg="1"/>
      <p:bldP spid="23" grpId="0"/>
      <p:bldP spid="24" grpId="0" animBg="1"/>
      <p:bldP spid="25" grpId="0" animBg="1"/>
      <p:bldP spid="26" grpId="0" animBg="1"/>
      <p:bldP spid="3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82" name="Picture 2" descr="“directed graph”的图片搜索结果"/>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76800" y="2286000"/>
            <a:ext cx="4038600" cy="385595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txBox="1">
            <a:spLocks noChangeArrowheads="1"/>
          </p:cNvSpPr>
          <p:nvPr/>
        </p:nvSpPr>
        <p:spPr>
          <a:xfrm>
            <a:off x="685800" y="228600"/>
            <a:ext cx="7772400" cy="9906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kern="0" dirty="0">
                <a:solidFill>
                  <a:srgbClr val="0000CC"/>
                </a:solidFill>
              </a:rPr>
              <a:t>强连通分支算法习题</a:t>
            </a:r>
            <a:endParaRPr lang="en-US" sz="3600" b="1" kern="0" dirty="0">
              <a:solidFill>
                <a:srgbClr val="0000CC"/>
              </a:solidFill>
            </a:endParaRPr>
          </a:p>
        </p:txBody>
      </p:sp>
      <p:sp>
        <p:nvSpPr>
          <p:cNvPr id="4" name="TextBox 3"/>
          <p:cNvSpPr txBox="1"/>
          <p:nvPr/>
        </p:nvSpPr>
        <p:spPr>
          <a:xfrm>
            <a:off x="609600" y="1752600"/>
            <a:ext cx="4114800" cy="2554545"/>
          </a:xfrm>
          <a:prstGeom prst="rect">
            <a:avLst/>
          </a:prstGeom>
          <a:noFill/>
        </p:spPr>
        <p:txBody>
          <a:bodyPr wrap="square" rtlCol="0">
            <a:spAutoFit/>
          </a:bodyPr>
          <a:lstStyle/>
          <a:p>
            <a:r>
              <a:rPr lang="zh-CN" altLang="en-US" sz="2800" dirty="0"/>
              <a:t>求出右图的强连通分量：</a:t>
            </a:r>
            <a:endParaRPr lang="en-US" altLang="zh-CN" sz="2800" dirty="0"/>
          </a:p>
          <a:p>
            <a:r>
              <a:rPr lang="zh-CN" altLang="en-US" sz="2800" dirty="0"/>
              <a:t>（</a:t>
            </a:r>
            <a:r>
              <a:rPr lang="en-US" altLang="zh-CN" sz="2800" dirty="0"/>
              <a:t>1</a:t>
            </a:r>
            <a:r>
              <a:rPr lang="zh-CN" altLang="en-US" sz="2800" dirty="0"/>
              <a:t>）标注</a:t>
            </a:r>
            <a:r>
              <a:rPr lang="en-US" altLang="zh-CN" sz="2800" dirty="0"/>
              <a:t>DFS</a:t>
            </a:r>
            <a:r>
              <a:rPr lang="zh-CN" altLang="en-US" sz="2800" dirty="0"/>
              <a:t>结果</a:t>
            </a:r>
            <a:endParaRPr lang="en-US" altLang="zh-CN" sz="2800" dirty="0"/>
          </a:p>
          <a:p>
            <a:r>
              <a:rPr lang="zh-CN" altLang="en-US" sz="2800" dirty="0"/>
              <a:t>（</a:t>
            </a:r>
            <a:r>
              <a:rPr lang="en-US" altLang="zh-CN" sz="2800" dirty="0"/>
              <a:t>2</a:t>
            </a:r>
            <a:r>
              <a:rPr lang="zh-CN" altLang="en-US" sz="2800" dirty="0"/>
              <a:t>）画出</a:t>
            </a:r>
            <a:r>
              <a:rPr lang="en-US" altLang="zh-CN" sz="2800" dirty="0"/>
              <a:t>G</a:t>
            </a:r>
            <a:r>
              <a:rPr lang="en-US" altLang="zh-CN" sz="2800" baseline="30000" dirty="0"/>
              <a:t>T</a:t>
            </a:r>
          </a:p>
          <a:p>
            <a:r>
              <a:rPr lang="zh-CN" altLang="en-US" sz="2800" dirty="0"/>
              <a:t>（</a:t>
            </a:r>
            <a:r>
              <a:rPr lang="en-US" altLang="zh-CN" sz="2800" dirty="0"/>
              <a:t>3</a:t>
            </a:r>
            <a:r>
              <a:rPr lang="zh-CN" altLang="en-US" sz="2800" dirty="0"/>
              <a:t>）标注</a:t>
            </a:r>
            <a:r>
              <a:rPr lang="en-US" altLang="zh-CN" sz="2800" dirty="0"/>
              <a:t>G</a:t>
            </a:r>
            <a:r>
              <a:rPr lang="en-US" altLang="zh-CN" sz="2800" baseline="30000" dirty="0"/>
              <a:t>T</a:t>
            </a:r>
            <a:r>
              <a:rPr lang="zh-CN" altLang="en-US" sz="2800" dirty="0"/>
              <a:t>的</a:t>
            </a:r>
            <a:r>
              <a:rPr lang="en-US" altLang="zh-CN" sz="2800" dirty="0"/>
              <a:t>DFS</a:t>
            </a:r>
            <a:r>
              <a:rPr lang="zh-CN" altLang="en-US" sz="2800" dirty="0"/>
              <a:t>结果</a:t>
            </a:r>
            <a:endParaRPr lang="en-US" altLang="zh-CN" sz="2800" dirty="0"/>
          </a:p>
          <a:p>
            <a:r>
              <a:rPr lang="zh-CN" altLang="en-US" sz="2800" dirty="0"/>
              <a:t>（</a:t>
            </a:r>
            <a:r>
              <a:rPr lang="en-US" altLang="zh-CN" sz="2800" dirty="0"/>
              <a:t>4</a:t>
            </a:r>
            <a:r>
              <a:rPr lang="zh-CN" altLang="en-US" sz="2800" dirty="0"/>
              <a:t>）写出强连通分量</a:t>
            </a:r>
            <a:endParaRPr lang="en-US" altLang="zh-CN" sz="2800" dirty="0"/>
          </a:p>
          <a:p>
            <a:endParaRPr lang="zh-CN" altLang="en-US" dirty="0"/>
          </a:p>
        </p:txBody>
      </p:sp>
    </p:spTree>
    <p:extLst>
      <p:ext uri="{BB962C8B-B14F-4D97-AF65-F5344CB8AC3E}">
        <p14:creationId xmlns:p14="http://schemas.microsoft.com/office/powerpoint/2010/main" val="10252217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 (1)</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457200" y="1524000"/>
            <a:ext cx="8153400" cy="4724400"/>
          </a:xfrm>
        </p:spPr>
        <p:txBody>
          <a:bodyPr/>
          <a:lstStyle/>
          <a:p>
            <a:r>
              <a:rPr lang="zh-CN" altLang="en-US" sz="2400" b="1" dirty="0"/>
              <a:t>利用一个</a:t>
            </a:r>
            <a:r>
              <a:rPr lang="zh-CN" altLang="en-US" sz="2400" b="1" i="1" dirty="0">
                <a:solidFill>
                  <a:srgbClr val="FF0000"/>
                </a:solidFill>
              </a:rPr>
              <a:t>并查集</a:t>
            </a:r>
            <a:r>
              <a:rPr lang="zh-CN" altLang="en-US" sz="2400" b="1" dirty="0"/>
              <a:t>的</a:t>
            </a:r>
            <a:r>
              <a:rPr lang="zh-CN" altLang="en-US" sz="2400" b="1" dirty="0">
                <a:solidFill>
                  <a:srgbClr val="000099"/>
                </a:solidFill>
                <a:latin typeface="MS UI Gothic" pitchFamily="34" charset="-128"/>
                <a:ea typeface="MS UI Gothic" pitchFamily="34" charset="-128"/>
              </a:rPr>
              <a:t>数据结构</a:t>
            </a:r>
            <a:r>
              <a:rPr lang="zh-CN" altLang="en-US" sz="2400" b="1" dirty="0"/>
              <a:t>来判断是否一条边的两个端点属于不同的连通分支</a:t>
            </a:r>
            <a:endParaRPr lang="en-US" altLang="zh-CN" sz="2400" b="1" dirty="0"/>
          </a:p>
          <a:p>
            <a:r>
              <a:rPr lang="zh-CN" altLang="en-US" sz="2400" b="1" i="1" dirty="0">
                <a:solidFill>
                  <a:srgbClr val="FF0000"/>
                </a:solidFill>
              </a:rPr>
              <a:t>注意</a:t>
            </a:r>
            <a:r>
              <a:rPr lang="zh-CN" altLang="en-US" sz="2400" b="1" dirty="0"/>
              <a:t>：整颗生成树是一个连通分支</a:t>
            </a:r>
            <a:endParaRPr lang="en-US" altLang="zh-CN" sz="2400" b="1" dirty="0"/>
          </a:p>
          <a:p>
            <a:endParaRPr lang="en-US" altLang="zh-CN" sz="2400" b="1" dirty="0"/>
          </a:p>
          <a:p>
            <a:r>
              <a:rPr lang="zh-CN" altLang="en-US" sz="2400" b="1" dirty="0"/>
              <a:t>一个</a:t>
            </a:r>
            <a:r>
              <a:rPr lang="zh-CN" altLang="en-US" sz="2400" b="1" i="1" dirty="0">
                <a:solidFill>
                  <a:srgbClr val="FF0000"/>
                </a:solidFill>
              </a:rPr>
              <a:t>并查集</a:t>
            </a:r>
            <a:r>
              <a:rPr lang="zh-CN" altLang="en-US" sz="2400" b="1" dirty="0"/>
              <a:t>维护了一个由一系列</a:t>
            </a:r>
            <a:r>
              <a:rPr lang="zh-CN" altLang="en-US" sz="2400" b="1" i="1" dirty="0">
                <a:solidFill>
                  <a:srgbClr val="0000CC"/>
                </a:solidFill>
              </a:rPr>
              <a:t>不相交的集合</a:t>
            </a:r>
            <a:r>
              <a:rPr lang="zh-CN" altLang="en-US" sz="2400" b="1" dirty="0"/>
              <a:t>构成的集合</a:t>
            </a:r>
            <a:r>
              <a:rPr lang="en-US" sz="2400" b="1" dirty="0"/>
              <a:t> </a:t>
            </a:r>
            <a:r>
              <a:rPr lang="en-US" sz="2400" b="1" i="1" dirty="0"/>
              <a:t>S</a:t>
            </a:r>
            <a:r>
              <a:rPr lang="en-US" sz="2400" b="1" dirty="0"/>
              <a:t> = {</a:t>
            </a:r>
            <a:r>
              <a:rPr lang="en-US" sz="2400" b="1" i="1" dirty="0"/>
              <a:t>S</a:t>
            </a:r>
            <a:r>
              <a:rPr lang="en-US" sz="2400" b="1" baseline="-25000" dirty="0"/>
              <a:t>1</a:t>
            </a:r>
            <a:r>
              <a:rPr lang="en-US" sz="2400" b="1" dirty="0"/>
              <a:t>, </a:t>
            </a:r>
            <a:r>
              <a:rPr lang="en-US" sz="2400" b="1" i="1" dirty="0"/>
              <a:t>S</a:t>
            </a:r>
            <a:r>
              <a:rPr lang="en-US" sz="2400" b="1" baseline="-25000" dirty="0"/>
              <a:t>2</a:t>
            </a:r>
            <a:r>
              <a:rPr lang="en-US" sz="2400" b="1" dirty="0"/>
              <a:t>, …, </a:t>
            </a:r>
            <a:r>
              <a:rPr lang="en-US" sz="2400" b="1" i="1" dirty="0" err="1"/>
              <a:t>S</a:t>
            </a:r>
            <a:r>
              <a:rPr lang="en-US" sz="2400" b="1" i="1" baseline="-25000" dirty="0" err="1"/>
              <a:t>k</a:t>
            </a:r>
            <a:r>
              <a:rPr lang="en-US" sz="2400" b="1" dirty="0"/>
              <a:t>} </a:t>
            </a:r>
          </a:p>
          <a:p>
            <a:r>
              <a:rPr lang="zh-CN" altLang="en-US" sz="2400" b="1" dirty="0"/>
              <a:t>并查集基本操作：创建，查找，合并</a:t>
            </a:r>
            <a:endParaRPr lang="en-US" sz="2400" b="1" dirty="0"/>
          </a:p>
          <a:p>
            <a:r>
              <a:rPr lang="zh-CN" altLang="en-US" sz="2400" b="1" dirty="0"/>
              <a:t>每个集合都有一个</a:t>
            </a:r>
            <a:r>
              <a:rPr lang="zh-CN" altLang="en-US" sz="2400" b="1" i="1" dirty="0">
                <a:solidFill>
                  <a:srgbClr val="FF0000"/>
                </a:solidFill>
              </a:rPr>
              <a:t>代表性元素</a:t>
            </a:r>
            <a:r>
              <a:rPr lang="zh-CN" altLang="en-US" sz="2400" b="1" dirty="0"/>
              <a:t>，用于表示该集合</a:t>
            </a:r>
            <a:endParaRPr lang="en-US" altLang="zh-CN" sz="2400" b="1" dirty="0"/>
          </a:p>
          <a:p>
            <a:r>
              <a:rPr lang="zh-CN" altLang="en-US" sz="2200" b="1" dirty="0"/>
              <a:t>例如</a:t>
            </a:r>
            <a:r>
              <a:rPr lang="en-US" sz="2200" b="1" dirty="0"/>
              <a:t>: </a:t>
            </a:r>
            <a:r>
              <a:rPr lang="zh-CN" altLang="en-US" sz="2200" b="1" dirty="0"/>
              <a:t>可以用集合中</a:t>
            </a:r>
            <a:r>
              <a:rPr lang="en-US" altLang="zh-CN" sz="2200" b="1" dirty="0"/>
              <a:t>ID</a:t>
            </a:r>
            <a:r>
              <a:rPr lang="zh-CN" altLang="en-US" sz="2200" b="1" dirty="0"/>
              <a:t>最小的那个元素作为代表性元素</a:t>
            </a:r>
            <a:r>
              <a:rPr lang="en-US" sz="2200" b="1" dirty="0"/>
              <a:t>.</a:t>
            </a:r>
          </a:p>
          <a:p>
            <a:endParaRPr lang="en-US" sz="2200" b="1" dirty="0"/>
          </a:p>
          <a:p>
            <a:r>
              <a:rPr lang="zh-CN" altLang="en-US" sz="2200" b="1" dirty="0">
                <a:solidFill>
                  <a:srgbClr val="FF0000"/>
                </a:solidFill>
              </a:rPr>
              <a:t>注意：</a:t>
            </a:r>
            <a:r>
              <a:rPr lang="en-US" altLang="zh-CN" sz="2200" b="1" i="1" dirty="0"/>
              <a:t>S</a:t>
            </a:r>
            <a:r>
              <a:rPr lang="zh-CN" altLang="en-US" sz="2200" b="1" dirty="0"/>
              <a:t>中的集合都是互相不相交的</a:t>
            </a:r>
            <a:endParaRPr lang="en-US" sz="2200" b="1" dirty="0"/>
          </a:p>
          <a:p>
            <a:pPr>
              <a:buNone/>
            </a:pPr>
            <a:endParaRPr lang="en-US" sz="2400" b="1" dirty="0">
              <a:sym typeface="Symbol" pitchFamily="18" charset="2"/>
            </a:endParaRPr>
          </a:p>
        </p:txBody>
      </p:sp>
    </p:spTree>
    <p:extLst>
      <p:ext uri="{BB962C8B-B14F-4D97-AF65-F5344CB8AC3E}">
        <p14:creationId xmlns:p14="http://schemas.microsoft.com/office/powerpoint/2010/main" val="2875848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291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2915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2915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2915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2915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291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5"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(2)</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382000" cy="5105400"/>
          </a:xfrm>
        </p:spPr>
        <p:txBody>
          <a:bodyPr/>
          <a:lstStyle/>
          <a:p>
            <a:r>
              <a:rPr lang="zh-CN" altLang="en-US" sz="2400" b="1" dirty="0"/>
              <a:t>一个并查集支持以下操作</a:t>
            </a:r>
            <a:r>
              <a:rPr lang="en-US" sz="2400" b="1" dirty="0"/>
              <a:t>:</a:t>
            </a:r>
          </a:p>
          <a:p>
            <a:pPr marL="640080" lvl="1"/>
            <a:r>
              <a:rPr lang="en-US" sz="2200" b="1" i="1" dirty="0">
                <a:solidFill>
                  <a:srgbClr val="C00000"/>
                </a:solidFill>
              </a:rPr>
              <a:t>Make-Set</a:t>
            </a:r>
            <a:r>
              <a:rPr lang="en-US" sz="2200" b="1" dirty="0"/>
              <a:t>(</a:t>
            </a:r>
            <a:r>
              <a:rPr lang="en-US" sz="2200" b="1" i="1" dirty="0"/>
              <a:t>x</a:t>
            </a:r>
            <a:r>
              <a:rPr lang="en-US" sz="2200" b="1" dirty="0"/>
              <a:t>): </a:t>
            </a:r>
            <a:r>
              <a:rPr lang="zh-CN" altLang="en-US" sz="2200" b="1" dirty="0"/>
              <a:t>对元素</a:t>
            </a:r>
            <a:r>
              <a:rPr lang="en-US" altLang="zh-CN" sz="2200" b="1" i="1" dirty="0"/>
              <a:t>x</a:t>
            </a:r>
            <a:r>
              <a:rPr lang="zh-CN" altLang="en-US" sz="2200" b="1" dirty="0"/>
              <a:t>创建一个新的集合</a:t>
            </a:r>
            <a:r>
              <a:rPr lang="en-US" sz="2200" b="1" i="1" dirty="0"/>
              <a:t>S</a:t>
            </a:r>
            <a:r>
              <a:rPr lang="en-US" sz="2200" b="1" i="1" baseline="-25000" dirty="0"/>
              <a:t>i</a:t>
            </a:r>
            <a:r>
              <a:rPr lang="en-US" sz="2200" b="1" dirty="0"/>
              <a:t> = { </a:t>
            </a:r>
            <a:r>
              <a:rPr lang="en-US" sz="2200" b="1" i="1" dirty="0"/>
              <a:t>x</a:t>
            </a:r>
            <a:r>
              <a:rPr lang="en-US" sz="2200" b="1" dirty="0"/>
              <a:t> }, </a:t>
            </a:r>
            <a:r>
              <a:rPr lang="zh-CN" altLang="en-US" sz="2200" b="1" dirty="0"/>
              <a:t>并且把</a:t>
            </a:r>
            <a:r>
              <a:rPr lang="en-US" sz="2200" b="1" i="1" dirty="0"/>
              <a:t>S</a:t>
            </a:r>
            <a:r>
              <a:rPr lang="en-US" sz="2200" b="1" i="1" baseline="-25000" dirty="0"/>
              <a:t>i</a:t>
            </a:r>
            <a:r>
              <a:rPr lang="en-US" sz="2200" b="1" dirty="0"/>
              <a:t> </a:t>
            </a:r>
            <a:r>
              <a:rPr lang="zh-CN" altLang="en-US" sz="2200" b="1" dirty="0"/>
              <a:t>这个集合加入至并查集</a:t>
            </a:r>
            <a:r>
              <a:rPr lang="en-US" sz="2200" b="1" dirty="0"/>
              <a:t> </a:t>
            </a:r>
            <a:r>
              <a:rPr lang="en-US" sz="2200" b="1" i="1" dirty="0"/>
              <a:t>S</a:t>
            </a:r>
            <a:r>
              <a:rPr lang="zh-CN" altLang="en-US" sz="2200" b="1" dirty="0"/>
              <a:t>中</a:t>
            </a:r>
            <a:r>
              <a:rPr lang="en-US" sz="2200" b="1" dirty="0"/>
              <a:t>.</a:t>
            </a:r>
          </a:p>
          <a:p>
            <a:pPr marL="640080" lvl="1"/>
            <a:r>
              <a:rPr lang="en-US" sz="2200" b="1" i="1" dirty="0">
                <a:solidFill>
                  <a:srgbClr val="C00000"/>
                </a:solidFill>
              </a:rPr>
              <a:t>Find-Set</a:t>
            </a:r>
            <a:r>
              <a:rPr lang="en-US" sz="2200" b="1" dirty="0"/>
              <a:t>(</a:t>
            </a:r>
            <a:r>
              <a:rPr lang="en-US" sz="2200" b="1" i="1" dirty="0"/>
              <a:t>x</a:t>
            </a:r>
            <a:r>
              <a:rPr lang="en-US" sz="2200" b="1" dirty="0"/>
              <a:t>): </a:t>
            </a:r>
            <a:r>
              <a:rPr lang="zh-CN" altLang="en-US" sz="2200" b="1" dirty="0"/>
              <a:t>返回包含元素</a:t>
            </a:r>
            <a:r>
              <a:rPr lang="en-US" altLang="zh-CN" sz="2200" b="1" i="1" dirty="0"/>
              <a:t>x</a:t>
            </a:r>
            <a:r>
              <a:rPr lang="zh-CN" altLang="en-US" sz="2200" b="1" dirty="0"/>
              <a:t>的集合的那个代表性元素</a:t>
            </a:r>
            <a:endParaRPr lang="en-US" sz="2200" b="1" dirty="0"/>
          </a:p>
          <a:p>
            <a:pPr marL="914400" lvl="2"/>
            <a:r>
              <a:rPr lang="zh-CN" altLang="en-US" sz="2200" b="1" dirty="0"/>
              <a:t>对于不相交的集合，</a:t>
            </a:r>
            <a:r>
              <a:rPr lang="en-US" altLang="zh-CN" sz="2200" b="1" dirty="0"/>
              <a:t>2</a:t>
            </a:r>
            <a:r>
              <a:rPr lang="zh-CN" altLang="en-US" sz="2200" b="1" dirty="0"/>
              <a:t>个集合相等，当且仅当它们的代表性元素一样</a:t>
            </a:r>
            <a:endParaRPr lang="en-US" altLang="zh-CN" sz="2200" b="1" dirty="0"/>
          </a:p>
          <a:p>
            <a:pPr marL="914400" lvl="2"/>
            <a:r>
              <a:rPr lang="zh-CN" altLang="en-US" sz="2200" b="1" dirty="0">
                <a:solidFill>
                  <a:schemeClr val="bg2"/>
                </a:solidFill>
              </a:rPr>
              <a:t>如果</a:t>
            </a:r>
            <a:r>
              <a:rPr lang="en-US" sz="2200" b="1" i="1" dirty="0">
                <a:solidFill>
                  <a:schemeClr val="bg2"/>
                </a:solidFill>
              </a:rPr>
              <a:t>Find-Set</a:t>
            </a:r>
            <a:r>
              <a:rPr lang="en-US" sz="2200" b="1" dirty="0"/>
              <a:t>(</a:t>
            </a:r>
            <a:r>
              <a:rPr lang="en-US" sz="2200" b="1" i="1" dirty="0"/>
              <a:t>x</a:t>
            </a:r>
            <a:r>
              <a:rPr lang="en-US" sz="2200" b="1" dirty="0"/>
              <a:t>) = </a:t>
            </a:r>
            <a:r>
              <a:rPr lang="en-US" sz="2200" b="1" i="1" dirty="0">
                <a:solidFill>
                  <a:schemeClr val="bg2"/>
                </a:solidFill>
              </a:rPr>
              <a:t>Find-Set</a:t>
            </a:r>
            <a:r>
              <a:rPr lang="en-US" sz="2200" b="1" dirty="0"/>
              <a:t>(</a:t>
            </a:r>
            <a:r>
              <a:rPr lang="en-US" sz="2200" b="1" i="1" dirty="0"/>
              <a:t>y</a:t>
            </a:r>
            <a:r>
              <a:rPr lang="en-US" sz="2200" b="1" dirty="0"/>
              <a:t>), </a:t>
            </a:r>
            <a:r>
              <a:rPr lang="zh-CN" altLang="en-US" sz="2200" b="1" dirty="0"/>
              <a:t>则</a:t>
            </a:r>
            <a:r>
              <a:rPr lang="en-US" sz="2200" b="1" dirty="0"/>
              <a:t> </a:t>
            </a:r>
            <a:r>
              <a:rPr lang="en-US" sz="2200" b="1" i="1" dirty="0"/>
              <a:t>x</a:t>
            </a:r>
            <a:r>
              <a:rPr lang="en-US" sz="2200" b="1" dirty="0"/>
              <a:t> </a:t>
            </a:r>
            <a:r>
              <a:rPr lang="zh-CN" altLang="en-US" sz="2200" b="1" dirty="0"/>
              <a:t>和</a:t>
            </a:r>
            <a:r>
              <a:rPr lang="en-US" sz="2200" b="1" dirty="0"/>
              <a:t> </a:t>
            </a:r>
            <a:r>
              <a:rPr lang="en-US" sz="2200" b="1" i="1" dirty="0"/>
              <a:t>y</a:t>
            </a:r>
            <a:r>
              <a:rPr lang="en-US" sz="2200" b="1" dirty="0"/>
              <a:t> </a:t>
            </a:r>
            <a:r>
              <a:rPr lang="zh-CN" altLang="en-US" sz="2200" b="1" dirty="0"/>
              <a:t>在同一个集合中</a:t>
            </a:r>
            <a:endParaRPr lang="en-US" sz="2200" b="1" dirty="0"/>
          </a:p>
          <a:p>
            <a:pPr marL="640080" lvl="1"/>
            <a:r>
              <a:rPr lang="en-US" sz="2200" b="1" i="1" dirty="0">
                <a:solidFill>
                  <a:srgbClr val="C00000"/>
                </a:solidFill>
              </a:rPr>
              <a:t>Union</a:t>
            </a:r>
            <a:r>
              <a:rPr lang="en-US" sz="2200" b="1" dirty="0"/>
              <a:t>(</a:t>
            </a:r>
            <a:r>
              <a:rPr lang="en-US" sz="2200" b="1" i="1" dirty="0"/>
              <a:t>x</a:t>
            </a:r>
            <a:r>
              <a:rPr lang="en-US" sz="2200" b="1" dirty="0"/>
              <a:t>, </a:t>
            </a:r>
            <a:r>
              <a:rPr lang="en-US" sz="2200" b="1" i="1" dirty="0"/>
              <a:t>y</a:t>
            </a:r>
            <a:r>
              <a:rPr lang="en-US" sz="2200" b="1" dirty="0"/>
              <a:t>): </a:t>
            </a:r>
            <a:r>
              <a:rPr lang="zh-CN" altLang="en-US" sz="2200" b="1" dirty="0"/>
              <a:t>如果</a:t>
            </a:r>
            <a:r>
              <a:rPr lang="en-US" sz="2200" b="1" dirty="0"/>
              <a:t> </a:t>
            </a:r>
            <a:r>
              <a:rPr lang="en-US" sz="2200" b="1" i="1" dirty="0"/>
              <a:t>x</a:t>
            </a:r>
            <a:r>
              <a:rPr lang="en-US" sz="2200" b="1" dirty="0"/>
              <a:t> </a:t>
            </a:r>
            <a:r>
              <a:rPr lang="en-US" sz="2200" b="1" dirty="0">
                <a:sym typeface="Symbol"/>
              </a:rPr>
              <a:t></a:t>
            </a:r>
            <a:r>
              <a:rPr lang="en-US" sz="2200" b="1" dirty="0"/>
              <a:t> </a:t>
            </a:r>
            <a:r>
              <a:rPr lang="en-US" sz="2200" b="1" i="1" dirty="0" err="1"/>
              <a:t>S</a:t>
            </a:r>
            <a:r>
              <a:rPr lang="en-US" sz="2200" b="1" i="1" baseline="-25000" dirty="0" err="1"/>
              <a:t>x</a:t>
            </a:r>
            <a:r>
              <a:rPr lang="en-US" sz="2200" b="1" i="1" baseline="-25000" dirty="0"/>
              <a:t> </a:t>
            </a:r>
            <a:r>
              <a:rPr lang="en-US" sz="2200" b="1" dirty="0"/>
              <a:t>, y </a:t>
            </a:r>
            <a:r>
              <a:rPr lang="en-US" sz="2200" b="1" dirty="0">
                <a:sym typeface="Symbol"/>
              </a:rPr>
              <a:t></a:t>
            </a:r>
            <a:r>
              <a:rPr lang="en-US" sz="2200" b="1" dirty="0"/>
              <a:t> </a:t>
            </a:r>
            <a:r>
              <a:rPr lang="en-US" sz="2200" b="1" i="1" dirty="0" err="1"/>
              <a:t>S</a:t>
            </a:r>
            <a:r>
              <a:rPr lang="en-US" sz="2200" b="1" i="1" baseline="-25000" dirty="0" err="1"/>
              <a:t>y</a:t>
            </a:r>
            <a:r>
              <a:rPr lang="en-US" sz="2200" b="1" i="1" baseline="-25000" dirty="0"/>
              <a:t> </a:t>
            </a:r>
            <a:r>
              <a:rPr lang="en-US" sz="2200" b="1" dirty="0"/>
              <a:t>, </a:t>
            </a:r>
            <a:r>
              <a:rPr lang="zh-CN" altLang="en-US" sz="2200" b="1" dirty="0"/>
              <a:t>则</a:t>
            </a:r>
            <a:r>
              <a:rPr lang="en-US" sz="2200" b="1" i="1" dirty="0"/>
              <a:t>S</a:t>
            </a:r>
            <a:r>
              <a:rPr lang="en-US" sz="2200" b="1" dirty="0"/>
              <a:t> = (</a:t>
            </a:r>
            <a:r>
              <a:rPr lang="en-US" sz="2200" b="1" i="1" dirty="0"/>
              <a:t>S</a:t>
            </a:r>
            <a:r>
              <a:rPr lang="en-US" sz="2200" b="1" dirty="0"/>
              <a:t> – </a:t>
            </a:r>
            <a:r>
              <a:rPr lang="en-US" sz="2200" b="1" i="1" dirty="0" err="1"/>
              <a:t>S</a:t>
            </a:r>
            <a:r>
              <a:rPr lang="en-US" sz="2200" b="1" i="1" baseline="-25000" dirty="0" err="1"/>
              <a:t>x</a:t>
            </a:r>
            <a:r>
              <a:rPr lang="en-US" sz="2200" b="1" dirty="0"/>
              <a:t> – </a:t>
            </a:r>
            <a:r>
              <a:rPr lang="en-US" sz="2200" b="1" i="1" dirty="0" err="1"/>
              <a:t>S</a:t>
            </a:r>
            <a:r>
              <a:rPr lang="en-US" sz="2200" b="1" i="1" baseline="-25000" dirty="0" err="1"/>
              <a:t>y</a:t>
            </a:r>
            <a:r>
              <a:rPr lang="en-US" sz="2200" b="1" dirty="0"/>
              <a:t>)</a:t>
            </a:r>
            <a:r>
              <a:rPr lang="en-US" sz="2200" b="1" dirty="0">
                <a:sym typeface="Symbol"/>
              </a:rPr>
              <a:t></a:t>
            </a:r>
            <a:r>
              <a:rPr lang="en-US" altLang="zh-CN" sz="2200" b="1" dirty="0">
                <a:sym typeface="Symbol"/>
              </a:rPr>
              <a:t>{</a:t>
            </a:r>
            <a:r>
              <a:rPr lang="en-US" sz="2200" b="1" i="1" dirty="0" err="1"/>
              <a:t>S</a:t>
            </a:r>
            <a:r>
              <a:rPr lang="en-US" sz="2200" b="1" i="1" baseline="-25000" dirty="0" err="1"/>
              <a:t>x</a:t>
            </a:r>
            <a:r>
              <a:rPr lang="en-US" sz="2200" b="1" dirty="0"/>
              <a:t> </a:t>
            </a:r>
            <a:r>
              <a:rPr lang="en-US" sz="2200" b="1" dirty="0">
                <a:sym typeface="Symbol"/>
              </a:rPr>
              <a:t></a:t>
            </a:r>
            <a:r>
              <a:rPr lang="en-US" sz="2200" b="1" dirty="0"/>
              <a:t> </a:t>
            </a:r>
            <a:r>
              <a:rPr lang="en-US" sz="2200" b="1" i="1" dirty="0" err="1"/>
              <a:t>S</a:t>
            </a:r>
            <a:r>
              <a:rPr lang="en-US" sz="2200" b="1" i="1" baseline="-25000" dirty="0" err="1"/>
              <a:t>y</a:t>
            </a:r>
            <a:r>
              <a:rPr lang="en-US" sz="2200" b="1" dirty="0"/>
              <a:t> </a:t>
            </a:r>
            <a:r>
              <a:rPr lang="en-US" altLang="zh-CN" sz="2200" b="1" dirty="0"/>
              <a:t>}</a:t>
            </a:r>
            <a:r>
              <a:rPr lang="en-US" sz="2200" b="1" dirty="0"/>
              <a:t>.</a:t>
            </a:r>
          </a:p>
          <a:p>
            <a:pPr marL="914400" lvl="2"/>
            <a:r>
              <a:rPr lang="zh-CN" altLang="en-US" sz="2200" b="1" dirty="0">
                <a:solidFill>
                  <a:schemeClr val="bg2"/>
                </a:solidFill>
              </a:rPr>
              <a:t>可以先调用</a:t>
            </a:r>
            <a:r>
              <a:rPr lang="en-US" sz="2200" b="1" i="1" dirty="0">
                <a:solidFill>
                  <a:schemeClr val="bg2"/>
                </a:solidFill>
              </a:rPr>
              <a:t>Find-Set</a:t>
            </a:r>
            <a:r>
              <a:rPr lang="en-US" sz="2200" b="1" dirty="0"/>
              <a:t>(</a:t>
            </a:r>
            <a:r>
              <a:rPr lang="en-US" sz="2200" b="1" i="1" dirty="0"/>
              <a:t>x</a:t>
            </a:r>
            <a:r>
              <a:rPr lang="en-US" sz="2200" b="1" dirty="0"/>
              <a:t>) </a:t>
            </a:r>
            <a:r>
              <a:rPr lang="zh-CN" altLang="en-US" sz="2200" b="1" dirty="0"/>
              <a:t>来找到</a:t>
            </a:r>
            <a:r>
              <a:rPr lang="en-US" sz="2200" b="1" i="1" dirty="0" err="1"/>
              <a:t>S</a:t>
            </a:r>
            <a:r>
              <a:rPr lang="en-US" sz="2200" b="1" i="1" baseline="-25000" dirty="0" err="1"/>
              <a:t>x</a:t>
            </a:r>
            <a:r>
              <a:rPr lang="en-US" sz="2200" b="1" dirty="0"/>
              <a:t> </a:t>
            </a:r>
            <a:r>
              <a:rPr lang="zh-CN" altLang="en-US" sz="2200" b="1" dirty="0"/>
              <a:t>，以及调用</a:t>
            </a:r>
            <a:r>
              <a:rPr lang="en-US" sz="2200" b="1" i="1" dirty="0">
                <a:solidFill>
                  <a:schemeClr val="bg2"/>
                </a:solidFill>
              </a:rPr>
              <a:t>Find-Set</a:t>
            </a:r>
            <a:r>
              <a:rPr lang="en-US" sz="2200" b="1" dirty="0"/>
              <a:t>(</a:t>
            </a:r>
            <a:r>
              <a:rPr lang="en-US" sz="2200" b="1" i="1" dirty="0"/>
              <a:t>y</a:t>
            </a:r>
            <a:r>
              <a:rPr lang="en-US" sz="2200" b="1" dirty="0"/>
              <a:t>) </a:t>
            </a:r>
            <a:r>
              <a:rPr lang="zh-CN" altLang="en-US" sz="2200" b="1" dirty="0"/>
              <a:t>来找到</a:t>
            </a:r>
            <a:r>
              <a:rPr lang="en-US" sz="2200" b="1" i="1" dirty="0" err="1"/>
              <a:t>S</a:t>
            </a:r>
            <a:r>
              <a:rPr lang="en-US" sz="2200" b="1" i="1" baseline="-25000" dirty="0" err="1"/>
              <a:t>y</a:t>
            </a:r>
            <a:r>
              <a:rPr lang="en-US" sz="2200" b="1" i="1" baseline="-25000" dirty="0"/>
              <a:t> </a:t>
            </a:r>
            <a:r>
              <a:rPr lang="en-US" sz="2200" b="1" dirty="0"/>
              <a:t>.</a:t>
            </a:r>
          </a:p>
          <a:p>
            <a:pPr marL="914400" lvl="2"/>
            <a:r>
              <a:rPr lang="zh-CN" altLang="en-US" sz="2200" b="1" dirty="0"/>
              <a:t>在</a:t>
            </a:r>
            <a:r>
              <a:rPr lang="en-US" altLang="zh-CN" sz="2200" b="1" dirty="0"/>
              <a:t>S</a:t>
            </a:r>
            <a:r>
              <a:rPr lang="zh-CN" altLang="en-US" sz="2200" b="1" dirty="0"/>
              <a:t>中，将</a:t>
            </a:r>
            <a:r>
              <a:rPr lang="en-US" sz="2200" b="1" i="1" dirty="0" err="1"/>
              <a:t>S</a:t>
            </a:r>
            <a:r>
              <a:rPr lang="en-US" sz="2200" b="1" i="1" baseline="-25000" dirty="0" err="1"/>
              <a:t>x</a:t>
            </a:r>
            <a:r>
              <a:rPr lang="en-US" sz="2200" b="1" dirty="0"/>
              <a:t> </a:t>
            </a:r>
            <a:r>
              <a:rPr lang="zh-CN" altLang="en-US" sz="2200" b="1" dirty="0"/>
              <a:t>的集合和</a:t>
            </a:r>
            <a:r>
              <a:rPr lang="en-US" sz="2200" b="1" dirty="0"/>
              <a:t> </a:t>
            </a:r>
            <a:r>
              <a:rPr lang="en-US" sz="2200" b="1" i="1" dirty="0" err="1"/>
              <a:t>S</a:t>
            </a:r>
            <a:r>
              <a:rPr lang="en-US" sz="2200" b="1" i="1" baseline="-25000" dirty="0" err="1"/>
              <a:t>y</a:t>
            </a:r>
            <a:r>
              <a:rPr lang="en-US" sz="2200" b="1" dirty="0"/>
              <a:t> </a:t>
            </a:r>
            <a:r>
              <a:rPr lang="zh-CN" altLang="en-US" sz="2200" b="1" dirty="0"/>
              <a:t>的集合用</a:t>
            </a:r>
            <a:r>
              <a:rPr lang="en-US" sz="2200" b="1" i="1" dirty="0" err="1"/>
              <a:t>S</a:t>
            </a:r>
            <a:r>
              <a:rPr lang="en-US" sz="2200" b="1" i="1" baseline="-25000" dirty="0" err="1"/>
              <a:t>x</a:t>
            </a:r>
            <a:r>
              <a:rPr lang="en-US" sz="2200" b="1" dirty="0"/>
              <a:t> </a:t>
            </a:r>
            <a:r>
              <a:rPr lang="en-US" sz="2200" b="1" dirty="0">
                <a:sym typeface="Symbol"/>
              </a:rPr>
              <a:t></a:t>
            </a:r>
            <a:r>
              <a:rPr lang="en-US" sz="2200" b="1" dirty="0"/>
              <a:t> </a:t>
            </a:r>
            <a:r>
              <a:rPr lang="en-US" sz="2200" b="1" i="1" dirty="0" err="1"/>
              <a:t>S</a:t>
            </a:r>
            <a:r>
              <a:rPr lang="en-US" sz="2200" b="1" i="1" baseline="-25000" dirty="0" err="1"/>
              <a:t>y</a:t>
            </a:r>
            <a:r>
              <a:rPr lang="en-US" sz="2200" b="1" i="1" baseline="-25000" dirty="0"/>
              <a:t> </a:t>
            </a:r>
            <a:r>
              <a:rPr lang="zh-CN" altLang="en-US" sz="2200" b="1" dirty="0"/>
              <a:t>替换</a:t>
            </a:r>
            <a:r>
              <a:rPr lang="en-US" sz="2200" b="1" dirty="0"/>
              <a:t> </a:t>
            </a:r>
          </a:p>
          <a:p>
            <a:pPr marL="914400" lvl="2"/>
            <a:r>
              <a:rPr lang="zh-CN" altLang="en-US" sz="2200" b="1" dirty="0"/>
              <a:t>在新的集合</a:t>
            </a:r>
            <a:r>
              <a:rPr lang="en-US" sz="2200" b="1" i="1" dirty="0" err="1"/>
              <a:t>S</a:t>
            </a:r>
            <a:r>
              <a:rPr lang="en-US" sz="2200" b="1" i="1" baseline="-25000" dirty="0" err="1"/>
              <a:t>x</a:t>
            </a:r>
            <a:r>
              <a:rPr lang="en-US" sz="2200" b="1" dirty="0"/>
              <a:t> </a:t>
            </a:r>
            <a:r>
              <a:rPr lang="en-US" sz="2200" b="1" dirty="0">
                <a:sym typeface="Symbol"/>
              </a:rPr>
              <a:t></a:t>
            </a:r>
            <a:r>
              <a:rPr lang="en-US" sz="2200" b="1" dirty="0"/>
              <a:t> </a:t>
            </a:r>
            <a:r>
              <a:rPr lang="en-US" sz="2200" b="1" i="1" dirty="0" err="1"/>
              <a:t>S</a:t>
            </a:r>
            <a:r>
              <a:rPr lang="en-US" sz="2200" b="1" i="1" baseline="-25000" dirty="0" err="1"/>
              <a:t>y</a:t>
            </a:r>
            <a:r>
              <a:rPr lang="en-US" sz="2200" b="1" i="1" baseline="-25000" dirty="0"/>
              <a:t> </a:t>
            </a:r>
            <a:r>
              <a:rPr lang="zh-CN" altLang="en-US" sz="2200" b="1" dirty="0"/>
              <a:t>中选择新的代表性元素，通常都是</a:t>
            </a:r>
            <a:r>
              <a:rPr lang="en-US" altLang="zh-CN" sz="2200" b="1" i="1" dirty="0" err="1"/>
              <a:t>S</a:t>
            </a:r>
            <a:r>
              <a:rPr lang="en-US" altLang="zh-CN" sz="2200" b="1" i="1" baseline="-25000" dirty="0" err="1"/>
              <a:t>x</a:t>
            </a:r>
            <a:r>
              <a:rPr lang="zh-CN" altLang="en-US" sz="2200" b="1" dirty="0"/>
              <a:t>和</a:t>
            </a:r>
            <a:r>
              <a:rPr lang="en-US" altLang="zh-CN" sz="2200" b="1" i="1" dirty="0" err="1"/>
              <a:t>S</a:t>
            </a:r>
            <a:r>
              <a:rPr lang="en-US" altLang="zh-CN" sz="2200" b="1" i="1" baseline="-25000" dirty="0" err="1"/>
              <a:t>y</a:t>
            </a:r>
            <a:r>
              <a:rPr lang="zh-CN" altLang="en-US" sz="2200" b="1" dirty="0"/>
              <a:t>中的一个</a:t>
            </a:r>
            <a:endParaRPr lang="en-US" sz="2200" b="1" dirty="0"/>
          </a:p>
        </p:txBody>
      </p:sp>
    </p:spTree>
    <p:extLst>
      <p:ext uri="{BB962C8B-B14F-4D97-AF65-F5344CB8AC3E}">
        <p14:creationId xmlns:p14="http://schemas.microsoft.com/office/powerpoint/2010/main" val="310794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91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2915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2915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2915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2915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2915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2915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291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(5)</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458200" cy="914400"/>
          </a:xfrm>
        </p:spPr>
        <p:txBody>
          <a:bodyPr/>
          <a:lstStyle/>
          <a:p>
            <a:r>
              <a:rPr lang="zh-CN" altLang="en-US" sz="2400" b="1" dirty="0"/>
              <a:t>可以使用一个类似于链表的结构来实现并查集</a:t>
            </a:r>
            <a:endParaRPr lang="en-US" sz="2400" b="1" dirty="0"/>
          </a:p>
        </p:txBody>
      </p:sp>
      <p:pic>
        <p:nvPicPr>
          <p:cNvPr id="40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 r="55426" b="55189"/>
          <a:stretch/>
        </p:blipFill>
        <p:spPr bwMode="auto">
          <a:xfrm>
            <a:off x="609600" y="2438400"/>
            <a:ext cx="5436727"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3"/>
          <p:cNvSpPr txBox="1">
            <a:spLocks noChangeArrowheads="1"/>
          </p:cNvSpPr>
          <p:nvPr/>
        </p:nvSpPr>
        <p:spPr bwMode="auto">
          <a:xfrm>
            <a:off x="381000" y="5029200"/>
            <a:ext cx="8458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en-US" sz="2400" b="1" i="1" kern="0" dirty="0"/>
              <a:t>Make-Set</a:t>
            </a:r>
            <a:r>
              <a:rPr lang="en-US" sz="2400" b="1" kern="0" dirty="0"/>
              <a:t>(</a:t>
            </a:r>
            <a:r>
              <a:rPr lang="en-US" sz="2400" b="1" i="1" kern="0" dirty="0"/>
              <a:t>x</a:t>
            </a:r>
            <a:r>
              <a:rPr lang="en-US" sz="2400" b="1" kern="0" dirty="0"/>
              <a:t>): </a:t>
            </a:r>
            <a:r>
              <a:rPr lang="en-US" sz="2400" b="1" i="1" kern="0" dirty="0"/>
              <a:t>O</a:t>
            </a:r>
            <a:r>
              <a:rPr lang="en-US" sz="2400" b="1" kern="0" dirty="0"/>
              <a:t>(1)</a:t>
            </a:r>
          </a:p>
          <a:p>
            <a:r>
              <a:rPr lang="en-US" sz="2400" i="1" kern="0" dirty="0"/>
              <a:t>Find-Set</a:t>
            </a:r>
            <a:r>
              <a:rPr lang="en-US" sz="2400" kern="0" dirty="0"/>
              <a:t>(</a:t>
            </a:r>
            <a:r>
              <a:rPr lang="en-US" sz="2400" i="1" kern="0" dirty="0"/>
              <a:t>x</a:t>
            </a:r>
            <a:r>
              <a:rPr lang="en-US" sz="2400" kern="0" dirty="0"/>
              <a:t>) : </a:t>
            </a:r>
            <a:r>
              <a:rPr lang="en-US" sz="2400" i="1" kern="0" dirty="0"/>
              <a:t>O</a:t>
            </a:r>
            <a:r>
              <a:rPr lang="en-US" sz="2400" kern="0" dirty="0"/>
              <a:t>(1)</a:t>
            </a:r>
            <a:r>
              <a:rPr lang="zh-CN" altLang="en-US" sz="2400" kern="0" dirty="0"/>
              <a:t>，因为每个元素都指向了</a:t>
            </a:r>
            <a:r>
              <a:rPr lang="en-US" altLang="zh-CN" sz="2400" kern="0" dirty="0"/>
              <a:t>head</a:t>
            </a:r>
            <a:r>
              <a:rPr lang="zh-CN" altLang="en-US" sz="2400" kern="0" dirty="0"/>
              <a:t>，通过</a:t>
            </a:r>
            <a:r>
              <a:rPr lang="en-US" altLang="zh-CN" sz="2400" kern="0" dirty="0"/>
              <a:t>head</a:t>
            </a:r>
            <a:r>
              <a:rPr lang="zh-CN" altLang="en-US" sz="2400" kern="0" dirty="0"/>
              <a:t>只要</a:t>
            </a:r>
            <a:r>
              <a:rPr lang="en-US" altLang="zh-CN" sz="2400" i="1" kern="0" dirty="0"/>
              <a:t>O(1)</a:t>
            </a:r>
            <a:r>
              <a:rPr lang="zh-CN" altLang="en-US" sz="2400" kern="0" dirty="0"/>
              <a:t>就可以找到</a:t>
            </a:r>
            <a:r>
              <a:rPr lang="zh-CN" altLang="en-US" sz="2400" i="1" kern="0" dirty="0">
                <a:solidFill>
                  <a:srgbClr val="FF0000"/>
                </a:solidFill>
              </a:rPr>
              <a:t>代表性元素</a:t>
            </a:r>
            <a:endParaRPr lang="en-US" sz="2400" i="1" kern="0" dirty="0">
              <a:solidFill>
                <a:srgbClr val="FF0000"/>
              </a:solidFill>
            </a:endParaRPr>
          </a:p>
        </p:txBody>
      </p:sp>
      <p:sp>
        <p:nvSpPr>
          <p:cNvPr id="3" name="TextBox 2"/>
          <p:cNvSpPr txBox="1"/>
          <p:nvPr/>
        </p:nvSpPr>
        <p:spPr>
          <a:xfrm>
            <a:off x="6374821" y="2870537"/>
            <a:ext cx="2007179" cy="1785104"/>
          </a:xfrm>
          <a:prstGeom prst="rect">
            <a:avLst/>
          </a:prstGeom>
          <a:noFill/>
          <a:ln>
            <a:solidFill>
              <a:srgbClr val="C00000"/>
            </a:solidFill>
          </a:ln>
        </p:spPr>
        <p:txBody>
          <a:bodyPr wrap="square" rtlCol="0">
            <a:spAutoFit/>
          </a:bodyPr>
          <a:lstStyle/>
          <a:p>
            <a:r>
              <a:rPr lang="zh-CN" altLang="en-US" sz="2200" i="1" dirty="0"/>
              <a:t>链表中的第一个元素</a:t>
            </a:r>
            <a:r>
              <a:rPr lang="en-US" altLang="zh-CN" sz="2200" i="1" dirty="0"/>
              <a:t>(head</a:t>
            </a:r>
            <a:r>
              <a:rPr lang="zh-CN" altLang="en-US" sz="2200" i="1" dirty="0"/>
              <a:t>指向的元素</a:t>
            </a:r>
            <a:r>
              <a:rPr lang="en-US" altLang="zh-CN" sz="2200" i="1" dirty="0"/>
              <a:t>)</a:t>
            </a:r>
            <a:r>
              <a:rPr lang="zh-CN" altLang="en-US" sz="2200" i="1" dirty="0"/>
              <a:t>为集合的</a:t>
            </a:r>
            <a:r>
              <a:rPr lang="zh-CN" altLang="en-US" sz="2200" i="1" dirty="0">
                <a:solidFill>
                  <a:srgbClr val="FF0000"/>
                </a:solidFill>
              </a:rPr>
              <a:t>代表性元素</a:t>
            </a:r>
            <a:endParaRPr lang="en-US" sz="2200" i="1" dirty="0">
              <a:solidFill>
                <a:srgbClr val="FF0000"/>
              </a:solidFill>
            </a:endParaRPr>
          </a:p>
        </p:txBody>
      </p:sp>
    </p:spTree>
    <p:extLst>
      <p:ext uri="{BB962C8B-B14F-4D97-AF65-F5344CB8AC3E}">
        <p14:creationId xmlns:p14="http://schemas.microsoft.com/office/powerpoint/2010/main" val="148143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5" grpId="0" build="p"/>
      <p:bldP spid="7" grpId="0"/>
      <p:bldP spid="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(6)</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458200" cy="1295400"/>
          </a:xfrm>
        </p:spPr>
        <p:txBody>
          <a:bodyPr/>
          <a:lstStyle/>
          <a:p>
            <a:r>
              <a:rPr lang="en-US" sz="2400" b="1" i="1" dirty="0"/>
              <a:t>Union</a:t>
            </a:r>
            <a:r>
              <a:rPr lang="en-US" sz="2400" b="1" dirty="0"/>
              <a:t>(x, y): </a:t>
            </a:r>
            <a:r>
              <a:rPr lang="en-US" sz="2400" b="1" i="1" dirty="0"/>
              <a:t>O</a:t>
            </a:r>
            <a:r>
              <a:rPr lang="en-US" sz="2400" b="1" dirty="0"/>
              <a:t>(</a:t>
            </a:r>
            <a:r>
              <a:rPr lang="en-US" sz="2400" b="1" i="1" dirty="0"/>
              <a:t>n</a:t>
            </a:r>
            <a:r>
              <a:rPr lang="en-US" sz="2400" b="1" dirty="0"/>
              <a:t>)</a:t>
            </a:r>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2209800"/>
            <a:ext cx="8571636" cy="3544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9647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(3)</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458200" cy="5105400"/>
          </a:xfrm>
        </p:spPr>
        <p:txBody>
          <a:bodyPr/>
          <a:lstStyle/>
          <a:p>
            <a:r>
              <a:rPr lang="zh-CN" altLang="en-US" sz="2400" b="1" dirty="0"/>
              <a:t>应用</a:t>
            </a:r>
            <a:r>
              <a:rPr lang="en-US" sz="2400" b="1" dirty="0"/>
              <a:t>: </a:t>
            </a:r>
            <a:r>
              <a:rPr lang="zh-CN" altLang="en-US" sz="2400" b="1" dirty="0"/>
              <a:t>寻找无向图中所有的</a:t>
            </a:r>
            <a:r>
              <a:rPr lang="zh-CN" altLang="en-US" sz="2400" b="1" i="1" dirty="0">
                <a:solidFill>
                  <a:srgbClr val="FF0000"/>
                </a:solidFill>
              </a:rPr>
              <a:t>连通分支</a:t>
            </a:r>
            <a:endParaRPr lang="en-US" sz="2400" b="1" i="1" dirty="0">
              <a:solidFill>
                <a:srgbClr val="FF0000"/>
              </a:solidFill>
            </a:endParaRP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2514600"/>
            <a:ext cx="4572000" cy="2083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990600" y="5181600"/>
            <a:ext cx="7162800" cy="1107996"/>
          </a:xfrm>
          <a:prstGeom prst="rect">
            <a:avLst/>
          </a:prstGeom>
          <a:noFill/>
          <a:ln>
            <a:solidFill>
              <a:srgbClr val="C00000"/>
            </a:solidFill>
          </a:ln>
        </p:spPr>
        <p:txBody>
          <a:bodyPr wrap="square" rtlCol="0">
            <a:spAutoFit/>
          </a:bodyPr>
          <a:lstStyle/>
          <a:p>
            <a:r>
              <a:rPr lang="zh-CN" altLang="en-US" sz="2200" dirty="0"/>
              <a:t>该算法先把每个节点初始化为一个连通分支，每个连通分支用一个集合表示，然后不断地通过任意一条表</a:t>
            </a:r>
            <a:r>
              <a:rPr lang="en-US" altLang="zh-CN" sz="2200" i="1" dirty="0"/>
              <a:t>(</a:t>
            </a:r>
            <a:r>
              <a:rPr lang="en-US" altLang="zh-CN" sz="2200" i="1" dirty="0" err="1"/>
              <a:t>u,v</a:t>
            </a:r>
            <a:r>
              <a:rPr lang="en-US" altLang="zh-CN" sz="2200" i="1" dirty="0"/>
              <a:t>)</a:t>
            </a:r>
            <a:r>
              <a:rPr lang="en-US" altLang="zh-CN" sz="2200" dirty="0"/>
              <a:t>, </a:t>
            </a:r>
            <a:r>
              <a:rPr lang="zh-CN" altLang="en-US" sz="2200" dirty="0"/>
              <a:t>合并包含</a:t>
            </a:r>
            <a:r>
              <a:rPr lang="en-US" altLang="zh-CN" sz="2200" i="1" dirty="0"/>
              <a:t>u</a:t>
            </a:r>
            <a:r>
              <a:rPr lang="zh-CN" altLang="en-US" sz="2200" dirty="0"/>
              <a:t>和包含</a:t>
            </a:r>
            <a:r>
              <a:rPr lang="en-US" altLang="zh-CN" sz="2200" i="1" dirty="0"/>
              <a:t>v</a:t>
            </a:r>
            <a:r>
              <a:rPr lang="zh-CN" altLang="en-US" sz="2200" dirty="0"/>
              <a:t>的两个连通分支</a:t>
            </a:r>
            <a:endParaRPr lang="en-US" sz="2200" dirty="0"/>
          </a:p>
        </p:txBody>
      </p:sp>
    </p:spTree>
    <p:extLst>
      <p:ext uri="{BB962C8B-B14F-4D97-AF65-F5344CB8AC3E}">
        <p14:creationId xmlns:p14="http://schemas.microsoft.com/office/powerpoint/2010/main" val="194237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(4)</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371600"/>
            <a:ext cx="8458200" cy="457200"/>
          </a:xfrm>
        </p:spPr>
        <p:txBody>
          <a:bodyPr/>
          <a:lstStyle/>
          <a:p>
            <a:r>
              <a:rPr lang="zh-CN" altLang="en-US" sz="2000" b="1" dirty="0"/>
              <a:t>举例</a:t>
            </a:r>
            <a:endParaRPr lang="en-US" sz="2000" b="1" dirty="0"/>
          </a:p>
        </p:txBody>
      </p:sp>
      <p:pic>
        <p:nvPicPr>
          <p:cNvPr id="307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9239" b="6355"/>
          <a:stretch/>
        </p:blipFill>
        <p:spPr bwMode="auto">
          <a:xfrm>
            <a:off x="762000" y="3352800"/>
            <a:ext cx="7435272"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27039" b="75132"/>
          <a:stretch/>
        </p:blipFill>
        <p:spPr bwMode="auto">
          <a:xfrm>
            <a:off x="2190584" y="1940976"/>
            <a:ext cx="5200816" cy="1335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92958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3" cstate="print"/>
          <a:srcRect/>
          <a:stretch>
            <a:fillRect/>
          </a:stretch>
        </p:blipFill>
        <p:spPr bwMode="auto">
          <a:xfrm>
            <a:off x="1295400" y="3657600"/>
            <a:ext cx="6696744" cy="2921928"/>
          </a:xfrm>
          <a:prstGeom prst="rect">
            <a:avLst/>
          </a:prstGeom>
          <a:noFill/>
          <a:ln w="9525">
            <a:noFill/>
            <a:miter lim="800000"/>
            <a:headEnd/>
            <a:tailEnd/>
          </a:ln>
        </p:spPr>
      </p:pic>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8153400" cy="4724400"/>
          </a:xfrm>
        </p:spPr>
        <p:txBody>
          <a:bodyPr/>
          <a:lstStyle/>
          <a:p>
            <a:r>
              <a:rPr lang="zh-CN" altLang="en-US" sz="2400" dirty="0">
                <a:latin typeface="+mj-lt"/>
                <a:ea typeface="黑体" pitchFamily="49" charset="-122"/>
              </a:rPr>
              <a:t>网络是一个有向图</a:t>
            </a:r>
            <a:r>
              <a:rPr lang="en-US" altLang="zh-CN" sz="2400" i="1" dirty="0">
                <a:latin typeface="+mj-lt"/>
                <a:ea typeface="黑体" pitchFamily="49" charset="-122"/>
              </a:rPr>
              <a:t>G=</a:t>
            </a:r>
            <a:r>
              <a:rPr lang="zh-CN" altLang="en-US" sz="2400" i="1" dirty="0">
                <a:latin typeface="+mj-lt"/>
                <a:ea typeface="黑体" pitchFamily="49" charset="-122"/>
              </a:rPr>
              <a:t>（</a:t>
            </a:r>
            <a:r>
              <a:rPr lang="en-US" altLang="zh-CN" sz="2400" i="1" dirty="0">
                <a:latin typeface="+mj-lt"/>
                <a:ea typeface="黑体" pitchFamily="49" charset="-122"/>
              </a:rPr>
              <a:t>V</a:t>
            </a:r>
            <a:r>
              <a:rPr lang="zh-CN" altLang="en-US" sz="2400" i="1" dirty="0">
                <a:latin typeface="+mj-lt"/>
                <a:ea typeface="黑体" pitchFamily="49" charset="-122"/>
              </a:rPr>
              <a:t>，</a:t>
            </a:r>
            <a:r>
              <a:rPr lang="en-US" altLang="zh-CN" sz="2400" i="1" dirty="0">
                <a:latin typeface="+mj-lt"/>
                <a:ea typeface="黑体" pitchFamily="49" charset="-122"/>
              </a:rPr>
              <a:t>E</a:t>
            </a:r>
            <a:r>
              <a:rPr lang="zh-CN" altLang="en-US" sz="2400" i="1" dirty="0">
                <a:latin typeface="+mj-lt"/>
                <a:ea typeface="黑体" pitchFamily="49" charset="-122"/>
              </a:rPr>
              <a:t>）</a:t>
            </a:r>
            <a:r>
              <a:rPr lang="zh-CN" altLang="en-US" sz="2400" dirty="0">
                <a:latin typeface="+mj-lt"/>
                <a:ea typeface="黑体" pitchFamily="49" charset="-122"/>
              </a:rPr>
              <a:t>，其中每条边</a:t>
            </a:r>
            <a:r>
              <a:rPr lang="en-US" altLang="zh-CN" sz="2400" dirty="0">
                <a:latin typeface="+mj-lt"/>
                <a:ea typeface="黑体" pitchFamily="49" charset="-122"/>
              </a:rPr>
              <a:t>(</a:t>
            </a:r>
            <a:r>
              <a:rPr lang="en-US" altLang="zh-CN" sz="2400" i="1" dirty="0" err="1">
                <a:latin typeface="+mj-lt"/>
                <a:ea typeface="黑体" pitchFamily="49" charset="-122"/>
              </a:rPr>
              <a:t>u,v</a:t>
            </a:r>
            <a:r>
              <a:rPr lang="en-US" altLang="zh-CN" sz="2400" dirty="0">
                <a:latin typeface="+mj-lt"/>
                <a:ea typeface="黑体" pitchFamily="49" charset="-122"/>
              </a:rPr>
              <a:t>)</a:t>
            </a:r>
            <a:r>
              <a:rPr lang="zh-CN" altLang="en-US" sz="2400" dirty="0">
                <a:latin typeface="+mj-lt"/>
                <a:ea typeface="黑体" pitchFamily="49" charset="-122"/>
              </a:rPr>
              <a:t>均有一非负容量</a:t>
            </a:r>
            <a:r>
              <a:rPr lang="en-US" altLang="zh-CN" sz="2400" i="1" dirty="0">
                <a:latin typeface="+mj-lt"/>
                <a:ea typeface="黑体" pitchFamily="49" charset="-122"/>
              </a:rPr>
              <a:t>c</a:t>
            </a:r>
            <a:r>
              <a:rPr lang="en-US" altLang="zh-CN" sz="2400" dirty="0">
                <a:latin typeface="+mj-lt"/>
                <a:ea typeface="黑体" pitchFamily="49" charset="-122"/>
              </a:rPr>
              <a:t>(</a:t>
            </a:r>
            <a:r>
              <a:rPr lang="en-US" altLang="zh-CN" sz="2400" i="1" dirty="0" err="1">
                <a:latin typeface="+mj-lt"/>
                <a:ea typeface="黑体" pitchFamily="49" charset="-122"/>
              </a:rPr>
              <a:t>u,v</a:t>
            </a:r>
            <a:r>
              <a:rPr lang="en-US" altLang="zh-CN" sz="2400" dirty="0">
                <a:latin typeface="+mj-lt"/>
                <a:ea typeface="黑体" pitchFamily="49" charset="-122"/>
              </a:rPr>
              <a:t>)≥0</a:t>
            </a:r>
            <a:r>
              <a:rPr lang="zh-CN" altLang="en-US" sz="2400" dirty="0">
                <a:latin typeface="+mj-lt"/>
                <a:ea typeface="黑体" pitchFamily="49" charset="-122"/>
              </a:rPr>
              <a:t>。</a:t>
            </a:r>
            <a:endParaRPr lang="en-US" altLang="zh-CN" sz="2400" dirty="0">
              <a:latin typeface="+mj-lt"/>
              <a:ea typeface="黑体" pitchFamily="49" charset="-122"/>
            </a:endParaRPr>
          </a:p>
          <a:p>
            <a:r>
              <a:rPr lang="zh-CN" altLang="en-US" sz="2400" dirty="0">
                <a:latin typeface="+mj-lt"/>
                <a:ea typeface="黑体" pitchFamily="49" charset="-122"/>
              </a:rPr>
              <a:t>如果</a:t>
            </a:r>
            <a:r>
              <a:rPr lang="en-US" altLang="zh-CN" sz="2400" dirty="0">
                <a:latin typeface="+mj-lt"/>
                <a:ea typeface="黑体" pitchFamily="49" charset="-122"/>
              </a:rPr>
              <a:t>(</a:t>
            </a:r>
            <a:r>
              <a:rPr lang="en-US" altLang="zh-CN" sz="2400" i="1" dirty="0" err="1">
                <a:latin typeface="+mj-lt"/>
                <a:ea typeface="黑体" pitchFamily="49" charset="-122"/>
              </a:rPr>
              <a:t>u,v</a:t>
            </a:r>
            <a:r>
              <a:rPr lang="en-US" altLang="zh-CN" sz="2400" dirty="0">
                <a:latin typeface="+mj-lt"/>
                <a:ea typeface="黑体" pitchFamily="49" charset="-122"/>
              </a:rPr>
              <a:t>)</a:t>
            </a:r>
            <a:r>
              <a:rPr lang="zh-CN" altLang="en-US" sz="2400" dirty="0">
                <a:latin typeface="+mj-lt"/>
                <a:ea typeface="黑体" pitchFamily="49" charset="-122"/>
              </a:rPr>
              <a:t>不是</a:t>
            </a:r>
            <a:r>
              <a:rPr lang="en-US" altLang="zh-CN" sz="2400" i="1" dirty="0">
                <a:latin typeface="+mj-lt"/>
                <a:ea typeface="黑体" pitchFamily="49" charset="-122"/>
              </a:rPr>
              <a:t>E</a:t>
            </a:r>
            <a:r>
              <a:rPr lang="zh-CN" altLang="en-US" sz="2400" dirty="0">
                <a:latin typeface="+mj-lt"/>
                <a:ea typeface="黑体" pitchFamily="49" charset="-122"/>
              </a:rPr>
              <a:t>中的边，则假定</a:t>
            </a:r>
            <a:r>
              <a:rPr lang="en-US" altLang="zh-CN" sz="2400" i="1" dirty="0">
                <a:latin typeface="+mj-lt"/>
                <a:ea typeface="黑体" pitchFamily="49" charset="-122"/>
              </a:rPr>
              <a:t>c</a:t>
            </a:r>
            <a:r>
              <a:rPr lang="en-US" altLang="zh-CN" sz="2400" dirty="0">
                <a:latin typeface="+mj-lt"/>
                <a:ea typeface="黑体" pitchFamily="49" charset="-122"/>
              </a:rPr>
              <a:t>(</a:t>
            </a:r>
            <a:r>
              <a:rPr lang="en-US" altLang="zh-CN" sz="2400" i="1" dirty="0" err="1">
                <a:latin typeface="+mj-lt"/>
                <a:ea typeface="黑体" pitchFamily="49" charset="-122"/>
              </a:rPr>
              <a:t>u,v</a:t>
            </a:r>
            <a:r>
              <a:rPr lang="en-US" altLang="zh-CN" sz="2400" dirty="0">
                <a:latin typeface="+mj-lt"/>
                <a:ea typeface="黑体" pitchFamily="49" charset="-122"/>
              </a:rPr>
              <a:t>)=0</a:t>
            </a:r>
            <a:r>
              <a:rPr lang="zh-CN" altLang="en-US" sz="2400" dirty="0">
                <a:latin typeface="+mj-lt"/>
                <a:ea typeface="黑体" pitchFamily="49" charset="-122"/>
              </a:rPr>
              <a:t>。</a:t>
            </a:r>
            <a:endParaRPr lang="en-US" altLang="zh-CN" sz="2400" dirty="0">
              <a:latin typeface="+mj-lt"/>
              <a:ea typeface="黑体" pitchFamily="49" charset="-122"/>
            </a:endParaRPr>
          </a:p>
          <a:p>
            <a:r>
              <a:rPr lang="zh-CN" altLang="en-US" sz="2400" dirty="0">
                <a:latin typeface="+mj-lt"/>
                <a:ea typeface="黑体" pitchFamily="49" charset="-122"/>
              </a:rPr>
              <a:t>流网络中有两个特别的顶点：</a:t>
            </a:r>
            <a:r>
              <a:rPr lang="zh-CN" altLang="en-US" sz="2400" i="1" dirty="0">
                <a:solidFill>
                  <a:srgbClr val="FF0000"/>
                </a:solidFill>
                <a:latin typeface="+mj-lt"/>
                <a:ea typeface="黑体" pitchFamily="49" charset="-122"/>
              </a:rPr>
              <a:t>源点</a:t>
            </a:r>
            <a:r>
              <a:rPr lang="en-US" altLang="zh-CN" sz="2400" i="1" dirty="0">
                <a:solidFill>
                  <a:srgbClr val="FF0000"/>
                </a:solidFill>
                <a:latin typeface="+mj-lt"/>
                <a:ea typeface="黑体" pitchFamily="49" charset="-122"/>
              </a:rPr>
              <a:t>s</a:t>
            </a:r>
            <a:r>
              <a:rPr lang="zh-CN" altLang="en-US" sz="2400" dirty="0">
                <a:latin typeface="+mj-lt"/>
                <a:ea typeface="黑体" pitchFamily="49" charset="-122"/>
              </a:rPr>
              <a:t>和</a:t>
            </a:r>
            <a:r>
              <a:rPr lang="zh-CN" altLang="en-US" sz="2400" i="1" dirty="0">
                <a:solidFill>
                  <a:srgbClr val="FF0000"/>
                </a:solidFill>
                <a:latin typeface="+mj-lt"/>
                <a:ea typeface="黑体" pitchFamily="49" charset="-122"/>
              </a:rPr>
              <a:t>汇点</a:t>
            </a:r>
            <a:r>
              <a:rPr lang="en-US" altLang="zh-CN" sz="2400" i="1" dirty="0">
                <a:solidFill>
                  <a:srgbClr val="FF0000"/>
                </a:solidFill>
                <a:latin typeface="+mj-lt"/>
                <a:ea typeface="黑体" pitchFamily="49" charset="-122"/>
              </a:rPr>
              <a:t>t</a:t>
            </a:r>
            <a:r>
              <a:rPr lang="zh-CN" altLang="en-US" sz="2400" dirty="0">
                <a:latin typeface="+mj-lt"/>
                <a:ea typeface="黑体" pitchFamily="49" charset="-122"/>
              </a:rPr>
              <a:t>。为方便起见，假定每个顶点均处于从源点到汇点的某条路径上。</a:t>
            </a:r>
          </a:p>
          <a:p>
            <a:endParaRPr lang="zh-CN" altLang="en-US" dirty="0"/>
          </a:p>
        </p:txBody>
      </p:sp>
    </p:spTree>
    <p:extLst>
      <p:ext uri="{BB962C8B-B14F-4D97-AF65-F5344CB8AC3E}">
        <p14:creationId xmlns:p14="http://schemas.microsoft.com/office/powerpoint/2010/main" val="20186614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是一个流网络，其容量函数为</a:t>
            </a:r>
            <a:r>
              <a:rPr lang="en-US" altLang="zh-CN" sz="2400" i="1" dirty="0">
                <a:latin typeface="+mj-lt"/>
                <a:ea typeface="黑体" pitchFamily="2" charset="-122"/>
              </a:rPr>
              <a:t>c</a:t>
            </a:r>
            <a:r>
              <a:rPr lang="zh-CN" altLang="en-US" sz="2400" dirty="0">
                <a:latin typeface="+mj-lt"/>
                <a:ea typeface="黑体" pitchFamily="2" charset="-122"/>
              </a:rPr>
              <a:t>。设</a:t>
            </a:r>
            <a:r>
              <a:rPr lang="en-US" altLang="zh-CN" sz="2400" i="1" dirty="0">
                <a:latin typeface="+mj-lt"/>
                <a:ea typeface="黑体" pitchFamily="2" charset="-122"/>
              </a:rPr>
              <a:t>s</a:t>
            </a:r>
            <a:r>
              <a:rPr lang="zh-CN" altLang="en-US" sz="2400" dirty="0">
                <a:latin typeface="+mj-lt"/>
                <a:ea typeface="黑体" pitchFamily="2" charset="-122"/>
              </a:rPr>
              <a:t>为网络的源点，</a:t>
            </a:r>
            <a:r>
              <a:rPr lang="en-US" altLang="zh-CN" sz="2400" i="1" dirty="0">
                <a:latin typeface="+mj-lt"/>
                <a:ea typeface="黑体" pitchFamily="2" charset="-122"/>
              </a:rPr>
              <a:t>t</a:t>
            </a:r>
            <a:r>
              <a:rPr lang="zh-CN" altLang="en-US" sz="2400" dirty="0">
                <a:latin typeface="+mj-lt"/>
                <a:ea typeface="黑体" pitchFamily="2" charset="-122"/>
              </a:rPr>
              <a:t>为汇点。</a:t>
            </a:r>
            <a:r>
              <a:rPr lang="en-US" altLang="zh-CN" sz="2400" i="1" dirty="0">
                <a:latin typeface="+mj-lt"/>
                <a:ea typeface="黑体" pitchFamily="2" charset="-122"/>
              </a:rPr>
              <a:t>G</a:t>
            </a:r>
            <a:r>
              <a:rPr lang="zh-CN" altLang="en-US" sz="2400" dirty="0">
                <a:latin typeface="+mj-lt"/>
                <a:ea typeface="黑体" pitchFamily="2" charset="-122"/>
              </a:rPr>
              <a:t>的流是一个</a:t>
            </a:r>
            <a:r>
              <a:rPr lang="zh-CN" altLang="en-US" sz="2400" b="1" i="1" dirty="0">
                <a:solidFill>
                  <a:srgbClr val="C00000"/>
                </a:solidFill>
                <a:latin typeface="+mj-lt"/>
                <a:ea typeface="黑体" pitchFamily="2" charset="-122"/>
              </a:rPr>
              <a:t>实值函数 </a:t>
            </a:r>
            <a:r>
              <a:rPr lang="en-US" altLang="zh-CN" sz="2400" b="1" i="1" dirty="0">
                <a:solidFill>
                  <a:srgbClr val="C00000"/>
                </a:solidFill>
                <a:latin typeface="+mj-lt"/>
                <a:ea typeface="黑体" pitchFamily="2" charset="-122"/>
              </a:rPr>
              <a:t>f</a:t>
            </a:r>
            <a:r>
              <a:rPr lang="en-US" altLang="zh-CN" sz="2400" i="1" dirty="0">
                <a:latin typeface="+mj-lt"/>
                <a:ea typeface="黑体" pitchFamily="2" charset="-122"/>
              </a:rPr>
              <a:t>: V×V→R</a:t>
            </a:r>
            <a:r>
              <a:rPr lang="en-US" altLang="zh-CN" sz="2400" dirty="0">
                <a:latin typeface="+mj-lt"/>
                <a:ea typeface="黑体" pitchFamily="2" charset="-122"/>
              </a:rPr>
              <a:t>,</a:t>
            </a:r>
            <a:r>
              <a:rPr lang="zh-CN" altLang="en-US" sz="2400" dirty="0">
                <a:latin typeface="+mj-lt"/>
                <a:ea typeface="黑体" pitchFamily="2" charset="-122"/>
              </a:rPr>
              <a:t>且满足下列三个性质：</a:t>
            </a:r>
            <a:endParaRPr lang="en-US" altLang="zh-CN" sz="2400" dirty="0">
              <a:latin typeface="+mj-lt"/>
              <a:ea typeface="黑体" pitchFamily="2" charset="-122"/>
            </a:endParaRPr>
          </a:p>
          <a:p>
            <a:pPr marL="0" indent="0">
              <a:buNone/>
            </a:pPr>
            <a:r>
              <a:rPr lang="zh-CN" altLang="en-US" sz="2400" b="1" i="1" dirty="0">
                <a:effectLst>
                  <a:outerShdw blurRad="38100" dist="38100" dir="2700000" algn="tl">
                    <a:srgbClr val="000000">
                      <a:alpha val="43137"/>
                    </a:srgbClr>
                  </a:outerShdw>
                </a:effectLst>
                <a:latin typeface="+mj-lt"/>
                <a:ea typeface="黑体" pitchFamily="2" charset="-122"/>
              </a:rPr>
              <a:t>    容量限制</a:t>
            </a:r>
            <a:r>
              <a:rPr lang="zh-CN" altLang="en-US" sz="2400" dirty="0">
                <a:latin typeface="+mj-lt"/>
                <a:ea typeface="黑体" pitchFamily="2" charset="-122"/>
              </a:rPr>
              <a:t>：对所有</a:t>
            </a:r>
            <a:r>
              <a:rPr lang="en-US" altLang="zh-CN" sz="2400" i="1" dirty="0" err="1">
                <a:latin typeface="+mj-lt"/>
                <a:ea typeface="黑体" pitchFamily="2" charset="-122"/>
              </a:rPr>
              <a:t>u,v∈V</a:t>
            </a:r>
            <a:r>
              <a:rPr lang="en-US" altLang="zh-CN" sz="2400" dirty="0">
                <a:latin typeface="+mj-lt"/>
                <a:ea typeface="黑体" pitchFamily="2" charset="-122"/>
              </a:rPr>
              <a:t>,</a:t>
            </a:r>
            <a:r>
              <a:rPr lang="zh-CN" altLang="en-US" sz="2400" dirty="0">
                <a:latin typeface="+mj-lt"/>
                <a:ea typeface="黑体" pitchFamily="2" charset="-122"/>
              </a:rPr>
              <a:t>要求</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)≤c(</a:t>
            </a:r>
            <a:r>
              <a:rPr lang="en-US" altLang="zh-CN" sz="2400" i="1" dirty="0" err="1">
                <a:latin typeface="+mj-lt"/>
                <a:ea typeface="黑体" pitchFamily="2" charset="-122"/>
              </a:rPr>
              <a:t>u,v</a:t>
            </a:r>
            <a:r>
              <a:rPr lang="en-US" altLang="zh-CN" sz="2400" i="1" dirty="0">
                <a:latin typeface="+mj-lt"/>
                <a:ea typeface="黑体" pitchFamily="2" charset="-122"/>
              </a:rPr>
              <a:t>)</a:t>
            </a:r>
          </a:p>
          <a:p>
            <a:pPr marL="0" indent="0">
              <a:buNone/>
            </a:pPr>
            <a:r>
              <a:rPr lang="en-US" altLang="zh-CN" sz="2400" b="1" i="1" dirty="0">
                <a:solidFill>
                  <a:srgbClr val="FF0000"/>
                </a:solidFill>
                <a:effectLst>
                  <a:outerShdw blurRad="38100" dist="38100" dir="2700000" algn="tl">
                    <a:srgbClr val="000000">
                      <a:alpha val="43137"/>
                    </a:srgbClr>
                  </a:outerShdw>
                </a:effectLst>
                <a:latin typeface="+mj-lt"/>
                <a:ea typeface="黑体" pitchFamily="2" charset="-122"/>
              </a:rPr>
              <a:t>    </a:t>
            </a:r>
            <a:r>
              <a:rPr lang="zh-CN" altLang="en-US" sz="2400" b="1" i="1" dirty="0">
                <a:solidFill>
                  <a:srgbClr val="FF0000"/>
                </a:solidFill>
                <a:effectLst>
                  <a:outerShdw blurRad="38100" dist="38100" dir="2700000" algn="tl">
                    <a:srgbClr val="000000">
                      <a:alpha val="43137"/>
                    </a:srgbClr>
                  </a:outerShdw>
                </a:effectLst>
                <a:latin typeface="+mj-lt"/>
                <a:ea typeface="黑体" pitchFamily="2" charset="-122"/>
              </a:rPr>
              <a:t>反对称性</a:t>
            </a:r>
            <a:r>
              <a:rPr lang="zh-CN" altLang="en-US" sz="2400" dirty="0">
                <a:latin typeface="+mj-lt"/>
                <a:ea typeface="黑体" pitchFamily="2" charset="-122"/>
              </a:rPr>
              <a:t>：对所有</a:t>
            </a:r>
            <a:r>
              <a:rPr lang="en-US" altLang="zh-CN" sz="2400" i="1" dirty="0" err="1">
                <a:latin typeface="+mj-lt"/>
                <a:ea typeface="黑体" pitchFamily="2" charset="-122"/>
              </a:rPr>
              <a:t>u,v∈V</a:t>
            </a:r>
            <a:r>
              <a:rPr lang="en-US" altLang="zh-CN" sz="2400" dirty="0">
                <a:latin typeface="+mj-lt"/>
                <a:ea typeface="黑体" pitchFamily="2" charset="-122"/>
              </a:rPr>
              <a:t>,</a:t>
            </a:r>
            <a:r>
              <a:rPr lang="zh-CN" altLang="en-US" sz="2400" dirty="0">
                <a:latin typeface="+mj-lt"/>
                <a:ea typeface="黑体" pitchFamily="2" charset="-122"/>
              </a:rPr>
              <a:t>要求</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)=-f(</a:t>
            </a:r>
            <a:r>
              <a:rPr lang="en-US" altLang="zh-CN" sz="2400" i="1" dirty="0" err="1">
                <a:latin typeface="+mj-lt"/>
                <a:ea typeface="黑体" pitchFamily="2" charset="-122"/>
              </a:rPr>
              <a:t>v,u</a:t>
            </a:r>
            <a:r>
              <a:rPr lang="en-US" altLang="zh-CN" sz="2400" i="1" dirty="0">
                <a:latin typeface="+mj-lt"/>
                <a:ea typeface="黑体" pitchFamily="2" charset="-122"/>
              </a:rPr>
              <a:t>)</a:t>
            </a:r>
          </a:p>
          <a:p>
            <a:pPr marL="0" indent="0">
              <a:buNone/>
            </a:pPr>
            <a:r>
              <a:rPr lang="zh-CN" altLang="en-US" sz="2400" b="1" i="1" dirty="0">
                <a:solidFill>
                  <a:srgbClr val="0070C0"/>
                </a:solidFill>
                <a:effectLst>
                  <a:outerShdw blurRad="38100" dist="38100" dir="2700000" algn="tl">
                    <a:srgbClr val="000000">
                      <a:alpha val="43137"/>
                    </a:srgbClr>
                  </a:outerShdw>
                </a:effectLst>
                <a:latin typeface="+mj-lt"/>
                <a:ea typeface="黑体" pitchFamily="2" charset="-122"/>
              </a:rPr>
              <a:t>    流守恒性</a:t>
            </a:r>
            <a:r>
              <a:rPr lang="zh-CN" altLang="en-US" sz="2400" dirty="0">
                <a:latin typeface="+mj-lt"/>
                <a:ea typeface="黑体" pitchFamily="2" charset="-122"/>
              </a:rPr>
              <a:t>：对所有</a:t>
            </a:r>
            <a:r>
              <a:rPr lang="en-US" altLang="zh-CN" sz="2400" i="1" dirty="0" err="1">
                <a:latin typeface="+mj-lt"/>
                <a:ea typeface="黑体" pitchFamily="2" charset="-122"/>
              </a:rPr>
              <a:t>u∈V</a:t>
            </a:r>
            <a:r>
              <a:rPr lang="en-US" altLang="zh-CN" sz="2400" i="1" dirty="0">
                <a:latin typeface="+mj-lt"/>
                <a:ea typeface="黑体" pitchFamily="2" charset="-122"/>
              </a:rPr>
              <a:t>-{</a:t>
            </a:r>
            <a:r>
              <a:rPr lang="en-US" altLang="zh-CN" sz="2400" i="1" dirty="0" err="1">
                <a:latin typeface="+mj-lt"/>
                <a:ea typeface="黑体" pitchFamily="2" charset="-122"/>
              </a:rPr>
              <a:t>s,t</a:t>
            </a:r>
            <a:r>
              <a:rPr lang="en-US" altLang="zh-CN" sz="2400" i="1" dirty="0">
                <a:latin typeface="+mj-lt"/>
                <a:ea typeface="黑体" pitchFamily="2" charset="-122"/>
              </a:rPr>
              <a:t>},</a:t>
            </a:r>
            <a:r>
              <a:rPr lang="zh-CN" altLang="en-US" sz="2400" dirty="0">
                <a:latin typeface="+mj-lt"/>
                <a:ea typeface="黑体" pitchFamily="2" charset="-122"/>
              </a:rPr>
              <a:t>要求</a:t>
            </a:r>
            <a:endParaRPr lang="en-US" altLang="zh-CN" sz="2400" dirty="0">
              <a:latin typeface="+mj-lt"/>
              <a:ea typeface="黑体" pitchFamily="2" charset="-122"/>
            </a:endParaRPr>
          </a:p>
          <a:p>
            <a:pPr marL="0" indent="0">
              <a:buNone/>
            </a:pPr>
            <a:r>
              <a:rPr lang="zh-CN" altLang="en-US" sz="2400" dirty="0">
                <a:latin typeface="+mj-lt"/>
                <a:ea typeface="黑体" pitchFamily="2" charset="-122"/>
              </a:rPr>
              <a:t>则称</a:t>
            </a:r>
            <a:r>
              <a:rPr lang="en-US" altLang="zh-CN" sz="2400" dirty="0">
                <a:latin typeface="+mj-lt"/>
                <a:ea typeface="黑体" pitchFamily="2" charset="-122"/>
              </a:rPr>
              <a:t>f(</a:t>
            </a:r>
            <a:r>
              <a:rPr lang="en-US" altLang="zh-CN" sz="2400" dirty="0" err="1">
                <a:latin typeface="+mj-lt"/>
                <a:ea typeface="黑体" pitchFamily="2" charset="-122"/>
              </a:rPr>
              <a:t>u,v</a:t>
            </a:r>
            <a:r>
              <a:rPr lang="en-US" altLang="zh-CN" sz="2400" dirty="0">
                <a:latin typeface="+mj-lt"/>
                <a:ea typeface="黑体" pitchFamily="2" charset="-122"/>
              </a:rPr>
              <a:t>)</a:t>
            </a:r>
            <a:r>
              <a:rPr lang="zh-CN" altLang="en-US" sz="2400" dirty="0">
                <a:latin typeface="+mj-lt"/>
                <a:ea typeface="黑体" pitchFamily="2" charset="-122"/>
              </a:rPr>
              <a:t>是从顶点</a:t>
            </a:r>
            <a:r>
              <a:rPr lang="en-US" altLang="zh-CN" sz="2400" dirty="0">
                <a:latin typeface="+mj-lt"/>
                <a:ea typeface="黑体" pitchFamily="2" charset="-122"/>
              </a:rPr>
              <a:t>u</a:t>
            </a:r>
            <a:r>
              <a:rPr lang="zh-CN" altLang="en-US" sz="2400" dirty="0">
                <a:latin typeface="+mj-lt"/>
                <a:ea typeface="黑体" pitchFamily="2" charset="-122"/>
              </a:rPr>
              <a:t>到顶点</a:t>
            </a:r>
            <a:r>
              <a:rPr lang="en-US" altLang="zh-CN" sz="2400" dirty="0">
                <a:latin typeface="+mj-lt"/>
                <a:ea typeface="黑体" pitchFamily="2" charset="-122"/>
              </a:rPr>
              <a:t>v</a:t>
            </a:r>
            <a:r>
              <a:rPr lang="zh-CN" altLang="en-US" sz="2400" dirty="0">
                <a:latin typeface="+mj-lt"/>
                <a:ea typeface="黑体" pitchFamily="2" charset="-122"/>
              </a:rPr>
              <a:t>的流</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2587575772"/>
              </p:ext>
            </p:extLst>
          </p:nvPr>
        </p:nvGraphicFramePr>
        <p:xfrm>
          <a:off x="5607678" y="3450266"/>
          <a:ext cx="1728788" cy="533400"/>
        </p:xfrm>
        <a:graphic>
          <a:graphicData uri="http://schemas.openxmlformats.org/presentationml/2006/ole">
            <mc:AlternateContent xmlns:mc="http://schemas.openxmlformats.org/markup-compatibility/2006">
              <mc:Choice xmlns:v="urn:schemas-microsoft-com:vml" Requires="v">
                <p:oleObj name="公式" r:id="rId3" imgW="876300" imgH="342900" progId="">
                  <p:embed/>
                </p:oleObj>
              </mc:Choice>
              <mc:Fallback>
                <p:oleObj name="公式" r:id="rId3" imgW="876300" imgH="342900" progId="">
                  <p:embed/>
                  <p:pic>
                    <p:nvPicPr>
                      <p:cNvPr id="0" name="Picture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7678" y="3450266"/>
                        <a:ext cx="1728788"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2"/>
          <p:cNvGrpSpPr>
            <a:grpSpLocks/>
          </p:cNvGrpSpPr>
          <p:nvPr/>
        </p:nvGrpSpPr>
        <p:grpSpPr bwMode="auto">
          <a:xfrm>
            <a:off x="3984625" y="4002087"/>
            <a:ext cx="4625975" cy="2855913"/>
            <a:chOff x="874" y="1033"/>
            <a:chExt cx="3648" cy="2496"/>
          </a:xfrm>
        </p:grpSpPr>
        <p:sp>
          <p:nvSpPr>
            <p:cNvPr id="7" name="Oval 3"/>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Oval 4"/>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9" name="Oval 5"/>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0" name="Oval 6"/>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1" name="Oval 7"/>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2" name="Oval 8"/>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3" name="Line 9"/>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0"/>
            <p:cNvSpPr>
              <a:spLocks noChangeShapeType="1"/>
            </p:cNvSpPr>
            <p:nvPr/>
          </p:nvSpPr>
          <p:spPr bwMode="auto">
            <a:xfrm>
              <a:off x="1210" y="2281"/>
              <a:ext cx="672" cy="0"/>
            </a:xfrm>
            <a:prstGeom prst="line">
              <a:avLst/>
            </a:prstGeom>
            <a:noFill/>
            <a:ln w="444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1"/>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2"/>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3"/>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4"/>
            <p:cNvSpPr>
              <a:spLocks noChangeShapeType="1"/>
            </p:cNvSpPr>
            <p:nvPr/>
          </p:nvSpPr>
          <p:spPr bwMode="auto">
            <a:xfrm>
              <a:off x="3370" y="2281"/>
              <a:ext cx="816" cy="0"/>
            </a:xfrm>
            <a:prstGeom prst="line">
              <a:avLst/>
            </a:prstGeom>
            <a:noFill/>
            <a:ln w="444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5"/>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Text Box 16"/>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21" name="Text Box 17"/>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22" name="Text Box 18"/>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23" name="Text Box 19"/>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4</a:t>
              </a:r>
            </a:p>
          </p:txBody>
        </p:sp>
        <p:sp>
          <p:nvSpPr>
            <p:cNvPr id="24" name="Text Box 20"/>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25" name="Text Box 21"/>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26" name="Text Box 22"/>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7" name="Text Box 23"/>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8" name="Text Box 24"/>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29" name="Text Box 25"/>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30" name="Text Box 26"/>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31" name="Text Box 27"/>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32" name="Text Box 28"/>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Tree>
    <p:extLst>
      <p:ext uri="{BB962C8B-B14F-4D97-AF65-F5344CB8AC3E}">
        <p14:creationId xmlns:p14="http://schemas.microsoft.com/office/powerpoint/2010/main" val="37443034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itchFamily="2" charset="-122"/>
              </a:rPr>
              <a:t>流的三个性质：</a:t>
            </a:r>
            <a:endParaRPr lang="en-US" altLang="zh-CN" sz="2400" dirty="0">
              <a:latin typeface="+mj-lt"/>
              <a:ea typeface="黑体" pitchFamily="2" charset="-122"/>
            </a:endParaRPr>
          </a:p>
          <a:p>
            <a:pPr lvl="1"/>
            <a:r>
              <a:rPr lang="zh-CN" altLang="en-US" sz="2000" dirty="0">
                <a:latin typeface="黑体" pitchFamily="2" charset="-122"/>
                <a:ea typeface="黑体" pitchFamily="2" charset="-122"/>
              </a:rPr>
              <a:t>容量限制说明从一个顶点到另一个顶点的网络流不能超过设定的容量</a:t>
            </a:r>
            <a:endParaRPr lang="en-US" altLang="zh-CN" sz="2000" dirty="0">
              <a:latin typeface="黑体" pitchFamily="2" charset="-122"/>
              <a:ea typeface="黑体" pitchFamily="2" charset="-122"/>
            </a:endParaRPr>
          </a:p>
          <a:p>
            <a:pPr lvl="1"/>
            <a:r>
              <a:rPr lang="zh-CN" altLang="en-US" sz="2000" dirty="0">
                <a:latin typeface="黑体" pitchFamily="2" charset="-122"/>
                <a:ea typeface="黑体" pitchFamily="2" charset="-122"/>
              </a:rPr>
              <a:t>反对称性说明从顶点</a:t>
            </a:r>
            <a:r>
              <a:rPr lang="en-US" altLang="zh-CN" sz="2000" dirty="0">
                <a:latin typeface="黑体" pitchFamily="2" charset="-122"/>
                <a:ea typeface="黑体" pitchFamily="2" charset="-122"/>
              </a:rPr>
              <a:t>u</a:t>
            </a:r>
            <a:r>
              <a:rPr lang="zh-CN" altLang="en-US" sz="2000" dirty="0">
                <a:latin typeface="黑体" pitchFamily="2" charset="-122"/>
                <a:ea typeface="黑体" pitchFamily="2" charset="-122"/>
              </a:rPr>
              <a:t>到顶点</a:t>
            </a:r>
            <a:r>
              <a:rPr lang="en-US" altLang="zh-CN" sz="2000" dirty="0">
                <a:latin typeface="黑体" pitchFamily="2" charset="-122"/>
                <a:ea typeface="黑体" pitchFamily="2" charset="-122"/>
              </a:rPr>
              <a:t>v</a:t>
            </a:r>
            <a:r>
              <a:rPr lang="zh-CN" altLang="en-US" sz="2000" dirty="0">
                <a:latin typeface="黑体" pitchFamily="2" charset="-122"/>
                <a:ea typeface="黑体" pitchFamily="2" charset="-122"/>
              </a:rPr>
              <a:t>的流是其反向流的取负</a:t>
            </a:r>
            <a:endParaRPr lang="en-US" altLang="zh-CN" sz="2000" dirty="0">
              <a:latin typeface="黑体" pitchFamily="2" charset="-122"/>
              <a:ea typeface="黑体" pitchFamily="2" charset="-122"/>
            </a:endParaRPr>
          </a:p>
          <a:p>
            <a:pPr lvl="1"/>
            <a:r>
              <a:rPr lang="zh-CN" altLang="en-US" sz="2000" dirty="0">
                <a:latin typeface="黑体" pitchFamily="2" charset="-122"/>
                <a:ea typeface="黑体" pitchFamily="2" charset="-122"/>
              </a:rPr>
              <a:t>流守恒性说明从非源点或非汇点的顶点出发的总网络流为</a:t>
            </a:r>
            <a:r>
              <a:rPr lang="en-US" altLang="zh-CN" sz="2000" dirty="0">
                <a:latin typeface="黑体" pitchFamily="2" charset="-122"/>
                <a:ea typeface="黑体" pitchFamily="2" charset="-122"/>
              </a:rPr>
              <a:t>0</a:t>
            </a:r>
          </a:p>
          <a:p>
            <a:endParaRPr lang="en-US" altLang="zh-CN" sz="2400" dirty="0">
              <a:latin typeface="+mj-lt"/>
              <a:ea typeface="黑体" pitchFamily="2" charset="-122"/>
            </a:endParaRPr>
          </a:p>
          <a:p>
            <a:r>
              <a:rPr lang="zh-CN" altLang="en-US" sz="2400" dirty="0">
                <a:latin typeface="黑体" pitchFamily="2" charset="-122"/>
                <a:ea typeface="黑体" pitchFamily="2" charset="-122"/>
              </a:rPr>
              <a:t>对任意点（除了源点和汇点）：</a:t>
            </a:r>
            <a:endParaRPr lang="en-US" altLang="zh-CN" sz="2400" dirty="0">
              <a:latin typeface="黑体" pitchFamily="2" charset="-122"/>
              <a:ea typeface="黑体" pitchFamily="2" charset="-122"/>
            </a:endParaRPr>
          </a:p>
          <a:p>
            <a:endParaRPr lang="en-US" altLang="zh-CN" sz="2400" dirty="0">
              <a:latin typeface="黑体" pitchFamily="2" charset="-122"/>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pPr marL="0" indent="0">
              <a:buNone/>
            </a:pPr>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3141129715"/>
              </p:ext>
            </p:extLst>
          </p:nvPr>
        </p:nvGraphicFramePr>
        <p:xfrm>
          <a:off x="2057400" y="4238635"/>
          <a:ext cx="1728787" cy="719137"/>
        </p:xfrm>
        <a:graphic>
          <a:graphicData uri="http://schemas.openxmlformats.org/presentationml/2006/ole">
            <mc:AlternateContent xmlns:mc="http://schemas.openxmlformats.org/markup-compatibility/2006">
              <mc:Choice xmlns:v="urn:schemas-microsoft-com:vml" Requires="v">
                <p:oleObj name="公式" r:id="rId3" imgW="876300" imgH="342900" progId="">
                  <p:embed/>
                </p:oleObj>
              </mc:Choice>
              <mc:Fallback>
                <p:oleObj name="公式" r:id="rId3" imgW="876300" imgH="342900" progId="">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238635"/>
                        <a:ext cx="1728787" cy="71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2"/>
          <p:cNvGrpSpPr>
            <a:grpSpLocks/>
          </p:cNvGrpSpPr>
          <p:nvPr/>
        </p:nvGrpSpPr>
        <p:grpSpPr bwMode="auto">
          <a:xfrm>
            <a:off x="4105444" y="3953646"/>
            <a:ext cx="4625975" cy="2855913"/>
            <a:chOff x="874" y="1033"/>
            <a:chExt cx="3648" cy="2496"/>
          </a:xfrm>
        </p:grpSpPr>
        <p:sp>
          <p:nvSpPr>
            <p:cNvPr id="7" name="Oval 3"/>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Oval 4"/>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9" name="Oval 5"/>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0" name="Oval 6"/>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1" name="Oval 7"/>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2" name="Oval 8"/>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3" name="Line 9"/>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0"/>
            <p:cNvSpPr>
              <a:spLocks noChangeShapeType="1"/>
            </p:cNvSpPr>
            <p:nvPr/>
          </p:nvSpPr>
          <p:spPr bwMode="auto">
            <a:xfrm>
              <a:off x="1210" y="2281"/>
              <a:ext cx="67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5" name="Line 11"/>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2"/>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3"/>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4"/>
            <p:cNvSpPr>
              <a:spLocks noChangeShapeType="1"/>
            </p:cNvSpPr>
            <p:nvPr/>
          </p:nvSpPr>
          <p:spPr bwMode="auto">
            <a:xfrm>
              <a:off x="3370"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5"/>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Text Box 16"/>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21" name="Text Box 17"/>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22" name="Text Box 18"/>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23" name="Text Box 19"/>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24" name="Text Box 20"/>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25" name="Text Box 21"/>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26" name="Text Box 22"/>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7" name="Text Box 23"/>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8" name="Text Box 24"/>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29" name="Text Box 25"/>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30" name="Text Box 26"/>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31" name="Text Box 27"/>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32" name="Text Box 28"/>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Tree>
    <p:extLst>
      <p:ext uri="{BB962C8B-B14F-4D97-AF65-F5344CB8AC3E}">
        <p14:creationId xmlns:p14="http://schemas.microsoft.com/office/powerpoint/2010/main" val="23345400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i="1" dirty="0">
                <a:solidFill>
                  <a:srgbClr val="C00000"/>
                </a:solidFill>
                <a:latin typeface="黑体" pitchFamily="2" charset="-122"/>
                <a:ea typeface="黑体" pitchFamily="2" charset="-122"/>
              </a:rPr>
              <a:t>正网络流</a:t>
            </a:r>
            <a:r>
              <a:rPr lang="zh-CN" altLang="en-US" sz="2400" dirty="0">
                <a:latin typeface="黑体" pitchFamily="2" charset="-122"/>
                <a:ea typeface="黑体" pitchFamily="2" charset="-122"/>
              </a:rPr>
              <a:t>：</a:t>
            </a:r>
            <a:endParaRPr lang="en-US" altLang="zh-CN" sz="2400" dirty="0">
              <a:latin typeface="黑体" pitchFamily="2" charset="-122"/>
              <a:ea typeface="黑体" pitchFamily="2" charset="-122"/>
            </a:endParaRPr>
          </a:p>
          <a:p>
            <a:pPr lvl="1"/>
            <a:r>
              <a:rPr lang="zh-CN" altLang="en-US" dirty="0">
                <a:latin typeface="黑体" pitchFamily="2" charset="-122"/>
                <a:ea typeface="黑体" pitchFamily="2" charset="-122"/>
              </a:rPr>
              <a:t>进入一个顶点</a:t>
            </a:r>
            <a:r>
              <a:rPr lang="en-US" altLang="zh-CN" dirty="0">
                <a:latin typeface="黑体" pitchFamily="2" charset="-122"/>
                <a:ea typeface="黑体" pitchFamily="2" charset="-122"/>
              </a:rPr>
              <a:t>v</a:t>
            </a:r>
            <a:r>
              <a:rPr lang="zh-CN" altLang="en-US" dirty="0">
                <a:latin typeface="黑体" pitchFamily="2" charset="-122"/>
                <a:ea typeface="黑体" pitchFamily="2" charset="-122"/>
              </a:rPr>
              <a:t>的总的正网络流定义为：</a:t>
            </a:r>
            <a:endParaRPr lang="en-US" altLang="zh-CN" dirty="0">
              <a:latin typeface="黑体" pitchFamily="2" charset="-122"/>
              <a:ea typeface="黑体" pitchFamily="2" charset="-122"/>
            </a:endParaRPr>
          </a:p>
          <a:p>
            <a:pPr lvl="1"/>
            <a:endParaRPr lang="en-US" altLang="zh-CN" dirty="0">
              <a:latin typeface="黑体" pitchFamily="2" charset="-122"/>
              <a:ea typeface="黑体" pitchFamily="2" charset="-122"/>
            </a:endParaRPr>
          </a:p>
          <a:p>
            <a:pPr lvl="1"/>
            <a:endParaRPr lang="en-US" altLang="zh-CN" dirty="0">
              <a:latin typeface="黑体" pitchFamily="2" charset="-122"/>
              <a:ea typeface="黑体" pitchFamily="2" charset="-122"/>
            </a:endParaRPr>
          </a:p>
          <a:p>
            <a:pPr lvl="1"/>
            <a:r>
              <a:rPr lang="zh-CN" altLang="en-US" dirty="0">
                <a:latin typeface="黑体" pitchFamily="2" charset="-122"/>
                <a:ea typeface="黑体" pitchFamily="2" charset="-122"/>
              </a:rPr>
              <a:t>离开顶点</a:t>
            </a:r>
            <a:r>
              <a:rPr lang="en-US" altLang="zh-CN" dirty="0">
                <a:latin typeface="黑体" pitchFamily="2" charset="-122"/>
                <a:ea typeface="黑体" pitchFamily="2" charset="-122"/>
              </a:rPr>
              <a:t>v</a:t>
            </a:r>
            <a:r>
              <a:rPr lang="zh-CN" altLang="en-US" dirty="0">
                <a:latin typeface="黑体" pitchFamily="2" charset="-122"/>
                <a:ea typeface="黑体" pitchFamily="2" charset="-122"/>
              </a:rPr>
              <a:t>的网络流定义为</a:t>
            </a:r>
            <a:r>
              <a:rPr lang="en-US" altLang="zh-CN" dirty="0">
                <a:latin typeface="黑体" pitchFamily="2" charset="-122"/>
                <a:ea typeface="黑体" pitchFamily="2" charset="-122"/>
              </a:rPr>
              <a:t>:</a:t>
            </a:r>
          </a:p>
          <a:p>
            <a:endParaRPr lang="en-US" altLang="zh-CN" dirty="0">
              <a:latin typeface="黑体" pitchFamily="2" charset="-122"/>
              <a:ea typeface="黑体" pitchFamily="2" charset="-122"/>
            </a:endParaRPr>
          </a:p>
          <a:p>
            <a:endParaRPr lang="en-US" altLang="zh-CN" sz="2400" dirty="0">
              <a:latin typeface="+mj-lt"/>
              <a:ea typeface="黑体" pitchFamily="2" charset="-122"/>
            </a:endParaRPr>
          </a:p>
          <a:p>
            <a:r>
              <a:rPr lang="zh-CN" altLang="en-US" sz="2400" dirty="0">
                <a:ea typeface="黑体" pitchFamily="2" charset="-122"/>
              </a:rPr>
              <a:t>定义某个顶点处的总的净流为离开该顶点的总的正流量减去进入该顶点的总的正流量。</a:t>
            </a:r>
            <a:endParaRPr lang="en-US" altLang="zh-CN" sz="2400" dirty="0">
              <a:ea typeface="黑体" pitchFamily="2" charset="-122"/>
            </a:endParaRPr>
          </a:p>
          <a:p>
            <a:r>
              <a:rPr lang="zh-CN" altLang="en-US" sz="2400" dirty="0">
                <a:ea typeface="黑体" pitchFamily="2" charset="-122"/>
              </a:rPr>
              <a:t>根据</a:t>
            </a:r>
            <a:r>
              <a:rPr lang="zh-CN" altLang="en-US" sz="2400" i="1" dirty="0">
                <a:solidFill>
                  <a:srgbClr val="C00000"/>
                </a:solidFill>
                <a:ea typeface="黑体" pitchFamily="2" charset="-122"/>
              </a:rPr>
              <a:t>流守恒性</a:t>
            </a:r>
            <a:r>
              <a:rPr lang="zh-CN" altLang="en-US" sz="2400" dirty="0">
                <a:ea typeface="黑体" pitchFamily="2" charset="-122"/>
              </a:rPr>
              <a:t>，进入某个非源点非汇点顶点的正网络流必须等于离开该是顶点的正网络流</a:t>
            </a:r>
            <a:endParaRPr lang="en-US" altLang="zh-CN" sz="2400" dirty="0">
              <a:ea typeface="黑体" pitchFamily="2" charset="-122"/>
            </a:endParaRPr>
          </a:p>
          <a:p>
            <a:endParaRPr lang="en-US" altLang="zh-CN" sz="2400" dirty="0">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2684238151"/>
              </p:ext>
            </p:extLst>
          </p:nvPr>
        </p:nvGraphicFramePr>
        <p:xfrm>
          <a:off x="3200400" y="2286000"/>
          <a:ext cx="1776412" cy="779462"/>
        </p:xfrm>
        <a:graphic>
          <a:graphicData uri="http://schemas.openxmlformats.org/presentationml/2006/ole">
            <mc:AlternateContent xmlns:mc="http://schemas.openxmlformats.org/markup-compatibility/2006">
              <mc:Choice xmlns:v="urn:schemas-microsoft-com:vml" Requires="v">
                <p:oleObj name="公式" r:id="rId3" imgW="749300" imgH="457200" progId="">
                  <p:embed/>
                </p:oleObj>
              </mc:Choice>
              <mc:Fallback>
                <p:oleObj name="公式" r:id="rId3" imgW="749300" imgH="457200" progId="">
                  <p:embed/>
                  <p:pic>
                    <p:nvPicPr>
                      <p:cNvPr id="0" name="Picture 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286000"/>
                        <a:ext cx="1776412" cy="779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116391586"/>
              </p:ext>
            </p:extLst>
          </p:nvPr>
        </p:nvGraphicFramePr>
        <p:xfrm>
          <a:off x="3346450" y="3670300"/>
          <a:ext cx="1546225" cy="871538"/>
        </p:xfrm>
        <a:graphic>
          <a:graphicData uri="http://schemas.openxmlformats.org/presentationml/2006/ole">
            <mc:AlternateContent xmlns:mc="http://schemas.openxmlformats.org/markup-compatibility/2006">
              <mc:Choice xmlns:v="urn:schemas-microsoft-com:vml" Requires="v">
                <p:oleObj name="Equation" r:id="rId5" imgW="838080" imgH="444240" progId="Equation.DSMT4">
                  <p:embed/>
                </p:oleObj>
              </mc:Choice>
              <mc:Fallback>
                <p:oleObj name="Equation" r:id="rId5" imgW="838080" imgH="444240" progId="Equation.DSMT4">
                  <p:embed/>
                  <p:pic>
                    <p:nvPicPr>
                      <p:cNvPr id="0" name="Picture 7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6450" y="3670300"/>
                        <a:ext cx="1546225" cy="871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503463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itchFamily="2" charset="-122"/>
              </a:rPr>
              <a:t>如果</a:t>
            </a:r>
            <a:r>
              <a:rPr lang="en-US" altLang="zh-CN" sz="2400" i="1" dirty="0">
                <a:latin typeface="+mj-lt"/>
                <a:ea typeface="黑体" pitchFamily="2" charset="-122"/>
              </a:rPr>
              <a:t>X</a:t>
            </a:r>
            <a:r>
              <a:rPr lang="zh-CN" altLang="en-US" sz="2400" dirty="0">
                <a:latin typeface="+mj-lt"/>
                <a:ea typeface="黑体" pitchFamily="2" charset="-122"/>
              </a:rPr>
              <a:t>和</a:t>
            </a:r>
            <a:r>
              <a:rPr lang="en-US" altLang="zh-CN" sz="2400" i="1" dirty="0">
                <a:latin typeface="+mj-lt"/>
                <a:ea typeface="黑体" pitchFamily="2" charset="-122"/>
              </a:rPr>
              <a:t>Y</a:t>
            </a:r>
            <a:r>
              <a:rPr lang="zh-CN" altLang="en-US" sz="2400" dirty="0">
                <a:latin typeface="+mj-lt"/>
                <a:ea typeface="黑体" pitchFamily="2" charset="-122"/>
              </a:rPr>
              <a:t>是顶点的集合</a:t>
            </a:r>
            <a:r>
              <a:rPr lang="zh-CN" altLang="en-US" sz="2400" dirty="0">
                <a:latin typeface="黑体" pitchFamily="2" charset="-122"/>
                <a:ea typeface="黑体" pitchFamily="2" charset="-122"/>
              </a:rPr>
              <a:t>，</a:t>
            </a:r>
            <a:r>
              <a:rPr lang="zh-CN" altLang="en-US" sz="2400" dirty="0">
                <a:latin typeface="+mj-lt"/>
                <a:ea typeface="黑体" pitchFamily="2" charset="-122"/>
              </a:rPr>
              <a:t>则</a:t>
            </a:r>
            <a:endParaRPr lang="en-US" altLang="zh-CN" sz="2400" dirty="0">
              <a:latin typeface="+mj-lt"/>
              <a:ea typeface="黑体" pitchFamily="2" charset="-122"/>
            </a:endParaRPr>
          </a:p>
          <a:p>
            <a:endParaRPr lang="en-US" altLang="zh-CN" sz="2400" dirty="0">
              <a:latin typeface="黑体" pitchFamily="2" charset="-122"/>
              <a:ea typeface="黑体" pitchFamily="2" charset="-122"/>
            </a:endParaRPr>
          </a:p>
          <a:p>
            <a:r>
              <a:rPr lang="zh-CN" altLang="en-US" sz="2400" dirty="0">
                <a:latin typeface="+mj-lt"/>
                <a:ea typeface="黑体" pitchFamily="2" charset="-122"/>
              </a:rPr>
              <a:t>将流守恒性表示为对所有 </a:t>
            </a:r>
            <a:r>
              <a:rPr lang="en-US" altLang="zh-CN" sz="2400" i="1" dirty="0">
                <a:latin typeface="+mj-lt"/>
                <a:ea typeface="黑体" pitchFamily="2" charset="-122"/>
              </a:rPr>
              <a:t>u ∈ V - {</a:t>
            </a:r>
            <a:r>
              <a:rPr lang="en-US" altLang="zh-CN" sz="2400" i="1" dirty="0" err="1">
                <a:latin typeface="+mj-lt"/>
                <a:ea typeface="黑体" pitchFamily="2" charset="-122"/>
              </a:rPr>
              <a:t>s,t</a:t>
            </a:r>
            <a:r>
              <a:rPr lang="en-US" altLang="zh-CN" sz="2400" i="1" dirty="0">
                <a:latin typeface="+mj-lt"/>
                <a:ea typeface="黑体" pitchFamily="2" charset="-122"/>
              </a:rPr>
              <a:t>}</a:t>
            </a:r>
            <a:r>
              <a:rPr lang="en-US" altLang="zh-CN" sz="2400" dirty="0">
                <a:latin typeface="+mj-lt"/>
                <a:ea typeface="黑体" pitchFamily="2" charset="-122"/>
              </a:rPr>
              <a:t>,</a:t>
            </a:r>
            <a:r>
              <a:rPr lang="zh-CN" altLang="en-US" sz="2400" dirty="0">
                <a:latin typeface="+mj-lt"/>
                <a:ea typeface="黑体" pitchFamily="2" charset="-122"/>
              </a:rPr>
              <a:t>有 </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 = 0</a:t>
            </a:r>
          </a:p>
          <a:p>
            <a:r>
              <a:rPr lang="zh-CN" altLang="en-US" sz="2400" dirty="0">
                <a:latin typeface="+mj-lt"/>
                <a:ea typeface="黑体" pitchFamily="2" charset="-122"/>
              </a:rPr>
              <a:t>为方便起见，</a:t>
            </a:r>
            <a:r>
              <a:rPr lang="en-US" altLang="zh-CN" sz="2400" i="1" dirty="0">
                <a:latin typeface="+mj-lt"/>
                <a:ea typeface="黑体" pitchFamily="2" charset="-122"/>
              </a:rPr>
              <a:t>f(</a:t>
            </a:r>
            <a:r>
              <a:rPr lang="en-US" altLang="zh-CN" sz="2400" i="1" dirty="0" err="1">
                <a:latin typeface="+mj-lt"/>
                <a:ea typeface="黑体" pitchFamily="2" charset="-122"/>
              </a:rPr>
              <a:t>s,V</a:t>
            </a:r>
            <a:r>
              <a:rPr lang="en-US" altLang="zh-CN" sz="2400" i="1" dirty="0">
                <a:latin typeface="+mj-lt"/>
                <a:ea typeface="黑体" pitchFamily="2" charset="-122"/>
              </a:rPr>
              <a:t>-s) = f(</a:t>
            </a:r>
            <a:r>
              <a:rPr lang="en-US" altLang="zh-CN" sz="2400" i="1" dirty="0" err="1">
                <a:latin typeface="+mj-lt"/>
                <a:ea typeface="黑体" pitchFamily="2" charset="-122"/>
              </a:rPr>
              <a:t>s,V</a:t>
            </a:r>
            <a:r>
              <a:rPr lang="en-US" altLang="zh-CN" sz="2400" i="1" dirty="0">
                <a:latin typeface="+mj-lt"/>
                <a:ea typeface="黑体" pitchFamily="2" charset="-122"/>
              </a:rPr>
              <a:t>)</a:t>
            </a:r>
            <a:r>
              <a:rPr lang="zh-CN" altLang="en-US" sz="2400" dirty="0">
                <a:latin typeface="+mj-lt"/>
                <a:ea typeface="黑体" pitchFamily="2" charset="-122"/>
              </a:rPr>
              <a:t>，其中</a:t>
            </a:r>
            <a:r>
              <a:rPr lang="en-US" altLang="zh-CN" sz="2400" i="1" dirty="0">
                <a:latin typeface="+mj-lt"/>
                <a:ea typeface="黑体" pitchFamily="2" charset="-122"/>
              </a:rPr>
              <a:t>V - s</a:t>
            </a:r>
            <a:r>
              <a:rPr lang="zh-CN" altLang="en-US" sz="2400" dirty="0">
                <a:latin typeface="+mj-lt"/>
                <a:ea typeface="黑体" pitchFamily="2" charset="-122"/>
              </a:rPr>
              <a:t>就是指集合</a:t>
            </a:r>
            <a:endParaRPr lang="en-US" altLang="zh-CN" sz="2400" dirty="0">
              <a:latin typeface="+mj-lt"/>
              <a:ea typeface="黑体" pitchFamily="2" charset="-122"/>
            </a:endParaRPr>
          </a:p>
          <a:p>
            <a:pPr marL="0" indent="0">
              <a:buNone/>
            </a:pPr>
            <a:r>
              <a:rPr lang="en-US" altLang="zh-CN" sz="2400" i="1" dirty="0">
                <a:latin typeface="+mj-lt"/>
                <a:ea typeface="黑体" pitchFamily="2" charset="-122"/>
              </a:rPr>
              <a:t>    V-{s}</a:t>
            </a:r>
            <a:r>
              <a:rPr lang="en-US" altLang="zh-CN" sz="2400" dirty="0">
                <a:latin typeface="+mj-lt"/>
                <a:ea typeface="黑体" pitchFamily="2" charset="-122"/>
              </a:rPr>
              <a:t>.</a:t>
            </a:r>
          </a:p>
          <a:p>
            <a:endParaRPr lang="en-US" altLang="zh-CN" sz="2400" dirty="0">
              <a:latin typeface="黑体" pitchFamily="2" charset="-122"/>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622212390"/>
              </p:ext>
            </p:extLst>
          </p:nvPr>
        </p:nvGraphicFramePr>
        <p:xfrm>
          <a:off x="4953000" y="1371600"/>
          <a:ext cx="3338513" cy="754062"/>
        </p:xfrm>
        <a:graphic>
          <a:graphicData uri="http://schemas.openxmlformats.org/presentationml/2006/ole">
            <mc:AlternateContent xmlns:mc="http://schemas.openxmlformats.org/markup-compatibility/2006">
              <mc:Choice xmlns:v="urn:schemas-microsoft-com:vml" Requires="v">
                <p:oleObj name="公式" r:id="rId3" imgW="1574117" imgH="355446" progId="">
                  <p:embed/>
                </p:oleObj>
              </mc:Choice>
              <mc:Fallback>
                <p:oleObj name="公式" r:id="rId3" imgW="1574117" imgH="355446" progId="">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371600"/>
                        <a:ext cx="3338513" cy="754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圆角矩形标注 31"/>
          <p:cNvSpPr/>
          <p:nvPr/>
        </p:nvSpPr>
        <p:spPr bwMode="auto">
          <a:xfrm>
            <a:off x="3352800" y="3429000"/>
            <a:ext cx="990600" cy="533400"/>
          </a:xfrm>
          <a:prstGeom prst="wedgeRoundRectCallout">
            <a:avLst>
              <a:gd name="adj1" fmla="val 32898"/>
              <a:gd name="adj2" fmla="val -93577"/>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rPr>
              <a:t>非零</a:t>
            </a:r>
          </a:p>
        </p:txBody>
      </p:sp>
      <p:grpSp>
        <p:nvGrpSpPr>
          <p:cNvPr id="33" name="Group 2">
            <a:extLst>
              <a:ext uri="{FF2B5EF4-FFF2-40B4-BE49-F238E27FC236}">
                <a16:creationId xmlns:a16="http://schemas.microsoft.com/office/drawing/2014/main" id="{F120D7AB-853E-4C64-AADB-1EC6942D28CB}"/>
              </a:ext>
            </a:extLst>
          </p:cNvPr>
          <p:cNvGrpSpPr>
            <a:grpSpLocks/>
          </p:cNvGrpSpPr>
          <p:nvPr/>
        </p:nvGrpSpPr>
        <p:grpSpPr bwMode="auto">
          <a:xfrm>
            <a:off x="4105444" y="3953646"/>
            <a:ext cx="4625975" cy="2855913"/>
            <a:chOff x="874" y="1033"/>
            <a:chExt cx="3648" cy="2496"/>
          </a:xfrm>
        </p:grpSpPr>
        <p:sp>
          <p:nvSpPr>
            <p:cNvPr id="34" name="Oval 3">
              <a:extLst>
                <a:ext uri="{FF2B5EF4-FFF2-40B4-BE49-F238E27FC236}">
                  <a16:creationId xmlns:a16="http://schemas.microsoft.com/office/drawing/2014/main" id="{2CCBD794-C7EE-4595-8256-A0DDE404C878}"/>
                </a:ext>
              </a:extLst>
            </p:cNvPr>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5" name="Oval 4">
              <a:extLst>
                <a:ext uri="{FF2B5EF4-FFF2-40B4-BE49-F238E27FC236}">
                  <a16:creationId xmlns:a16="http://schemas.microsoft.com/office/drawing/2014/main" id="{7AD5D3A4-3023-4E87-81EC-245FABB57414}"/>
                </a:ext>
              </a:extLst>
            </p:cNvPr>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6" name="Oval 5">
              <a:extLst>
                <a:ext uri="{FF2B5EF4-FFF2-40B4-BE49-F238E27FC236}">
                  <a16:creationId xmlns:a16="http://schemas.microsoft.com/office/drawing/2014/main" id="{40AAEA05-91EC-4F73-A33B-EAC50BF1AD3A}"/>
                </a:ext>
              </a:extLst>
            </p:cNvPr>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7" name="Oval 6">
              <a:extLst>
                <a:ext uri="{FF2B5EF4-FFF2-40B4-BE49-F238E27FC236}">
                  <a16:creationId xmlns:a16="http://schemas.microsoft.com/office/drawing/2014/main" id="{76F4E4CC-4BC5-4043-ADC9-ED2421E2D243}"/>
                </a:ext>
              </a:extLst>
            </p:cNvPr>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8" name="Oval 7">
              <a:extLst>
                <a:ext uri="{FF2B5EF4-FFF2-40B4-BE49-F238E27FC236}">
                  <a16:creationId xmlns:a16="http://schemas.microsoft.com/office/drawing/2014/main" id="{32B7504B-B443-4D89-B8D9-1A11D84DC0FE}"/>
                </a:ext>
              </a:extLst>
            </p:cNvPr>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9" name="Oval 8">
              <a:extLst>
                <a:ext uri="{FF2B5EF4-FFF2-40B4-BE49-F238E27FC236}">
                  <a16:creationId xmlns:a16="http://schemas.microsoft.com/office/drawing/2014/main" id="{E7E4AA08-72ED-4E1D-AEFA-6DD3266B2531}"/>
                </a:ext>
              </a:extLst>
            </p:cNvPr>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40" name="Line 9">
              <a:extLst>
                <a:ext uri="{FF2B5EF4-FFF2-40B4-BE49-F238E27FC236}">
                  <a16:creationId xmlns:a16="http://schemas.microsoft.com/office/drawing/2014/main" id="{E389A677-F22F-4AC8-9F44-95832D6CCD63}"/>
                </a:ext>
              </a:extLst>
            </p:cNvPr>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10">
              <a:extLst>
                <a:ext uri="{FF2B5EF4-FFF2-40B4-BE49-F238E27FC236}">
                  <a16:creationId xmlns:a16="http://schemas.microsoft.com/office/drawing/2014/main" id="{E1E1F6BC-1F4C-4C6E-B809-899526790C9A}"/>
                </a:ext>
              </a:extLst>
            </p:cNvPr>
            <p:cNvSpPr>
              <a:spLocks noChangeShapeType="1"/>
            </p:cNvSpPr>
            <p:nvPr/>
          </p:nvSpPr>
          <p:spPr bwMode="auto">
            <a:xfrm>
              <a:off x="1210" y="2281"/>
              <a:ext cx="67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42" name="Line 11">
              <a:extLst>
                <a:ext uri="{FF2B5EF4-FFF2-40B4-BE49-F238E27FC236}">
                  <a16:creationId xmlns:a16="http://schemas.microsoft.com/office/drawing/2014/main" id="{9746E991-E43E-4515-910B-50945D64ADE3}"/>
                </a:ext>
              </a:extLst>
            </p:cNvPr>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12">
              <a:extLst>
                <a:ext uri="{FF2B5EF4-FFF2-40B4-BE49-F238E27FC236}">
                  <a16:creationId xmlns:a16="http://schemas.microsoft.com/office/drawing/2014/main" id="{D052E23E-CDBD-4335-9A9A-31FA762F2BBC}"/>
                </a:ext>
              </a:extLst>
            </p:cNvPr>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3">
              <a:extLst>
                <a:ext uri="{FF2B5EF4-FFF2-40B4-BE49-F238E27FC236}">
                  <a16:creationId xmlns:a16="http://schemas.microsoft.com/office/drawing/2014/main" id="{57D0CAF5-3C7A-4A16-8363-31CDD462D42A}"/>
                </a:ext>
              </a:extLst>
            </p:cNvPr>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4">
              <a:extLst>
                <a:ext uri="{FF2B5EF4-FFF2-40B4-BE49-F238E27FC236}">
                  <a16:creationId xmlns:a16="http://schemas.microsoft.com/office/drawing/2014/main" id="{D9CAF796-1C3E-4218-88CE-DE24C23EC093}"/>
                </a:ext>
              </a:extLst>
            </p:cNvPr>
            <p:cNvSpPr>
              <a:spLocks noChangeShapeType="1"/>
            </p:cNvSpPr>
            <p:nvPr/>
          </p:nvSpPr>
          <p:spPr bwMode="auto">
            <a:xfrm>
              <a:off x="3370"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5">
              <a:extLst>
                <a:ext uri="{FF2B5EF4-FFF2-40B4-BE49-F238E27FC236}">
                  <a16:creationId xmlns:a16="http://schemas.microsoft.com/office/drawing/2014/main" id="{0A097907-747D-43CA-A585-A0985B73F1E8}"/>
                </a:ext>
              </a:extLst>
            </p:cNvPr>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Text Box 16">
              <a:extLst>
                <a:ext uri="{FF2B5EF4-FFF2-40B4-BE49-F238E27FC236}">
                  <a16:creationId xmlns:a16="http://schemas.microsoft.com/office/drawing/2014/main" id="{3B831BF7-4D40-410A-9C4A-D28F174625BD}"/>
                </a:ext>
              </a:extLst>
            </p:cNvPr>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48" name="Text Box 17">
              <a:extLst>
                <a:ext uri="{FF2B5EF4-FFF2-40B4-BE49-F238E27FC236}">
                  <a16:creationId xmlns:a16="http://schemas.microsoft.com/office/drawing/2014/main" id="{4772E4F7-EF27-4155-9147-FDABADB10821}"/>
                </a:ext>
              </a:extLst>
            </p:cNvPr>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49" name="Text Box 18">
              <a:extLst>
                <a:ext uri="{FF2B5EF4-FFF2-40B4-BE49-F238E27FC236}">
                  <a16:creationId xmlns:a16="http://schemas.microsoft.com/office/drawing/2014/main" id="{249D22E4-5B25-4FAA-A7B3-FD19A94BC0F3}"/>
                </a:ext>
              </a:extLst>
            </p:cNvPr>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50" name="Text Box 19">
              <a:extLst>
                <a:ext uri="{FF2B5EF4-FFF2-40B4-BE49-F238E27FC236}">
                  <a16:creationId xmlns:a16="http://schemas.microsoft.com/office/drawing/2014/main" id="{B2D90213-181A-46C0-9463-AE059B171E5E}"/>
                </a:ext>
              </a:extLst>
            </p:cNvPr>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51" name="Text Box 20">
              <a:extLst>
                <a:ext uri="{FF2B5EF4-FFF2-40B4-BE49-F238E27FC236}">
                  <a16:creationId xmlns:a16="http://schemas.microsoft.com/office/drawing/2014/main" id="{E26EE120-0CD8-4C7F-90E3-8FBBF9209C13}"/>
                </a:ext>
              </a:extLst>
            </p:cNvPr>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52" name="Text Box 21">
              <a:extLst>
                <a:ext uri="{FF2B5EF4-FFF2-40B4-BE49-F238E27FC236}">
                  <a16:creationId xmlns:a16="http://schemas.microsoft.com/office/drawing/2014/main" id="{3FB01D6C-5A9C-4070-9187-274589FB4AEE}"/>
                </a:ext>
              </a:extLst>
            </p:cNvPr>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53" name="Text Box 22">
              <a:extLst>
                <a:ext uri="{FF2B5EF4-FFF2-40B4-BE49-F238E27FC236}">
                  <a16:creationId xmlns:a16="http://schemas.microsoft.com/office/drawing/2014/main" id="{AC56D8D6-DFD6-4916-9075-BB72DA41EB46}"/>
                </a:ext>
              </a:extLst>
            </p:cNvPr>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4" name="Text Box 23">
              <a:extLst>
                <a:ext uri="{FF2B5EF4-FFF2-40B4-BE49-F238E27FC236}">
                  <a16:creationId xmlns:a16="http://schemas.microsoft.com/office/drawing/2014/main" id="{1CB68906-2130-4E06-929E-2B21FA792BDB}"/>
                </a:ext>
              </a:extLst>
            </p:cNvPr>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5" name="Text Box 24">
              <a:extLst>
                <a:ext uri="{FF2B5EF4-FFF2-40B4-BE49-F238E27FC236}">
                  <a16:creationId xmlns:a16="http://schemas.microsoft.com/office/drawing/2014/main" id="{D6156500-4132-46BC-A899-E551A74D1981}"/>
                </a:ext>
              </a:extLst>
            </p:cNvPr>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6" name="Text Box 25">
              <a:extLst>
                <a:ext uri="{FF2B5EF4-FFF2-40B4-BE49-F238E27FC236}">
                  <a16:creationId xmlns:a16="http://schemas.microsoft.com/office/drawing/2014/main" id="{AB2DBDAE-31B0-42B4-8B09-619AE3E2B7BF}"/>
                </a:ext>
              </a:extLst>
            </p:cNvPr>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57" name="Text Box 26">
              <a:extLst>
                <a:ext uri="{FF2B5EF4-FFF2-40B4-BE49-F238E27FC236}">
                  <a16:creationId xmlns:a16="http://schemas.microsoft.com/office/drawing/2014/main" id="{0C29691E-9041-4BAA-A699-E134E85BF66C}"/>
                </a:ext>
              </a:extLst>
            </p:cNvPr>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58" name="Text Box 27">
              <a:extLst>
                <a:ext uri="{FF2B5EF4-FFF2-40B4-BE49-F238E27FC236}">
                  <a16:creationId xmlns:a16="http://schemas.microsoft.com/office/drawing/2014/main" id="{D0A664B7-7314-431B-A9EC-558C4651E41F}"/>
                </a:ext>
              </a:extLst>
            </p:cNvPr>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9" name="Text Box 28">
              <a:extLst>
                <a:ext uri="{FF2B5EF4-FFF2-40B4-BE49-F238E27FC236}">
                  <a16:creationId xmlns:a16="http://schemas.microsoft.com/office/drawing/2014/main" id="{E8D54A8C-24B2-4EF8-B5D8-C8B21DC2991D}"/>
                </a:ext>
              </a:extLst>
            </p:cNvPr>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Tree>
    <p:extLst>
      <p:ext uri="{BB962C8B-B14F-4D97-AF65-F5344CB8AC3E}">
        <p14:creationId xmlns:p14="http://schemas.microsoft.com/office/powerpoint/2010/main" val="109734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solidFill>
                  <a:srgbClr val="C00000"/>
                </a:solidFill>
                <a:latin typeface="+mj-lt"/>
                <a:ea typeface="黑体" pitchFamily="2" charset="-122"/>
              </a:rPr>
              <a:t>引理 </a:t>
            </a:r>
            <a:r>
              <a:rPr lang="en-US" altLang="zh-CN" sz="2400" dirty="0">
                <a:solidFill>
                  <a:srgbClr val="C00000"/>
                </a:solidFill>
                <a:latin typeface="+mj-lt"/>
                <a:ea typeface="黑体" pitchFamily="2" charset="-122"/>
              </a:rPr>
              <a:t>1.</a:t>
            </a:r>
            <a:r>
              <a:rPr lang="en-US" altLang="zh-CN" sz="2400" dirty="0">
                <a:latin typeface="+mj-lt"/>
                <a:ea typeface="黑体" pitchFamily="2" charset="-122"/>
              </a:rPr>
              <a:t> </a:t>
            </a:r>
            <a:r>
              <a:rPr lang="zh-CN" altLang="en-US" sz="2400" dirty="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是一个流网络，</a:t>
            </a:r>
            <a:r>
              <a:rPr lang="en-US" altLang="zh-CN" sz="2400" i="1" dirty="0">
                <a:latin typeface="+mj-lt"/>
                <a:ea typeface="黑体" pitchFamily="2" charset="-122"/>
              </a:rPr>
              <a:t>f </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中的一个流。那么下列等式成立：</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黑体" pitchFamily="2" charset="-122"/>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874844095"/>
              </p:ext>
            </p:extLst>
          </p:nvPr>
        </p:nvGraphicFramePr>
        <p:xfrm>
          <a:off x="1079500" y="2362200"/>
          <a:ext cx="5702300" cy="2133600"/>
        </p:xfrm>
        <a:graphic>
          <a:graphicData uri="http://schemas.openxmlformats.org/presentationml/2006/ole">
            <mc:AlternateContent xmlns:mc="http://schemas.openxmlformats.org/markup-compatibility/2006">
              <mc:Choice xmlns:v="urn:schemas-microsoft-com:vml" Requires="v">
                <p:oleObj name="Equation" r:id="rId3" imgW="2616200" imgH="1143000" progId="Equation.DSMT4">
                  <p:embed/>
                </p:oleObj>
              </mc:Choice>
              <mc:Fallback>
                <p:oleObj name="Equation" r:id="rId3" imgW="2616200" imgH="1143000" progId="Equation.DSMT4">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0" y="2362200"/>
                        <a:ext cx="5702300"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2" name="Group 2">
            <a:extLst>
              <a:ext uri="{FF2B5EF4-FFF2-40B4-BE49-F238E27FC236}">
                <a16:creationId xmlns:a16="http://schemas.microsoft.com/office/drawing/2014/main" id="{B1B33FBF-224D-48AF-BE0F-F669BC48E9CD}"/>
              </a:ext>
            </a:extLst>
          </p:cNvPr>
          <p:cNvGrpSpPr>
            <a:grpSpLocks/>
          </p:cNvGrpSpPr>
          <p:nvPr/>
        </p:nvGrpSpPr>
        <p:grpSpPr bwMode="auto">
          <a:xfrm>
            <a:off x="4105444" y="3953646"/>
            <a:ext cx="4625975" cy="2855913"/>
            <a:chOff x="874" y="1033"/>
            <a:chExt cx="3648" cy="2496"/>
          </a:xfrm>
        </p:grpSpPr>
        <p:sp>
          <p:nvSpPr>
            <p:cNvPr id="33" name="Oval 3">
              <a:extLst>
                <a:ext uri="{FF2B5EF4-FFF2-40B4-BE49-F238E27FC236}">
                  <a16:creationId xmlns:a16="http://schemas.microsoft.com/office/drawing/2014/main" id="{207938D5-E375-4CEB-858D-012EDF0D627D}"/>
                </a:ext>
              </a:extLst>
            </p:cNvPr>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4" name="Oval 4">
              <a:extLst>
                <a:ext uri="{FF2B5EF4-FFF2-40B4-BE49-F238E27FC236}">
                  <a16:creationId xmlns:a16="http://schemas.microsoft.com/office/drawing/2014/main" id="{3A17F547-DE8B-4768-80F9-D3FB46F96B01}"/>
                </a:ext>
              </a:extLst>
            </p:cNvPr>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5" name="Oval 5">
              <a:extLst>
                <a:ext uri="{FF2B5EF4-FFF2-40B4-BE49-F238E27FC236}">
                  <a16:creationId xmlns:a16="http://schemas.microsoft.com/office/drawing/2014/main" id="{9F75E1EF-8F60-4B9E-AFFB-4ED17337FD09}"/>
                </a:ext>
              </a:extLst>
            </p:cNvPr>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6" name="Oval 6">
              <a:extLst>
                <a:ext uri="{FF2B5EF4-FFF2-40B4-BE49-F238E27FC236}">
                  <a16:creationId xmlns:a16="http://schemas.microsoft.com/office/drawing/2014/main" id="{8C1A0CE9-9B37-4AC1-9017-1C911EE2F4DE}"/>
                </a:ext>
              </a:extLst>
            </p:cNvPr>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7" name="Oval 7">
              <a:extLst>
                <a:ext uri="{FF2B5EF4-FFF2-40B4-BE49-F238E27FC236}">
                  <a16:creationId xmlns:a16="http://schemas.microsoft.com/office/drawing/2014/main" id="{FC5964F3-8A85-4485-93CB-0D2A78601E27}"/>
                </a:ext>
              </a:extLst>
            </p:cNvPr>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8" name="Oval 8">
              <a:extLst>
                <a:ext uri="{FF2B5EF4-FFF2-40B4-BE49-F238E27FC236}">
                  <a16:creationId xmlns:a16="http://schemas.microsoft.com/office/drawing/2014/main" id="{28341585-21F1-43FD-856B-FAC9F9A1A6DA}"/>
                </a:ext>
              </a:extLst>
            </p:cNvPr>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9" name="Line 9">
              <a:extLst>
                <a:ext uri="{FF2B5EF4-FFF2-40B4-BE49-F238E27FC236}">
                  <a16:creationId xmlns:a16="http://schemas.microsoft.com/office/drawing/2014/main" id="{9C3CA898-1357-4571-A1CE-5140429203C9}"/>
                </a:ext>
              </a:extLst>
            </p:cNvPr>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10">
              <a:extLst>
                <a:ext uri="{FF2B5EF4-FFF2-40B4-BE49-F238E27FC236}">
                  <a16:creationId xmlns:a16="http://schemas.microsoft.com/office/drawing/2014/main" id="{938E2307-8E9B-42D8-ADA9-DA9BC1DC8C5E}"/>
                </a:ext>
              </a:extLst>
            </p:cNvPr>
            <p:cNvSpPr>
              <a:spLocks noChangeShapeType="1"/>
            </p:cNvSpPr>
            <p:nvPr/>
          </p:nvSpPr>
          <p:spPr bwMode="auto">
            <a:xfrm>
              <a:off x="1210" y="2281"/>
              <a:ext cx="67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41" name="Line 11">
              <a:extLst>
                <a:ext uri="{FF2B5EF4-FFF2-40B4-BE49-F238E27FC236}">
                  <a16:creationId xmlns:a16="http://schemas.microsoft.com/office/drawing/2014/main" id="{60D3E69B-A4DB-483E-BE2B-312F416BDC8C}"/>
                </a:ext>
              </a:extLst>
            </p:cNvPr>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2">
              <a:extLst>
                <a:ext uri="{FF2B5EF4-FFF2-40B4-BE49-F238E27FC236}">
                  <a16:creationId xmlns:a16="http://schemas.microsoft.com/office/drawing/2014/main" id="{E5613F4A-AB79-4B79-832B-AF8B90DAC232}"/>
                </a:ext>
              </a:extLst>
            </p:cNvPr>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13">
              <a:extLst>
                <a:ext uri="{FF2B5EF4-FFF2-40B4-BE49-F238E27FC236}">
                  <a16:creationId xmlns:a16="http://schemas.microsoft.com/office/drawing/2014/main" id="{18A8C71F-36E7-46B6-99EF-9342829F179F}"/>
                </a:ext>
              </a:extLst>
            </p:cNvPr>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4">
              <a:extLst>
                <a:ext uri="{FF2B5EF4-FFF2-40B4-BE49-F238E27FC236}">
                  <a16:creationId xmlns:a16="http://schemas.microsoft.com/office/drawing/2014/main" id="{9CA48C74-3B1C-4DF0-9933-2E928967A884}"/>
                </a:ext>
              </a:extLst>
            </p:cNvPr>
            <p:cNvSpPr>
              <a:spLocks noChangeShapeType="1"/>
            </p:cNvSpPr>
            <p:nvPr/>
          </p:nvSpPr>
          <p:spPr bwMode="auto">
            <a:xfrm>
              <a:off x="3370"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5">
              <a:extLst>
                <a:ext uri="{FF2B5EF4-FFF2-40B4-BE49-F238E27FC236}">
                  <a16:creationId xmlns:a16="http://schemas.microsoft.com/office/drawing/2014/main" id="{67E1A413-53AF-4175-A659-55473EF4A913}"/>
                </a:ext>
              </a:extLst>
            </p:cNvPr>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Text Box 16">
              <a:extLst>
                <a:ext uri="{FF2B5EF4-FFF2-40B4-BE49-F238E27FC236}">
                  <a16:creationId xmlns:a16="http://schemas.microsoft.com/office/drawing/2014/main" id="{EB6A71F4-355C-4E2B-9AA9-DC529EE9602E}"/>
                </a:ext>
              </a:extLst>
            </p:cNvPr>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47" name="Text Box 17">
              <a:extLst>
                <a:ext uri="{FF2B5EF4-FFF2-40B4-BE49-F238E27FC236}">
                  <a16:creationId xmlns:a16="http://schemas.microsoft.com/office/drawing/2014/main" id="{7F1EA946-821F-4FBC-AB68-C07C9B8710CF}"/>
                </a:ext>
              </a:extLst>
            </p:cNvPr>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48" name="Text Box 18">
              <a:extLst>
                <a:ext uri="{FF2B5EF4-FFF2-40B4-BE49-F238E27FC236}">
                  <a16:creationId xmlns:a16="http://schemas.microsoft.com/office/drawing/2014/main" id="{1E0DEE5A-F25B-4D2E-89F4-A31D7AD11E84}"/>
                </a:ext>
              </a:extLst>
            </p:cNvPr>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49" name="Text Box 19">
              <a:extLst>
                <a:ext uri="{FF2B5EF4-FFF2-40B4-BE49-F238E27FC236}">
                  <a16:creationId xmlns:a16="http://schemas.microsoft.com/office/drawing/2014/main" id="{89B88EB5-DDD4-4339-A0ED-3EB1AA637A8B}"/>
                </a:ext>
              </a:extLst>
            </p:cNvPr>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50" name="Text Box 20">
              <a:extLst>
                <a:ext uri="{FF2B5EF4-FFF2-40B4-BE49-F238E27FC236}">
                  <a16:creationId xmlns:a16="http://schemas.microsoft.com/office/drawing/2014/main" id="{03C28FE8-1438-4990-9165-705315829BEC}"/>
                </a:ext>
              </a:extLst>
            </p:cNvPr>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51" name="Text Box 21">
              <a:extLst>
                <a:ext uri="{FF2B5EF4-FFF2-40B4-BE49-F238E27FC236}">
                  <a16:creationId xmlns:a16="http://schemas.microsoft.com/office/drawing/2014/main" id="{5C237D64-3D67-4F4B-97C9-CD70EA62D4D1}"/>
                </a:ext>
              </a:extLst>
            </p:cNvPr>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52" name="Text Box 22">
              <a:extLst>
                <a:ext uri="{FF2B5EF4-FFF2-40B4-BE49-F238E27FC236}">
                  <a16:creationId xmlns:a16="http://schemas.microsoft.com/office/drawing/2014/main" id="{89CD61AF-5765-4A78-B01A-5B2EE25F6744}"/>
                </a:ext>
              </a:extLst>
            </p:cNvPr>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3" name="Text Box 23">
              <a:extLst>
                <a:ext uri="{FF2B5EF4-FFF2-40B4-BE49-F238E27FC236}">
                  <a16:creationId xmlns:a16="http://schemas.microsoft.com/office/drawing/2014/main" id="{0AC50782-7F3C-44A2-9DBD-ED751E54BE64}"/>
                </a:ext>
              </a:extLst>
            </p:cNvPr>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4" name="Text Box 24">
              <a:extLst>
                <a:ext uri="{FF2B5EF4-FFF2-40B4-BE49-F238E27FC236}">
                  <a16:creationId xmlns:a16="http://schemas.microsoft.com/office/drawing/2014/main" id="{A9DBB08C-C20A-4351-9302-14703CB3F442}"/>
                </a:ext>
              </a:extLst>
            </p:cNvPr>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5" name="Text Box 25">
              <a:extLst>
                <a:ext uri="{FF2B5EF4-FFF2-40B4-BE49-F238E27FC236}">
                  <a16:creationId xmlns:a16="http://schemas.microsoft.com/office/drawing/2014/main" id="{50FA776E-CDA3-4D12-B11F-2E86BED8510A}"/>
                </a:ext>
              </a:extLst>
            </p:cNvPr>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56" name="Text Box 26">
              <a:extLst>
                <a:ext uri="{FF2B5EF4-FFF2-40B4-BE49-F238E27FC236}">
                  <a16:creationId xmlns:a16="http://schemas.microsoft.com/office/drawing/2014/main" id="{9C95BB55-BE4C-43BF-8424-10D5F067BAB4}"/>
                </a:ext>
              </a:extLst>
            </p:cNvPr>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57" name="Text Box 27">
              <a:extLst>
                <a:ext uri="{FF2B5EF4-FFF2-40B4-BE49-F238E27FC236}">
                  <a16:creationId xmlns:a16="http://schemas.microsoft.com/office/drawing/2014/main" id="{BAB91870-A8CA-452D-8675-F48D1D84CCC8}"/>
                </a:ext>
              </a:extLst>
            </p:cNvPr>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8" name="Text Box 28">
              <a:extLst>
                <a:ext uri="{FF2B5EF4-FFF2-40B4-BE49-F238E27FC236}">
                  <a16:creationId xmlns:a16="http://schemas.microsoft.com/office/drawing/2014/main" id="{E72C0131-6D62-4863-8B12-D8DBAD414795}"/>
                </a:ext>
              </a:extLst>
            </p:cNvPr>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Tree>
    <p:extLst>
      <p:ext uri="{BB962C8B-B14F-4D97-AF65-F5344CB8AC3E}">
        <p14:creationId xmlns:p14="http://schemas.microsoft.com/office/powerpoint/2010/main" val="35648875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itchFamily="2" charset="-122"/>
              </a:rPr>
              <a:t>根据</a:t>
            </a:r>
            <a:r>
              <a:rPr lang="zh-CN" altLang="en-US" sz="2400" i="1" dirty="0">
                <a:solidFill>
                  <a:srgbClr val="C00000"/>
                </a:solidFill>
                <a:latin typeface="+mj-lt"/>
                <a:ea typeface="黑体" pitchFamily="2" charset="-122"/>
              </a:rPr>
              <a:t>流守恒性</a:t>
            </a:r>
            <a:r>
              <a:rPr lang="zh-CN" altLang="en-US" sz="2400" dirty="0">
                <a:latin typeface="+mj-lt"/>
                <a:ea typeface="黑体" pitchFamily="2" charset="-122"/>
              </a:rPr>
              <a:t>，除了源点和汇点外，对于所有顶点而言，进入顶点的总的正流量等于离开该顶点的总的正流量。根据定义，源点顶点总的净流量大于</a:t>
            </a:r>
            <a:r>
              <a:rPr lang="en-US" altLang="zh-CN" sz="2400" dirty="0">
                <a:latin typeface="+mj-lt"/>
                <a:ea typeface="黑体" pitchFamily="2" charset="-122"/>
              </a:rPr>
              <a:t>0</a:t>
            </a:r>
            <a:r>
              <a:rPr lang="zh-CN" altLang="en-US" sz="2400" dirty="0">
                <a:latin typeface="+mj-lt"/>
                <a:ea typeface="黑体" pitchFamily="2" charset="-122"/>
              </a:rPr>
              <a:t>；而汇点是唯一一个其总的净流量小于</a:t>
            </a:r>
            <a:r>
              <a:rPr lang="en-US" altLang="zh-CN" sz="2400" dirty="0">
                <a:latin typeface="+mj-lt"/>
                <a:ea typeface="黑体" pitchFamily="2" charset="-122"/>
              </a:rPr>
              <a:t>0</a:t>
            </a:r>
            <a:r>
              <a:rPr lang="zh-CN" altLang="en-US" sz="2400" dirty="0">
                <a:latin typeface="+mj-lt"/>
                <a:ea typeface="黑体" pitchFamily="2" charset="-122"/>
              </a:rPr>
              <a:t>的顶点。</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黑体" pitchFamily="2" charset="-122"/>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3543105618"/>
              </p:ext>
            </p:extLst>
          </p:nvPr>
        </p:nvGraphicFramePr>
        <p:xfrm>
          <a:off x="2819400" y="3276600"/>
          <a:ext cx="3276600" cy="2446359"/>
        </p:xfrm>
        <a:graphic>
          <a:graphicData uri="http://schemas.openxmlformats.org/presentationml/2006/ole">
            <mc:AlternateContent xmlns:mc="http://schemas.openxmlformats.org/markup-compatibility/2006">
              <mc:Choice xmlns:v="urn:schemas-microsoft-com:vml" Requires="v">
                <p:oleObj name="公式" r:id="rId3" imgW="1803400" imgH="1346200" progId="">
                  <p:embed/>
                </p:oleObj>
              </mc:Choice>
              <mc:Fallback>
                <p:oleObj name="公式" r:id="rId3" imgW="1803400" imgH="1346200" progId="">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3276600"/>
                        <a:ext cx="3276600" cy="24463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761547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最大流问题</a:t>
            </a:r>
            <a:endParaRPr lang="en-US" sz="3600" b="1" dirty="0">
              <a:solidFill>
                <a:srgbClr val="0000CC"/>
              </a:solidFill>
            </a:endParaRPr>
          </a:p>
        </p:txBody>
      </p:sp>
      <p:sp>
        <p:nvSpPr>
          <p:cNvPr id="1380355" name="Rectangle 3"/>
          <p:cNvSpPr>
            <a:spLocks noGrp="1" noChangeArrowheads="1"/>
          </p:cNvSpPr>
          <p:nvPr>
            <p:ph type="body" idx="1"/>
          </p:nvPr>
        </p:nvSpPr>
        <p:spPr>
          <a:xfrm>
            <a:off x="381000" y="1295400"/>
            <a:ext cx="8382000" cy="5257800"/>
          </a:xfrm>
        </p:spPr>
        <p:txBody>
          <a:bodyPr/>
          <a:lstStyle/>
          <a:p>
            <a:r>
              <a:rPr lang="zh-CN" altLang="en-US" sz="2400" b="1" dirty="0"/>
              <a:t>给定一个具有源点</a:t>
            </a:r>
            <a:r>
              <a:rPr lang="en-US" altLang="zh-CN" sz="2400" b="1" i="1" dirty="0"/>
              <a:t>s</a:t>
            </a:r>
            <a:r>
              <a:rPr lang="zh-CN" altLang="en-US" sz="2400" b="1" dirty="0"/>
              <a:t>和汇点</a:t>
            </a:r>
            <a:r>
              <a:rPr lang="en-US" altLang="zh-CN" sz="2400" b="1" i="1" dirty="0"/>
              <a:t>t</a:t>
            </a:r>
            <a:r>
              <a:rPr lang="zh-CN" altLang="en-US" sz="2400" b="1" dirty="0"/>
              <a:t>的流网络</a:t>
            </a:r>
            <a:r>
              <a:rPr lang="en-US" altLang="zh-CN" sz="2400" b="1" i="1" dirty="0"/>
              <a:t>G</a:t>
            </a:r>
            <a:r>
              <a:rPr lang="zh-CN" altLang="en-US" sz="2400" b="1" dirty="0"/>
              <a:t>，希望找出从</a:t>
            </a:r>
            <a:r>
              <a:rPr lang="en-US" altLang="zh-CN" sz="2400" b="1" i="1" dirty="0"/>
              <a:t>s</a:t>
            </a:r>
            <a:r>
              <a:rPr lang="zh-CN" altLang="en-US" sz="2400" b="1" dirty="0"/>
              <a:t>到</a:t>
            </a:r>
            <a:r>
              <a:rPr lang="en-US" altLang="zh-CN" sz="2400" b="1" i="1" dirty="0"/>
              <a:t>t</a:t>
            </a:r>
            <a:r>
              <a:rPr lang="zh-CN" altLang="en-US" sz="2400" b="1" dirty="0"/>
              <a:t>的最大值流</a:t>
            </a:r>
            <a:endParaRPr lang="en-US" altLang="zh-CN" sz="2400" b="1" dirty="0"/>
          </a:p>
        </p:txBody>
      </p:sp>
      <p:sp>
        <p:nvSpPr>
          <p:cNvPr id="2" name="TextBox 1"/>
          <p:cNvSpPr txBox="1"/>
          <p:nvPr/>
        </p:nvSpPr>
        <p:spPr>
          <a:xfrm>
            <a:off x="1380007" y="3708292"/>
            <a:ext cx="519769" cy="523220"/>
          </a:xfrm>
          <a:prstGeom prst="rect">
            <a:avLst/>
          </a:prstGeom>
          <a:noFill/>
        </p:spPr>
        <p:txBody>
          <a:bodyPr wrap="square" rtlCol="0">
            <a:spAutoFit/>
          </a:bodyPr>
          <a:lstStyle/>
          <a:p>
            <a:r>
              <a:rPr lang="en-US" altLang="zh-CN" sz="2800" dirty="0"/>
              <a:t>s</a:t>
            </a:r>
            <a:endParaRPr lang="zh-CN" altLang="en-US" sz="2800" dirty="0"/>
          </a:p>
        </p:txBody>
      </p:sp>
      <p:sp>
        <p:nvSpPr>
          <p:cNvPr id="34" name="TextBox 33"/>
          <p:cNvSpPr txBox="1"/>
          <p:nvPr/>
        </p:nvSpPr>
        <p:spPr>
          <a:xfrm>
            <a:off x="6543750" y="3846172"/>
            <a:ext cx="519769" cy="523220"/>
          </a:xfrm>
          <a:prstGeom prst="rect">
            <a:avLst/>
          </a:prstGeom>
          <a:noFill/>
        </p:spPr>
        <p:txBody>
          <a:bodyPr wrap="square" rtlCol="0">
            <a:spAutoFit/>
          </a:bodyPr>
          <a:lstStyle/>
          <a:p>
            <a:r>
              <a:rPr lang="en-US" altLang="zh-CN" sz="2800" dirty="0"/>
              <a:t>t</a:t>
            </a:r>
            <a:endParaRPr lang="zh-CN" altLang="en-US" sz="2800" dirty="0"/>
          </a:p>
        </p:txBody>
      </p:sp>
      <p:grpSp>
        <p:nvGrpSpPr>
          <p:cNvPr id="33" name="Group 2">
            <a:extLst>
              <a:ext uri="{FF2B5EF4-FFF2-40B4-BE49-F238E27FC236}">
                <a16:creationId xmlns:a16="http://schemas.microsoft.com/office/drawing/2014/main" id="{67F23818-1E60-44F8-A83F-A19F5AC12209}"/>
              </a:ext>
            </a:extLst>
          </p:cNvPr>
          <p:cNvGrpSpPr>
            <a:grpSpLocks/>
          </p:cNvGrpSpPr>
          <p:nvPr/>
        </p:nvGrpSpPr>
        <p:grpSpPr bwMode="auto">
          <a:xfrm>
            <a:off x="1774825" y="2667000"/>
            <a:ext cx="4625975" cy="2855913"/>
            <a:chOff x="874" y="1033"/>
            <a:chExt cx="3648" cy="2496"/>
          </a:xfrm>
        </p:grpSpPr>
        <p:sp>
          <p:nvSpPr>
            <p:cNvPr id="35" name="Oval 3">
              <a:extLst>
                <a:ext uri="{FF2B5EF4-FFF2-40B4-BE49-F238E27FC236}">
                  <a16:creationId xmlns:a16="http://schemas.microsoft.com/office/drawing/2014/main" id="{46BA6AAC-37A5-4162-8418-788C83103861}"/>
                </a:ext>
              </a:extLst>
            </p:cNvPr>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6" name="Oval 4">
              <a:extLst>
                <a:ext uri="{FF2B5EF4-FFF2-40B4-BE49-F238E27FC236}">
                  <a16:creationId xmlns:a16="http://schemas.microsoft.com/office/drawing/2014/main" id="{10CF7F70-7861-4A13-ABA8-037823792B81}"/>
                </a:ext>
              </a:extLst>
            </p:cNvPr>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7" name="Oval 5">
              <a:extLst>
                <a:ext uri="{FF2B5EF4-FFF2-40B4-BE49-F238E27FC236}">
                  <a16:creationId xmlns:a16="http://schemas.microsoft.com/office/drawing/2014/main" id="{485AC40C-BCBD-410F-8A44-8EFA85436F2B}"/>
                </a:ext>
              </a:extLst>
            </p:cNvPr>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8" name="Oval 6">
              <a:extLst>
                <a:ext uri="{FF2B5EF4-FFF2-40B4-BE49-F238E27FC236}">
                  <a16:creationId xmlns:a16="http://schemas.microsoft.com/office/drawing/2014/main" id="{A998B709-4303-48BE-9FD0-9FD94FD1AA9C}"/>
                </a:ext>
              </a:extLst>
            </p:cNvPr>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9" name="Oval 7">
              <a:extLst>
                <a:ext uri="{FF2B5EF4-FFF2-40B4-BE49-F238E27FC236}">
                  <a16:creationId xmlns:a16="http://schemas.microsoft.com/office/drawing/2014/main" id="{494A3E4D-2655-4786-94B5-3D897E1E2653}"/>
                </a:ext>
              </a:extLst>
            </p:cNvPr>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40" name="Oval 8">
              <a:extLst>
                <a:ext uri="{FF2B5EF4-FFF2-40B4-BE49-F238E27FC236}">
                  <a16:creationId xmlns:a16="http://schemas.microsoft.com/office/drawing/2014/main" id="{D577C27E-115B-4B85-9661-9209A2570E1C}"/>
                </a:ext>
              </a:extLst>
            </p:cNvPr>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41" name="Line 9">
              <a:extLst>
                <a:ext uri="{FF2B5EF4-FFF2-40B4-BE49-F238E27FC236}">
                  <a16:creationId xmlns:a16="http://schemas.microsoft.com/office/drawing/2014/main" id="{38BFDE42-BC2A-496C-B7CF-0962AE0E6285}"/>
                </a:ext>
              </a:extLst>
            </p:cNvPr>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0">
              <a:extLst>
                <a:ext uri="{FF2B5EF4-FFF2-40B4-BE49-F238E27FC236}">
                  <a16:creationId xmlns:a16="http://schemas.microsoft.com/office/drawing/2014/main" id="{F14013E5-F843-4ED4-BD44-E679EAC295E2}"/>
                </a:ext>
              </a:extLst>
            </p:cNvPr>
            <p:cNvSpPr>
              <a:spLocks noChangeShapeType="1"/>
            </p:cNvSpPr>
            <p:nvPr/>
          </p:nvSpPr>
          <p:spPr bwMode="auto">
            <a:xfrm>
              <a:off x="1210" y="2281"/>
              <a:ext cx="67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43" name="Line 11">
              <a:extLst>
                <a:ext uri="{FF2B5EF4-FFF2-40B4-BE49-F238E27FC236}">
                  <a16:creationId xmlns:a16="http://schemas.microsoft.com/office/drawing/2014/main" id="{C9EC80B0-FF94-463E-A2D7-DDF72BC368FA}"/>
                </a:ext>
              </a:extLst>
            </p:cNvPr>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2">
              <a:extLst>
                <a:ext uri="{FF2B5EF4-FFF2-40B4-BE49-F238E27FC236}">
                  <a16:creationId xmlns:a16="http://schemas.microsoft.com/office/drawing/2014/main" id="{7F86ACAD-71AE-434C-B5C4-796347805B6E}"/>
                </a:ext>
              </a:extLst>
            </p:cNvPr>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3">
              <a:extLst>
                <a:ext uri="{FF2B5EF4-FFF2-40B4-BE49-F238E27FC236}">
                  <a16:creationId xmlns:a16="http://schemas.microsoft.com/office/drawing/2014/main" id="{864DB2C6-D86C-4A4F-8336-EF4EE89E97F8}"/>
                </a:ext>
              </a:extLst>
            </p:cNvPr>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4">
              <a:extLst>
                <a:ext uri="{FF2B5EF4-FFF2-40B4-BE49-F238E27FC236}">
                  <a16:creationId xmlns:a16="http://schemas.microsoft.com/office/drawing/2014/main" id="{D4968845-D692-4B41-BCB4-A898C789012E}"/>
                </a:ext>
              </a:extLst>
            </p:cNvPr>
            <p:cNvSpPr>
              <a:spLocks noChangeShapeType="1"/>
            </p:cNvSpPr>
            <p:nvPr/>
          </p:nvSpPr>
          <p:spPr bwMode="auto">
            <a:xfrm>
              <a:off x="3370"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5">
              <a:extLst>
                <a:ext uri="{FF2B5EF4-FFF2-40B4-BE49-F238E27FC236}">
                  <a16:creationId xmlns:a16="http://schemas.microsoft.com/office/drawing/2014/main" id="{2EAC9740-358C-4775-AFBD-7E11545C270F}"/>
                </a:ext>
              </a:extLst>
            </p:cNvPr>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Text Box 16">
              <a:extLst>
                <a:ext uri="{FF2B5EF4-FFF2-40B4-BE49-F238E27FC236}">
                  <a16:creationId xmlns:a16="http://schemas.microsoft.com/office/drawing/2014/main" id="{1F1039DE-87DF-490A-8F0B-BA3AAF4A0DB1}"/>
                </a:ext>
              </a:extLst>
            </p:cNvPr>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49" name="Text Box 17">
              <a:extLst>
                <a:ext uri="{FF2B5EF4-FFF2-40B4-BE49-F238E27FC236}">
                  <a16:creationId xmlns:a16="http://schemas.microsoft.com/office/drawing/2014/main" id="{8A3A2511-B09E-4EA7-A15A-A3E13476F279}"/>
                </a:ext>
              </a:extLst>
            </p:cNvPr>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50" name="Text Box 18">
              <a:extLst>
                <a:ext uri="{FF2B5EF4-FFF2-40B4-BE49-F238E27FC236}">
                  <a16:creationId xmlns:a16="http://schemas.microsoft.com/office/drawing/2014/main" id="{05E0B5FF-597D-49F4-9D04-D19A16D352AC}"/>
                </a:ext>
              </a:extLst>
            </p:cNvPr>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51" name="Text Box 19">
              <a:extLst>
                <a:ext uri="{FF2B5EF4-FFF2-40B4-BE49-F238E27FC236}">
                  <a16:creationId xmlns:a16="http://schemas.microsoft.com/office/drawing/2014/main" id="{C18FAA2A-F5DA-4B3D-90D5-533A3F873527}"/>
                </a:ext>
              </a:extLst>
            </p:cNvPr>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52" name="Text Box 20">
              <a:extLst>
                <a:ext uri="{FF2B5EF4-FFF2-40B4-BE49-F238E27FC236}">
                  <a16:creationId xmlns:a16="http://schemas.microsoft.com/office/drawing/2014/main" id="{0689B3CA-D99C-4F13-8D29-E838E6B3EE86}"/>
                </a:ext>
              </a:extLst>
            </p:cNvPr>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53" name="Text Box 21">
              <a:extLst>
                <a:ext uri="{FF2B5EF4-FFF2-40B4-BE49-F238E27FC236}">
                  <a16:creationId xmlns:a16="http://schemas.microsoft.com/office/drawing/2014/main" id="{38678C0F-9CE9-44CE-9CFA-6267A3E7A532}"/>
                </a:ext>
              </a:extLst>
            </p:cNvPr>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54" name="Text Box 22">
              <a:extLst>
                <a:ext uri="{FF2B5EF4-FFF2-40B4-BE49-F238E27FC236}">
                  <a16:creationId xmlns:a16="http://schemas.microsoft.com/office/drawing/2014/main" id="{AEB0820F-A959-4626-8893-3146D934E5FF}"/>
                </a:ext>
              </a:extLst>
            </p:cNvPr>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5" name="Text Box 23">
              <a:extLst>
                <a:ext uri="{FF2B5EF4-FFF2-40B4-BE49-F238E27FC236}">
                  <a16:creationId xmlns:a16="http://schemas.microsoft.com/office/drawing/2014/main" id="{3847DA06-3597-4379-9635-E63DA5D16265}"/>
                </a:ext>
              </a:extLst>
            </p:cNvPr>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6" name="Text Box 24">
              <a:extLst>
                <a:ext uri="{FF2B5EF4-FFF2-40B4-BE49-F238E27FC236}">
                  <a16:creationId xmlns:a16="http://schemas.microsoft.com/office/drawing/2014/main" id="{75603752-202B-4093-B535-04AC7413A77A}"/>
                </a:ext>
              </a:extLst>
            </p:cNvPr>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7" name="Text Box 25">
              <a:extLst>
                <a:ext uri="{FF2B5EF4-FFF2-40B4-BE49-F238E27FC236}">
                  <a16:creationId xmlns:a16="http://schemas.microsoft.com/office/drawing/2014/main" id="{68976825-9BCF-48B2-B2CC-CDEB196D25AD}"/>
                </a:ext>
              </a:extLst>
            </p:cNvPr>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58" name="Text Box 26">
              <a:extLst>
                <a:ext uri="{FF2B5EF4-FFF2-40B4-BE49-F238E27FC236}">
                  <a16:creationId xmlns:a16="http://schemas.microsoft.com/office/drawing/2014/main" id="{207C9F40-FE72-47AD-8B58-71E5C94412B3}"/>
                </a:ext>
              </a:extLst>
            </p:cNvPr>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59" name="Text Box 27">
              <a:extLst>
                <a:ext uri="{FF2B5EF4-FFF2-40B4-BE49-F238E27FC236}">
                  <a16:creationId xmlns:a16="http://schemas.microsoft.com/office/drawing/2014/main" id="{50AD9482-A0D4-4DFB-9612-959D320C8B92}"/>
                </a:ext>
              </a:extLst>
            </p:cNvPr>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60" name="Text Box 28">
              <a:extLst>
                <a:ext uri="{FF2B5EF4-FFF2-40B4-BE49-F238E27FC236}">
                  <a16:creationId xmlns:a16="http://schemas.microsoft.com/office/drawing/2014/main" id="{726D94E1-72F0-4A52-B584-3F44A16298CA}"/>
                </a:ext>
              </a:extLst>
            </p:cNvPr>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Tree>
    <p:extLst>
      <p:ext uri="{BB962C8B-B14F-4D97-AF65-F5344CB8AC3E}">
        <p14:creationId xmlns:p14="http://schemas.microsoft.com/office/powerpoint/2010/main" val="163027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035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0355"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本节将讨论解决最大流问题的</a:t>
            </a:r>
            <a:r>
              <a:rPr lang="en-US" altLang="zh-CN" sz="2400" i="1" dirty="0">
                <a:solidFill>
                  <a:srgbClr val="C00000"/>
                </a:solidFill>
                <a:latin typeface="+mj-lt"/>
                <a:ea typeface="黑体" pitchFamily="2" charset="-122"/>
              </a:rPr>
              <a:t>Ford-Fulkerson</a:t>
            </a:r>
            <a:r>
              <a:rPr lang="zh-CN" altLang="en-US" sz="2400" i="1" dirty="0">
                <a:solidFill>
                  <a:srgbClr val="C00000"/>
                </a:solidFill>
                <a:latin typeface="+mj-lt"/>
                <a:ea typeface="黑体" pitchFamily="2" charset="-122"/>
              </a:rPr>
              <a:t>方法</a:t>
            </a:r>
            <a:r>
              <a:rPr lang="zh-CN" altLang="en-US" sz="2400" dirty="0">
                <a:latin typeface="+mj-lt"/>
                <a:ea typeface="黑体" pitchFamily="2" charset="-122"/>
              </a:rPr>
              <a:t>。之所以称为“方法”而不是“算法”，是因为它包含具有不同运行时间的几种实现。</a:t>
            </a:r>
            <a:endParaRPr lang="en-US" altLang="zh-CN" sz="2400" dirty="0">
              <a:latin typeface="+mj-lt"/>
              <a:ea typeface="黑体" pitchFamily="2" charset="-122"/>
            </a:endParaRPr>
          </a:p>
          <a:p>
            <a:endParaRPr lang="en-US" altLang="zh-CN" sz="2400" dirty="0">
              <a:latin typeface="+mj-lt"/>
              <a:ea typeface="黑体" pitchFamily="2" charset="-122"/>
            </a:endParaRPr>
          </a:p>
          <a:p>
            <a:r>
              <a:rPr lang="en-US" altLang="zh-CN" sz="2400" dirty="0">
                <a:latin typeface="+mj-lt"/>
                <a:ea typeface="黑体" pitchFamily="2" charset="-122"/>
              </a:rPr>
              <a:t>Ford-Fulkerson</a:t>
            </a:r>
            <a:r>
              <a:rPr lang="zh-CN" altLang="en-US" sz="2400" dirty="0">
                <a:latin typeface="+mj-lt"/>
                <a:ea typeface="黑体" pitchFamily="2" charset="-122"/>
              </a:rPr>
              <a:t>方法依赖于三种重要思想，它们与该算法以外很多有关流的算法和问题密切相关。</a:t>
            </a:r>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latin typeface="+mj-lt"/>
                <a:ea typeface="黑体" pitchFamily="2" charset="-122"/>
              </a:rPr>
              <a:t>这三种思想是：</a:t>
            </a:r>
            <a:r>
              <a:rPr lang="zh-CN" altLang="en-US" sz="2400" i="1" dirty="0">
                <a:solidFill>
                  <a:srgbClr val="C00000"/>
                </a:solidFill>
                <a:latin typeface="+mj-lt"/>
                <a:ea typeface="黑体" pitchFamily="2" charset="-122"/>
              </a:rPr>
              <a:t>残留网络、增广路径和割</a:t>
            </a:r>
            <a:r>
              <a:rPr lang="zh-CN" altLang="en-US" sz="2400" dirty="0">
                <a:latin typeface="+mj-lt"/>
                <a:ea typeface="黑体" pitchFamily="2" charset="-122"/>
              </a:rPr>
              <a:t>。这些思想是最大流最小割定理的精髓，该定理用流网络的割来描述最大流的值。本节中给出</a:t>
            </a:r>
            <a:r>
              <a:rPr lang="en-US" altLang="zh-CN" sz="2400" dirty="0">
                <a:latin typeface="+mj-lt"/>
                <a:ea typeface="黑体" pitchFamily="2" charset="-122"/>
              </a:rPr>
              <a:t>Ford-Fulkerson</a:t>
            </a:r>
            <a:r>
              <a:rPr lang="zh-CN" altLang="en-US" sz="2400" dirty="0">
                <a:latin typeface="+mj-lt"/>
                <a:ea typeface="黑体" pitchFamily="2" charset="-122"/>
              </a:rPr>
              <a:t>方法的特定实现，并分析它的运行时间。</a:t>
            </a:r>
            <a:endParaRPr lang="en-US" altLang="zh-CN" sz="2400" dirty="0">
              <a:latin typeface="+mj-lt"/>
              <a:ea typeface="黑体" pitchFamily="2" charset="-122"/>
            </a:endParaRPr>
          </a:p>
          <a:p>
            <a:endParaRPr lang="en-US" sz="2400" b="1" dirty="0">
              <a:latin typeface="+mj-lt"/>
            </a:endParaRPr>
          </a:p>
        </p:txBody>
      </p:sp>
    </p:spTree>
    <p:extLst>
      <p:ext uri="{BB962C8B-B14F-4D97-AF65-F5344CB8AC3E}">
        <p14:creationId xmlns:p14="http://schemas.microsoft.com/office/powerpoint/2010/main" val="33154890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解决最大流问题的</a:t>
            </a:r>
            <a:r>
              <a:rPr lang="en-US" altLang="zh-CN" sz="2400" i="1" dirty="0">
                <a:solidFill>
                  <a:srgbClr val="C00000"/>
                </a:solidFill>
                <a:latin typeface="+mj-lt"/>
                <a:ea typeface="黑体" pitchFamily="2" charset="-122"/>
              </a:rPr>
              <a:t>Ford-Fulkerson</a:t>
            </a:r>
            <a:r>
              <a:rPr lang="zh-CN" altLang="en-US" sz="2400" i="1" dirty="0">
                <a:solidFill>
                  <a:srgbClr val="C00000"/>
                </a:solidFill>
                <a:latin typeface="+mj-lt"/>
                <a:ea typeface="黑体" pitchFamily="2" charset="-122"/>
              </a:rPr>
              <a:t>方法</a:t>
            </a:r>
            <a:r>
              <a:rPr lang="zh-CN" altLang="en-US" sz="2400" dirty="0">
                <a:latin typeface="+mj-lt"/>
                <a:ea typeface="黑体" pitchFamily="2" charset="-122"/>
              </a:rPr>
              <a:t>是一种迭代方法。开始时，对所有</a:t>
            </a:r>
            <a:r>
              <a:rPr lang="en-US" altLang="zh-CN" sz="2400" i="1" dirty="0" err="1">
                <a:latin typeface="+mj-lt"/>
                <a:ea typeface="黑体" pitchFamily="2" charset="-122"/>
              </a:rPr>
              <a:t>u,v∈V</a:t>
            </a:r>
            <a:r>
              <a:rPr lang="en-US" altLang="zh-CN" sz="2400" dirty="0">
                <a:latin typeface="+mj-lt"/>
                <a:ea typeface="黑体" pitchFamily="2" charset="-122"/>
              </a:rPr>
              <a:t>,</a:t>
            </a:r>
            <a:r>
              <a:rPr lang="zh-CN" altLang="en-US" sz="2400" dirty="0">
                <a:latin typeface="+mj-lt"/>
                <a:ea typeface="黑体" pitchFamily="2" charset="-122"/>
              </a:rPr>
              <a:t>有</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)=0</a:t>
            </a:r>
          </a:p>
          <a:p>
            <a:endParaRPr lang="en-US" altLang="zh-CN" sz="2400" dirty="0">
              <a:latin typeface="+mj-lt"/>
              <a:ea typeface="黑体" pitchFamily="2" charset="-122"/>
            </a:endParaRPr>
          </a:p>
          <a:p>
            <a:r>
              <a:rPr lang="zh-CN" altLang="en-US" sz="2400" dirty="0">
                <a:latin typeface="+mj-lt"/>
                <a:ea typeface="黑体" pitchFamily="2" charset="-122"/>
              </a:rPr>
              <a:t>即初始状态时流的值为</a:t>
            </a:r>
            <a:r>
              <a:rPr lang="en-US" altLang="zh-CN" sz="2400" dirty="0">
                <a:latin typeface="+mj-lt"/>
                <a:ea typeface="黑体" pitchFamily="2" charset="-122"/>
              </a:rPr>
              <a:t>0</a:t>
            </a:r>
            <a:r>
              <a:rPr lang="zh-CN" altLang="en-US" sz="2400" dirty="0">
                <a:latin typeface="+mj-lt"/>
                <a:ea typeface="黑体" pitchFamily="2" charset="-122"/>
              </a:rPr>
              <a:t>。在每次迭代中，可通过“增广路径”来增加流值。增广路径可以看作是从源点</a:t>
            </a:r>
            <a:r>
              <a:rPr lang="en-US" altLang="zh-CN" sz="2400" i="1" dirty="0">
                <a:latin typeface="+mj-lt"/>
                <a:ea typeface="黑体" pitchFamily="2" charset="-122"/>
              </a:rPr>
              <a:t>s</a:t>
            </a:r>
            <a:r>
              <a:rPr lang="zh-CN" altLang="en-US" sz="2400" dirty="0">
                <a:latin typeface="+mj-lt"/>
                <a:ea typeface="黑体" pitchFamily="2" charset="-122"/>
              </a:rPr>
              <a:t>到汇点</a:t>
            </a:r>
            <a:r>
              <a:rPr lang="en-US" altLang="zh-CN" sz="2400" i="1" dirty="0">
                <a:latin typeface="+mj-lt"/>
                <a:ea typeface="黑体" pitchFamily="2" charset="-122"/>
              </a:rPr>
              <a:t>t</a:t>
            </a:r>
            <a:r>
              <a:rPr lang="zh-CN" altLang="en-US" sz="2400" dirty="0">
                <a:latin typeface="+mj-lt"/>
                <a:ea typeface="黑体" pitchFamily="2" charset="-122"/>
              </a:rPr>
              <a:t>之间的一条路径。</a:t>
            </a:r>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latin typeface="+mj-lt"/>
                <a:ea typeface="黑体" pitchFamily="2" charset="-122"/>
              </a:rPr>
              <a:t>沿该路径可以压入更多的流，从而增加流的值。</a:t>
            </a:r>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latin typeface="+mj-lt"/>
                <a:ea typeface="黑体" pitchFamily="2" charset="-122"/>
              </a:rPr>
              <a:t>反复进行这一过程，直到增广路径都被找出为止。最大流最小割定理将说明在算法终止时，这一过程可产生出最大流。</a:t>
            </a:r>
            <a:endParaRPr lang="en-US" altLang="zh-CN" sz="2400" dirty="0">
              <a:latin typeface="+mj-lt"/>
              <a:ea typeface="黑体" pitchFamily="2" charset="-122"/>
            </a:endParaRPr>
          </a:p>
        </p:txBody>
      </p:sp>
    </p:spTree>
    <p:extLst>
      <p:ext uri="{BB962C8B-B14F-4D97-AF65-F5344CB8AC3E}">
        <p14:creationId xmlns:p14="http://schemas.microsoft.com/office/powerpoint/2010/main" val="19157406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en-US" altLang="zh-CN" sz="2400" dirty="0">
                <a:latin typeface="+mj-lt"/>
                <a:ea typeface="黑体" pitchFamily="2" charset="-122"/>
              </a:rPr>
              <a:t>Ford-Fulkerson</a:t>
            </a:r>
            <a:r>
              <a:rPr lang="zh-CN" altLang="en-US" sz="2400" dirty="0">
                <a:latin typeface="+mj-lt"/>
                <a:ea typeface="黑体" pitchFamily="2" charset="-122"/>
              </a:rPr>
              <a:t>方法</a:t>
            </a:r>
            <a:r>
              <a:rPr lang="en-US" altLang="zh-CN" sz="2400" dirty="0">
                <a:latin typeface="+mj-lt"/>
                <a:ea typeface="黑体" pitchFamily="2" charset="-122"/>
              </a:rPr>
              <a:t>(</a:t>
            </a:r>
            <a:r>
              <a:rPr lang="en-US" altLang="zh-CN" sz="2400" dirty="0" err="1">
                <a:latin typeface="+mj-lt"/>
                <a:ea typeface="黑体" pitchFamily="2" charset="-122"/>
              </a:rPr>
              <a:t>G,s,t</a:t>
            </a:r>
            <a:r>
              <a:rPr lang="en-US" altLang="zh-CN" sz="2400" dirty="0">
                <a:latin typeface="+mj-lt"/>
                <a:ea typeface="黑体" pitchFamily="2" charset="-122"/>
              </a:rPr>
              <a:t>)</a:t>
            </a:r>
          </a:p>
          <a:p>
            <a:pPr marL="514350" indent="-514350">
              <a:buAutoNum type="arabicPlain"/>
            </a:pPr>
            <a:r>
              <a:rPr lang="zh-CN" altLang="en-US" sz="2400" dirty="0">
                <a:latin typeface="+mj-lt"/>
                <a:ea typeface="黑体" pitchFamily="2" charset="-122"/>
              </a:rPr>
              <a:t>初始化流</a:t>
            </a:r>
            <a:r>
              <a:rPr lang="en-US" altLang="zh-CN" sz="2400" i="1" dirty="0">
                <a:latin typeface="+mj-lt"/>
                <a:ea typeface="黑体" pitchFamily="2" charset="-122"/>
              </a:rPr>
              <a:t>f</a:t>
            </a:r>
            <a:r>
              <a:rPr lang="zh-CN" altLang="en-US" sz="2400" dirty="0">
                <a:latin typeface="+mj-lt"/>
                <a:ea typeface="黑体" pitchFamily="2" charset="-122"/>
              </a:rPr>
              <a:t>为</a:t>
            </a:r>
            <a:r>
              <a:rPr lang="en-US" altLang="zh-CN" sz="2400" dirty="0">
                <a:latin typeface="+mj-lt"/>
                <a:ea typeface="黑体" pitchFamily="2" charset="-122"/>
              </a:rPr>
              <a:t>0</a:t>
            </a:r>
          </a:p>
          <a:p>
            <a:pPr marL="514350" indent="-514350">
              <a:buAutoNum type="arabicPlain"/>
            </a:pPr>
            <a:r>
              <a:rPr lang="en-US" altLang="zh-CN" sz="2400" dirty="0">
                <a:latin typeface="+mj-lt"/>
                <a:ea typeface="黑体" pitchFamily="2" charset="-122"/>
              </a:rPr>
              <a:t>While(</a:t>
            </a:r>
            <a:r>
              <a:rPr lang="zh-CN" altLang="en-US" sz="2400" dirty="0">
                <a:latin typeface="+mj-lt"/>
                <a:ea typeface="黑体" pitchFamily="2" charset="-122"/>
              </a:rPr>
              <a:t>存在一条增广路径</a:t>
            </a:r>
            <a:r>
              <a:rPr lang="en-US" altLang="zh-CN" sz="2400" i="1" dirty="0">
                <a:latin typeface="+mj-lt"/>
                <a:ea typeface="黑体" pitchFamily="2" charset="-122"/>
              </a:rPr>
              <a:t>p</a:t>
            </a:r>
            <a:r>
              <a:rPr lang="en-US" altLang="zh-CN" sz="2400" dirty="0">
                <a:latin typeface="+mj-lt"/>
                <a:ea typeface="黑体" pitchFamily="2" charset="-122"/>
              </a:rPr>
              <a:t>) {</a:t>
            </a:r>
          </a:p>
          <a:p>
            <a:pPr marL="514350" indent="-514350">
              <a:buAutoNum type="arabicPlain"/>
            </a:pPr>
            <a:r>
              <a:rPr lang="en-US" altLang="zh-CN" sz="2400" dirty="0">
                <a:latin typeface="+mj-lt"/>
                <a:ea typeface="黑体" pitchFamily="2" charset="-122"/>
              </a:rPr>
              <a:t>    </a:t>
            </a:r>
            <a:r>
              <a:rPr lang="zh-CN" altLang="en-US" sz="2400" dirty="0">
                <a:latin typeface="+mj-lt"/>
                <a:ea typeface="黑体" pitchFamily="2" charset="-122"/>
              </a:rPr>
              <a:t>沿着增广路径</a:t>
            </a:r>
            <a:r>
              <a:rPr lang="en-US" altLang="zh-CN" sz="2400" i="1" dirty="0">
                <a:latin typeface="+mj-lt"/>
                <a:ea typeface="黑体" pitchFamily="2" charset="-122"/>
              </a:rPr>
              <a:t>p</a:t>
            </a:r>
            <a:r>
              <a:rPr lang="zh-CN" altLang="en-US" sz="2400" dirty="0">
                <a:latin typeface="+mj-lt"/>
                <a:ea typeface="黑体" pitchFamily="2" charset="-122"/>
              </a:rPr>
              <a:t>增广流</a:t>
            </a:r>
            <a:r>
              <a:rPr lang="en-US" altLang="zh-CN" sz="2400" i="1" dirty="0">
                <a:latin typeface="+mj-lt"/>
                <a:ea typeface="黑体" pitchFamily="2" charset="-122"/>
              </a:rPr>
              <a:t>f</a:t>
            </a:r>
          </a:p>
          <a:p>
            <a:pPr marL="514350" indent="-514350">
              <a:buAutoNum type="arabicPlain"/>
            </a:pPr>
            <a:r>
              <a:rPr lang="en-US" altLang="zh-CN" sz="2400" dirty="0">
                <a:latin typeface="+mj-lt"/>
                <a:ea typeface="黑体" pitchFamily="2" charset="-122"/>
              </a:rPr>
              <a:t>}</a:t>
            </a:r>
          </a:p>
          <a:p>
            <a:pPr marL="514350" indent="-514350">
              <a:buAutoNum type="arabicPlain"/>
            </a:pPr>
            <a:r>
              <a:rPr lang="zh-CN" altLang="en-US" sz="2400" dirty="0">
                <a:latin typeface="+mj-lt"/>
                <a:ea typeface="黑体" pitchFamily="2" charset="-122"/>
              </a:rPr>
              <a:t>返回</a:t>
            </a:r>
            <a:r>
              <a:rPr lang="en-US" altLang="zh-CN" sz="2400" i="1" dirty="0">
                <a:latin typeface="+mj-lt"/>
                <a:ea typeface="黑体" pitchFamily="2" charset="-122"/>
              </a:rPr>
              <a:t>f</a:t>
            </a: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pSp>
        <p:nvGrpSpPr>
          <p:cNvPr id="5" name="Group 2"/>
          <p:cNvGrpSpPr>
            <a:grpSpLocks/>
          </p:cNvGrpSpPr>
          <p:nvPr/>
        </p:nvGrpSpPr>
        <p:grpSpPr bwMode="auto">
          <a:xfrm>
            <a:off x="2621786" y="3230018"/>
            <a:ext cx="4625975" cy="2855913"/>
            <a:chOff x="874" y="1033"/>
            <a:chExt cx="3648" cy="2496"/>
          </a:xfrm>
        </p:grpSpPr>
        <p:sp>
          <p:nvSpPr>
            <p:cNvPr id="6" name="Oval 3"/>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7" name="Oval 4"/>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Oval 5"/>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9" name="Oval 6"/>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0" name="Oval 7"/>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1" name="Oval 8"/>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2" name="Line 9"/>
            <p:cNvSpPr>
              <a:spLocks noChangeShapeType="1"/>
            </p:cNvSpPr>
            <p:nvPr/>
          </p:nvSpPr>
          <p:spPr bwMode="auto">
            <a:xfrm>
              <a:off x="1114" y="2425"/>
              <a:ext cx="816" cy="81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0"/>
            <p:cNvSpPr>
              <a:spLocks noChangeShapeType="1"/>
            </p:cNvSpPr>
            <p:nvPr/>
          </p:nvSpPr>
          <p:spPr bwMode="auto">
            <a:xfrm>
              <a:off x="1210" y="2281"/>
              <a:ext cx="67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1"/>
            <p:cNvSpPr>
              <a:spLocks noChangeShapeType="1"/>
            </p:cNvSpPr>
            <p:nvPr/>
          </p:nvSpPr>
          <p:spPr bwMode="auto">
            <a:xfrm flipV="1">
              <a:off x="2170" y="1321"/>
              <a:ext cx="864" cy="81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2"/>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3"/>
            <p:cNvSpPr>
              <a:spLocks noChangeShapeType="1"/>
            </p:cNvSpPr>
            <p:nvPr/>
          </p:nvSpPr>
          <p:spPr bwMode="auto">
            <a:xfrm flipV="1">
              <a:off x="2218" y="2400"/>
              <a:ext cx="902" cy="889"/>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4"/>
            <p:cNvSpPr>
              <a:spLocks noChangeShapeType="1"/>
            </p:cNvSpPr>
            <p:nvPr/>
          </p:nvSpPr>
          <p:spPr bwMode="auto">
            <a:xfrm>
              <a:off x="3370"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5"/>
            <p:cNvSpPr>
              <a:spLocks noChangeShapeType="1"/>
            </p:cNvSpPr>
            <p:nvPr/>
          </p:nvSpPr>
          <p:spPr bwMode="auto">
            <a:xfrm>
              <a:off x="3274" y="1273"/>
              <a:ext cx="1008" cy="91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6"/>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1</a:t>
              </a:r>
            </a:p>
          </p:txBody>
        </p:sp>
        <p:sp>
          <p:nvSpPr>
            <p:cNvPr id="20" name="Text Box 17"/>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21" name="Text Box 18"/>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22" name="Text Box 19"/>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23" name="Text Box 20"/>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24" name="Text Box 21"/>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25" name="Text Box 22"/>
            <p:cNvSpPr txBox="1">
              <a:spLocks noChangeArrowheads="1"/>
            </p:cNvSpPr>
            <p:nvPr/>
          </p:nvSpPr>
          <p:spPr bwMode="auto">
            <a:xfrm>
              <a:off x="1450"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0/2</a:t>
              </a:r>
            </a:p>
          </p:txBody>
        </p:sp>
        <p:sp>
          <p:nvSpPr>
            <p:cNvPr id="26" name="Text Box 23"/>
            <p:cNvSpPr txBox="1">
              <a:spLocks noChangeArrowheads="1"/>
            </p:cNvSpPr>
            <p:nvPr/>
          </p:nvSpPr>
          <p:spPr bwMode="auto">
            <a:xfrm>
              <a:off x="3610"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0/2</a:t>
              </a:r>
            </a:p>
          </p:txBody>
        </p:sp>
        <p:sp>
          <p:nvSpPr>
            <p:cNvPr id="27" name="Text Box 24"/>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28" name="Text Box 25"/>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29" name="Text Box 26"/>
            <p:cNvSpPr txBox="1">
              <a:spLocks noChangeArrowheads="1"/>
            </p:cNvSpPr>
            <p:nvPr/>
          </p:nvSpPr>
          <p:spPr bwMode="auto">
            <a:xfrm>
              <a:off x="2449"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0/5</a:t>
              </a:r>
            </a:p>
          </p:txBody>
        </p:sp>
        <p:sp>
          <p:nvSpPr>
            <p:cNvPr id="30" name="Text Box 27"/>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0/3</a:t>
              </a:r>
            </a:p>
          </p:txBody>
        </p:sp>
        <p:sp>
          <p:nvSpPr>
            <p:cNvPr id="31" name="Text Box 28"/>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
        <p:nvSpPr>
          <p:cNvPr id="33" name="Oval 3">
            <a:extLst>
              <a:ext uri="{FF2B5EF4-FFF2-40B4-BE49-F238E27FC236}">
                <a16:creationId xmlns:a16="http://schemas.microsoft.com/office/drawing/2014/main" id="{3F06F2F5-C840-4B7E-AA89-8455E9960C11}"/>
              </a:ext>
            </a:extLst>
          </p:cNvPr>
          <p:cNvSpPr>
            <a:spLocks noChangeArrowheads="1"/>
          </p:cNvSpPr>
          <p:nvPr/>
        </p:nvSpPr>
        <p:spPr bwMode="auto">
          <a:xfrm>
            <a:off x="2613025" y="4448358"/>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4" name="Oval 4">
            <a:extLst>
              <a:ext uri="{FF2B5EF4-FFF2-40B4-BE49-F238E27FC236}">
                <a16:creationId xmlns:a16="http://schemas.microsoft.com/office/drawing/2014/main" id="{85E78FE2-FF0C-427B-904E-E20BE9CEFCBD}"/>
              </a:ext>
            </a:extLst>
          </p:cNvPr>
          <p:cNvSpPr>
            <a:spLocks noChangeArrowheads="1"/>
          </p:cNvSpPr>
          <p:nvPr/>
        </p:nvSpPr>
        <p:spPr bwMode="auto">
          <a:xfrm>
            <a:off x="3891255" y="5711550"/>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5" name="Oval 5">
            <a:extLst>
              <a:ext uri="{FF2B5EF4-FFF2-40B4-BE49-F238E27FC236}">
                <a16:creationId xmlns:a16="http://schemas.microsoft.com/office/drawing/2014/main" id="{D16C9A75-E9FC-4A09-99E5-A1DDED43C80E}"/>
              </a:ext>
            </a:extLst>
          </p:cNvPr>
          <p:cNvSpPr>
            <a:spLocks noChangeArrowheads="1"/>
          </p:cNvSpPr>
          <p:nvPr/>
        </p:nvSpPr>
        <p:spPr bwMode="auto">
          <a:xfrm>
            <a:off x="5352089" y="4448358"/>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6" name="Oval 6">
            <a:extLst>
              <a:ext uri="{FF2B5EF4-FFF2-40B4-BE49-F238E27FC236}">
                <a16:creationId xmlns:a16="http://schemas.microsoft.com/office/drawing/2014/main" id="{75CC82E1-5736-4656-8B7A-BF46B71D69B1}"/>
              </a:ext>
            </a:extLst>
          </p:cNvPr>
          <p:cNvSpPr>
            <a:spLocks noChangeArrowheads="1"/>
          </p:cNvSpPr>
          <p:nvPr/>
        </p:nvSpPr>
        <p:spPr bwMode="auto">
          <a:xfrm>
            <a:off x="3891255" y="4448358"/>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7" name="Oval 7">
            <a:extLst>
              <a:ext uri="{FF2B5EF4-FFF2-40B4-BE49-F238E27FC236}">
                <a16:creationId xmlns:a16="http://schemas.microsoft.com/office/drawing/2014/main" id="{DF920C10-B42F-4EC0-ADC1-CD2B82390C99}"/>
              </a:ext>
            </a:extLst>
          </p:cNvPr>
          <p:cNvSpPr>
            <a:spLocks noChangeArrowheads="1"/>
          </p:cNvSpPr>
          <p:nvPr/>
        </p:nvSpPr>
        <p:spPr bwMode="auto">
          <a:xfrm>
            <a:off x="5291221" y="3240087"/>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8" name="Oval 8">
            <a:extLst>
              <a:ext uri="{FF2B5EF4-FFF2-40B4-BE49-F238E27FC236}">
                <a16:creationId xmlns:a16="http://schemas.microsoft.com/office/drawing/2014/main" id="{0268BBBF-FA68-41D9-A7F1-A62391582363}"/>
              </a:ext>
            </a:extLst>
          </p:cNvPr>
          <p:cNvSpPr>
            <a:spLocks noChangeArrowheads="1"/>
          </p:cNvSpPr>
          <p:nvPr/>
        </p:nvSpPr>
        <p:spPr bwMode="auto">
          <a:xfrm>
            <a:off x="6812923" y="4503279"/>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9" name="Line 9">
            <a:extLst>
              <a:ext uri="{FF2B5EF4-FFF2-40B4-BE49-F238E27FC236}">
                <a16:creationId xmlns:a16="http://schemas.microsoft.com/office/drawing/2014/main" id="{28FC55D1-054B-404B-BD18-3B4267F40D30}"/>
              </a:ext>
            </a:extLst>
          </p:cNvPr>
          <p:cNvSpPr>
            <a:spLocks noChangeShapeType="1"/>
          </p:cNvSpPr>
          <p:nvPr/>
        </p:nvSpPr>
        <p:spPr bwMode="auto">
          <a:xfrm>
            <a:off x="2917365" y="4832808"/>
            <a:ext cx="1034758" cy="933664"/>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10">
            <a:extLst>
              <a:ext uri="{FF2B5EF4-FFF2-40B4-BE49-F238E27FC236}">
                <a16:creationId xmlns:a16="http://schemas.microsoft.com/office/drawing/2014/main" id="{69B00C7B-8556-4C46-80D0-4A6546AED29D}"/>
              </a:ext>
            </a:extLst>
          </p:cNvPr>
          <p:cNvSpPr>
            <a:spLocks noChangeShapeType="1"/>
          </p:cNvSpPr>
          <p:nvPr/>
        </p:nvSpPr>
        <p:spPr bwMode="auto">
          <a:xfrm>
            <a:off x="3039102" y="4668044"/>
            <a:ext cx="852153"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41" name="Line 11">
            <a:extLst>
              <a:ext uri="{FF2B5EF4-FFF2-40B4-BE49-F238E27FC236}">
                <a16:creationId xmlns:a16="http://schemas.microsoft.com/office/drawing/2014/main" id="{B62D1889-AEDA-4756-A51D-3DE933F001C2}"/>
              </a:ext>
            </a:extLst>
          </p:cNvPr>
          <p:cNvSpPr>
            <a:spLocks noChangeShapeType="1"/>
          </p:cNvSpPr>
          <p:nvPr/>
        </p:nvSpPr>
        <p:spPr bwMode="auto">
          <a:xfrm flipV="1">
            <a:off x="4256463" y="3569615"/>
            <a:ext cx="1095626" cy="933664"/>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2">
            <a:extLst>
              <a:ext uri="{FF2B5EF4-FFF2-40B4-BE49-F238E27FC236}">
                <a16:creationId xmlns:a16="http://schemas.microsoft.com/office/drawing/2014/main" id="{A81FBF84-1A36-4183-8A17-DDB3757D0262}"/>
              </a:ext>
            </a:extLst>
          </p:cNvPr>
          <p:cNvSpPr>
            <a:spLocks noChangeShapeType="1"/>
          </p:cNvSpPr>
          <p:nvPr/>
        </p:nvSpPr>
        <p:spPr bwMode="auto">
          <a:xfrm>
            <a:off x="4317332" y="4668044"/>
            <a:ext cx="1034758"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13">
            <a:extLst>
              <a:ext uri="{FF2B5EF4-FFF2-40B4-BE49-F238E27FC236}">
                <a16:creationId xmlns:a16="http://schemas.microsoft.com/office/drawing/2014/main" id="{58CC4409-C2E5-4A22-BAE7-8DF1EB81D5BD}"/>
              </a:ext>
            </a:extLst>
          </p:cNvPr>
          <p:cNvSpPr>
            <a:spLocks noChangeShapeType="1"/>
          </p:cNvSpPr>
          <p:nvPr/>
        </p:nvSpPr>
        <p:spPr bwMode="auto">
          <a:xfrm flipV="1">
            <a:off x="4317332" y="4804203"/>
            <a:ext cx="1143813" cy="101719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4">
            <a:extLst>
              <a:ext uri="{FF2B5EF4-FFF2-40B4-BE49-F238E27FC236}">
                <a16:creationId xmlns:a16="http://schemas.microsoft.com/office/drawing/2014/main" id="{113D6D15-527A-4D47-B030-1C155FAB311C}"/>
              </a:ext>
            </a:extLst>
          </p:cNvPr>
          <p:cNvSpPr>
            <a:spLocks noChangeShapeType="1"/>
          </p:cNvSpPr>
          <p:nvPr/>
        </p:nvSpPr>
        <p:spPr bwMode="auto">
          <a:xfrm>
            <a:off x="5778166" y="4668044"/>
            <a:ext cx="1034758"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5">
            <a:extLst>
              <a:ext uri="{FF2B5EF4-FFF2-40B4-BE49-F238E27FC236}">
                <a16:creationId xmlns:a16="http://schemas.microsoft.com/office/drawing/2014/main" id="{BE059D40-3917-485E-A0BA-8A5E96049162}"/>
              </a:ext>
            </a:extLst>
          </p:cNvPr>
          <p:cNvSpPr>
            <a:spLocks noChangeShapeType="1"/>
          </p:cNvSpPr>
          <p:nvPr/>
        </p:nvSpPr>
        <p:spPr bwMode="auto">
          <a:xfrm>
            <a:off x="5656430" y="3514694"/>
            <a:ext cx="1278230" cy="1043507"/>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Text Box 16">
            <a:extLst>
              <a:ext uri="{FF2B5EF4-FFF2-40B4-BE49-F238E27FC236}">
                <a16:creationId xmlns:a16="http://schemas.microsoft.com/office/drawing/2014/main" id="{B1EDF905-468B-4D07-A6FD-35758549A202}"/>
              </a:ext>
            </a:extLst>
          </p:cNvPr>
          <p:cNvSpPr txBox="1">
            <a:spLocks noChangeArrowheads="1"/>
          </p:cNvSpPr>
          <p:nvPr/>
        </p:nvSpPr>
        <p:spPr bwMode="auto">
          <a:xfrm>
            <a:off x="2673893" y="4503279"/>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47" name="Text Box 17">
            <a:extLst>
              <a:ext uri="{FF2B5EF4-FFF2-40B4-BE49-F238E27FC236}">
                <a16:creationId xmlns:a16="http://schemas.microsoft.com/office/drawing/2014/main" id="{EA0F2B16-35B1-4BC3-967A-0DC7DE89C521}"/>
              </a:ext>
            </a:extLst>
          </p:cNvPr>
          <p:cNvSpPr txBox="1">
            <a:spLocks noChangeArrowheads="1"/>
          </p:cNvSpPr>
          <p:nvPr/>
        </p:nvSpPr>
        <p:spPr bwMode="auto">
          <a:xfrm>
            <a:off x="3952123" y="4503279"/>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48" name="Text Box 18">
            <a:extLst>
              <a:ext uri="{FF2B5EF4-FFF2-40B4-BE49-F238E27FC236}">
                <a16:creationId xmlns:a16="http://schemas.microsoft.com/office/drawing/2014/main" id="{D86B1960-1F21-4D11-AE92-6C115E8246EE}"/>
              </a:ext>
            </a:extLst>
          </p:cNvPr>
          <p:cNvSpPr txBox="1">
            <a:spLocks noChangeArrowheads="1"/>
          </p:cNvSpPr>
          <p:nvPr/>
        </p:nvSpPr>
        <p:spPr bwMode="auto">
          <a:xfrm>
            <a:off x="5412957" y="4503279"/>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49" name="Text Box 19">
            <a:extLst>
              <a:ext uri="{FF2B5EF4-FFF2-40B4-BE49-F238E27FC236}">
                <a16:creationId xmlns:a16="http://schemas.microsoft.com/office/drawing/2014/main" id="{7EE25CB5-4BCC-48A4-91AE-632A935E9EDF}"/>
              </a:ext>
            </a:extLst>
          </p:cNvPr>
          <p:cNvSpPr txBox="1">
            <a:spLocks noChangeArrowheads="1"/>
          </p:cNvSpPr>
          <p:nvPr/>
        </p:nvSpPr>
        <p:spPr bwMode="auto">
          <a:xfrm>
            <a:off x="3952123" y="5766472"/>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50" name="Text Box 20">
            <a:extLst>
              <a:ext uri="{FF2B5EF4-FFF2-40B4-BE49-F238E27FC236}">
                <a16:creationId xmlns:a16="http://schemas.microsoft.com/office/drawing/2014/main" id="{7BF3297E-6192-431F-BF07-FC758D34A792}"/>
              </a:ext>
            </a:extLst>
          </p:cNvPr>
          <p:cNvSpPr txBox="1">
            <a:spLocks noChangeArrowheads="1"/>
          </p:cNvSpPr>
          <p:nvPr/>
        </p:nvSpPr>
        <p:spPr bwMode="auto">
          <a:xfrm>
            <a:off x="5352089" y="3295008"/>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51" name="Text Box 21">
            <a:extLst>
              <a:ext uri="{FF2B5EF4-FFF2-40B4-BE49-F238E27FC236}">
                <a16:creationId xmlns:a16="http://schemas.microsoft.com/office/drawing/2014/main" id="{7601CEFF-9DB5-4AA0-8AE3-6B682507FDC4}"/>
              </a:ext>
            </a:extLst>
          </p:cNvPr>
          <p:cNvSpPr txBox="1">
            <a:spLocks noChangeArrowheads="1"/>
          </p:cNvSpPr>
          <p:nvPr/>
        </p:nvSpPr>
        <p:spPr bwMode="auto">
          <a:xfrm>
            <a:off x="6934660" y="4558201"/>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52" name="Text Box 22">
            <a:extLst>
              <a:ext uri="{FF2B5EF4-FFF2-40B4-BE49-F238E27FC236}">
                <a16:creationId xmlns:a16="http://schemas.microsoft.com/office/drawing/2014/main" id="{13D922BC-2D63-4CFA-BE14-41A5E71DED1B}"/>
              </a:ext>
            </a:extLst>
          </p:cNvPr>
          <p:cNvSpPr txBox="1">
            <a:spLocks noChangeArrowheads="1"/>
          </p:cNvSpPr>
          <p:nvPr/>
        </p:nvSpPr>
        <p:spPr bwMode="auto">
          <a:xfrm>
            <a:off x="3343442" y="4279017"/>
            <a:ext cx="504698" cy="3695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rgbClr val="FF0000"/>
                </a:solidFill>
                <a:latin typeface="Arial" charset="0"/>
                <a:ea typeface="宋体" charset="-122"/>
              </a:rPr>
              <a:t>2</a:t>
            </a:r>
            <a:r>
              <a:rPr kumimoji="0" lang="en-US" altLang="zh-CN" sz="1800" b="0" dirty="0">
                <a:solidFill>
                  <a:schemeClr val="tx1"/>
                </a:solidFill>
                <a:latin typeface="Arial" charset="0"/>
                <a:ea typeface="宋体" charset="-122"/>
              </a:rPr>
              <a:t>/2</a:t>
            </a:r>
          </a:p>
        </p:txBody>
      </p:sp>
      <p:sp>
        <p:nvSpPr>
          <p:cNvPr id="53" name="Text Box 23">
            <a:extLst>
              <a:ext uri="{FF2B5EF4-FFF2-40B4-BE49-F238E27FC236}">
                <a16:creationId xmlns:a16="http://schemas.microsoft.com/office/drawing/2014/main" id="{31CAE8CA-CB85-4F6A-A002-858A6BB9AFAB}"/>
              </a:ext>
            </a:extLst>
          </p:cNvPr>
          <p:cNvSpPr txBox="1">
            <a:spLocks noChangeArrowheads="1"/>
          </p:cNvSpPr>
          <p:nvPr/>
        </p:nvSpPr>
        <p:spPr bwMode="auto">
          <a:xfrm>
            <a:off x="6012762" y="4279017"/>
            <a:ext cx="504698" cy="3695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rgbClr val="FF0000"/>
                </a:solidFill>
                <a:latin typeface="Arial" charset="0"/>
                <a:ea typeface="宋体" charset="-122"/>
              </a:rPr>
              <a:t>2</a:t>
            </a:r>
            <a:r>
              <a:rPr kumimoji="0" lang="en-US" altLang="zh-CN" sz="1800" b="0" dirty="0">
                <a:solidFill>
                  <a:schemeClr val="tx1"/>
                </a:solidFill>
                <a:latin typeface="Arial" charset="0"/>
                <a:ea typeface="宋体" charset="-122"/>
              </a:rPr>
              <a:t>/2</a:t>
            </a:r>
          </a:p>
        </p:txBody>
      </p:sp>
      <p:sp>
        <p:nvSpPr>
          <p:cNvPr id="54" name="Text Box 24">
            <a:extLst>
              <a:ext uri="{FF2B5EF4-FFF2-40B4-BE49-F238E27FC236}">
                <a16:creationId xmlns:a16="http://schemas.microsoft.com/office/drawing/2014/main" id="{B6749F05-A0E0-4318-9CDC-BF966DD5EB64}"/>
              </a:ext>
            </a:extLst>
          </p:cNvPr>
          <p:cNvSpPr txBox="1">
            <a:spLocks noChangeArrowheads="1"/>
          </p:cNvSpPr>
          <p:nvPr/>
        </p:nvSpPr>
        <p:spPr bwMode="auto">
          <a:xfrm>
            <a:off x="2965553" y="5188653"/>
            <a:ext cx="40071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5" name="Text Box 25">
            <a:extLst>
              <a:ext uri="{FF2B5EF4-FFF2-40B4-BE49-F238E27FC236}">
                <a16:creationId xmlns:a16="http://schemas.microsoft.com/office/drawing/2014/main" id="{9EC659D0-9C8C-4812-A70D-F5CC8D09A8B8}"/>
              </a:ext>
            </a:extLst>
          </p:cNvPr>
          <p:cNvSpPr txBox="1">
            <a:spLocks noChangeArrowheads="1"/>
          </p:cNvSpPr>
          <p:nvPr/>
        </p:nvSpPr>
        <p:spPr bwMode="auto">
          <a:xfrm>
            <a:off x="4791595" y="5298495"/>
            <a:ext cx="40071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56" name="Text Box 26">
            <a:extLst>
              <a:ext uri="{FF2B5EF4-FFF2-40B4-BE49-F238E27FC236}">
                <a16:creationId xmlns:a16="http://schemas.microsoft.com/office/drawing/2014/main" id="{93796C64-F625-419B-B341-F6D1C8C7B1C8}"/>
              </a:ext>
            </a:extLst>
          </p:cNvPr>
          <p:cNvSpPr txBox="1">
            <a:spLocks noChangeArrowheads="1"/>
          </p:cNvSpPr>
          <p:nvPr/>
        </p:nvSpPr>
        <p:spPr bwMode="auto">
          <a:xfrm>
            <a:off x="4597578" y="4279017"/>
            <a:ext cx="504698" cy="3695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rgbClr val="FF0000"/>
                </a:solidFill>
                <a:latin typeface="Arial" charset="0"/>
                <a:ea typeface="宋体" charset="-122"/>
              </a:rPr>
              <a:t>2</a:t>
            </a:r>
            <a:r>
              <a:rPr kumimoji="0" lang="en-US" altLang="zh-CN" sz="1800" b="0" dirty="0">
                <a:solidFill>
                  <a:schemeClr val="tx1"/>
                </a:solidFill>
                <a:latin typeface="Arial" charset="0"/>
                <a:ea typeface="宋体" charset="-122"/>
              </a:rPr>
              <a:t>/5</a:t>
            </a:r>
          </a:p>
        </p:txBody>
      </p:sp>
      <p:sp>
        <p:nvSpPr>
          <p:cNvPr id="57" name="Text Box 27">
            <a:extLst>
              <a:ext uri="{FF2B5EF4-FFF2-40B4-BE49-F238E27FC236}">
                <a16:creationId xmlns:a16="http://schemas.microsoft.com/office/drawing/2014/main" id="{533C708C-B1B2-48F1-994F-EF25064D3E22}"/>
              </a:ext>
            </a:extLst>
          </p:cNvPr>
          <p:cNvSpPr txBox="1">
            <a:spLocks noChangeArrowheads="1"/>
          </p:cNvSpPr>
          <p:nvPr/>
        </p:nvSpPr>
        <p:spPr bwMode="auto">
          <a:xfrm>
            <a:off x="4548123" y="3650853"/>
            <a:ext cx="40071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8" name="Text Box 28">
            <a:extLst>
              <a:ext uri="{FF2B5EF4-FFF2-40B4-BE49-F238E27FC236}">
                <a16:creationId xmlns:a16="http://schemas.microsoft.com/office/drawing/2014/main" id="{6656738B-DAA6-4F72-92E3-F5A513696938}"/>
              </a:ext>
            </a:extLst>
          </p:cNvPr>
          <p:cNvSpPr txBox="1">
            <a:spLocks noChangeArrowheads="1"/>
          </p:cNvSpPr>
          <p:nvPr/>
        </p:nvSpPr>
        <p:spPr bwMode="auto">
          <a:xfrm>
            <a:off x="6069825" y="3650853"/>
            <a:ext cx="40071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cxnSp>
        <p:nvCxnSpPr>
          <p:cNvPr id="3" name="直接箭头连接符 2">
            <a:extLst>
              <a:ext uri="{FF2B5EF4-FFF2-40B4-BE49-F238E27FC236}">
                <a16:creationId xmlns:a16="http://schemas.microsoft.com/office/drawing/2014/main" id="{25CACFE1-F367-48C8-8DBC-1499C2482AE0}"/>
              </a:ext>
            </a:extLst>
          </p:cNvPr>
          <p:cNvCxnSpPr>
            <a:cxnSpLocks/>
          </p:cNvCxnSpPr>
          <p:nvPr/>
        </p:nvCxnSpPr>
        <p:spPr bwMode="auto">
          <a:xfrm flipV="1">
            <a:off x="3066576" y="4661521"/>
            <a:ext cx="841344" cy="1"/>
          </a:xfrm>
          <a:prstGeom prst="straightConnector1">
            <a:avLst/>
          </a:prstGeom>
          <a:solidFill>
            <a:schemeClr val="accent1"/>
          </a:solidFill>
          <a:ln w="63500" cap="flat" cmpd="sng" algn="ctr">
            <a:solidFill>
              <a:srgbClr val="CC3300"/>
            </a:solidFill>
            <a:prstDash val="solid"/>
            <a:round/>
            <a:headEnd type="none" w="med" len="med"/>
            <a:tailEnd type="triangle"/>
          </a:ln>
          <a:effectLst/>
        </p:spPr>
      </p:cxnSp>
      <p:cxnSp>
        <p:nvCxnSpPr>
          <p:cNvPr id="64" name="直接箭头连接符 63">
            <a:extLst>
              <a:ext uri="{FF2B5EF4-FFF2-40B4-BE49-F238E27FC236}">
                <a16:creationId xmlns:a16="http://schemas.microsoft.com/office/drawing/2014/main" id="{99E25300-C482-4F83-8CB0-4FC603BEA7B2}"/>
              </a:ext>
            </a:extLst>
          </p:cNvPr>
          <p:cNvCxnSpPr>
            <a:cxnSpLocks/>
            <a:endCxn id="42" idx="1"/>
          </p:cNvCxnSpPr>
          <p:nvPr/>
        </p:nvCxnSpPr>
        <p:spPr bwMode="auto">
          <a:xfrm>
            <a:off x="4328141" y="4657740"/>
            <a:ext cx="1023949" cy="10305"/>
          </a:xfrm>
          <a:prstGeom prst="straightConnector1">
            <a:avLst/>
          </a:prstGeom>
          <a:solidFill>
            <a:schemeClr val="accent1"/>
          </a:solidFill>
          <a:ln w="63500" cap="flat" cmpd="sng" algn="ctr">
            <a:solidFill>
              <a:srgbClr val="CC3300"/>
            </a:solidFill>
            <a:prstDash val="solid"/>
            <a:round/>
            <a:headEnd type="none" w="med" len="med"/>
            <a:tailEnd type="triangle"/>
          </a:ln>
          <a:effectLst/>
        </p:spPr>
      </p:cxnSp>
      <p:cxnSp>
        <p:nvCxnSpPr>
          <p:cNvPr id="66" name="直接箭头连接符 65">
            <a:extLst>
              <a:ext uri="{FF2B5EF4-FFF2-40B4-BE49-F238E27FC236}">
                <a16:creationId xmlns:a16="http://schemas.microsoft.com/office/drawing/2014/main" id="{33CB540D-7928-4FB3-9244-D5CCFEEFD47E}"/>
              </a:ext>
            </a:extLst>
          </p:cNvPr>
          <p:cNvCxnSpPr>
            <a:cxnSpLocks/>
            <a:endCxn id="44" idx="1"/>
          </p:cNvCxnSpPr>
          <p:nvPr/>
        </p:nvCxnSpPr>
        <p:spPr bwMode="auto">
          <a:xfrm>
            <a:off x="5805256" y="4653089"/>
            <a:ext cx="1007668" cy="14956"/>
          </a:xfrm>
          <a:prstGeom prst="straightConnector1">
            <a:avLst/>
          </a:prstGeom>
          <a:solidFill>
            <a:schemeClr val="accent1"/>
          </a:solidFill>
          <a:ln w="63500" cap="flat" cmpd="sng" algn="ctr">
            <a:solidFill>
              <a:srgbClr val="CC3300"/>
            </a:solidFill>
            <a:prstDash val="solid"/>
            <a:round/>
            <a:headEnd type="none" w="med" len="med"/>
            <a:tailEnd type="triangle"/>
          </a:ln>
          <a:effectLst/>
        </p:spPr>
      </p:cxnSp>
    </p:spTree>
    <p:extLst>
      <p:ext uri="{BB962C8B-B14F-4D97-AF65-F5344CB8AC3E}">
        <p14:creationId xmlns:p14="http://schemas.microsoft.com/office/powerpoint/2010/main" val="227386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wipe(down)">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wipe(left)">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i="1" dirty="0">
                <a:solidFill>
                  <a:srgbClr val="C00000"/>
                </a:solidFill>
                <a:latin typeface="+mj-lt"/>
                <a:ea typeface="黑体" pitchFamily="2" charset="-122"/>
              </a:rPr>
              <a:t>残留网络</a:t>
            </a:r>
            <a:r>
              <a:rPr lang="zh-CN" altLang="en-US" sz="2400" dirty="0">
                <a:latin typeface="+mj-lt"/>
                <a:ea typeface="黑体" pitchFamily="2" charset="-122"/>
              </a:rPr>
              <a:t>：直观上，给定流网络和一个流，其残留网络由可以容纳更多网络流的边所组成。</a:t>
            </a:r>
            <a:endParaRPr lang="en-US" altLang="zh-CN" sz="2400" dirty="0">
              <a:latin typeface="+mj-lt"/>
              <a:ea typeface="黑体" pitchFamily="2" charset="-122"/>
            </a:endParaRPr>
          </a:p>
          <a:p>
            <a:r>
              <a:rPr lang="zh-CN" altLang="en-US" sz="2400" dirty="0">
                <a:latin typeface="+mj-lt"/>
                <a:ea typeface="黑体" pitchFamily="2" charset="-122"/>
              </a:rPr>
              <a:t>假设有一个流网络</a:t>
            </a:r>
            <a:r>
              <a:rPr lang="en-US" altLang="zh-CN" sz="2400" i="1" dirty="0">
                <a:latin typeface="+mj-lt"/>
                <a:ea typeface="黑体" pitchFamily="2" charset="-122"/>
              </a:rPr>
              <a:t>G=</a:t>
            </a:r>
            <a:r>
              <a:rPr lang="zh-CN" altLang="en-US" sz="2400" i="1" dirty="0">
                <a:latin typeface="+mj-lt"/>
                <a:ea typeface="黑体" pitchFamily="2" charset="-122"/>
              </a:rPr>
              <a:t>（</a:t>
            </a:r>
            <a:r>
              <a:rPr lang="en-US" altLang="zh-CN" sz="2400" i="1" dirty="0">
                <a:latin typeface="+mj-lt"/>
                <a:ea typeface="黑体" pitchFamily="2" charset="-122"/>
              </a:rPr>
              <a:t>V</a:t>
            </a:r>
            <a:r>
              <a:rPr lang="zh-CN" altLang="en-US" sz="2400" i="1" dirty="0">
                <a:latin typeface="+mj-lt"/>
                <a:ea typeface="黑体" pitchFamily="2" charset="-122"/>
              </a:rPr>
              <a:t>，</a:t>
            </a:r>
            <a:r>
              <a:rPr lang="en-US" altLang="zh-CN" sz="2400" i="1" dirty="0">
                <a:latin typeface="+mj-lt"/>
                <a:ea typeface="黑体" pitchFamily="2" charset="-122"/>
              </a:rPr>
              <a:t>E</a:t>
            </a:r>
            <a:r>
              <a:rPr lang="zh-CN" altLang="en-US" sz="2400" i="1" dirty="0">
                <a:latin typeface="+mj-lt"/>
                <a:ea typeface="黑体" pitchFamily="2" charset="-122"/>
              </a:rPr>
              <a:t>）</a:t>
            </a:r>
            <a:r>
              <a:rPr lang="zh-CN" altLang="en-US" sz="2400" dirty="0">
                <a:latin typeface="+mj-lt"/>
                <a:ea typeface="黑体" pitchFamily="2" charset="-122"/>
              </a:rPr>
              <a:t>，其源点为</a:t>
            </a:r>
            <a:r>
              <a:rPr lang="en-US" altLang="zh-CN" sz="2400" i="1" dirty="0">
                <a:latin typeface="+mj-lt"/>
                <a:ea typeface="黑体" pitchFamily="2" charset="-122"/>
              </a:rPr>
              <a:t>s</a:t>
            </a:r>
            <a:r>
              <a:rPr lang="zh-CN" altLang="en-US" sz="2400" dirty="0">
                <a:latin typeface="+mj-lt"/>
                <a:ea typeface="黑体" pitchFamily="2" charset="-122"/>
              </a:rPr>
              <a:t>，汇点为</a:t>
            </a:r>
            <a:r>
              <a:rPr lang="en-US" altLang="zh-CN" sz="2400" i="1" dirty="0">
                <a:latin typeface="+mj-lt"/>
                <a:ea typeface="黑体" pitchFamily="2" charset="-122"/>
              </a:rPr>
              <a:t>t</a:t>
            </a:r>
            <a:r>
              <a:rPr lang="zh-CN" altLang="en-US" sz="2400" i="1" dirty="0">
                <a:latin typeface="+mj-lt"/>
                <a:ea typeface="黑体" pitchFamily="2" charset="-122"/>
              </a:rPr>
              <a:t>，</a:t>
            </a:r>
            <a:r>
              <a:rPr lang="en-US" altLang="zh-CN" sz="2400" i="1" dirty="0">
                <a:latin typeface="+mj-lt"/>
                <a:ea typeface="黑体" pitchFamily="2" charset="-122"/>
              </a:rPr>
              <a:t>f</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中的一个流。考察一对顶点</a:t>
            </a:r>
            <a:r>
              <a:rPr lang="en-US" altLang="zh-CN" sz="2400" i="1" dirty="0" err="1">
                <a:latin typeface="+mj-lt"/>
                <a:ea typeface="黑体" pitchFamily="2" charset="-122"/>
              </a:rPr>
              <a:t>u,v∈V</a:t>
            </a:r>
            <a:r>
              <a:rPr lang="zh-CN" altLang="en-US" sz="2400" dirty="0">
                <a:latin typeface="+mj-lt"/>
                <a:ea typeface="黑体" pitchFamily="2" charset="-122"/>
              </a:rPr>
              <a:t>。</a:t>
            </a:r>
            <a:endParaRPr lang="en-US" altLang="zh-CN" sz="2400" dirty="0">
              <a:latin typeface="+mj-lt"/>
              <a:ea typeface="黑体" pitchFamily="2" charset="-122"/>
            </a:endParaRPr>
          </a:p>
          <a:p>
            <a:r>
              <a:rPr lang="zh-CN" altLang="en-US" sz="2400" dirty="0">
                <a:latin typeface="+mj-lt"/>
                <a:ea typeface="黑体" pitchFamily="2" charset="-122"/>
              </a:rPr>
              <a:t>在不超过容量</a:t>
            </a:r>
            <a:r>
              <a:rPr lang="en-US" altLang="zh-CN" sz="2400" i="1" dirty="0">
                <a:latin typeface="+mj-lt"/>
                <a:ea typeface="黑体" pitchFamily="2" charset="-122"/>
              </a:rPr>
              <a:t>c(</a:t>
            </a:r>
            <a:r>
              <a:rPr lang="en-US" altLang="zh-CN" sz="2400" i="1" dirty="0" err="1">
                <a:latin typeface="+mj-lt"/>
                <a:ea typeface="黑体" pitchFamily="2" charset="-122"/>
              </a:rPr>
              <a:t>u,v</a:t>
            </a:r>
            <a:r>
              <a:rPr lang="en-US" altLang="zh-CN" sz="2400" i="1" dirty="0">
                <a:latin typeface="+mj-lt"/>
                <a:ea typeface="黑体" pitchFamily="2" charset="-122"/>
              </a:rPr>
              <a:t>)</a:t>
            </a:r>
            <a:r>
              <a:rPr lang="zh-CN" altLang="en-US" sz="2400" dirty="0">
                <a:latin typeface="+mj-lt"/>
                <a:ea typeface="黑体" pitchFamily="2" charset="-122"/>
              </a:rPr>
              <a:t>条件下，从</a:t>
            </a:r>
            <a:r>
              <a:rPr lang="en-US" altLang="zh-CN" sz="2400" i="1" dirty="0">
                <a:latin typeface="+mj-lt"/>
                <a:ea typeface="黑体" pitchFamily="2" charset="-122"/>
              </a:rPr>
              <a:t>u</a:t>
            </a:r>
            <a:r>
              <a:rPr lang="zh-CN" altLang="en-US" sz="2400" dirty="0">
                <a:latin typeface="+mj-lt"/>
                <a:ea typeface="黑体" pitchFamily="2" charset="-122"/>
              </a:rPr>
              <a:t>到</a:t>
            </a:r>
            <a:r>
              <a:rPr lang="en-US" altLang="zh-CN" sz="2400" i="1" dirty="0">
                <a:latin typeface="+mj-lt"/>
                <a:ea typeface="黑体" pitchFamily="2" charset="-122"/>
              </a:rPr>
              <a:t>v</a:t>
            </a:r>
            <a:r>
              <a:rPr lang="zh-CN" altLang="en-US" sz="2400" dirty="0">
                <a:latin typeface="+mj-lt"/>
                <a:ea typeface="黑体" pitchFamily="2" charset="-122"/>
              </a:rPr>
              <a:t>之间可以压入的额外网络流量，就是</a:t>
            </a:r>
            <a:r>
              <a:rPr lang="en-US" altLang="zh-CN" sz="2400" dirty="0">
                <a:latin typeface="+mj-lt"/>
                <a:ea typeface="黑体" pitchFamily="2" charset="-122"/>
              </a:rPr>
              <a:t>(</a:t>
            </a:r>
            <a:r>
              <a:rPr lang="en-US" altLang="zh-CN" sz="2400" i="1" dirty="0" err="1">
                <a:latin typeface="+mj-lt"/>
                <a:ea typeface="黑体" pitchFamily="2" charset="-122"/>
              </a:rPr>
              <a:t>u,v</a:t>
            </a:r>
            <a:r>
              <a:rPr lang="en-US" altLang="zh-CN" sz="2400" dirty="0">
                <a:latin typeface="+mj-lt"/>
                <a:ea typeface="黑体" pitchFamily="2" charset="-122"/>
              </a:rPr>
              <a:t>)</a:t>
            </a:r>
            <a:r>
              <a:rPr lang="zh-CN" altLang="en-US" sz="2400" dirty="0">
                <a:latin typeface="+mj-lt"/>
                <a:ea typeface="黑体" pitchFamily="2" charset="-122"/>
              </a:rPr>
              <a:t>的</a:t>
            </a:r>
            <a:r>
              <a:rPr lang="zh-CN" altLang="en-US" sz="2400" i="1" dirty="0">
                <a:solidFill>
                  <a:srgbClr val="C00000"/>
                </a:solidFill>
                <a:latin typeface="+mj-lt"/>
                <a:ea typeface="黑体" pitchFamily="2" charset="-122"/>
              </a:rPr>
              <a:t>残留容量</a:t>
            </a:r>
            <a:r>
              <a:rPr lang="zh-CN" altLang="en-US" sz="2400" dirty="0">
                <a:latin typeface="+mj-lt"/>
                <a:ea typeface="黑体" pitchFamily="2" charset="-122"/>
              </a:rPr>
              <a:t>。由下式定义：                      </a:t>
            </a:r>
            <a:endParaRPr lang="en-US" altLang="zh-CN" sz="2400" dirty="0">
              <a:latin typeface="+mj-lt"/>
              <a:ea typeface="黑体" pitchFamily="2" charset="-122"/>
            </a:endParaRPr>
          </a:p>
          <a:p>
            <a:pPr marL="0" indent="0">
              <a:buNone/>
            </a:pPr>
            <a:endParaRPr lang="en-US" altLang="zh-CN" sz="2400" dirty="0">
              <a:latin typeface="+mj-lt"/>
              <a:ea typeface="黑体" pitchFamily="2" charset="-122"/>
            </a:endParaRPr>
          </a:p>
          <a:p>
            <a:r>
              <a:rPr lang="zh-CN" altLang="en-US" sz="2400" dirty="0">
                <a:latin typeface="+mj-lt"/>
                <a:ea typeface="黑体" pitchFamily="2" charset="-122"/>
              </a:rPr>
              <a:t>在不超过边</a:t>
            </a:r>
            <a:r>
              <a:rPr lang="en-US" altLang="zh-CN" sz="2400" dirty="0">
                <a:latin typeface="+mj-lt"/>
                <a:ea typeface="黑体" pitchFamily="2" charset="-122"/>
              </a:rPr>
              <a:t>(</a:t>
            </a:r>
            <a:r>
              <a:rPr lang="en-US" altLang="zh-CN" sz="2400" i="1" dirty="0">
                <a:ea typeface="黑体" pitchFamily="2" charset="-122"/>
              </a:rPr>
              <a:t>v</a:t>
            </a:r>
            <a:r>
              <a:rPr lang="en-US" altLang="zh-CN" sz="2400" i="1" baseline="-25000" dirty="0">
                <a:ea typeface="黑体" pitchFamily="2" charset="-122"/>
              </a:rPr>
              <a:t>2</a:t>
            </a:r>
            <a:r>
              <a:rPr lang="en-US" altLang="zh-CN" sz="2400" i="1" dirty="0">
                <a:latin typeface="+mj-lt"/>
                <a:ea typeface="黑体" pitchFamily="2" charset="-122"/>
              </a:rPr>
              <a:t>,v</a:t>
            </a:r>
            <a:r>
              <a:rPr lang="en-US" altLang="zh-CN" sz="2400" i="1" baseline="-25000" dirty="0">
                <a:latin typeface="+mj-lt"/>
                <a:ea typeface="黑体" pitchFamily="2" charset="-122"/>
              </a:rPr>
              <a:t>4</a:t>
            </a:r>
            <a:r>
              <a:rPr lang="en-US" altLang="zh-CN" sz="2400" dirty="0">
                <a:latin typeface="+mj-lt"/>
                <a:ea typeface="黑体" pitchFamily="2" charset="-122"/>
              </a:rPr>
              <a:t>)</a:t>
            </a:r>
            <a:r>
              <a:rPr lang="zh-CN" altLang="en-US" sz="2400" dirty="0">
                <a:latin typeface="+mj-lt"/>
                <a:ea typeface="黑体" pitchFamily="2" charset="-122"/>
              </a:rPr>
              <a:t>的容量限制的条件下，可以再传输</a:t>
            </a:r>
            <a:r>
              <a:rPr lang="en-US" altLang="zh-CN" sz="2400" dirty="0">
                <a:latin typeface="+mj-lt"/>
                <a:ea typeface="黑体" pitchFamily="2" charset="-122"/>
              </a:rPr>
              <a:t>3</a:t>
            </a:r>
            <a:r>
              <a:rPr lang="zh-CN" altLang="en-US" sz="2400" dirty="0">
                <a:latin typeface="+mj-lt"/>
                <a:ea typeface="黑体" pitchFamily="2" charset="-122"/>
              </a:rPr>
              <a:t>个单位的流量来增加</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a:t>
            </a:r>
            <a:r>
              <a:rPr lang="en-US" altLang="zh-CN" sz="2400" dirty="0">
                <a:latin typeface="+mj-lt"/>
                <a:ea typeface="黑体" pitchFamily="2" charset="-122"/>
              </a:rPr>
              <a:t>.</a:t>
            </a:r>
          </a:p>
          <a:p>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085450505"/>
              </p:ext>
            </p:extLst>
          </p:nvPr>
        </p:nvGraphicFramePr>
        <p:xfrm>
          <a:off x="2895600" y="3733800"/>
          <a:ext cx="3629025" cy="551244"/>
        </p:xfrm>
        <a:graphic>
          <a:graphicData uri="http://schemas.openxmlformats.org/presentationml/2006/ole">
            <mc:AlternateContent xmlns:mc="http://schemas.openxmlformats.org/markup-compatibility/2006">
              <mc:Choice xmlns:v="urn:schemas-microsoft-com:vml" Requires="v">
                <p:oleObj name="公式" r:id="rId3" imgW="1587500" imgH="241300" progId="">
                  <p:embed/>
                </p:oleObj>
              </mc:Choice>
              <mc:Fallback>
                <p:oleObj name="公式" r:id="rId3" imgW="1587500" imgH="2413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733800"/>
                        <a:ext cx="3629025" cy="551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Oval 75">
            <a:extLst>
              <a:ext uri="{FF2B5EF4-FFF2-40B4-BE49-F238E27FC236}">
                <a16:creationId xmlns:a16="http://schemas.microsoft.com/office/drawing/2014/main" id="{4E41FD3B-91E6-420E-A709-8C05A67EBF42}"/>
              </a:ext>
            </a:extLst>
          </p:cNvPr>
          <p:cNvSpPr>
            <a:spLocks noChangeArrowheads="1"/>
          </p:cNvSpPr>
          <p:nvPr/>
        </p:nvSpPr>
        <p:spPr bwMode="auto">
          <a:xfrm>
            <a:off x="2209800" y="5780087"/>
            <a:ext cx="420687"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6" name="Oval 76">
            <a:extLst>
              <a:ext uri="{FF2B5EF4-FFF2-40B4-BE49-F238E27FC236}">
                <a16:creationId xmlns:a16="http://schemas.microsoft.com/office/drawing/2014/main" id="{A8D3672D-BC0B-46D4-AFB0-BC09414962BC}"/>
              </a:ext>
            </a:extLst>
          </p:cNvPr>
          <p:cNvSpPr>
            <a:spLocks noChangeArrowheads="1"/>
          </p:cNvSpPr>
          <p:nvPr/>
        </p:nvSpPr>
        <p:spPr bwMode="auto">
          <a:xfrm>
            <a:off x="4081462" y="5761037"/>
            <a:ext cx="419100"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7" name="Line 84">
            <a:extLst>
              <a:ext uri="{FF2B5EF4-FFF2-40B4-BE49-F238E27FC236}">
                <a16:creationId xmlns:a16="http://schemas.microsoft.com/office/drawing/2014/main" id="{3B3403FD-B975-437C-A272-2BCF66B94642}"/>
              </a:ext>
            </a:extLst>
          </p:cNvPr>
          <p:cNvSpPr>
            <a:spLocks noChangeShapeType="1"/>
          </p:cNvSpPr>
          <p:nvPr/>
        </p:nvSpPr>
        <p:spPr bwMode="auto">
          <a:xfrm>
            <a:off x="2630487" y="5967412"/>
            <a:ext cx="145097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98">
            <a:extLst>
              <a:ext uri="{FF2B5EF4-FFF2-40B4-BE49-F238E27FC236}">
                <a16:creationId xmlns:a16="http://schemas.microsoft.com/office/drawing/2014/main" id="{B94D8FF6-CDDD-4FD4-8658-80F0B8F18FDF}"/>
              </a:ext>
            </a:extLst>
          </p:cNvPr>
          <p:cNvSpPr txBox="1">
            <a:spLocks noChangeArrowheads="1"/>
          </p:cNvSpPr>
          <p:nvPr/>
        </p:nvSpPr>
        <p:spPr bwMode="auto">
          <a:xfrm>
            <a:off x="2930525" y="6062662"/>
            <a:ext cx="877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11/14</a:t>
            </a:r>
          </a:p>
        </p:txBody>
      </p:sp>
      <p:sp>
        <p:nvSpPr>
          <p:cNvPr id="9" name="Oval 75">
            <a:extLst>
              <a:ext uri="{FF2B5EF4-FFF2-40B4-BE49-F238E27FC236}">
                <a16:creationId xmlns:a16="http://schemas.microsoft.com/office/drawing/2014/main" id="{EE1FC426-F8CC-4F97-AE42-5DD6BDAABB77}"/>
              </a:ext>
            </a:extLst>
          </p:cNvPr>
          <p:cNvSpPr>
            <a:spLocks noChangeArrowheads="1"/>
          </p:cNvSpPr>
          <p:nvPr/>
        </p:nvSpPr>
        <p:spPr bwMode="auto">
          <a:xfrm>
            <a:off x="5332412" y="5765800"/>
            <a:ext cx="420688"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10" name="Oval 76">
            <a:extLst>
              <a:ext uri="{FF2B5EF4-FFF2-40B4-BE49-F238E27FC236}">
                <a16:creationId xmlns:a16="http://schemas.microsoft.com/office/drawing/2014/main" id="{FC36A951-3286-4F57-A1C0-B956A84EA9E8}"/>
              </a:ext>
            </a:extLst>
          </p:cNvPr>
          <p:cNvSpPr>
            <a:spLocks noChangeArrowheads="1"/>
          </p:cNvSpPr>
          <p:nvPr/>
        </p:nvSpPr>
        <p:spPr bwMode="auto">
          <a:xfrm>
            <a:off x="7204075" y="5746750"/>
            <a:ext cx="419100"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11" name="Line 84">
            <a:extLst>
              <a:ext uri="{FF2B5EF4-FFF2-40B4-BE49-F238E27FC236}">
                <a16:creationId xmlns:a16="http://schemas.microsoft.com/office/drawing/2014/main" id="{AE372DB4-8A36-4180-86A2-11A2CAF6456C}"/>
              </a:ext>
            </a:extLst>
          </p:cNvPr>
          <p:cNvSpPr>
            <a:spLocks noChangeShapeType="1"/>
          </p:cNvSpPr>
          <p:nvPr/>
        </p:nvSpPr>
        <p:spPr bwMode="auto">
          <a:xfrm>
            <a:off x="5753100" y="5953125"/>
            <a:ext cx="145097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98">
            <a:extLst>
              <a:ext uri="{FF2B5EF4-FFF2-40B4-BE49-F238E27FC236}">
                <a16:creationId xmlns:a16="http://schemas.microsoft.com/office/drawing/2014/main" id="{8420C491-0A22-4E69-938A-9B62BE282788}"/>
              </a:ext>
            </a:extLst>
          </p:cNvPr>
          <p:cNvSpPr txBox="1">
            <a:spLocks noChangeArrowheads="1"/>
          </p:cNvSpPr>
          <p:nvPr/>
        </p:nvSpPr>
        <p:spPr bwMode="auto">
          <a:xfrm>
            <a:off x="6237287" y="6091237"/>
            <a:ext cx="4810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3" name="Line 84">
            <a:extLst>
              <a:ext uri="{FF2B5EF4-FFF2-40B4-BE49-F238E27FC236}">
                <a16:creationId xmlns:a16="http://schemas.microsoft.com/office/drawing/2014/main" id="{2B6526B3-5208-4B4A-AE6C-472FD8E5FF13}"/>
              </a:ext>
            </a:extLst>
          </p:cNvPr>
          <p:cNvSpPr>
            <a:spLocks noChangeShapeType="1"/>
          </p:cNvSpPr>
          <p:nvPr/>
        </p:nvSpPr>
        <p:spPr bwMode="auto">
          <a:xfrm flipH="1">
            <a:off x="5808662" y="6086475"/>
            <a:ext cx="13398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右箭头 2">
            <a:extLst>
              <a:ext uri="{FF2B5EF4-FFF2-40B4-BE49-F238E27FC236}">
                <a16:creationId xmlns:a16="http://schemas.microsoft.com/office/drawing/2014/main" id="{6CACFD44-7BC2-4E96-8295-16DB8B7BB55C}"/>
              </a:ext>
            </a:extLst>
          </p:cNvPr>
          <p:cNvSpPr>
            <a:spLocks noChangeArrowheads="1"/>
          </p:cNvSpPr>
          <p:nvPr/>
        </p:nvSpPr>
        <p:spPr bwMode="auto">
          <a:xfrm>
            <a:off x="4735512" y="5780087"/>
            <a:ext cx="360363" cy="400050"/>
          </a:xfrm>
          <a:prstGeom prst="rightArrow">
            <a:avLst>
              <a:gd name="adj1" fmla="val 50000"/>
              <a:gd name="adj2" fmla="val 50000"/>
            </a:avLst>
          </a:prstGeom>
          <a:solidFill>
            <a:schemeClr val="accent1"/>
          </a:solidFill>
          <a:ln w="12700" algn="ctr">
            <a:solidFill>
              <a:srgbClr val="FF0000"/>
            </a:solidFill>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5" name="Text Box 98">
            <a:extLst>
              <a:ext uri="{FF2B5EF4-FFF2-40B4-BE49-F238E27FC236}">
                <a16:creationId xmlns:a16="http://schemas.microsoft.com/office/drawing/2014/main" id="{2C2FCE5B-F8A1-4BD7-8C3D-B5B0803B90E6}"/>
              </a:ext>
            </a:extLst>
          </p:cNvPr>
          <p:cNvSpPr txBox="1">
            <a:spLocks noChangeArrowheads="1"/>
          </p:cNvSpPr>
          <p:nvPr/>
        </p:nvSpPr>
        <p:spPr bwMode="auto">
          <a:xfrm>
            <a:off x="6308725" y="5486400"/>
            <a:ext cx="3397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3</a:t>
            </a:r>
          </a:p>
        </p:txBody>
      </p:sp>
    </p:spTree>
    <p:extLst>
      <p:ext uri="{BB962C8B-B14F-4D97-AF65-F5344CB8AC3E}">
        <p14:creationId xmlns:p14="http://schemas.microsoft.com/office/powerpoint/2010/main" val="2395753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给定一流网络</a:t>
            </a:r>
            <a:r>
              <a:rPr lang="en-US" altLang="zh-CN" sz="2400" i="1" dirty="0">
                <a:latin typeface="+mj-lt"/>
                <a:ea typeface="黑体" pitchFamily="2" charset="-122"/>
              </a:rPr>
              <a:t>G=(V,E)</a:t>
            </a:r>
            <a:r>
              <a:rPr lang="zh-CN" altLang="en-US" sz="2400" dirty="0">
                <a:latin typeface="+mj-lt"/>
                <a:ea typeface="黑体" pitchFamily="2" charset="-122"/>
              </a:rPr>
              <a:t>和流 </a:t>
            </a:r>
            <a:r>
              <a:rPr lang="en-US" altLang="zh-CN" sz="2400" i="1" dirty="0">
                <a:latin typeface="+mj-lt"/>
                <a:ea typeface="黑体" pitchFamily="2" charset="-122"/>
              </a:rPr>
              <a:t>f</a:t>
            </a:r>
            <a:r>
              <a:rPr lang="zh-CN" altLang="en-US" sz="2400" dirty="0">
                <a:latin typeface="+mj-lt"/>
                <a:ea typeface="黑体" pitchFamily="2" charset="-122"/>
              </a:rPr>
              <a:t>，由 </a:t>
            </a:r>
            <a:r>
              <a:rPr lang="en-US" altLang="zh-CN" sz="2400" i="1" dirty="0">
                <a:latin typeface="+mj-lt"/>
                <a:ea typeface="黑体" pitchFamily="2" charset="-122"/>
              </a:rPr>
              <a:t>f </a:t>
            </a:r>
            <a:r>
              <a:rPr lang="zh-CN" altLang="en-US" sz="2400" dirty="0">
                <a:latin typeface="+mj-lt"/>
                <a:ea typeface="黑体" pitchFamily="2" charset="-122"/>
              </a:rPr>
              <a:t>压得的</a:t>
            </a:r>
            <a:r>
              <a:rPr lang="en-US" altLang="zh-CN" sz="2400" i="1" dirty="0">
                <a:latin typeface="+mj-lt"/>
                <a:ea typeface="黑体" pitchFamily="2" charset="-122"/>
              </a:rPr>
              <a:t>G</a:t>
            </a:r>
            <a:r>
              <a:rPr lang="zh-CN" altLang="en-US" sz="2400" dirty="0">
                <a:latin typeface="+mj-lt"/>
                <a:ea typeface="黑体" pitchFamily="2" charset="-122"/>
              </a:rPr>
              <a:t>的残留网络</a:t>
            </a:r>
            <a:r>
              <a:rPr lang="en-US" altLang="zh-CN" sz="2400" i="1" dirty="0" err="1">
                <a:latin typeface="+mj-lt"/>
                <a:ea typeface="黑体" pitchFamily="2" charset="-122"/>
              </a:rPr>
              <a:t>G</a:t>
            </a:r>
            <a:r>
              <a:rPr lang="en-US" altLang="zh-CN" sz="2400" i="1" baseline="-25000" dirty="0" err="1">
                <a:latin typeface="+mj-lt"/>
                <a:ea typeface="黑体" pitchFamily="2" charset="-122"/>
              </a:rPr>
              <a:t>f</a:t>
            </a:r>
            <a:r>
              <a:rPr lang="en-US" altLang="zh-CN" sz="2400" i="1" dirty="0">
                <a:latin typeface="+mj-lt"/>
                <a:ea typeface="黑体" pitchFamily="2" charset="-122"/>
              </a:rPr>
              <a:t>=(</a:t>
            </a:r>
            <a:r>
              <a:rPr lang="en-US" altLang="zh-CN" sz="2400" i="1" dirty="0" err="1">
                <a:latin typeface="+mj-lt"/>
                <a:ea typeface="黑体" pitchFamily="2" charset="-122"/>
              </a:rPr>
              <a:t>V,E</a:t>
            </a:r>
            <a:r>
              <a:rPr lang="en-US" altLang="zh-CN" sz="2400" i="1" baseline="-25000" dirty="0" err="1">
                <a:latin typeface="+mj-lt"/>
                <a:ea typeface="黑体" pitchFamily="2" charset="-122"/>
              </a:rPr>
              <a:t>f</a:t>
            </a:r>
            <a:r>
              <a:rPr lang="en-US" altLang="zh-CN" sz="2400" i="1" dirty="0">
                <a:latin typeface="+mj-lt"/>
                <a:ea typeface="黑体" pitchFamily="2" charset="-122"/>
              </a:rPr>
              <a:t>)</a:t>
            </a:r>
            <a:r>
              <a:rPr lang="zh-CN" altLang="en-US" sz="2400" i="1" dirty="0">
                <a:latin typeface="+mj-lt"/>
                <a:ea typeface="黑体" pitchFamily="2" charset="-122"/>
              </a:rPr>
              <a:t>，</a:t>
            </a:r>
            <a:r>
              <a:rPr lang="zh-CN" altLang="en-US" sz="2400" dirty="0">
                <a:latin typeface="+mj-lt"/>
                <a:ea typeface="黑体" pitchFamily="2" charset="-122"/>
              </a:rPr>
              <a:t>其中 </a:t>
            </a:r>
            <a:r>
              <a:rPr lang="en-US" altLang="zh-CN" sz="2400" i="1" dirty="0" err="1">
                <a:latin typeface="+mj-lt"/>
                <a:ea typeface="黑体" pitchFamily="2" charset="-122"/>
              </a:rPr>
              <a:t>E</a:t>
            </a:r>
            <a:r>
              <a:rPr lang="en-US" altLang="zh-CN" sz="2400" i="1" baseline="-25000" dirty="0" err="1">
                <a:latin typeface="+mj-lt"/>
                <a:ea typeface="黑体" pitchFamily="2" charset="-122"/>
              </a:rPr>
              <a:t>f</a:t>
            </a:r>
            <a:r>
              <a:rPr lang="en-US" altLang="zh-CN" sz="2400" i="1" dirty="0">
                <a:latin typeface="+mj-lt"/>
                <a:ea typeface="黑体" pitchFamily="2" charset="-122"/>
              </a:rPr>
              <a:t>={(</a:t>
            </a:r>
            <a:r>
              <a:rPr lang="en-US" altLang="zh-CN" sz="2400" i="1" dirty="0" err="1">
                <a:latin typeface="+mj-lt"/>
                <a:ea typeface="黑体" pitchFamily="2" charset="-122"/>
              </a:rPr>
              <a:t>u,v</a:t>
            </a:r>
            <a:r>
              <a:rPr lang="en-US" altLang="zh-CN" sz="2400" i="1" dirty="0">
                <a:latin typeface="+mj-lt"/>
                <a:ea typeface="黑体" pitchFamily="2" charset="-122"/>
              </a:rPr>
              <a:t>)|</a:t>
            </a:r>
            <a:r>
              <a:rPr lang="en-US" altLang="zh-CN" sz="2400" i="1" dirty="0" err="1">
                <a:latin typeface="+mj-lt"/>
                <a:ea typeface="黑体" pitchFamily="2" charset="-122"/>
              </a:rPr>
              <a:t>c</a:t>
            </a:r>
            <a:r>
              <a:rPr lang="en-US" altLang="zh-CN" sz="2400" i="1" baseline="-25000" dirty="0" err="1">
                <a:latin typeface="+mj-lt"/>
                <a:ea typeface="黑体" pitchFamily="2" charset="-122"/>
              </a:rPr>
              <a:t>f</a:t>
            </a:r>
            <a:r>
              <a:rPr lang="en-US" altLang="zh-CN" sz="2400" i="1" dirty="0">
                <a:latin typeface="+mj-lt"/>
                <a:ea typeface="黑体" pitchFamily="2" charset="-122"/>
              </a:rPr>
              <a:t>(</a:t>
            </a:r>
            <a:r>
              <a:rPr lang="en-US" altLang="zh-CN" sz="2400" i="1" dirty="0" err="1">
                <a:latin typeface="+mj-lt"/>
                <a:ea typeface="黑体" pitchFamily="2" charset="-122"/>
              </a:rPr>
              <a:t>u,v</a:t>
            </a:r>
            <a:r>
              <a:rPr lang="en-US" altLang="zh-CN" sz="2400" i="1" dirty="0">
                <a:latin typeface="+mj-lt"/>
                <a:ea typeface="黑体" pitchFamily="2" charset="-122"/>
              </a:rPr>
              <a:t>)&gt;0}</a:t>
            </a:r>
          </a:p>
          <a:p>
            <a:r>
              <a:rPr lang="en-US" altLang="zh-CN" sz="2400" i="1" dirty="0" err="1">
                <a:solidFill>
                  <a:srgbClr val="C00000"/>
                </a:solidFill>
                <a:ea typeface="黑体" pitchFamily="2" charset="-122"/>
              </a:rPr>
              <a:t>E</a:t>
            </a:r>
            <a:r>
              <a:rPr lang="en-US" altLang="zh-CN" sz="2400" i="1" baseline="-25000" dirty="0" err="1">
                <a:solidFill>
                  <a:srgbClr val="C00000"/>
                </a:solidFill>
                <a:ea typeface="黑体" pitchFamily="2" charset="-122"/>
              </a:rPr>
              <a:t>f</a:t>
            </a:r>
            <a:r>
              <a:rPr lang="zh-CN" altLang="en-US" sz="2400" dirty="0">
                <a:solidFill>
                  <a:srgbClr val="C00000"/>
                </a:solidFill>
                <a:ea typeface="黑体" pitchFamily="2" charset="-122"/>
              </a:rPr>
              <a:t>中的边既可以是</a:t>
            </a:r>
            <a:r>
              <a:rPr lang="en-US" altLang="zh-CN" sz="2400" i="1" dirty="0">
                <a:solidFill>
                  <a:srgbClr val="C00000"/>
                </a:solidFill>
                <a:ea typeface="黑体" pitchFamily="2" charset="-122"/>
              </a:rPr>
              <a:t>E</a:t>
            </a:r>
            <a:r>
              <a:rPr lang="zh-CN" altLang="en-US" sz="2400" dirty="0">
                <a:solidFill>
                  <a:srgbClr val="C00000"/>
                </a:solidFill>
                <a:ea typeface="黑体" pitchFamily="2" charset="-122"/>
              </a:rPr>
              <a:t>中的边，也可以是它们的反向边</a:t>
            </a:r>
            <a:r>
              <a:rPr lang="zh-CN" altLang="en-US" sz="2400" dirty="0">
                <a:ea typeface="黑体" pitchFamily="2" charset="-122"/>
              </a:rPr>
              <a:t>。</a:t>
            </a:r>
            <a:endParaRPr lang="en-US" altLang="zh-CN" sz="2400" dirty="0">
              <a:ea typeface="黑体" pitchFamily="2" charset="-122"/>
            </a:endParaRPr>
          </a:p>
          <a:p>
            <a:r>
              <a:rPr lang="zh-CN" altLang="en-US" sz="2400" dirty="0">
                <a:ea typeface="黑体" pitchFamily="2" charset="-122"/>
              </a:rPr>
              <a:t>如果</a:t>
            </a:r>
            <a:r>
              <a:rPr lang="en-US" altLang="zh-CN" sz="2400" dirty="0">
                <a:ea typeface="黑体" pitchFamily="2" charset="-122"/>
              </a:rPr>
              <a:t>(</a:t>
            </a:r>
            <a:r>
              <a:rPr lang="en-US" altLang="zh-CN" sz="2400" i="1" dirty="0" err="1">
                <a:ea typeface="黑体" pitchFamily="2" charset="-122"/>
              </a:rPr>
              <a:t>u,v</a:t>
            </a:r>
            <a:r>
              <a:rPr lang="en-US" altLang="zh-CN" sz="2400" dirty="0">
                <a:ea typeface="黑体" pitchFamily="2" charset="-122"/>
              </a:rPr>
              <a:t>)</a:t>
            </a:r>
            <a:r>
              <a:rPr lang="zh-CN" altLang="en-US" sz="2400" dirty="0">
                <a:ea typeface="黑体" pitchFamily="2" charset="-122"/>
              </a:rPr>
              <a:t>是</a:t>
            </a:r>
            <a:r>
              <a:rPr lang="en-US" altLang="zh-CN" sz="2400" i="1" dirty="0">
                <a:ea typeface="黑体" pitchFamily="2" charset="-122"/>
              </a:rPr>
              <a:t>E</a:t>
            </a:r>
            <a:r>
              <a:rPr lang="zh-CN" altLang="en-US" sz="2400" dirty="0">
                <a:ea typeface="黑体" pitchFamily="2" charset="-122"/>
              </a:rPr>
              <a:t>中的边</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)&lt;c(</a:t>
            </a:r>
            <a:r>
              <a:rPr lang="en-US" altLang="zh-CN" sz="2400" i="1" dirty="0" err="1">
                <a:ea typeface="黑体" pitchFamily="2" charset="-122"/>
              </a:rPr>
              <a:t>u,v</a:t>
            </a:r>
            <a:r>
              <a:rPr lang="en-US" altLang="zh-CN" sz="2400" i="1" dirty="0">
                <a:ea typeface="黑体" pitchFamily="2" charset="-122"/>
              </a:rPr>
              <a:t>)</a:t>
            </a:r>
            <a:r>
              <a:rPr lang="zh-CN" altLang="en-US" sz="2400" i="1" dirty="0">
                <a:ea typeface="黑体" pitchFamily="2" charset="-122"/>
              </a:rPr>
              <a:t>，</a:t>
            </a:r>
            <a:r>
              <a:rPr lang="zh-CN" altLang="en-US" sz="2400" dirty="0">
                <a:ea typeface="黑体" pitchFamily="2" charset="-122"/>
              </a:rPr>
              <a:t>那么</a:t>
            </a:r>
            <a:r>
              <a:rPr lang="en-US" altLang="zh-CN" sz="2400" i="1" dirty="0" err="1">
                <a:ea typeface="黑体" pitchFamily="2" charset="-122"/>
              </a:rPr>
              <a:t>c</a:t>
            </a:r>
            <a:r>
              <a:rPr lang="en-US" altLang="zh-CN" sz="2400" i="1" baseline="-25000" dirty="0" err="1">
                <a:ea typeface="黑体" pitchFamily="2" charset="-122"/>
              </a:rPr>
              <a:t>f</a:t>
            </a:r>
            <a:r>
              <a:rPr lang="en-US" altLang="zh-CN" sz="2400" i="1" dirty="0">
                <a:ea typeface="黑体" pitchFamily="2" charset="-122"/>
              </a:rPr>
              <a:t>(</a:t>
            </a:r>
            <a:r>
              <a:rPr lang="en-US" altLang="zh-CN" sz="2400" i="1" dirty="0" err="1">
                <a:ea typeface="黑体" pitchFamily="2" charset="-122"/>
              </a:rPr>
              <a:t>u,v</a:t>
            </a:r>
            <a:r>
              <a:rPr lang="en-US" altLang="zh-CN" sz="2400" i="1" dirty="0">
                <a:ea typeface="黑体" pitchFamily="2" charset="-122"/>
              </a:rPr>
              <a:t>)=c(</a:t>
            </a:r>
            <a:r>
              <a:rPr lang="en-US" altLang="zh-CN" sz="2400" i="1" dirty="0" err="1">
                <a:ea typeface="黑体" pitchFamily="2" charset="-122"/>
              </a:rPr>
              <a:t>u,v</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)&gt;0</a:t>
            </a:r>
            <a:r>
              <a:rPr lang="zh-CN" altLang="en-US" sz="2400" dirty="0">
                <a:ea typeface="黑体" pitchFamily="2" charset="-122"/>
              </a:rPr>
              <a:t>，因此</a:t>
            </a:r>
            <a:r>
              <a:rPr lang="en-US" altLang="zh-CN" sz="2400" dirty="0">
                <a:ea typeface="黑体" pitchFamily="2" charset="-122"/>
              </a:rPr>
              <a:t>(</a:t>
            </a:r>
            <a:r>
              <a:rPr lang="en-US" altLang="zh-CN" sz="2400" i="1" dirty="0" err="1">
                <a:ea typeface="黑体" pitchFamily="2" charset="-122"/>
              </a:rPr>
              <a:t>u,v</a:t>
            </a:r>
            <a:r>
              <a:rPr lang="en-US" altLang="zh-CN" sz="2400" dirty="0">
                <a:ea typeface="黑体" pitchFamily="2" charset="-122"/>
              </a:rPr>
              <a:t>)</a:t>
            </a:r>
            <a:r>
              <a:rPr lang="zh-CN" altLang="en-US" sz="2400" dirty="0">
                <a:ea typeface="黑体" pitchFamily="2" charset="-122"/>
              </a:rPr>
              <a:t>是残留边。</a:t>
            </a:r>
            <a:endParaRPr lang="en-US" altLang="zh-CN" sz="2400" dirty="0">
              <a:ea typeface="黑体" pitchFamily="2" charset="-122"/>
            </a:endParaRPr>
          </a:p>
          <a:p>
            <a:r>
              <a:rPr lang="zh-CN" altLang="en-US" sz="2400" dirty="0">
                <a:ea typeface="黑体" pitchFamily="2" charset="-122"/>
              </a:rPr>
              <a:t>如果</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)&gt;0</a:t>
            </a:r>
            <a:r>
              <a:rPr lang="zh-CN" altLang="en-US" sz="2400" dirty="0">
                <a:ea typeface="黑体" pitchFamily="2" charset="-122"/>
              </a:rPr>
              <a:t>，则</a:t>
            </a:r>
            <a:r>
              <a:rPr lang="en-US" altLang="zh-CN" sz="2400" i="1" dirty="0">
                <a:ea typeface="黑体" pitchFamily="2" charset="-122"/>
              </a:rPr>
              <a:t>f(</a:t>
            </a:r>
            <a:r>
              <a:rPr lang="en-US" altLang="zh-CN" sz="2400" i="1" dirty="0" err="1">
                <a:ea typeface="黑体" pitchFamily="2" charset="-122"/>
              </a:rPr>
              <a:t>v,u</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)&lt;0</a:t>
            </a:r>
          </a:p>
          <a:p>
            <a:pPr marL="0" indent="0">
              <a:buNone/>
            </a:pPr>
            <a:r>
              <a:rPr lang="en-US" altLang="zh-CN" sz="2400" i="1" dirty="0">
                <a:ea typeface="黑体" pitchFamily="2" charset="-122"/>
              </a:rPr>
              <a:t>    </a:t>
            </a:r>
            <a:r>
              <a:rPr lang="en-US" altLang="zh-CN" sz="2400" i="1" dirty="0" err="1">
                <a:ea typeface="黑体" pitchFamily="2" charset="-122"/>
              </a:rPr>
              <a:t>c</a:t>
            </a:r>
            <a:r>
              <a:rPr lang="en-US" altLang="zh-CN" sz="2400" i="1" baseline="-25000" dirty="0" err="1">
                <a:ea typeface="黑体" pitchFamily="2" charset="-122"/>
              </a:rPr>
              <a:t>f</a:t>
            </a:r>
            <a:r>
              <a:rPr lang="en-US" altLang="zh-CN" sz="2400" i="1" dirty="0">
                <a:ea typeface="黑体" pitchFamily="2" charset="-122"/>
              </a:rPr>
              <a:t>(</a:t>
            </a:r>
            <a:r>
              <a:rPr lang="en-US" altLang="zh-CN" sz="2400" i="1" dirty="0" err="1">
                <a:ea typeface="黑体" pitchFamily="2" charset="-122"/>
              </a:rPr>
              <a:t>v,u</a:t>
            </a:r>
            <a:r>
              <a:rPr lang="en-US" altLang="zh-CN" sz="2400" i="1" dirty="0">
                <a:ea typeface="黑体" pitchFamily="2" charset="-122"/>
              </a:rPr>
              <a:t>)=c(</a:t>
            </a:r>
            <a:r>
              <a:rPr lang="en-US" altLang="zh-CN" sz="2400" i="1" dirty="0" err="1">
                <a:ea typeface="黑体" pitchFamily="2" charset="-122"/>
              </a:rPr>
              <a:t>v,u</a:t>
            </a:r>
            <a:r>
              <a:rPr lang="en-US" altLang="zh-CN" sz="2400" i="1" dirty="0">
                <a:ea typeface="黑体" pitchFamily="2" charset="-122"/>
              </a:rPr>
              <a:t>)-f(</a:t>
            </a:r>
            <a:r>
              <a:rPr lang="en-US" altLang="zh-CN" sz="2400" i="1" dirty="0" err="1">
                <a:ea typeface="黑体" pitchFamily="2" charset="-122"/>
              </a:rPr>
              <a:t>v,u</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)&gt;0</a:t>
            </a:r>
            <a:r>
              <a:rPr lang="zh-CN" altLang="en-US" sz="2400" dirty="0">
                <a:ea typeface="黑体" pitchFamily="2" charset="-122"/>
              </a:rPr>
              <a:t>，因此</a:t>
            </a:r>
            <a:r>
              <a:rPr lang="en-US" altLang="zh-CN" sz="2400" dirty="0">
                <a:ea typeface="黑体" pitchFamily="2" charset="-122"/>
              </a:rPr>
              <a:t>(</a:t>
            </a:r>
            <a:r>
              <a:rPr lang="en-US" altLang="zh-CN" sz="2400" i="1" dirty="0" err="1">
                <a:ea typeface="黑体" pitchFamily="2" charset="-122"/>
              </a:rPr>
              <a:t>v,u</a:t>
            </a:r>
            <a:r>
              <a:rPr lang="en-US" altLang="zh-CN" sz="2400" dirty="0">
                <a:ea typeface="黑体" pitchFamily="2" charset="-122"/>
              </a:rPr>
              <a:t>)</a:t>
            </a:r>
            <a:r>
              <a:rPr lang="zh-CN" altLang="en-US" sz="2400" dirty="0">
                <a:ea typeface="黑体" pitchFamily="2" charset="-122"/>
              </a:rPr>
              <a:t>是残留边。</a:t>
            </a:r>
            <a:endParaRPr lang="en-US" altLang="zh-CN" sz="2400" dirty="0">
              <a:ea typeface="黑体" pitchFamily="2" charset="-122"/>
            </a:endParaRPr>
          </a:p>
          <a:p>
            <a:pPr marL="0" indent="0">
              <a:buNone/>
            </a:pPr>
            <a:endParaRPr lang="en-US" altLang="zh-CN" sz="2400" dirty="0">
              <a:ea typeface="黑体" pitchFamily="2" charset="-122"/>
            </a:endParaRPr>
          </a:p>
          <a:p>
            <a:r>
              <a:rPr lang="zh-CN" altLang="en-US" sz="2400" i="1" dirty="0">
                <a:ea typeface="黑体" pitchFamily="2" charset="-122"/>
                <a:sym typeface="Wingdings" pitchFamily="2" charset="2"/>
              </a:rPr>
              <a:t>残留网络的边：正向边，反向边，残留容量都为正</a:t>
            </a:r>
            <a:endParaRPr lang="en-US" altLang="zh-CN" sz="2400" i="1" dirty="0">
              <a:ea typeface="黑体" pitchFamily="2" charset="-122"/>
              <a:sym typeface="Wingdings" pitchFamily="2" charset="2"/>
            </a:endParaRPr>
          </a:p>
          <a:p>
            <a:r>
              <a:rPr lang="en-US" altLang="zh-CN" sz="2400" i="1" dirty="0" err="1">
                <a:ea typeface="黑体" pitchFamily="2" charset="-122"/>
                <a:sym typeface="Wingdings" pitchFamily="2" charset="2"/>
              </a:rPr>
              <a:t>E</a:t>
            </a:r>
            <a:r>
              <a:rPr lang="en-US" altLang="zh-CN" sz="2400" i="1" baseline="-25000" dirty="0" err="1">
                <a:ea typeface="黑体" pitchFamily="2" charset="-122"/>
                <a:sym typeface="Wingdings" pitchFamily="2" charset="2"/>
              </a:rPr>
              <a:t>f</a:t>
            </a:r>
            <a:r>
              <a:rPr lang="en-US" altLang="zh-CN" sz="2400" i="1" dirty="0">
                <a:ea typeface="黑体" pitchFamily="2" charset="-122"/>
                <a:sym typeface="Wingdings" pitchFamily="2" charset="2"/>
              </a:rPr>
              <a:t>|≤2|E|</a:t>
            </a:r>
            <a:r>
              <a:rPr lang="en-US" altLang="zh-CN" sz="2400" dirty="0">
                <a:ea typeface="黑体" pitchFamily="2" charset="-122"/>
                <a:sym typeface="Wingdings" pitchFamily="2" charset="2"/>
              </a:rPr>
              <a:t>.</a:t>
            </a:r>
            <a:r>
              <a:rPr lang="en-US" altLang="zh-CN" sz="2400" dirty="0">
                <a:ea typeface="黑体" pitchFamily="2" charset="-122"/>
              </a:rPr>
              <a:t> </a:t>
            </a:r>
          </a:p>
          <a:p>
            <a:endParaRPr lang="en-US" altLang="zh-CN" sz="2400" dirty="0">
              <a:latin typeface="+mj-lt"/>
              <a:ea typeface="黑体" pitchFamily="2" charset="-122"/>
            </a:endParaRPr>
          </a:p>
        </p:txBody>
      </p:sp>
      <p:sp>
        <p:nvSpPr>
          <p:cNvPr id="4" name="Oval 75"/>
          <p:cNvSpPr>
            <a:spLocks noChangeArrowheads="1"/>
          </p:cNvSpPr>
          <p:nvPr/>
        </p:nvSpPr>
        <p:spPr bwMode="auto">
          <a:xfrm>
            <a:off x="3059113" y="5937250"/>
            <a:ext cx="420687"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5" name="Oval 76"/>
          <p:cNvSpPr>
            <a:spLocks noChangeArrowheads="1"/>
          </p:cNvSpPr>
          <p:nvPr/>
        </p:nvSpPr>
        <p:spPr bwMode="auto">
          <a:xfrm>
            <a:off x="4930775" y="5918200"/>
            <a:ext cx="419100"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6" name="Line 84"/>
          <p:cNvSpPr>
            <a:spLocks noChangeShapeType="1"/>
          </p:cNvSpPr>
          <p:nvPr/>
        </p:nvSpPr>
        <p:spPr bwMode="auto">
          <a:xfrm>
            <a:off x="3479800" y="6124575"/>
            <a:ext cx="145097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Text Box 98"/>
          <p:cNvSpPr txBox="1">
            <a:spLocks noChangeArrowheads="1"/>
          </p:cNvSpPr>
          <p:nvPr/>
        </p:nvSpPr>
        <p:spPr bwMode="auto">
          <a:xfrm>
            <a:off x="3779838" y="6219825"/>
            <a:ext cx="877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11/14</a:t>
            </a:r>
          </a:p>
        </p:txBody>
      </p:sp>
      <p:sp>
        <p:nvSpPr>
          <p:cNvPr id="8" name="Oval 75"/>
          <p:cNvSpPr>
            <a:spLocks noChangeArrowheads="1"/>
          </p:cNvSpPr>
          <p:nvPr/>
        </p:nvSpPr>
        <p:spPr bwMode="auto">
          <a:xfrm>
            <a:off x="6181725" y="5922963"/>
            <a:ext cx="420688"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9" name="Oval 76"/>
          <p:cNvSpPr>
            <a:spLocks noChangeArrowheads="1"/>
          </p:cNvSpPr>
          <p:nvPr/>
        </p:nvSpPr>
        <p:spPr bwMode="auto">
          <a:xfrm>
            <a:off x="8053388" y="5903913"/>
            <a:ext cx="419100"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10" name="Line 84"/>
          <p:cNvSpPr>
            <a:spLocks noChangeShapeType="1"/>
          </p:cNvSpPr>
          <p:nvPr/>
        </p:nvSpPr>
        <p:spPr bwMode="auto">
          <a:xfrm>
            <a:off x="6602413" y="6110288"/>
            <a:ext cx="145097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98"/>
          <p:cNvSpPr txBox="1">
            <a:spLocks noChangeArrowheads="1"/>
          </p:cNvSpPr>
          <p:nvPr/>
        </p:nvSpPr>
        <p:spPr bwMode="auto">
          <a:xfrm>
            <a:off x="7086600" y="6248400"/>
            <a:ext cx="4810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2" name="Line 84"/>
          <p:cNvSpPr>
            <a:spLocks noChangeShapeType="1"/>
          </p:cNvSpPr>
          <p:nvPr/>
        </p:nvSpPr>
        <p:spPr bwMode="auto">
          <a:xfrm flipH="1">
            <a:off x="6657975" y="6243638"/>
            <a:ext cx="13398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右箭头 2"/>
          <p:cNvSpPr>
            <a:spLocks noChangeArrowheads="1"/>
          </p:cNvSpPr>
          <p:nvPr/>
        </p:nvSpPr>
        <p:spPr bwMode="auto">
          <a:xfrm>
            <a:off x="5584825" y="5937250"/>
            <a:ext cx="360363" cy="400050"/>
          </a:xfrm>
          <a:prstGeom prst="rightArrow">
            <a:avLst>
              <a:gd name="adj1" fmla="val 50000"/>
              <a:gd name="adj2" fmla="val 50000"/>
            </a:avLst>
          </a:prstGeom>
          <a:solidFill>
            <a:schemeClr val="accent1"/>
          </a:solidFill>
          <a:ln w="12700" algn="ctr">
            <a:solidFill>
              <a:srgbClr val="FF0000"/>
            </a:solidFill>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4" name="Text Box 98"/>
          <p:cNvSpPr txBox="1">
            <a:spLocks noChangeArrowheads="1"/>
          </p:cNvSpPr>
          <p:nvPr/>
        </p:nvSpPr>
        <p:spPr bwMode="auto">
          <a:xfrm>
            <a:off x="7158038" y="5643563"/>
            <a:ext cx="3397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3</a:t>
            </a:r>
          </a:p>
        </p:txBody>
      </p:sp>
    </p:spTree>
    <p:extLst>
      <p:ext uri="{BB962C8B-B14F-4D97-AF65-F5344CB8AC3E}">
        <p14:creationId xmlns:p14="http://schemas.microsoft.com/office/powerpoint/2010/main" val="39842770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40E0BBCF-2360-46DE-9866-AA4A4F956932}" type="slidenum">
              <a:rPr kumimoji="0" lang="en-US" altLang="zh-CN" b="0">
                <a:solidFill>
                  <a:schemeClr val="tx1"/>
                </a:solidFill>
                <a:ea typeface="宋体" charset="-122"/>
              </a:rPr>
              <a:pPr algn="ctr">
                <a:spcBef>
                  <a:spcPct val="0"/>
                </a:spcBef>
                <a:buClrTx/>
                <a:buSzTx/>
                <a:buFontTx/>
                <a:buNone/>
              </a:pPr>
              <a:t>86</a:t>
            </a:fld>
            <a:endParaRPr kumimoji="0" lang="en-US" altLang="zh-CN" b="0">
              <a:solidFill>
                <a:schemeClr val="tx1"/>
              </a:solidFill>
              <a:ea typeface="宋体" charset="-122"/>
            </a:endParaRPr>
          </a:p>
        </p:txBody>
      </p:sp>
      <p:grpSp>
        <p:nvGrpSpPr>
          <p:cNvPr id="11267" name="Group 29"/>
          <p:cNvGrpSpPr>
            <a:grpSpLocks/>
          </p:cNvGrpSpPr>
          <p:nvPr/>
        </p:nvGrpSpPr>
        <p:grpSpPr bwMode="auto">
          <a:xfrm>
            <a:off x="723900" y="1863725"/>
            <a:ext cx="4114800" cy="2514600"/>
            <a:chOff x="2928" y="1200"/>
            <a:chExt cx="2592" cy="1584"/>
          </a:xfrm>
        </p:grpSpPr>
        <p:sp>
          <p:nvSpPr>
            <p:cNvPr id="11307" name="Text Box 30"/>
            <p:cNvSpPr txBox="1">
              <a:spLocks noChangeArrowheads="1"/>
            </p:cNvSpPr>
            <p:nvPr/>
          </p:nvSpPr>
          <p:spPr bwMode="auto">
            <a:xfrm>
              <a:off x="4200" y="1950"/>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1308" name="Group 31"/>
            <p:cNvGrpSpPr>
              <a:grpSpLocks/>
            </p:cNvGrpSpPr>
            <p:nvPr/>
          </p:nvGrpSpPr>
          <p:grpSpPr bwMode="auto">
            <a:xfrm>
              <a:off x="2928" y="1200"/>
              <a:ext cx="2592" cy="1584"/>
              <a:chOff x="2928" y="1200"/>
              <a:chExt cx="2592" cy="1584"/>
            </a:xfrm>
          </p:grpSpPr>
          <p:sp>
            <p:nvSpPr>
              <p:cNvPr id="64544" name="Oval 32"/>
              <p:cNvSpPr>
                <a:spLocks noChangeArrowheads="1"/>
              </p:cNvSpPr>
              <p:nvPr/>
            </p:nvSpPr>
            <p:spPr bwMode="auto">
              <a:xfrm>
                <a:off x="2928" y="1803"/>
                <a:ext cx="264" cy="296"/>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64545" name="Oval 33"/>
              <p:cNvSpPr>
                <a:spLocks noChangeArrowheads="1"/>
              </p:cNvSpPr>
              <p:nvPr/>
            </p:nvSpPr>
            <p:spPr bwMode="auto">
              <a:xfrm>
                <a:off x="3721" y="2335"/>
                <a:ext cx="265" cy="296"/>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2</a:t>
                </a:r>
                <a:endParaRPr lang="en-US" altLang="zh-CN">
                  <a:ea typeface="宋体" charset="-122"/>
                </a:endParaRPr>
              </a:p>
            </p:txBody>
          </p:sp>
          <p:sp>
            <p:nvSpPr>
              <p:cNvPr id="64546" name="Oval 34"/>
              <p:cNvSpPr>
                <a:spLocks noChangeArrowheads="1"/>
              </p:cNvSpPr>
              <p:nvPr/>
            </p:nvSpPr>
            <p:spPr bwMode="auto">
              <a:xfrm>
                <a:off x="4515" y="2335"/>
                <a:ext cx="264" cy="296"/>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4</a:t>
                </a:r>
                <a:endParaRPr lang="en-US" altLang="zh-CN">
                  <a:ea typeface="宋体" charset="-122"/>
                </a:endParaRPr>
              </a:p>
            </p:txBody>
          </p:sp>
          <p:sp>
            <p:nvSpPr>
              <p:cNvPr id="64547" name="Oval 35"/>
              <p:cNvSpPr>
                <a:spLocks noChangeArrowheads="1"/>
              </p:cNvSpPr>
              <p:nvPr/>
            </p:nvSpPr>
            <p:spPr bwMode="auto">
              <a:xfrm>
                <a:off x="5256" y="1862"/>
                <a:ext cx="264" cy="296"/>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64548" name="Oval 36"/>
              <p:cNvSpPr>
                <a:spLocks noChangeArrowheads="1"/>
              </p:cNvSpPr>
              <p:nvPr/>
            </p:nvSpPr>
            <p:spPr bwMode="auto">
              <a:xfrm>
                <a:off x="4515" y="1389"/>
                <a:ext cx="264" cy="295"/>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3</a:t>
                </a:r>
                <a:endParaRPr lang="en-US" altLang="zh-CN">
                  <a:ea typeface="宋体" charset="-122"/>
                </a:endParaRPr>
              </a:p>
            </p:txBody>
          </p:sp>
          <p:sp>
            <p:nvSpPr>
              <p:cNvPr id="64549" name="Oval 37"/>
              <p:cNvSpPr>
                <a:spLocks noChangeArrowheads="1"/>
              </p:cNvSpPr>
              <p:nvPr/>
            </p:nvSpPr>
            <p:spPr bwMode="auto">
              <a:xfrm>
                <a:off x="3721" y="1389"/>
                <a:ext cx="265" cy="295"/>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1</a:t>
                </a:r>
                <a:endParaRPr lang="en-US" altLang="zh-CN">
                  <a:ea typeface="宋体" charset="-122"/>
                </a:endParaRPr>
              </a:p>
            </p:txBody>
          </p:sp>
          <p:sp>
            <p:nvSpPr>
              <p:cNvPr id="11315" name="Line 38"/>
              <p:cNvSpPr>
                <a:spLocks noChangeShapeType="1"/>
              </p:cNvSpPr>
              <p:nvPr/>
            </p:nvSpPr>
            <p:spPr bwMode="auto">
              <a:xfrm flipV="1">
                <a:off x="3192" y="1625"/>
                <a:ext cx="529" cy="296"/>
              </a:xfrm>
              <a:prstGeom prst="line">
                <a:avLst/>
              </a:prstGeom>
              <a:noFill/>
              <a:ln w="254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6" name="Line 39"/>
              <p:cNvSpPr>
                <a:spLocks noChangeShapeType="1"/>
              </p:cNvSpPr>
              <p:nvPr/>
            </p:nvSpPr>
            <p:spPr bwMode="auto">
              <a:xfrm>
                <a:off x="3984" y="1584"/>
                <a:ext cx="529" cy="0"/>
              </a:xfrm>
              <a:prstGeom prst="line">
                <a:avLst/>
              </a:prstGeom>
              <a:noFill/>
              <a:ln w="254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7" name="Line 40"/>
              <p:cNvSpPr>
                <a:spLocks noChangeShapeType="1"/>
              </p:cNvSpPr>
              <p:nvPr/>
            </p:nvSpPr>
            <p:spPr bwMode="auto">
              <a:xfrm>
                <a:off x="4727" y="1625"/>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8" name="Line 41"/>
              <p:cNvSpPr>
                <a:spLocks noChangeShapeType="1"/>
              </p:cNvSpPr>
              <p:nvPr/>
            </p:nvSpPr>
            <p:spPr bwMode="auto">
              <a:xfrm>
                <a:off x="3140" y="2099"/>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9" name="Line 42"/>
              <p:cNvSpPr>
                <a:spLocks noChangeShapeType="1"/>
              </p:cNvSpPr>
              <p:nvPr/>
            </p:nvSpPr>
            <p:spPr bwMode="auto">
              <a:xfrm>
                <a:off x="3986" y="2453"/>
                <a:ext cx="529" cy="0"/>
              </a:xfrm>
              <a:prstGeom prst="line">
                <a:avLst/>
              </a:prstGeom>
              <a:noFill/>
              <a:ln w="254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0" name="Line 43"/>
              <p:cNvSpPr>
                <a:spLocks noChangeShapeType="1"/>
              </p:cNvSpPr>
              <p:nvPr/>
            </p:nvSpPr>
            <p:spPr bwMode="auto">
              <a:xfrm flipV="1">
                <a:off x="4779" y="2099"/>
                <a:ext cx="529" cy="354"/>
              </a:xfrm>
              <a:prstGeom prst="line">
                <a:avLst/>
              </a:prstGeom>
              <a:noFill/>
              <a:ln w="254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1" name="Line 45"/>
              <p:cNvSpPr>
                <a:spLocks noChangeShapeType="1"/>
              </p:cNvSpPr>
              <p:nvPr/>
            </p:nvSpPr>
            <p:spPr bwMode="auto">
              <a:xfrm flipV="1">
                <a:off x="3870"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2" name="Line 46"/>
              <p:cNvSpPr>
                <a:spLocks noChangeShapeType="1"/>
              </p:cNvSpPr>
              <p:nvPr/>
            </p:nvSpPr>
            <p:spPr bwMode="auto">
              <a:xfrm flipV="1">
                <a:off x="46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3" name="Line 47"/>
              <p:cNvSpPr>
                <a:spLocks noChangeShapeType="1"/>
              </p:cNvSpPr>
              <p:nvPr/>
            </p:nvSpPr>
            <p:spPr bwMode="auto">
              <a:xfrm flipH="1">
                <a:off x="3986" y="1684"/>
                <a:ext cx="582" cy="651"/>
              </a:xfrm>
              <a:prstGeom prst="line">
                <a:avLst/>
              </a:prstGeom>
              <a:noFill/>
              <a:ln w="254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4" name="Text Box 48"/>
              <p:cNvSpPr txBox="1">
                <a:spLocks noChangeArrowheads="1"/>
              </p:cNvSpPr>
              <p:nvPr/>
            </p:nvSpPr>
            <p:spPr bwMode="auto">
              <a:xfrm>
                <a:off x="3120" y="144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4/16</a:t>
                </a:r>
              </a:p>
            </p:txBody>
          </p:sp>
          <p:sp>
            <p:nvSpPr>
              <p:cNvPr id="11325" name="Text Box 49"/>
              <p:cNvSpPr txBox="1">
                <a:spLocks noChangeArrowheads="1"/>
              </p:cNvSpPr>
              <p:nvPr/>
            </p:nvSpPr>
            <p:spPr bwMode="auto">
              <a:xfrm>
                <a:off x="3168" y="22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1326" name="Text Box 50"/>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4/12</a:t>
                </a:r>
              </a:p>
            </p:txBody>
          </p:sp>
          <p:sp>
            <p:nvSpPr>
              <p:cNvPr id="11327" name="Text Box 52"/>
              <p:cNvSpPr txBox="1">
                <a:spLocks noChangeArrowheads="1"/>
              </p:cNvSpPr>
              <p:nvPr/>
            </p:nvSpPr>
            <p:spPr bwMode="auto">
              <a:xfrm>
                <a:off x="3825" y="18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328" name="Text Box 53"/>
              <p:cNvSpPr txBox="1">
                <a:spLocks noChangeArrowheads="1"/>
              </p:cNvSpPr>
              <p:nvPr/>
            </p:nvSpPr>
            <p:spPr bwMode="auto">
              <a:xfrm>
                <a:off x="4885" y="1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1329" name="Text Box 54"/>
              <p:cNvSpPr txBox="1">
                <a:spLocks noChangeArrowheads="1"/>
              </p:cNvSpPr>
              <p:nvPr/>
            </p:nvSpPr>
            <p:spPr bwMode="auto">
              <a:xfrm>
                <a:off x="4938" y="221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1330" name="Text Box 55"/>
              <p:cNvSpPr txBox="1">
                <a:spLocks noChangeArrowheads="1"/>
              </p:cNvSpPr>
              <p:nvPr/>
            </p:nvSpPr>
            <p:spPr bwMode="auto">
              <a:xfrm>
                <a:off x="4663" y="183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1331" name="Text Box 56"/>
              <p:cNvSpPr txBox="1">
                <a:spLocks noChangeArrowheads="1"/>
              </p:cNvSpPr>
              <p:nvPr/>
            </p:nvSpPr>
            <p:spPr bwMode="auto">
              <a:xfrm>
                <a:off x="4032" y="2496"/>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4/14</a:t>
                </a:r>
              </a:p>
            </p:txBody>
          </p:sp>
        </p:grpSp>
      </p:grpSp>
      <p:sp>
        <p:nvSpPr>
          <p:cNvPr id="11268" name="Text Box 57"/>
          <p:cNvSpPr txBox="1">
            <a:spLocks noChangeArrowheads="1"/>
          </p:cNvSpPr>
          <p:nvPr/>
        </p:nvSpPr>
        <p:spPr bwMode="auto">
          <a:xfrm>
            <a:off x="1925638" y="4741863"/>
            <a:ext cx="61864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(a)  </a:t>
            </a:r>
            <a:r>
              <a:rPr kumimoji="0" lang="zh-CN" altLang="en-US" b="0">
                <a:solidFill>
                  <a:schemeClr val="tx1"/>
                </a:solidFill>
                <a:ea typeface="宋体" charset="-122"/>
              </a:rPr>
              <a:t>当前网络流</a:t>
            </a:r>
            <a:r>
              <a:rPr kumimoji="0" lang="en-US" altLang="zh-CN" b="0">
                <a:solidFill>
                  <a:schemeClr val="tx1"/>
                </a:solidFill>
                <a:ea typeface="宋体" charset="-122"/>
              </a:rPr>
              <a:t>                             (b)</a:t>
            </a:r>
            <a:r>
              <a:rPr kumimoji="0" lang="zh-CN" altLang="en-US" b="0">
                <a:solidFill>
                  <a:schemeClr val="tx1"/>
                </a:solidFill>
                <a:ea typeface="宋体" charset="-122"/>
              </a:rPr>
              <a:t>残留网络</a:t>
            </a:r>
            <a:endParaRPr kumimoji="0" lang="en-US" altLang="zh-CN" b="0">
              <a:solidFill>
                <a:schemeClr val="tx1"/>
              </a:solidFill>
              <a:ea typeface="宋体" charset="-122"/>
            </a:endParaRPr>
          </a:p>
        </p:txBody>
      </p:sp>
      <p:sp>
        <p:nvSpPr>
          <p:cNvPr id="61" name="Rectangle 2"/>
          <p:cNvSpPr txBox="1">
            <a:spLocks noChangeArrowheads="1"/>
          </p:cNvSpPr>
          <p:nvPr/>
        </p:nvSpPr>
        <p:spPr>
          <a:xfrm>
            <a:off x="609600" y="152400"/>
            <a:ext cx="7588250" cy="685800"/>
          </a:xfrm>
          <a:prstGeom prst="rect">
            <a:avLst/>
          </a:prstGeom>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spcBef>
                <a:spcPct val="0"/>
              </a:spcBef>
              <a:buClrTx/>
              <a:buSzTx/>
              <a:buFontTx/>
              <a:buNone/>
              <a:defRPr/>
            </a:pPr>
            <a:r>
              <a:rPr lang="zh-CN" altLang="en-US" sz="3600">
                <a:solidFill>
                  <a:schemeClr val="tx2"/>
                </a:solidFill>
                <a:effectLst>
                  <a:outerShdw blurRad="38100" dist="38100" dir="2700000" algn="tl">
                    <a:srgbClr val="000000"/>
                  </a:outerShdw>
                </a:effectLst>
                <a:ea typeface="宋体" charset="-122"/>
              </a:rPr>
              <a:t>残留网络举例</a:t>
            </a:r>
            <a:endParaRPr lang="en-US" altLang="zh-CN" sz="3600">
              <a:solidFill>
                <a:schemeClr val="tx2"/>
              </a:solidFill>
              <a:effectLst>
                <a:outerShdw blurRad="38100" dist="38100" dir="2700000" algn="tl">
                  <a:srgbClr val="000000"/>
                </a:outerShdw>
              </a:effectLst>
              <a:ea typeface="宋体" charset="-122"/>
            </a:endParaRPr>
          </a:p>
        </p:txBody>
      </p:sp>
      <p:sp>
        <p:nvSpPr>
          <p:cNvPr id="11270" name="Text Box 2"/>
          <p:cNvSpPr txBox="1">
            <a:spLocks noChangeArrowheads="1"/>
          </p:cNvSpPr>
          <p:nvPr/>
        </p:nvSpPr>
        <p:spPr bwMode="auto">
          <a:xfrm>
            <a:off x="7013575" y="3235325"/>
            <a:ext cx="495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63" name="Oval 3"/>
          <p:cNvSpPr>
            <a:spLocks noChangeArrowheads="1"/>
          </p:cNvSpPr>
          <p:nvPr/>
        </p:nvSpPr>
        <p:spPr bwMode="auto">
          <a:xfrm>
            <a:off x="4977740" y="2902171"/>
            <a:ext cx="419100"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p>
            <a:pPr>
              <a:defRPr/>
            </a:pPr>
            <a:r>
              <a:rPr lang="en-US" altLang="zh-CN" dirty="0"/>
              <a:t>s</a:t>
            </a:r>
          </a:p>
        </p:txBody>
      </p:sp>
      <p:sp>
        <p:nvSpPr>
          <p:cNvPr id="11272" name="Line 4"/>
          <p:cNvSpPr>
            <a:spLocks noChangeShapeType="1"/>
          </p:cNvSpPr>
          <p:nvPr/>
        </p:nvSpPr>
        <p:spPr bwMode="auto">
          <a:xfrm flipH="1">
            <a:off x="5489575" y="2625725"/>
            <a:ext cx="6858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273" name="Group 5"/>
          <p:cNvGrpSpPr>
            <a:grpSpLocks/>
          </p:cNvGrpSpPr>
          <p:nvPr/>
        </p:nvGrpSpPr>
        <p:grpSpPr bwMode="auto">
          <a:xfrm>
            <a:off x="5314290" y="1868708"/>
            <a:ext cx="3778250" cy="2667000"/>
            <a:chOff x="500" y="1056"/>
            <a:chExt cx="2380" cy="1680"/>
          </a:xfrm>
        </p:grpSpPr>
        <p:sp>
          <p:nvSpPr>
            <p:cNvPr id="66" name="Oval 6"/>
            <p:cNvSpPr>
              <a:spLocks noChangeArrowheads="1"/>
            </p:cNvSpPr>
            <p:nvPr/>
          </p:nvSpPr>
          <p:spPr bwMode="auto">
            <a:xfrm>
              <a:off x="1081" y="2239"/>
              <a:ext cx="265" cy="296"/>
            </a:xfrm>
            <a:prstGeom prst="ellipse">
              <a:avLst/>
            </a:prstGeom>
            <a:solidFill>
              <a:schemeClr val="accent6">
                <a:lumMod val="60000"/>
                <a:lumOff val="4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67" name="Oval 7"/>
            <p:cNvSpPr>
              <a:spLocks noChangeArrowheads="1"/>
            </p:cNvSpPr>
            <p:nvPr/>
          </p:nvSpPr>
          <p:spPr bwMode="auto">
            <a:xfrm>
              <a:off x="1875" y="2239"/>
              <a:ext cx="264" cy="296"/>
            </a:xfrm>
            <a:prstGeom prst="ellipse">
              <a:avLst/>
            </a:prstGeom>
            <a:solidFill>
              <a:schemeClr val="accent6">
                <a:lumMod val="60000"/>
                <a:lumOff val="4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68" name="Oval 8"/>
            <p:cNvSpPr>
              <a:spLocks noChangeArrowheads="1"/>
            </p:cNvSpPr>
            <p:nvPr/>
          </p:nvSpPr>
          <p:spPr bwMode="auto">
            <a:xfrm>
              <a:off x="2616" y="1766"/>
              <a:ext cx="264" cy="296"/>
            </a:xfrm>
            <a:prstGeom prst="ellipse">
              <a:avLst/>
            </a:prstGeom>
            <a:solidFill>
              <a:schemeClr val="accent6">
                <a:lumMod val="60000"/>
                <a:lumOff val="4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t</a:t>
              </a:r>
            </a:p>
          </p:txBody>
        </p:sp>
        <p:sp>
          <p:nvSpPr>
            <p:cNvPr id="69" name="Oval 9"/>
            <p:cNvSpPr>
              <a:spLocks noChangeArrowheads="1"/>
            </p:cNvSpPr>
            <p:nvPr/>
          </p:nvSpPr>
          <p:spPr bwMode="auto">
            <a:xfrm>
              <a:off x="1875" y="1293"/>
              <a:ext cx="264" cy="295"/>
            </a:xfrm>
            <a:prstGeom prst="ellipse">
              <a:avLst/>
            </a:prstGeom>
            <a:solidFill>
              <a:schemeClr val="accent6">
                <a:lumMod val="60000"/>
                <a:lumOff val="4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3</a:t>
              </a:r>
              <a:endParaRPr lang="en-US" altLang="zh-CN">
                <a:ea typeface="宋体" charset="-122"/>
              </a:endParaRPr>
            </a:p>
          </p:txBody>
        </p:sp>
        <p:sp>
          <p:nvSpPr>
            <p:cNvPr id="70" name="Oval 10"/>
            <p:cNvSpPr>
              <a:spLocks noChangeArrowheads="1"/>
            </p:cNvSpPr>
            <p:nvPr/>
          </p:nvSpPr>
          <p:spPr bwMode="auto">
            <a:xfrm>
              <a:off x="1081" y="1293"/>
              <a:ext cx="265" cy="295"/>
            </a:xfrm>
            <a:prstGeom prst="ellipse">
              <a:avLst/>
            </a:prstGeom>
            <a:solidFill>
              <a:schemeClr val="accent6">
                <a:lumMod val="60000"/>
                <a:lumOff val="4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1283" name="Line 11"/>
            <p:cNvSpPr>
              <a:spLocks noChangeShapeType="1"/>
            </p:cNvSpPr>
            <p:nvPr/>
          </p:nvSpPr>
          <p:spPr bwMode="auto">
            <a:xfrm flipV="1">
              <a:off x="528" y="1392"/>
              <a:ext cx="529" cy="29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4" name="Line 12"/>
            <p:cNvSpPr>
              <a:spLocks noChangeShapeType="1"/>
            </p:cNvSpPr>
            <p:nvPr/>
          </p:nvSpPr>
          <p:spPr bwMode="auto">
            <a:xfrm>
              <a:off x="1344" y="134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5" name="Line 13"/>
            <p:cNvSpPr>
              <a:spLocks noChangeShapeType="1"/>
            </p:cNvSpPr>
            <p:nvPr/>
          </p:nvSpPr>
          <p:spPr bwMode="auto">
            <a:xfrm>
              <a:off x="2087" y="1529"/>
              <a:ext cx="581" cy="29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6" name="Line 14"/>
            <p:cNvSpPr>
              <a:spLocks noChangeShapeType="1"/>
            </p:cNvSpPr>
            <p:nvPr/>
          </p:nvSpPr>
          <p:spPr bwMode="auto">
            <a:xfrm>
              <a:off x="500" y="2003"/>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7" name="Line 15"/>
            <p:cNvSpPr>
              <a:spLocks noChangeShapeType="1"/>
            </p:cNvSpPr>
            <p:nvPr/>
          </p:nvSpPr>
          <p:spPr bwMode="auto">
            <a:xfrm>
              <a:off x="1346" y="2357"/>
              <a:ext cx="52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8" name="Line 17"/>
            <p:cNvSpPr>
              <a:spLocks noChangeShapeType="1"/>
            </p:cNvSpPr>
            <p:nvPr/>
          </p:nvSpPr>
          <p:spPr bwMode="auto">
            <a:xfrm flipV="1">
              <a:off x="1248" y="15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9" name="Line 18"/>
            <p:cNvSpPr>
              <a:spLocks noChangeShapeType="1"/>
            </p:cNvSpPr>
            <p:nvPr/>
          </p:nvSpPr>
          <p:spPr bwMode="auto">
            <a:xfrm flipV="1">
              <a:off x="2034" y="1588"/>
              <a:ext cx="0" cy="651"/>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0" name="Line 19"/>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1" name="Text Box 20"/>
            <p:cNvSpPr txBox="1">
              <a:spLocks noChangeArrowheads="1"/>
            </p:cNvSpPr>
            <p:nvPr/>
          </p:nvSpPr>
          <p:spPr bwMode="auto">
            <a:xfrm>
              <a:off x="576" y="12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1292" name="Text Box 21"/>
            <p:cNvSpPr txBox="1">
              <a:spLocks noChangeArrowheads="1"/>
            </p:cNvSpPr>
            <p:nvPr/>
          </p:nvSpPr>
          <p:spPr bwMode="auto">
            <a:xfrm>
              <a:off x="528" y="211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1293" name="Text Box 22"/>
            <p:cNvSpPr txBox="1">
              <a:spLocks noChangeArrowheads="1"/>
            </p:cNvSpPr>
            <p:nvPr/>
          </p:nvSpPr>
          <p:spPr bwMode="auto">
            <a:xfrm>
              <a:off x="1488" y="105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a:t>
              </a:r>
            </a:p>
          </p:txBody>
        </p:sp>
        <p:sp>
          <p:nvSpPr>
            <p:cNvPr id="11294" name="Text Box 24"/>
            <p:cNvSpPr txBox="1">
              <a:spLocks noChangeArrowheads="1"/>
            </p:cNvSpPr>
            <p:nvPr/>
          </p:nvSpPr>
          <p:spPr bwMode="auto">
            <a:xfrm>
              <a:off x="1200" y="172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295" name="Text Box 25"/>
            <p:cNvSpPr txBox="1">
              <a:spLocks noChangeArrowheads="1"/>
            </p:cNvSpPr>
            <p:nvPr/>
          </p:nvSpPr>
          <p:spPr bwMode="auto">
            <a:xfrm>
              <a:off x="2256" y="13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1296" name="Text Box 26"/>
            <p:cNvSpPr txBox="1">
              <a:spLocks noChangeArrowheads="1"/>
            </p:cNvSpPr>
            <p:nvPr/>
          </p:nvSpPr>
          <p:spPr bwMode="auto">
            <a:xfrm>
              <a:off x="2298" y="212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297" name="Text Box 27"/>
            <p:cNvSpPr txBox="1">
              <a:spLocks noChangeArrowheads="1"/>
            </p:cNvSpPr>
            <p:nvPr/>
          </p:nvSpPr>
          <p:spPr bwMode="auto">
            <a:xfrm>
              <a:off x="2064"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1298" name="Text Box 28"/>
            <p:cNvSpPr txBox="1">
              <a:spLocks noChangeArrowheads="1"/>
            </p:cNvSpPr>
            <p:nvPr/>
          </p:nvSpPr>
          <p:spPr bwMode="auto">
            <a:xfrm>
              <a:off x="1536" y="244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299" name="Text Box 29"/>
            <p:cNvSpPr txBox="1">
              <a:spLocks noChangeArrowheads="1"/>
            </p:cNvSpPr>
            <p:nvPr/>
          </p:nvSpPr>
          <p:spPr bwMode="auto">
            <a:xfrm>
              <a:off x="720" y="163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300" name="Line 30"/>
            <p:cNvSpPr>
              <a:spLocks noChangeShapeType="1"/>
            </p:cNvSpPr>
            <p:nvPr/>
          </p:nvSpPr>
          <p:spPr bwMode="auto">
            <a:xfrm flipH="1">
              <a:off x="1392" y="14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1" name="Text Box 31"/>
            <p:cNvSpPr txBox="1">
              <a:spLocks noChangeArrowheads="1"/>
            </p:cNvSpPr>
            <p:nvPr/>
          </p:nvSpPr>
          <p:spPr bwMode="auto">
            <a:xfrm>
              <a:off x="1536" y="148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302" name="Line 32"/>
            <p:cNvSpPr>
              <a:spLocks noChangeShapeType="1"/>
            </p:cNvSpPr>
            <p:nvPr/>
          </p:nvSpPr>
          <p:spPr bwMode="auto">
            <a:xfrm flipV="1">
              <a:off x="1296" y="1584"/>
              <a:ext cx="624"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3" name="Text Box 33"/>
            <p:cNvSpPr txBox="1">
              <a:spLocks noChangeArrowheads="1"/>
            </p:cNvSpPr>
            <p:nvPr/>
          </p:nvSpPr>
          <p:spPr bwMode="auto">
            <a:xfrm>
              <a:off x="1478" y="170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304" name="Line 34"/>
            <p:cNvSpPr>
              <a:spLocks noChangeShapeType="1"/>
            </p:cNvSpPr>
            <p:nvPr/>
          </p:nvSpPr>
          <p:spPr bwMode="auto">
            <a:xfrm flipH="1">
              <a:off x="1344" y="2448"/>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Text Box 35"/>
            <p:cNvSpPr txBox="1">
              <a:spLocks noChangeArrowheads="1"/>
            </p:cNvSpPr>
            <p:nvPr/>
          </p:nvSpPr>
          <p:spPr bwMode="auto">
            <a:xfrm>
              <a:off x="1536" y="211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10</a:t>
              </a:r>
            </a:p>
          </p:txBody>
        </p:sp>
        <p:sp>
          <p:nvSpPr>
            <p:cNvPr id="11306" name="Line 36"/>
            <p:cNvSpPr>
              <a:spLocks noChangeShapeType="1"/>
            </p:cNvSpPr>
            <p:nvPr/>
          </p:nvSpPr>
          <p:spPr bwMode="auto">
            <a:xfrm flipH="1">
              <a:off x="2160" y="1968"/>
              <a:ext cx="48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274" name="Line 51"/>
          <p:cNvSpPr>
            <a:spLocks noChangeShapeType="1"/>
          </p:cNvSpPr>
          <p:nvPr/>
        </p:nvSpPr>
        <p:spPr bwMode="auto">
          <a:xfrm>
            <a:off x="2097088" y="2628900"/>
            <a:ext cx="0" cy="10334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5" name="Text Box 58"/>
          <p:cNvSpPr txBox="1">
            <a:spLocks noChangeArrowheads="1"/>
          </p:cNvSpPr>
          <p:nvPr/>
        </p:nvSpPr>
        <p:spPr bwMode="auto">
          <a:xfrm>
            <a:off x="1593850" y="29114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1276" name="Line 51"/>
          <p:cNvSpPr>
            <a:spLocks noChangeShapeType="1"/>
          </p:cNvSpPr>
          <p:nvPr/>
        </p:nvSpPr>
        <p:spPr bwMode="auto">
          <a:xfrm>
            <a:off x="6348413" y="2725738"/>
            <a:ext cx="0" cy="10334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7" name="Text Box 58"/>
          <p:cNvSpPr txBox="1">
            <a:spLocks noChangeArrowheads="1"/>
          </p:cNvSpPr>
          <p:nvPr/>
        </p:nvSpPr>
        <p:spPr bwMode="auto">
          <a:xfrm>
            <a:off x="5845175" y="3008313"/>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Tree>
    <p:extLst>
      <p:ext uri="{BB962C8B-B14F-4D97-AF65-F5344CB8AC3E}">
        <p14:creationId xmlns:p14="http://schemas.microsoft.com/office/powerpoint/2010/main" val="41720944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是源点为</a:t>
            </a:r>
            <a:r>
              <a:rPr lang="en-US" altLang="zh-CN" sz="2400" i="1" dirty="0">
                <a:latin typeface="+mj-lt"/>
                <a:ea typeface="黑体" pitchFamily="2" charset="-122"/>
              </a:rPr>
              <a:t>s</a:t>
            </a:r>
            <a:r>
              <a:rPr lang="zh-CN" altLang="en-US" sz="2400" dirty="0">
                <a:latin typeface="+mj-lt"/>
                <a:ea typeface="黑体" pitchFamily="2" charset="-122"/>
              </a:rPr>
              <a:t>，汇点为</a:t>
            </a:r>
            <a:r>
              <a:rPr lang="en-US" altLang="zh-CN" sz="2400" i="1" dirty="0">
                <a:latin typeface="+mj-lt"/>
                <a:ea typeface="黑体" pitchFamily="2" charset="-122"/>
              </a:rPr>
              <a:t>t </a:t>
            </a:r>
            <a:r>
              <a:rPr lang="zh-CN" altLang="en-US" sz="2400" dirty="0">
                <a:latin typeface="+mj-lt"/>
                <a:ea typeface="黑体" pitchFamily="2" charset="-122"/>
              </a:rPr>
              <a:t>的流网络，且</a:t>
            </a:r>
            <a:r>
              <a:rPr lang="en-US" altLang="zh-CN" sz="2400" i="1" dirty="0">
                <a:latin typeface="+mj-lt"/>
                <a:ea typeface="黑体" pitchFamily="2" charset="-122"/>
              </a:rPr>
              <a:t>f</a:t>
            </a:r>
            <a:r>
              <a:rPr lang="en-US" altLang="zh-CN" sz="2400" i="1" baseline="-25000" dirty="0">
                <a:latin typeface="+mj-lt"/>
                <a:ea typeface="黑体" pitchFamily="2" charset="-122"/>
              </a:rPr>
              <a:t>1</a:t>
            </a:r>
            <a:r>
              <a:rPr lang="en-US" altLang="zh-CN" sz="2400" i="1" dirty="0">
                <a:latin typeface="+mj-lt"/>
                <a:ea typeface="黑体" pitchFamily="2" charset="-122"/>
              </a:rPr>
              <a:t>, f</a:t>
            </a:r>
            <a:r>
              <a:rPr lang="en-US" altLang="zh-CN" sz="2400" i="1" baseline="-25000" dirty="0">
                <a:latin typeface="+mj-lt"/>
                <a:ea typeface="黑体" pitchFamily="2" charset="-122"/>
              </a:rPr>
              <a:t>2</a:t>
            </a:r>
            <a:r>
              <a:rPr lang="zh-CN" altLang="en-US" sz="2400" dirty="0">
                <a:latin typeface="+mj-lt"/>
                <a:ea typeface="黑体" pitchFamily="2" charset="-122"/>
              </a:rPr>
              <a:t>是</a:t>
            </a:r>
            <a:r>
              <a:rPr lang="en-US" altLang="zh-CN" sz="2400" i="1" dirty="0">
                <a:latin typeface="+mj-lt"/>
                <a:ea typeface="黑体" pitchFamily="2" charset="-122"/>
              </a:rPr>
              <a:t>G </a:t>
            </a:r>
            <a:r>
              <a:rPr lang="zh-CN" altLang="en-US" sz="2400" dirty="0">
                <a:latin typeface="+mj-lt"/>
                <a:ea typeface="黑体" pitchFamily="2" charset="-122"/>
              </a:rPr>
              <a:t>中的流。对于所有</a:t>
            </a:r>
            <a:r>
              <a:rPr lang="en-US" altLang="zh-CN" sz="2400" i="1" dirty="0">
                <a:latin typeface="+mj-lt"/>
                <a:ea typeface="黑体" pitchFamily="2" charset="-122"/>
              </a:rPr>
              <a:t>u, </a:t>
            </a:r>
            <a:r>
              <a:rPr lang="en-US" altLang="zh-CN" sz="2400" i="1" dirty="0" err="1">
                <a:latin typeface="+mj-lt"/>
                <a:ea typeface="黑体" pitchFamily="2" charset="-122"/>
              </a:rPr>
              <a:t>v∈V</a:t>
            </a:r>
            <a:r>
              <a:rPr lang="zh-CN" altLang="en-US" sz="2400" dirty="0">
                <a:latin typeface="+mj-lt"/>
                <a:ea typeface="黑体" pitchFamily="2" charset="-122"/>
              </a:rPr>
              <a:t>，定义</a:t>
            </a:r>
            <a:endParaRPr lang="en-US" altLang="zh-CN" sz="2400" dirty="0">
              <a:latin typeface="+mj-lt"/>
              <a:ea typeface="黑体" pitchFamily="2" charset="-122"/>
            </a:endParaRPr>
          </a:p>
          <a:p>
            <a:pPr marL="0" indent="0">
              <a:buNone/>
            </a:pPr>
            <a:r>
              <a:rPr lang="en-US" altLang="zh-CN" sz="2400" b="1" i="1" dirty="0">
                <a:solidFill>
                  <a:srgbClr val="C00000"/>
                </a:solidFill>
                <a:latin typeface="+mj-lt"/>
                <a:ea typeface="黑体" pitchFamily="2" charset="-122"/>
              </a:rPr>
              <a:t>     </a:t>
            </a:r>
            <a:r>
              <a:rPr lang="en-US" altLang="zh-CN" sz="2400" i="1" dirty="0">
                <a:solidFill>
                  <a:srgbClr val="C00000"/>
                </a:solidFill>
                <a:latin typeface="+mj-lt"/>
                <a:ea typeface="黑体" pitchFamily="2" charset="-122"/>
              </a:rPr>
              <a:t>(f</a:t>
            </a:r>
            <a:r>
              <a:rPr lang="en-US" altLang="zh-CN" sz="2400" i="1" baseline="-25000" dirty="0">
                <a:solidFill>
                  <a:srgbClr val="C00000"/>
                </a:solidFill>
                <a:latin typeface="+mj-lt"/>
                <a:ea typeface="黑体" pitchFamily="2" charset="-122"/>
              </a:rPr>
              <a:t>1</a:t>
            </a:r>
            <a:r>
              <a:rPr lang="en-US" altLang="zh-CN" sz="2400" i="1" dirty="0">
                <a:solidFill>
                  <a:srgbClr val="C00000"/>
                </a:solidFill>
                <a:latin typeface="+mj-lt"/>
                <a:ea typeface="黑体" pitchFamily="2" charset="-122"/>
              </a:rPr>
              <a:t>+f</a:t>
            </a:r>
            <a:r>
              <a:rPr lang="en-US" altLang="zh-CN" sz="2400" i="1" baseline="-25000" dirty="0">
                <a:solidFill>
                  <a:srgbClr val="C00000"/>
                </a:solidFill>
                <a:latin typeface="+mj-lt"/>
                <a:ea typeface="黑体" pitchFamily="2" charset="-122"/>
              </a:rPr>
              <a:t>2</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u,v</a:t>
            </a:r>
            <a:r>
              <a:rPr lang="en-US" altLang="zh-CN" sz="2400" i="1" dirty="0">
                <a:solidFill>
                  <a:srgbClr val="C00000"/>
                </a:solidFill>
                <a:latin typeface="+mj-lt"/>
                <a:ea typeface="黑体" pitchFamily="2" charset="-122"/>
              </a:rPr>
              <a:t>)=f</a:t>
            </a:r>
            <a:r>
              <a:rPr lang="en-US" altLang="zh-CN" sz="2400" i="1" baseline="-25000" dirty="0">
                <a:solidFill>
                  <a:srgbClr val="C00000"/>
                </a:solidFill>
                <a:latin typeface="+mj-lt"/>
                <a:ea typeface="黑体" pitchFamily="2" charset="-122"/>
              </a:rPr>
              <a:t>1</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u,v</a:t>
            </a:r>
            <a:r>
              <a:rPr lang="en-US" altLang="zh-CN" sz="2400" i="1" dirty="0">
                <a:solidFill>
                  <a:srgbClr val="C00000"/>
                </a:solidFill>
                <a:latin typeface="+mj-lt"/>
                <a:ea typeface="黑体" pitchFamily="2" charset="-122"/>
              </a:rPr>
              <a:t>)+f</a:t>
            </a:r>
            <a:r>
              <a:rPr lang="en-US" altLang="zh-CN" sz="2400" i="1" baseline="-25000" dirty="0">
                <a:solidFill>
                  <a:srgbClr val="C00000"/>
                </a:solidFill>
                <a:latin typeface="+mj-lt"/>
                <a:ea typeface="黑体" pitchFamily="2" charset="-122"/>
              </a:rPr>
              <a:t>2</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u,v</a:t>
            </a:r>
            <a:r>
              <a:rPr lang="en-US" altLang="zh-CN" sz="2400" i="1" dirty="0">
                <a:solidFill>
                  <a:srgbClr val="C00000"/>
                </a:solidFill>
                <a:latin typeface="+mj-lt"/>
                <a:ea typeface="黑体" pitchFamily="2" charset="-122"/>
              </a:rPr>
              <a:t>)     </a:t>
            </a:r>
            <a:r>
              <a:rPr lang="en-US" altLang="zh-CN" sz="2400" dirty="0">
                <a:latin typeface="+mj-lt"/>
                <a:ea typeface="黑体" pitchFamily="2" charset="-122"/>
              </a:rPr>
              <a:t>(*)</a:t>
            </a:r>
          </a:p>
          <a:p>
            <a:endParaRPr lang="en-US" altLang="zh-CN" sz="2400" dirty="0">
              <a:ea typeface="黑体" pitchFamily="2" charset="-122"/>
            </a:endParaRPr>
          </a:p>
          <a:p>
            <a:r>
              <a:rPr lang="zh-CN" altLang="en-US" sz="2400" dirty="0">
                <a:solidFill>
                  <a:srgbClr val="C00000"/>
                </a:solidFill>
                <a:latin typeface="+mj-lt"/>
                <a:ea typeface="黑体" pitchFamily="2" charset="-122"/>
              </a:rPr>
              <a:t>引理 </a:t>
            </a:r>
            <a:r>
              <a:rPr lang="en-US" altLang="zh-CN" sz="2400" dirty="0">
                <a:solidFill>
                  <a:srgbClr val="C00000"/>
                </a:solidFill>
                <a:latin typeface="+mj-lt"/>
                <a:ea typeface="黑体" pitchFamily="2" charset="-122"/>
              </a:rPr>
              <a:t>2. </a:t>
            </a:r>
            <a:r>
              <a:rPr lang="zh-CN" altLang="en-US" sz="2400" dirty="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是源点为</a:t>
            </a:r>
            <a:r>
              <a:rPr lang="en-US" altLang="zh-CN" sz="2400" i="1" dirty="0">
                <a:latin typeface="+mj-lt"/>
                <a:ea typeface="黑体" pitchFamily="2" charset="-122"/>
              </a:rPr>
              <a:t>s</a:t>
            </a:r>
            <a:r>
              <a:rPr lang="zh-CN" altLang="en-US" sz="2400" dirty="0">
                <a:latin typeface="+mj-lt"/>
                <a:ea typeface="黑体" pitchFamily="2" charset="-122"/>
              </a:rPr>
              <a:t>，汇点为</a:t>
            </a:r>
            <a:r>
              <a:rPr lang="en-US" altLang="zh-CN" sz="2400" i="1" dirty="0">
                <a:latin typeface="+mj-lt"/>
                <a:ea typeface="黑体" pitchFamily="2" charset="-122"/>
              </a:rPr>
              <a:t>t</a:t>
            </a:r>
            <a:r>
              <a:rPr lang="zh-CN" altLang="en-US" sz="2400" dirty="0">
                <a:latin typeface="+mj-lt"/>
                <a:ea typeface="黑体" pitchFamily="2" charset="-122"/>
              </a:rPr>
              <a:t>的流网络，且</a:t>
            </a:r>
            <a:r>
              <a:rPr lang="en-US" altLang="zh-CN" sz="2400" i="1" dirty="0">
                <a:latin typeface="+mj-lt"/>
                <a:ea typeface="黑体" pitchFamily="2" charset="-122"/>
              </a:rPr>
              <a:t>f </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中的一个流。设</a:t>
            </a:r>
            <a:r>
              <a:rPr lang="en-US" altLang="zh-CN" sz="2400" i="1" dirty="0" err="1">
                <a:latin typeface="+mj-lt"/>
                <a:ea typeface="黑体" pitchFamily="2" charset="-122"/>
              </a:rPr>
              <a:t>G</a:t>
            </a:r>
            <a:r>
              <a:rPr lang="en-US" altLang="zh-CN" sz="2400" i="1" baseline="-25000" dirty="0" err="1">
                <a:latin typeface="+mj-lt"/>
                <a:ea typeface="黑体" pitchFamily="2" charset="-122"/>
              </a:rPr>
              <a:t>f</a:t>
            </a:r>
            <a:r>
              <a:rPr lang="en-US" altLang="zh-CN" sz="2400" i="1" baseline="-25000" dirty="0">
                <a:latin typeface="+mj-lt"/>
                <a:ea typeface="黑体" pitchFamily="2" charset="-122"/>
              </a:rPr>
              <a:t> </a:t>
            </a:r>
            <a:r>
              <a:rPr lang="zh-CN" altLang="en-US" sz="2400" dirty="0">
                <a:latin typeface="+mj-lt"/>
                <a:ea typeface="黑体" pitchFamily="2" charset="-122"/>
              </a:rPr>
              <a:t>是由 </a:t>
            </a:r>
            <a:r>
              <a:rPr lang="en-US" altLang="zh-CN" sz="2400" i="1" dirty="0">
                <a:latin typeface="+mj-lt"/>
                <a:ea typeface="黑体" pitchFamily="2" charset="-122"/>
              </a:rPr>
              <a:t>f </a:t>
            </a:r>
            <a:r>
              <a:rPr lang="zh-CN" altLang="en-US" sz="2400" dirty="0">
                <a:latin typeface="+mj-lt"/>
                <a:ea typeface="黑体" pitchFamily="2" charset="-122"/>
              </a:rPr>
              <a:t>导出的残留网络，且</a:t>
            </a:r>
            <a:r>
              <a:rPr lang="en-US" altLang="zh-CN" sz="2400" i="1" dirty="0">
                <a:latin typeface="+mj-lt"/>
                <a:ea typeface="黑体" pitchFamily="2" charset="-122"/>
              </a:rPr>
              <a:t>f’</a:t>
            </a:r>
            <a:r>
              <a:rPr lang="zh-CN" altLang="en-US" sz="2400" dirty="0">
                <a:latin typeface="+mj-lt"/>
                <a:ea typeface="黑体" pitchFamily="2" charset="-122"/>
              </a:rPr>
              <a:t>是</a:t>
            </a:r>
            <a:r>
              <a:rPr lang="en-US" altLang="zh-CN" sz="2400" i="1" dirty="0" err="1">
                <a:latin typeface="+mj-lt"/>
                <a:ea typeface="黑体" pitchFamily="2" charset="-122"/>
              </a:rPr>
              <a:t>G</a:t>
            </a:r>
            <a:r>
              <a:rPr lang="en-US" altLang="zh-CN" sz="2400" i="1" baseline="-25000" dirty="0" err="1">
                <a:latin typeface="+mj-lt"/>
                <a:ea typeface="黑体" pitchFamily="2" charset="-122"/>
              </a:rPr>
              <a:t>f</a:t>
            </a:r>
            <a:r>
              <a:rPr lang="zh-CN" altLang="en-US" sz="2400" dirty="0">
                <a:latin typeface="+mj-lt"/>
                <a:ea typeface="黑体" pitchFamily="2" charset="-122"/>
              </a:rPr>
              <a:t>中的一个流。则</a:t>
            </a:r>
            <a:r>
              <a:rPr lang="en-US" altLang="zh-CN" sz="2400" i="1" dirty="0" err="1">
                <a:latin typeface="+mj-lt"/>
                <a:ea typeface="黑体" pitchFamily="2" charset="-122"/>
              </a:rPr>
              <a:t>f+f</a:t>
            </a:r>
            <a:r>
              <a:rPr lang="en-US" altLang="zh-CN" sz="2400" i="1" dirty="0">
                <a:latin typeface="+mj-lt"/>
                <a:ea typeface="黑体" pitchFamily="2" charset="-122"/>
              </a:rPr>
              <a:t>’</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中的一个流，其值为</a:t>
            </a:r>
            <a:r>
              <a:rPr lang="en-US" altLang="zh-CN" sz="2400" i="1" dirty="0">
                <a:latin typeface="+mj-lt"/>
                <a:ea typeface="黑体" pitchFamily="2" charset="-122"/>
              </a:rPr>
              <a:t>| </a:t>
            </a:r>
            <a:r>
              <a:rPr lang="en-US" altLang="zh-CN" sz="2400" i="1" dirty="0" err="1">
                <a:latin typeface="+mj-lt"/>
                <a:ea typeface="黑体" pitchFamily="2" charset="-122"/>
              </a:rPr>
              <a:t>f+f</a:t>
            </a:r>
            <a:r>
              <a:rPr lang="en-US" altLang="zh-CN" sz="2400" i="1" dirty="0">
                <a:latin typeface="+mj-lt"/>
                <a:ea typeface="黑体" pitchFamily="2" charset="-122"/>
              </a:rPr>
              <a:t>’|=|f|+|f’|</a:t>
            </a:r>
          </a:p>
          <a:p>
            <a:pPr marL="0" indent="0">
              <a:buNone/>
            </a:pPr>
            <a:endParaRPr lang="en-US" altLang="zh-CN" sz="2400" dirty="0">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Tree>
    <p:extLst>
      <p:ext uri="{BB962C8B-B14F-4D97-AF65-F5344CB8AC3E}">
        <p14:creationId xmlns:p14="http://schemas.microsoft.com/office/powerpoint/2010/main" val="2807999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i="1" dirty="0">
                <a:solidFill>
                  <a:srgbClr val="C00000"/>
                </a:solidFill>
                <a:latin typeface="+mj-lt"/>
                <a:ea typeface="黑体" pitchFamily="2" charset="-122"/>
              </a:rPr>
              <a:t>增广路径及其残留容量</a:t>
            </a:r>
            <a:endParaRPr lang="en-US" altLang="zh-CN" sz="2400" i="1" dirty="0">
              <a:solidFill>
                <a:srgbClr val="C00000"/>
              </a:solidFill>
              <a:latin typeface="+mj-lt"/>
              <a:ea typeface="黑体" pitchFamily="2" charset="-122"/>
            </a:endParaRPr>
          </a:p>
          <a:p>
            <a:r>
              <a:rPr lang="zh-CN" altLang="en-US" sz="2400" dirty="0">
                <a:latin typeface="+mj-lt"/>
                <a:ea typeface="黑体" pitchFamily="2" charset="-122"/>
              </a:rPr>
              <a:t>已知一个流网络</a:t>
            </a:r>
            <a:r>
              <a:rPr lang="en-US" altLang="zh-CN" sz="2400" i="1" dirty="0">
                <a:latin typeface="+mj-lt"/>
                <a:ea typeface="黑体" pitchFamily="2" charset="-122"/>
              </a:rPr>
              <a:t>G=(V,E)</a:t>
            </a:r>
            <a:r>
              <a:rPr lang="zh-CN" altLang="en-US" sz="2400" dirty="0">
                <a:latin typeface="+mj-lt"/>
                <a:ea typeface="黑体" pitchFamily="2" charset="-122"/>
              </a:rPr>
              <a:t>和流</a:t>
            </a:r>
            <a:r>
              <a:rPr lang="en-US" altLang="zh-CN" sz="2400" i="1" dirty="0">
                <a:latin typeface="+mj-lt"/>
                <a:ea typeface="黑体" pitchFamily="2" charset="-122"/>
              </a:rPr>
              <a:t>f</a:t>
            </a:r>
            <a:r>
              <a:rPr lang="zh-CN" altLang="en-US" sz="2400" dirty="0">
                <a:latin typeface="+mj-lt"/>
                <a:ea typeface="黑体" pitchFamily="2" charset="-122"/>
              </a:rPr>
              <a:t>，增广路径</a:t>
            </a:r>
            <a:r>
              <a:rPr lang="en-US" altLang="zh-CN" sz="2400" i="1" dirty="0">
                <a:latin typeface="+mj-lt"/>
                <a:ea typeface="黑体" pitchFamily="2" charset="-122"/>
              </a:rPr>
              <a:t>p</a:t>
            </a:r>
            <a:r>
              <a:rPr lang="zh-CN" altLang="en-US" sz="2400" dirty="0">
                <a:latin typeface="+mj-lt"/>
                <a:ea typeface="黑体" pitchFamily="2" charset="-122"/>
              </a:rPr>
              <a:t>是残留网络</a:t>
            </a:r>
            <a:r>
              <a:rPr lang="en-US" altLang="zh-CN" sz="2400" i="1" dirty="0" err="1">
                <a:latin typeface="+mj-lt"/>
                <a:ea typeface="黑体" pitchFamily="2" charset="-122"/>
              </a:rPr>
              <a:t>G</a:t>
            </a:r>
            <a:r>
              <a:rPr lang="en-US" altLang="zh-CN" sz="2400" i="1" baseline="-25000" dirty="0" err="1">
                <a:latin typeface="+mj-lt"/>
                <a:ea typeface="黑体" pitchFamily="2" charset="-122"/>
              </a:rPr>
              <a:t>f</a:t>
            </a:r>
            <a:r>
              <a:rPr lang="zh-CN" altLang="en-US" sz="2400" dirty="0">
                <a:latin typeface="+mj-lt"/>
                <a:ea typeface="黑体" pitchFamily="2" charset="-122"/>
              </a:rPr>
              <a:t>中从</a:t>
            </a:r>
            <a:r>
              <a:rPr lang="en-US" altLang="zh-CN" sz="2400" i="1" dirty="0">
                <a:latin typeface="+mj-lt"/>
                <a:ea typeface="黑体" pitchFamily="2" charset="-122"/>
              </a:rPr>
              <a:t>s</a:t>
            </a:r>
            <a:r>
              <a:rPr lang="zh-CN" altLang="en-US" sz="2400" dirty="0">
                <a:latin typeface="+mj-lt"/>
                <a:ea typeface="黑体" pitchFamily="2" charset="-122"/>
              </a:rPr>
              <a:t>到</a:t>
            </a:r>
            <a:r>
              <a:rPr lang="en-US" altLang="zh-CN" sz="2400" i="1" dirty="0">
                <a:latin typeface="+mj-lt"/>
                <a:ea typeface="黑体" pitchFamily="2" charset="-122"/>
              </a:rPr>
              <a:t>t</a:t>
            </a:r>
            <a:r>
              <a:rPr lang="zh-CN" altLang="en-US" sz="2400" dirty="0">
                <a:latin typeface="+mj-lt"/>
                <a:ea typeface="黑体" pitchFamily="2" charset="-122"/>
              </a:rPr>
              <a:t>的一条简单路径</a:t>
            </a:r>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latin typeface="+mj-lt"/>
                <a:ea typeface="黑体" pitchFamily="2" charset="-122"/>
              </a:rPr>
              <a:t>根据残留网络的定义，在不违反边容量限制下，增广路径上的每条边</a:t>
            </a:r>
            <a:r>
              <a:rPr lang="en-US" altLang="zh-CN" sz="2400" dirty="0">
                <a:latin typeface="+mj-lt"/>
                <a:ea typeface="黑体" pitchFamily="2" charset="-122"/>
              </a:rPr>
              <a:t>(</a:t>
            </a:r>
            <a:r>
              <a:rPr lang="en-US" altLang="zh-CN" sz="2400" i="1" dirty="0" err="1">
                <a:latin typeface="+mj-lt"/>
                <a:ea typeface="黑体" pitchFamily="2" charset="-122"/>
              </a:rPr>
              <a:t>u,v</a:t>
            </a:r>
            <a:r>
              <a:rPr lang="en-US" altLang="zh-CN" sz="2400" dirty="0">
                <a:latin typeface="+mj-lt"/>
                <a:ea typeface="黑体" pitchFamily="2" charset="-122"/>
              </a:rPr>
              <a:t>)</a:t>
            </a:r>
            <a:r>
              <a:rPr lang="zh-CN" altLang="en-US" sz="2400" dirty="0">
                <a:latin typeface="+mj-lt"/>
                <a:ea typeface="黑体" pitchFamily="2" charset="-122"/>
              </a:rPr>
              <a:t>可以容纳从</a:t>
            </a:r>
            <a:r>
              <a:rPr lang="en-US" altLang="zh-CN" sz="2400" i="1" dirty="0">
                <a:latin typeface="+mj-lt"/>
                <a:ea typeface="黑体" pitchFamily="2" charset="-122"/>
              </a:rPr>
              <a:t>u</a:t>
            </a:r>
            <a:r>
              <a:rPr lang="zh-CN" altLang="en-US" sz="2400" dirty="0">
                <a:latin typeface="+mj-lt"/>
                <a:ea typeface="黑体" pitchFamily="2" charset="-122"/>
              </a:rPr>
              <a:t>到</a:t>
            </a:r>
            <a:r>
              <a:rPr lang="en-US" altLang="zh-CN" sz="2400" i="1" dirty="0">
                <a:latin typeface="+mj-lt"/>
                <a:ea typeface="黑体" pitchFamily="2" charset="-122"/>
              </a:rPr>
              <a:t>v</a:t>
            </a:r>
            <a:r>
              <a:rPr lang="zh-CN" altLang="en-US" sz="2400" dirty="0">
                <a:latin typeface="+mj-lt"/>
                <a:ea typeface="黑体" pitchFamily="2" charset="-122"/>
              </a:rPr>
              <a:t>的某额外的正网络流。定义增广路径</a:t>
            </a:r>
            <a:r>
              <a:rPr lang="en-US" altLang="zh-CN" sz="2400" i="1" dirty="0">
                <a:latin typeface="+mj-lt"/>
                <a:ea typeface="黑体" pitchFamily="2" charset="-122"/>
              </a:rPr>
              <a:t>p</a:t>
            </a:r>
            <a:r>
              <a:rPr lang="zh-CN" altLang="en-US" sz="2400" dirty="0">
                <a:latin typeface="+mj-lt"/>
                <a:ea typeface="黑体" pitchFamily="2" charset="-122"/>
              </a:rPr>
              <a:t>的残留容量为沿一条增广路径</a:t>
            </a:r>
            <a:r>
              <a:rPr lang="en-US" altLang="zh-CN" sz="2400" i="1" dirty="0">
                <a:latin typeface="+mj-lt"/>
                <a:ea typeface="黑体" pitchFamily="2" charset="-122"/>
              </a:rPr>
              <a:t>p</a:t>
            </a:r>
            <a:r>
              <a:rPr lang="zh-CN" altLang="en-US" sz="2400" dirty="0">
                <a:latin typeface="+mj-lt"/>
                <a:ea typeface="黑体" pitchFamily="2" charset="-122"/>
              </a:rPr>
              <a:t>的每条边传输的网络流的最大量，由下式定义</a:t>
            </a:r>
            <a:r>
              <a:rPr lang="en-US" altLang="zh-CN" sz="2400" dirty="0">
                <a:latin typeface="+mj-lt"/>
                <a:ea typeface="黑体" pitchFamily="2" charset="-122"/>
              </a:rPr>
              <a:t>:</a:t>
            </a:r>
          </a:p>
          <a:p>
            <a:pPr marL="0" indent="0">
              <a:buNone/>
            </a:pPr>
            <a:r>
              <a:rPr lang="en-US" altLang="zh-CN" sz="2400" dirty="0">
                <a:solidFill>
                  <a:srgbClr val="0000CC"/>
                </a:solidFill>
                <a:latin typeface="+mj-lt"/>
                <a:ea typeface="黑体" pitchFamily="2" charset="-122"/>
              </a:rPr>
              <a:t>                    </a:t>
            </a:r>
            <a:r>
              <a:rPr lang="en-US" altLang="zh-CN" sz="2400" b="1" i="1" dirty="0" err="1">
                <a:solidFill>
                  <a:srgbClr val="0000CC"/>
                </a:solidFill>
                <a:latin typeface="+mj-lt"/>
                <a:ea typeface="黑体" pitchFamily="2" charset="-122"/>
              </a:rPr>
              <a:t>c</a:t>
            </a:r>
            <a:r>
              <a:rPr lang="en-US" altLang="zh-CN" sz="2400" b="1" i="1" baseline="-25000" dirty="0" err="1">
                <a:solidFill>
                  <a:srgbClr val="0000CC"/>
                </a:solidFill>
                <a:latin typeface="+mj-lt"/>
                <a:ea typeface="黑体" pitchFamily="2" charset="-122"/>
              </a:rPr>
              <a:t>f</a:t>
            </a:r>
            <a:r>
              <a:rPr lang="en-US" altLang="zh-CN" sz="2400" b="1" i="1" dirty="0">
                <a:solidFill>
                  <a:srgbClr val="0000CC"/>
                </a:solidFill>
                <a:latin typeface="+mj-lt"/>
                <a:ea typeface="黑体" pitchFamily="2" charset="-122"/>
              </a:rPr>
              <a:t>(p)</a:t>
            </a:r>
            <a:r>
              <a:rPr lang="en-US" altLang="zh-CN" sz="2400" b="1" dirty="0">
                <a:solidFill>
                  <a:srgbClr val="0000CC"/>
                </a:solidFill>
                <a:latin typeface="+mj-lt"/>
                <a:ea typeface="黑体" pitchFamily="2" charset="-122"/>
              </a:rPr>
              <a:t>=</a:t>
            </a:r>
            <a:r>
              <a:rPr lang="en-US" altLang="zh-CN" sz="2400" b="1" i="1" dirty="0">
                <a:solidFill>
                  <a:srgbClr val="0000CC"/>
                </a:solidFill>
                <a:latin typeface="+mj-lt"/>
                <a:ea typeface="黑体" pitchFamily="2" charset="-122"/>
              </a:rPr>
              <a:t>min{</a:t>
            </a:r>
            <a:r>
              <a:rPr lang="en-US" altLang="zh-CN" sz="2400" b="1" i="1" dirty="0" err="1">
                <a:solidFill>
                  <a:srgbClr val="0000CC"/>
                </a:solidFill>
                <a:latin typeface="+mj-lt"/>
                <a:ea typeface="黑体" pitchFamily="2" charset="-122"/>
              </a:rPr>
              <a:t>c</a:t>
            </a:r>
            <a:r>
              <a:rPr lang="en-US" altLang="zh-CN" sz="2400" b="1" i="1" baseline="-25000" dirty="0" err="1">
                <a:solidFill>
                  <a:srgbClr val="0000CC"/>
                </a:solidFill>
                <a:latin typeface="+mj-lt"/>
                <a:ea typeface="黑体" pitchFamily="2" charset="-122"/>
              </a:rPr>
              <a:t>f</a:t>
            </a:r>
            <a:r>
              <a:rPr lang="en-US" altLang="zh-CN" sz="2400" b="1" i="1" dirty="0">
                <a:solidFill>
                  <a:srgbClr val="0000CC"/>
                </a:solidFill>
                <a:latin typeface="+mj-lt"/>
                <a:ea typeface="黑体" pitchFamily="2" charset="-122"/>
              </a:rPr>
              <a:t>(</a:t>
            </a:r>
            <a:r>
              <a:rPr lang="en-US" altLang="zh-CN" sz="2400" b="1" i="1" dirty="0" err="1">
                <a:solidFill>
                  <a:srgbClr val="0000CC"/>
                </a:solidFill>
                <a:latin typeface="+mj-lt"/>
                <a:ea typeface="黑体" pitchFamily="2" charset="-122"/>
              </a:rPr>
              <a:t>u,v</a:t>
            </a:r>
            <a:r>
              <a:rPr lang="en-US" altLang="zh-CN" sz="2400" b="1" i="1" dirty="0">
                <a:solidFill>
                  <a:srgbClr val="0000CC"/>
                </a:solidFill>
                <a:latin typeface="+mj-lt"/>
                <a:ea typeface="黑体" pitchFamily="2" charset="-122"/>
              </a:rPr>
              <a:t>)|(</a:t>
            </a:r>
            <a:r>
              <a:rPr lang="en-US" altLang="zh-CN" sz="2400" b="1" i="1" dirty="0" err="1">
                <a:solidFill>
                  <a:srgbClr val="0000CC"/>
                </a:solidFill>
                <a:latin typeface="+mj-lt"/>
                <a:ea typeface="黑体" pitchFamily="2" charset="-122"/>
              </a:rPr>
              <a:t>u,v</a:t>
            </a:r>
            <a:r>
              <a:rPr lang="en-US" altLang="zh-CN" sz="2400" b="1" i="1" dirty="0">
                <a:solidFill>
                  <a:srgbClr val="0000CC"/>
                </a:solidFill>
                <a:latin typeface="+mj-lt"/>
                <a:ea typeface="黑体" pitchFamily="2" charset="-122"/>
              </a:rPr>
              <a:t>)</a:t>
            </a:r>
            <a:r>
              <a:rPr lang="zh-CN" altLang="en-US" sz="2400" b="1" i="1" dirty="0">
                <a:solidFill>
                  <a:srgbClr val="0000CC"/>
                </a:solidFill>
                <a:latin typeface="+mj-lt"/>
                <a:ea typeface="黑体" pitchFamily="2" charset="-122"/>
              </a:rPr>
              <a:t>是</a:t>
            </a:r>
            <a:r>
              <a:rPr lang="en-US" altLang="zh-CN" sz="2400" b="1" i="1" dirty="0">
                <a:solidFill>
                  <a:srgbClr val="0000CC"/>
                </a:solidFill>
                <a:latin typeface="+mj-lt"/>
                <a:ea typeface="黑体" pitchFamily="2" charset="-122"/>
              </a:rPr>
              <a:t>p</a:t>
            </a:r>
            <a:r>
              <a:rPr lang="zh-CN" altLang="en-US" sz="2400" b="1" i="1" dirty="0">
                <a:solidFill>
                  <a:srgbClr val="0000CC"/>
                </a:solidFill>
                <a:latin typeface="+mj-lt"/>
                <a:ea typeface="黑体" pitchFamily="2" charset="-122"/>
              </a:rPr>
              <a:t>上的边</a:t>
            </a:r>
            <a:r>
              <a:rPr lang="en-US" altLang="zh-CN" sz="2400" b="1" i="1" dirty="0">
                <a:solidFill>
                  <a:srgbClr val="0000CC"/>
                </a:solidFill>
                <a:latin typeface="+mj-lt"/>
                <a:ea typeface="黑体" pitchFamily="2" charset="-122"/>
              </a:rPr>
              <a:t>}</a:t>
            </a:r>
          </a:p>
          <a:p>
            <a:pPr marL="0" indent="0">
              <a:buNone/>
            </a:pPr>
            <a:endParaRPr lang="en-US" altLang="zh-CN" sz="2400"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
        <p:nvSpPr>
          <p:cNvPr id="4" name="Oval 4"/>
          <p:cNvSpPr>
            <a:spLocks noChangeArrowheads="1"/>
          </p:cNvSpPr>
          <p:nvPr/>
        </p:nvSpPr>
        <p:spPr bwMode="auto">
          <a:xfrm>
            <a:off x="1447800" y="5720439"/>
            <a:ext cx="228600" cy="228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5" name="Oval 5"/>
          <p:cNvSpPr>
            <a:spLocks noChangeArrowheads="1"/>
          </p:cNvSpPr>
          <p:nvPr/>
        </p:nvSpPr>
        <p:spPr bwMode="auto">
          <a:xfrm>
            <a:off x="3124200" y="5720439"/>
            <a:ext cx="228600" cy="228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6" name="Oval 6"/>
          <p:cNvSpPr>
            <a:spLocks noChangeArrowheads="1"/>
          </p:cNvSpPr>
          <p:nvPr/>
        </p:nvSpPr>
        <p:spPr bwMode="auto">
          <a:xfrm>
            <a:off x="5105400" y="5720439"/>
            <a:ext cx="228600" cy="228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7" name="Oval 7"/>
          <p:cNvSpPr>
            <a:spLocks noChangeArrowheads="1"/>
          </p:cNvSpPr>
          <p:nvPr/>
        </p:nvSpPr>
        <p:spPr bwMode="auto">
          <a:xfrm>
            <a:off x="7010400" y="5720439"/>
            <a:ext cx="228600" cy="228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Line 8"/>
          <p:cNvSpPr>
            <a:spLocks noChangeShapeType="1"/>
          </p:cNvSpPr>
          <p:nvPr/>
        </p:nvSpPr>
        <p:spPr bwMode="auto">
          <a:xfrm>
            <a:off x="1676400" y="5872839"/>
            <a:ext cx="1447800" cy="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9"/>
          <p:cNvSpPr>
            <a:spLocks noChangeShapeType="1"/>
          </p:cNvSpPr>
          <p:nvPr/>
        </p:nvSpPr>
        <p:spPr bwMode="auto">
          <a:xfrm>
            <a:off x="3352800" y="5872839"/>
            <a:ext cx="1752600" cy="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1"/>
          <p:cNvSpPr>
            <a:spLocks noChangeShapeType="1"/>
          </p:cNvSpPr>
          <p:nvPr/>
        </p:nvSpPr>
        <p:spPr bwMode="auto">
          <a:xfrm>
            <a:off x="5334000" y="5872839"/>
            <a:ext cx="1600200" cy="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Text Box 12"/>
          <p:cNvSpPr txBox="1">
            <a:spLocks noChangeArrowheads="1"/>
          </p:cNvSpPr>
          <p:nvPr/>
        </p:nvSpPr>
        <p:spPr bwMode="auto">
          <a:xfrm>
            <a:off x="1905000" y="5263239"/>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50000"/>
              </a:spcBef>
              <a:buClrTx/>
              <a:buSzTx/>
              <a:buFontTx/>
              <a:buNone/>
            </a:pPr>
            <a:r>
              <a:rPr kumimoji="0" lang="en-US" altLang="zh-CN" b="0">
                <a:solidFill>
                  <a:schemeClr val="tx1"/>
                </a:solidFill>
                <a:ea typeface="宋体" charset="-122"/>
              </a:rPr>
              <a:t>2</a:t>
            </a:r>
            <a:endParaRPr kumimoji="0" lang="en-US" altLang="zh-TW" b="0">
              <a:solidFill>
                <a:schemeClr val="tx1"/>
              </a:solidFill>
              <a:ea typeface="新細明體" charset="-120"/>
            </a:endParaRPr>
          </a:p>
        </p:txBody>
      </p:sp>
      <p:sp>
        <p:nvSpPr>
          <p:cNvPr id="12" name="Text Box 13"/>
          <p:cNvSpPr txBox="1">
            <a:spLocks noChangeArrowheads="1"/>
          </p:cNvSpPr>
          <p:nvPr/>
        </p:nvSpPr>
        <p:spPr bwMode="auto">
          <a:xfrm>
            <a:off x="3581400" y="5263239"/>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50000"/>
              </a:spcBef>
              <a:buClrTx/>
              <a:buSzTx/>
              <a:buFontTx/>
              <a:buNone/>
            </a:pPr>
            <a:r>
              <a:rPr kumimoji="0" lang="en-US" altLang="zh-CN" b="0">
                <a:solidFill>
                  <a:schemeClr val="tx1"/>
                </a:solidFill>
                <a:ea typeface="宋体" charset="-122"/>
              </a:rPr>
              <a:t>3</a:t>
            </a:r>
            <a:endParaRPr kumimoji="0" lang="en-US" altLang="zh-TW" b="0">
              <a:solidFill>
                <a:schemeClr val="tx1"/>
              </a:solidFill>
              <a:ea typeface="新細明體" charset="-120"/>
            </a:endParaRPr>
          </a:p>
        </p:txBody>
      </p:sp>
      <p:sp>
        <p:nvSpPr>
          <p:cNvPr id="13" name="Text Box 14"/>
          <p:cNvSpPr txBox="1">
            <a:spLocks noChangeArrowheads="1"/>
          </p:cNvSpPr>
          <p:nvPr/>
        </p:nvSpPr>
        <p:spPr bwMode="auto">
          <a:xfrm>
            <a:off x="5715000" y="5339439"/>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50000"/>
              </a:spcBef>
              <a:buClrTx/>
              <a:buSzTx/>
              <a:buFontTx/>
              <a:buNone/>
            </a:pPr>
            <a:r>
              <a:rPr kumimoji="0" lang="en-US" altLang="zh-CN" b="0">
                <a:solidFill>
                  <a:schemeClr val="tx1"/>
                </a:solidFill>
                <a:ea typeface="宋体" charset="-122"/>
              </a:rPr>
              <a:t>1</a:t>
            </a:r>
            <a:endParaRPr kumimoji="0" lang="en-US" altLang="zh-TW" b="0">
              <a:solidFill>
                <a:schemeClr val="tx1"/>
              </a:solidFill>
              <a:ea typeface="新細明體" charset="-120"/>
            </a:endParaRPr>
          </a:p>
        </p:txBody>
      </p:sp>
      <p:sp>
        <p:nvSpPr>
          <p:cNvPr id="14" name="Text Box 15"/>
          <p:cNvSpPr txBox="1">
            <a:spLocks noChangeArrowheads="1"/>
          </p:cNvSpPr>
          <p:nvPr/>
        </p:nvSpPr>
        <p:spPr bwMode="auto">
          <a:xfrm>
            <a:off x="1828800" y="6253839"/>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50000"/>
              </a:spcBef>
              <a:buClrTx/>
              <a:buSzTx/>
              <a:buFontTx/>
              <a:buNone/>
            </a:pPr>
            <a:r>
              <a:rPr kumimoji="0" lang="zh-CN" altLang="en-US" b="0">
                <a:solidFill>
                  <a:schemeClr val="tx1"/>
                </a:solidFill>
                <a:ea typeface="宋体" charset="-122"/>
              </a:rPr>
              <a:t>残留容量是</a:t>
            </a:r>
            <a:r>
              <a:rPr kumimoji="0" lang="en-US" altLang="zh-CN" b="0">
                <a:solidFill>
                  <a:schemeClr val="tx1"/>
                </a:solidFill>
                <a:ea typeface="宋体" charset="-122"/>
              </a:rPr>
              <a:t>1.</a:t>
            </a:r>
            <a:endParaRPr kumimoji="0" lang="en-US" altLang="zh-TW" b="0">
              <a:solidFill>
                <a:schemeClr val="tx1"/>
              </a:solidFill>
              <a:ea typeface="新細明體" charset="-120"/>
            </a:endParaRPr>
          </a:p>
        </p:txBody>
      </p:sp>
    </p:spTree>
    <p:extLst>
      <p:ext uri="{BB962C8B-B14F-4D97-AF65-F5344CB8AC3E}">
        <p14:creationId xmlns:p14="http://schemas.microsoft.com/office/powerpoint/2010/main" val="25269820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681E4939-800D-4EE2-8274-3E061B702C1A}" type="slidenum">
              <a:rPr kumimoji="0" lang="en-US" altLang="zh-CN" b="0">
                <a:solidFill>
                  <a:schemeClr val="tx1"/>
                </a:solidFill>
                <a:ea typeface="宋体" charset="-122"/>
              </a:rPr>
              <a:pPr algn="ctr">
                <a:spcBef>
                  <a:spcPct val="0"/>
                </a:spcBef>
                <a:buClrTx/>
                <a:buSzTx/>
                <a:buFontTx/>
                <a:buNone/>
              </a:pPr>
              <a:t>89</a:t>
            </a:fld>
            <a:endParaRPr kumimoji="0" lang="en-US" altLang="zh-CN" b="0">
              <a:solidFill>
                <a:schemeClr val="tx1"/>
              </a:solidFill>
              <a:ea typeface="宋体" charset="-122"/>
            </a:endParaRPr>
          </a:p>
        </p:txBody>
      </p:sp>
      <p:sp>
        <p:nvSpPr>
          <p:cNvPr id="44071" name="Oval 39"/>
          <p:cNvSpPr>
            <a:spLocks noChangeArrowheads="1"/>
          </p:cNvSpPr>
          <p:nvPr/>
        </p:nvSpPr>
        <p:spPr bwMode="auto">
          <a:xfrm>
            <a:off x="381000" y="2786063"/>
            <a:ext cx="419100" cy="469900"/>
          </a:xfrm>
          <a:prstGeom prst="ellipse">
            <a:avLst/>
          </a:prstGeom>
          <a:solidFill>
            <a:schemeClr val="accent2"/>
          </a:solidFill>
          <a:ln w="9525">
            <a:solidFill>
              <a:schemeClr val="tx1"/>
            </a:solidFill>
            <a:round/>
            <a:headEnd/>
            <a:tailEnd/>
          </a:ln>
          <a:effectLst/>
        </p:spPr>
        <p:txBody>
          <a:bodyPr wrap="none" anchor="ctr"/>
          <a:lstStyle/>
          <a:p>
            <a:pPr>
              <a:defRPr/>
            </a:pPr>
            <a:r>
              <a:rPr lang="en-US" altLang="zh-CN"/>
              <a:t>s</a:t>
            </a:r>
          </a:p>
        </p:txBody>
      </p:sp>
      <p:sp>
        <p:nvSpPr>
          <p:cNvPr id="14340" name="Line 50"/>
          <p:cNvSpPr>
            <a:spLocks noChangeShapeType="1"/>
          </p:cNvSpPr>
          <p:nvPr/>
        </p:nvSpPr>
        <p:spPr bwMode="auto">
          <a:xfrm flipV="1">
            <a:off x="3319463" y="3255963"/>
            <a:ext cx="839787" cy="561975"/>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1" name="Text Box 60"/>
          <p:cNvSpPr txBox="1">
            <a:spLocks noChangeArrowheads="1"/>
          </p:cNvSpPr>
          <p:nvPr/>
        </p:nvSpPr>
        <p:spPr bwMode="auto">
          <a:xfrm>
            <a:off x="3581400" y="22860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4342" name="Text Box 62"/>
          <p:cNvSpPr txBox="1">
            <a:spLocks noChangeArrowheads="1"/>
          </p:cNvSpPr>
          <p:nvPr/>
        </p:nvSpPr>
        <p:spPr bwMode="auto">
          <a:xfrm>
            <a:off x="3135313" y="283686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grpSp>
        <p:nvGrpSpPr>
          <p:cNvPr id="14343" name="Group 95"/>
          <p:cNvGrpSpPr>
            <a:grpSpLocks/>
          </p:cNvGrpSpPr>
          <p:nvPr/>
        </p:nvGrpSpPr>
        <p:grpSpPr bwMode="auto">
          <a:xfrm>
            <a:off x="685800" y="1905000"/>
            <a:ext cx="3810000" cy="2514600"/>
            <a:chOff x="432" y="1200"/>
            <a:chExt cx="2400" cy="1584"/>
          </a:xfrm>
        </p:grpSpPr>
        <p:sp>
          <p:nvSpPr>
            <p:cNvPr id="14376" name="Text Box 37"/>
            <p:cNvSpPr txBox="1">
              <a:spLocks noChangeArrowheads="1"/>
            </p:cNvSpPr>
            <p:nvPr/>
          </p:nvSpPr>
          <p:spPr bwMode="auto">
            <a:xfrm>
              <a:off x="1512" y="1902"/>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9</a:t>
              </a:r>
            </a:p>
          </p:txBody>
        </p:sp>
        <p:sp>
          <p:nvSpPr>
            <p:cNvPr id="44072" name="Oval 40"/>
            <p:cNvSpPr>
              <a:spLocks noChangeArrowheads="1"/>
            </p:cNvSpPr>
            <p:nvPr/>
          </p:nvSpPr>
          <p:spPr bwMode="auto">
            <a:xfrm>
              <a:off x="1033" y="2287"/>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4073" name="Oval 41"/>
            <p:cNvSpPr>
              <a:spLocks noChangeArrowheads="1"/>
            </p:cNvSpPr>
            <p:nvPr/>
          </p:nvSpPr>
          <p:spPr bwMode="auto">
            <a:xfrm>
              <a:off x="1827" y="228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4074" name="Oval 42"/>
            <p:cNvSpPr>
              <a:spLocks noChangeArrowheads="1"/>
            </p:cNvSpPr>
            <p:nvPr/>
          </p:nvSpPr>
          <p:spPr bwMode="auto">
            <a:xfrm>
              <a:off x="2568" y="1814"/>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4075" name="Oval 43"/>
            <p:cNvSpPr>
              <a:spLocks noChangeArrowheads="1"/>
            </p:cNvSpPr>
            <p:nvPr/>
          </p:nvSpPr>
          <p:spPr bwMode="auto">
            <a:xfrm>
              <a:off x="1827" y="1341"/>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4076" name="Oval 44"/>
            <p:cNvSpPr>
              <a:spLocks noChangeArrowheads="1"/>
            </p:cNvSpPr>
            <p:nvPr/>
          </p:nvSpPr>
          <p:spPr bwMode="auto">
            <a:xfrm>
              <a:off x="1033" y="1341"/>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4382" name="Line 45"/>
            <p:cNvSpPr>
              <a:spLocks noChangeShapeType="1"/>
            </p:cNvSpPr>
            <p:nvPr/>
          </p:nvSpPr>
          <p:spPr bwMode="auto">
            <a:xfrm flipV="1">
              <a:off x="504" y="1577"/>
              <a:ext cx="529" cy="296"/>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3" name="Line 46"/>
            <p:cNvSpPr>
              <a:spLocks noChangeShapeType="1"/>
            </p:cNvSpPr>
            <p:nvPr/>
          </p:nvSpPr>
          <p:spPr bwMode="auto">
            <a:xfrm>
              <a:off x="1298" y="1518"/>
              <a:ext cx="529" cy="0"/>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4" name="Line 47"/>
            <p:cNvSpPr>
              <a:spLocks noChangeShapeType="1"/>
            </p:cNvSpPr>
            <p:nvPr/>
          </p:nvSpPr>
          <p:spPr bwMode="auto">
            <a:xfrm>
              <a:off x="2039" y="1577"/>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5" name="Line 48"/>
            <p:cNvSpPr>
              <a:spLocks noChangeShapeType="1"/>
            </p:cNvSpPr>
            <p:nvPr/>
          </p:nvSpPr>
          <p:spPr bwMode="auto">
            <a:xfrm>
              <a:off x="452" y="2051"/>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6" name="Line 49"/>
            <p:cNvSpPr>
              <a:spLocks noChangeShapeType="1"/>
            </p:cNvSpPr>
            <p:nvPr/>
          </p:nvSpPr>
          <p:spPr bwMode="auto">
            <a:xfrm>
              <a:off x="1298" y="2405"/>
              <a:ext cx="529" cy="0"/>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7" name="Line 51"/>
            <p:cNvSpPr>
              <a:spLocks noChangeShapeType="1"/>
            </p:cNvSpPr>
            <p:nvPr/>
          </p:nvSpPr>
          <p:spPr bwMode="auto">
            <a:xfrm>
              <a:off x="1086"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8" name="Line 52"/>
            <p:cNvSpPr>
              <a:spLocks noChangeShapeType="1"/>
            </p:cNvSpPr>
            <p:nvPr/>
          </p:nvSpPr>
          <p:spPr bwMode="auto">
            <a:xfrm flipV="1">
              <a:off x="1245"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9" name="Line 53"/>
            <p:cNvSpPr>
              <a:spLocks noChangeShapeType="1"/>
            </p:cNvSpPr>
            <p:nvPr/>
          </p:nvSpPr>
          <p:spPr bwMode="auto">
            <a:xfrm flipV="1">
              <a:off x="1986"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0" name="Line 54"/>
            <p:cNvSpPr>
              <a:spLocks noChangeShapeType="1"/>
            </p:cNvSpPr>
            <p:nvPr/>
          </p:nvSpPr>
          <p:spPr bwMode="auto">
            <a:xfrm flipH="1">
              <a:off x="1298" y="1636"/>
              <a:ext cx="582" cy="651"/>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1" name="Text Box 55"/>
            <p:cNvSpPr txBox="1">
              <a:spLocks noChangeArrowheads="1"/>
            </p:cNvSpPr>
            <p:nvPr/>
          </p:nvSpPr>
          <p:spPr bwMode="auto">
            <a:xfrm>
              <a:off x="480" y="144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16</a:t>
              </a:r>
            </a:p>
          </p:txBody>
        </p:sp>
        <p:sp>
          <p:nvSpPr>
            <p:cNvPr id="14392" name="Text Box 56"/>
            <p:cNvSpPr txBox="1">
              <a:spLocks noChangeArrowheads="1"/>
            </p:cNvSpPr>
            <p:nvPr/>
          </p:nvSpPr>
          <p:spPr bwMode="auto">
            <a:xfrm>
              <a:off x="432" y="216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4393" name="Text Box 57"/>
            <p:cNvSpPr txBox="1">
              <a:spLocks noChangeArrowheads="1"/>
            </p:cNvSpPr>
            <p:nvPr/>
          </p:nvSpPr>
          <p:spPr bwMode="auto">
            <a:xfrm>
              <a:off x="1392" y="120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4394" name="Text Box 58"/>
            <p:cNvSpPr txBox="1">
              <a:spLocks noChangeArrowheads="1"/>
            </p:cNvSpPr>
            <p:nvPr/>
          </p:nvSpPr>
          <p:spPr bwMode="auto">
            <a:xfrm>
              <a:off x="769" y="181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4395" name="Text Box 59"/>
            <p:cNvSpPr txBox="1">
              <a:spLocks noChangeArrowheads="1"/>
            </p:cNvSpPr>
            <p:nvPr/>
          </p:nvSpPr>
          <p:spPr bwMode="auto">
            <a:xfrm>
              <a:off x="1248"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4396" name="Text Box 61"/>
            <p:cNvSpPr txBox="1">
              <a:spLocks noChangeArrowheads="1"/>
            </p:cNvSpPr>
            <p:nvPr/>
          </p:nvSpPr>
          <p:spPr bwMode="auto">
            <a:xfrm>
              <a:off x="2256" y="22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4397" name="Text Box 63"/>
            <p:cNvSpPr txBox="1">
              <a:spLocks noChangeArrowheads="1"/>
            </p:cNvSpPr>
            <p:nvPr/>
          </p:nvSpPr>
          <p:spPr bwMode="auto">
            <a:xfrm>
              <a:off x="1344" y="24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14</a:t>
              </a:r>
            </a:p>
          </p:txBody>
        </p:sp>
      </p:grpSp>
      <p:grpSp>
        <p:nvGrpSpPr>
          <p:cNvPr id="14344" name="Group 93"/>
          <p:cNvGrpSpPr>
            <a:grpSpLocks/>
          </p:cNvGrpSpPr>
          <p:nvPr/>
        </p:nvGrpSpPr>
        <p:grpSpPr bwMode="auto">
          <a:xfrm>
            <a:off x="4648200" y="1905000"/>
            <a:ext cx="4114800" cy="2514600"/>
            <a:chOff x="2928" y="1200"/>
            <a:chExt cx="2592" cy="1584"/>
          </a:xfrm>
        </p:grpSpPr>
        <p:sp>
          <p:nvSpPr>
            <p:cNvPr id="14349" name="Text Box 65"/>
            <p:cNvSpPr txBox="1">
              <a:spLocks noChangeArrowheads="1"/>
            </p:cNvSpPr>
            <p:nvPr/>
          </p:nvSpPr>
          <p:spPr bwMode="auto">
            <a:xfrm>
              <a:off x="4200" y="1950"/>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4350" name="Group 92"/>
            <p:cNvGrpSpPr>
              <a:grpSpLocks/>
            </p:cNvGrpSpPr>
            <p:nvPr/>
          </p:nvGrpSpPr>
          <p:grpSpPr bwMode="auto">
            <a:xfrm>
              <a:off x="2928" y="1200"/>
              <a:ext cx="2592" cy="1584"/>
              <a:chOff x="2928" y="1200"/>
              <a:chExt cx="2592" cy="1584"/>
            </a:xfrm>
          </p:grpSpPr>
          <p:sp>
            <p:nvSpPr>
              <p:cNvPr id="44099" name="Oval 67"/>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4100" name="Oval 68"/>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4101" name="Oval 69"/>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4102" name="Oval 70"/>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4103" name="Oval 71"/>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4104" name="Oval 72"/>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4357" name="Line 73"/>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8" name="Line 74"/>
              <p:cNvSpPr>
                <a:spLocks noChangeShapeType="1"/>
              </p:cNvSpPr>
              <p:nvPr/>
            </p:nvSpPr>
            <p:spPr bwMode="auto">
              <a:xfrm>
                <a:off x="3984" y="158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9" name="Line 75"/>
              <p:cNvSpPr>
                <a:spLocks noChangeShapeType="1"/>
              </p:cNvSpPr>
              <p:nvPr/>
            </p:nvSpPr>
            <p:spPr bwMode="auto">
              <a:xfrm>
                <a:off x="4727" y="1625"/>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0" name="Line 76"/>
              <p:cNvSpPr>
                <a:spLocks noChangeShapeType="1"/>
              </p:cNvSpPr>
              <p:nvPr/>
            </p:nvSpPr>
            <p:spPr bwMode="auto">
              <a:xfrm>
                <a:off x="3140" y="2099"/>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1" name="Line 77"/>
              <p:cNvSpPr>
                <a:spLocks noChangeShapeType="1"/>
              </p:cNvSpPr>
              <p:nvPr/>
            </p:nvSpPr>
            <p:spPr bwMode="auto">
              <a:xfrm>
                <a:off x="3986" y="2453"/>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2" name="Line 78"/>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3" name="Line 79"/>
              <p:cNvSpPr>
                <a:spLocks noChangeShapeType="1"/>
              </p:cNvSpPr>
              <p:nvPr/>
            </p:nvSpPr>
            <p:spPr bwMode="auto">
              <a:xfrm>
                <a:off x="37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4" name="Line 80"/>
              <p:cNvSpPr>
                <a:spLocks noChangeShapeType="1"/>
              </p:cNvSpPr>
              <p:nvPr/>
            </p:nvSpPr>
            <p:spPr bwMode="auto">
              <a:xfrm flipV="1">
                <a:off x="3933"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 name="Line 81"/>
              <p:cNvSpPr>
                <a:spLocks noChangeShapeType="1"/>
              </p:cNvSpPr>
              <p:nvPr/>
            </p:nvSpPr>
            <p:spPr bwMode="auto">
              <a:xfrm flipV="1">
                <a:off x="46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6" name="Line 82"/>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7" name="Text Box 83"/>
              <p:cNvSpPr txBox="1">
                <a:spLocks noChangeArrowheads="1"/>
              </p:cNvSpPr>
              <p:nvPr/>
            </p:nvSpPr>
            <p:spPr bwMode="auto">
              <a:xfrm>
                <a:off x="3120" y="144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4/16</a:t>
                </a:r>
              </a:p>
            </p:txBody>
          </p:sp>
          <p:sp>
            <p:nvSpPr>
              <p:cNvPr id="14368" name="Text Box 84"/>
              <p:cNvSpPr txBox="1">
                <a:spLocks noChangeArrowheads="1"/>
              </p:cNvSpPr>
              <p:nvPr/>
            </p:nvSpPr>
            <p:spPr bwMode="auto">
              <a:xfrm>
                <a:off x="3168" y="22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4369" name="Text Box 85"/>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4/12</a:t>
                </a:r>
              </a:p>
            </p:txBody>
          </p:sp>
          <p:sp>
            <p:nvSpPr>
              <p:cNvPr id="14370" name="Text Box 86"/>
              <p:cNvSpPr txBox="1">
                <a:spLocks noChangeArrowheads="1"/>
              </p:cNvSpPr>
              <p:nvPr/>
            </p:nvSpPr>
            <p:spPr bwMode="auto">
              <a:xfrm>
                <a:off x="3457" y="186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4371" name="Text Box 87"/>
              <p:cNvSpPr txBox="1">
                <a:spLocks noChangeArrowheads="1"/>
              </p:cNvSpPr>
              <p:nvPr/>
            </p:nvSpPr>
            <p:spPr bwMode="auto">
              <a:xfrm>
                <a:off x="3888" y="18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4372" name="Text Box 88"/>
              <p:cNvSpPr txBox="1">
                <a:spLocks noChangeArrowheads="1"/>
              </p:cNvSpPr>
              <p:nvPr/>
            </p:nvSpPr>
            <p:spPr bwMode="auto">
              <a:xfrm>
                <a:off x="4885" y="1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4373" name="Text Box 89"/>
              <p:cNvSpPr txBox="1">
                <a:spLocks noChangeArrowheads="1"/>
              </p:cNvSpPr>
              <p:nvPr/>
            </p:nvSpPr>
            <p:spPr bwMode="auto">
              <a:xfrm>
                <a:off x="4938" y="221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4374" name="Text Box 90"/>
              <p:cNvSpPr txBox="1">
                <a:spLocks noChangeArrowheads="1"/>
              </p:cNvSpPr>
              <p:nvPr/>
            </p:nvSpPr>
            <p:spPr bwMode="auto">
              <a:xfrm>
                <a:off x="4663" y="183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4375" name="Text Box 91"/>
              <p:cNvSpPr txBox="1">
                <a:spLocks noChangeArrowheads="1"/>
              </p:cNvSpPr>
              <p:nvPr/>
            </p:nvSpPr>
            <p:spPr bwMode="auto">
              <a:xfrm>
                <a:off x="4032" y="2496"/>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4/14</a:t>
                </a:r>
              </a:p>
            </p:txBody>
          </p:sp>
        </p:grpSp>
      </p:grpSp>
      <p:sp>
        <p:nvSpPr>
          <p:cNvPr id="14345" name="Text Box 94"/>
          <p:cNvSpPr txBox="1">
            <a:spLocks noChangeArrowheads="1"/>
          </p:cNvSpPr>
          <p:nvPr/>
        </p:nvSpPr>
        <p:spPr bwMode="auto">
          <a:xfrm>
            <a:off x="4191000" y="5181600"/>
            <a:ext cx="52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(a)</a:t>
            </a:r>
          </a:p>
        </p:txBody>
      </p:sp>
      <p:sp>
        <p:nvSpPr>
          <p:cNvPr id="14346" name="TextBox 1"/>
          <p:cNvSpPr txBox="1">
            <a:spLocks noChangeArrowheads="1"/>
          </p:cNvSpPr>
          <p:nvPr/>
        </p:nvSpPr>
        <p:spPr bwMode="auto">
          <a:xfrm>
            <a:off x="1331913" y="4797425"/>
            <a:ext cx="2366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a:solidFill>
                  <a:schemeClr val="tx1"/>
                </a:solidFill>
                <a:ea typeface="宋体" charset="-122"/>
              </a:rPr>
              <a:t>残留网络</a:t>
            </a:r>
          </a:p>
        </p:txBody>
      </p:sp>
      <p:sp>
        <p:nvSpPr>
          <p:cNvPr id="14347" name="TextBox 59"/>
          <p:cNvSpPr txBox="1">
            <a:spLocks noChangeArrowheads="1"/>
          </p:cNvSpPr>
          <p:nvPr/>
        </p:nvSpPr>
        <p:spPr bwMode="auto">
          <a:xfrm>
            <a:off x="5708650" y="4799013"/>
            <a:ext cx="2366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a:solidFill>
                  <a:schemeClr val="tx1"/>
                </a:solidFill>
                <a:ea typeface="宋体" charset="-122"/>
              </a:rPr>
              <a:t>网络流</a:t>
            </a:r>
          </a:p>
        </p:txBody>
      </p:sp>
      <p:sp>
        <p:nvSpPr>
          <p:cNvPr id="63" name="Rectangle 2"/>
          <p:cNvSpPr txBox="1">
            <a:spLocks noChangeArrowheads="1"/>
          </p:cNvSpPr>
          <p:nvPr/>
        </p:nvSpPr>
        <p:spPr>
          <a:xfrm>
            <a:off x="609600" y="152400"/>
            <a:ext cx="7588250" cy="685800"/>
          </a:xfrm>
          <a:prstGeom prst="rect">
            <a:avLst/>
          </a:prstGeom>
        </p:spPr>
        <p:txBody>
          <a:bodyPr/>
          <a:lstStyle>
            <a:lvl1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2pPr>
            <a:lvl3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3pPr>
            <a:lvl4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4pPr>
            <a:lvl5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5pPr>
            <a:lvl6pPr marL="4572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6pPr>
            <a:lvl7pPr marL="9144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7pPr>
            <a:lvl8pPr marL="13716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8pPr>
            <a:lvl9pPr marL="18288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9pPr>
          </a:lstStyle>
          <a:p>
            <a:pPr>
              <a:defRPr/>
            </a:pPr>
            <a:r>
              <a:rPr lang="en-US" altLang="zh-CN" kern="0" dirty="0">
                <a:ea typeface="宋体" charset="-122"/>
              </a:rPr>
              <a:t>Ford-Fulkerson </a:t>
            </a:r>
            <a:r>
              <a:rPr lang="zh-CN" altLang="en-US" kern="0" dirty="0">
                <a:ea typeface="宋体" charset="-122"/>
              </a:rPr>
              <a:t>算法举例</a:t>
            </a:r>
            <a:endParaRPr lang="en-US" altLang="zh-CN" kern="0" dirty="0">
              <a:ea typeface="宋体" charset="-122"/>
            </a:endParaRPr>
          </a:p>
        </p:txBody>
      </p:sp>
    </p:spTree>
    <p:extLst>
      <p:ext uri="{BB962C8B-B14F-4D97-AF65-F5344CB8AC3E}">
        <p14:creationId xmlns:p14="http://schemas.microsoft.com/office/powerpoint/2010/main" val="863537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E19C5096-3957-4085-AE29-6E6E941717F8}" type="slidenum">
              <a:rPr kumimoji="0" lang="en-US" altLang="zh-CN" b="0">
                <a:solidFill>
                  <a:schemeClr val="tx1"/>
                </a:solidFill>
                <a:ea typeface="宋体" charset="-122"/>
              </a:rPr>
              <a:pPr algn="ctr">
                <a:spcBef>
                  <a:spcPct val="0"/>
                </a:spcBef>
                <a:buClrTx/>
                <a:buSzTx/>
                <a:buFontTx/>
                <a:buNone/>
              </a:pPr>
              <a:t>90</a:t>
            </a:fld>
            <a:endParaRPr kumimoji="0" lang="en-US" altLang="zh-CN" b="0">
              <a:solidFill>
                <a:schemeClr val="tx1"/>
              </a:solidFill>
              <a:ea typeface="宋体" charset="-122"/>
            </a:endParaRPr>
          </a:p>
        </p:txBody>
      </p:sp>
      <p:sp>
        <p:nvSpPr>
          <p:cNvPr id="15363" name="Text Box 3"/>
          <p:cNvSpPr txBox="1">
            <a:spLocks noChangeArrowheads="1"/>
          </p:cNvSpPr>
          <p:nvPr/>
        </p:nvSpPr>
        <p:spPr bwMode="auto">
          <a:xfrm>
            <a:off x="2597150" y="4303713"/>
            <a:ext cx="495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45061" name="Oval 5"/>
          <p:cNvSpPr>
            <a:spLocks noChangeArrowheads="1"/>
          </p:cNvSpPr>
          <p:nvPr/>
        </p:nvSpPr>
        <p:spPr bwMode="auto">
          <a:xfrm>
            <a:off x="539750" y="3965575"/>
            <a:ext cx="419100" cy="469900"/>
          </a:xfrm>
          <a:prstGeom prst="ellipse">
            <a:avLst/>
          </a:prstGeom>
          <a:solidFill>
            <a:schemeClr val="accent2"/>
          </a:solidFill>
          <a:ln w="9525">
            <a:solidFill>
              <a:schemeClr val="tx1"/>
            </a:solidFill>
            <a:round/>
            <a:headEnd/>
            <a:tailEnd/>
          </a:ln>
          <a:effectLst/>
        </p:spPr>
        <p:txBody>
          <a:bodyPr wrap="none" anchor="ctr"/>
          <a:lstStyle/>
          <a:p>
            <a:pPr>
              <a:defRPr/>
            </a:pPr>
            <a:r>
              <a:rPr lang="en-US" altLang="zh-CN"/>
              <a:t>s</a:t>
            </a:r>
          </a:p>
        </p:txBody>
      </p:sp>
      <p:sp>
        <p:nvSpPr>
          <p:cNvPr id="15365" name="Line 30"/>
          <p:cNvSpPr>
            <a:spLocks noChangeShapeType="1"/>
          </p:cNvSpPr>
          <p:nvPr/>
        </p:nvSpPr>
        <p:spPr bwMode="auto">
          <a:xfrm flipH="1">
            <a:off x="1073150" y="3694113"/>
            <a:ext cx="6858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366" name="Group 70"/>
          <p:cNvGrpSpPr>
            <a:grpSpLocks/>
          </p:cNvGrpSpPr>
          <p:nvPr/>
        </p:nvGrpSpPr>
        <p:grpSpPr bwMode="auto">
          <a:xfrm>
            <a:off x="876300" y="2932113"/>
            <a:ext cx="3778250" cy="2667000"/>
            <a:chOff x="500" y="1056"/>
            <a:chExt cx="2380" cy="1680"/>
          </a:xfrm>
        </p:grpSpPr>
        <p:sp>
          <p:nvSpPr>
            <p:cNvPr id="45062" name="Oval 6"/>
            <p:cNvSpPr>
              <a:spLocks noChangeArrowheads="1"/>
            </p:cNvSpPr>
            <p:nvPr/>
          </p:nvSpPr>
          <p:spPr bwMode="auto">
            <a:xfrm>
              <a:off x="1081" y="2239"/>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5063" name="Oval 7"/>
            <p:cNvSpPr>
              <a:spLocks noChangeArrowheads="1"/>
            </p:cNvSpPr>
            <p:nvPr/>
          </p:nvSpPr>
          <p:spPr bwMode="auto">
            <a:xfrm>
              <a:off x="1875" y="2239"/>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4</a:t>
              </a:r>
              <a:endParaRPr lang="en-US" altLang="zh-CN">
                <a:ea typeface="宋体" charset="-122"/>
              </a:endParaRPr>
            </a:p>
          </p:txBody>
        </p:sp>
        <p:sp>
          <p:nvSpPr>
            <p:cNvPr id="45064" name="Oval 8"/>
            <p:cNvSpPr>
              <a:spLocks noChangeArrowheads="1"/>
            </p:cNvSpPr>
            <p:nvPr/>
          </p:nvSpPr>
          <p:spPr bwMode="auto">
            <a:xfrm>
              <a:off x="2616" y="1766"/>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5065" name="Oval 9"/>
            <p:cNvSpPr>
              <a:spLocks noChangeArrowheads="1"/>
            </p:cNvSpPr>
            <p:nvPr/>
          </p:nvSpPr>
          <p:spPr bwMode="auto">
            <a:xfrm>
              <a:off x="1875" y="1293"/>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5066" name="Oval 10"/>
            <p:cNvSpPr>
              <a:spLocks noChangeArrowheads="1"/>
            </p:cNvSpPr>
            <p:nvPr/>
          </p:nvSpPr>
          <p:spPr bwMode="auto">
            <a:xfrm>
              <a:off x="1081" y="1293"/>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5430" name="Line 11"/>
            <p:cNvSpPr>
              <a:spLocks noChangeShapeType="1"/>
            </p:cNvSpPr>
            <p:nvPr/>
          </p:nvSpPr>
          <p:spPr bwMode="auto">
            <a:xfrm flipV="1">
              <a:off x="528" y="1392"/>
              <a:ext cx="529" cy="296"/>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1" name="Line 12"/>
            <p:cNvSpPr>
              <a:spLocks noChangeShapeType="1"/>
            </p:cNvSpPr>
            <p:nvPr/>
          </p:nvSpPr>
          <p:spPr bwMode="auto">
            <a:xfrm>
              <a:off x="1344" y="134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2" name="Line 13"/>
            <p:cNvSpPr>
              <a:spLocks noChangeShapeType="1"/>
            </p:cNvSpPr>
            <p:nvPr/>
          </p:nvSpPr>
          <p:spPr bwMode="auto">
            <a:xfrm>
              <a:off x="2087" y="1529"/>
              <a:ext cx="581" cy="296"/>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3" name="Line 14"/>
            <p:cNvSpPr>
              <a:spLocks noChangeShapeType="1"/>
            </p:cNvSpPr>
            <p:nvPr/>
          </p:nvSpPr>
          <p:spPr bwMode="auto">
            <a:xfrm>
              <a:off x="500" y="2003"/>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4" name="Line 15"/>
            <p:cNvSpPr>
              <a:spLocks noChangeShapeType="1"/>
            </p:cNvSpPr>
            <p:nvPr/>
          </p:nvSpPr>
          <p:spPr bwMode="auto">
            <a:xfrm>
              <a:off x="1346" y="2357"/>
              <a:ext cx="529" cy="0"/>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5" name="Line 17"/>
            <p:cNvSpPr>
              <a:spLocks noChangeShapeType="1"/>
            </p:cNvSpPr>
            <p:nvPr/>
          </p:nvSpPr>
          <p:spPr bwMode="auto">
            <a:xfrm>
              <a:off x="1134" y="1588"/>
              <a:ext cx="0" cy="651"/>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6" name="Line 18"/>
            <p:cNvSpPr>
              <a:spLocks noChangeShapeType="1"/>
            </p:cNvSpPr>
            <p:nvPr/>
          </p:nvSpPr>
          <p:spPr bwMode="auto">
            <a:xfrm flipV="1">
              <a:off x="1248" y="15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7" name="Line 19"/>
            <p:cNvSpPr>
              <a:spLocks noChangeShapeType="1"/>
            </p:cNvSpPr>
            <p:nvPr/>
          </p:nvSpPr>
          <p:spPr bwMode="auto">
            <a:xfrm flipV="1">
              <a:off x="2034" y="1588"/>
              <a:ext cx="0" cy="651"/>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8" name="Line 20"/>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9" name="Text Box 21"/>
            <p:cNvSpPr txBox="1">
              <a:spLocks noChangeArrowheads="1"/>
            </p:cNvSpPr>
            <p:nvPr/>
          </p:nvSpPr>
          <p:spPr bwMode="auto">
            <a:xfrm>
              <a:off x="576" y="12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5440" name="Text Box 22"/>
            <p:cNvSpPr txBox="1">
              <a:spLocks noChangeArrowheads="1"/>
            </p:cNvSpPr>
            <p:nvPr/>
          </p:nvSpPr>
          <p:spPr bwMode="auto">
            <a:xfrm>
              <a:off x="528" y="211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5441" name="Text Box 23"/>
            <p:cNvSpPr txBox="1">
              <a:spLocks noChangeArrowheads="1"/>
            </p:cNvSpPr>
            <p:nvPr/>
          </p:nvSpPr>
          <p:spPr bwMode="auto">
            <a:xfrm>
              <a:off x="1488" y="105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a:t>
              </a:r>
            </a:p>
          </p:txBody>
        </p:sp>
        <p:sp>
          <p:nvSpPr>
            <p:cNvPr id="15442" name="Text Box 24"/>
            <p:cNvSpPr txBox="1">
              <a:spLocks noChangeArrowheads="1"/>
            </p:cNvSpPr>
            <p:nvPr/>
          </p:nvSpPr>
          <p:spPr bwMode="auto">
            <a:xfrm>
              <a:off x="817" y="176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5443" name="Text Box 25"/>
            <p:cNvSpPr txBox="1">
              <a:spLocks noChangeArrowheads="1"/>
            </p:cNvSpPr>
            <p:nvPr/>
          </p:nvSpPr>
          <p:spPr bwMode="auto">
            <a:xfrm>
              <a:off x="1200" y="172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44" name="Text Box 26"/>
            <p:cNvSpPr txBox="1">
              <a:spLocks noChangeArrowheads="1"/>
            </p:cNvSpPr>
            <p:nvPr/>
          </p:nvSpPr>
          <p:spPr bwMode="auto">
            <a:xfrm>
              <a:off x="2256" y="13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5445" name="Text Box 27"/>
            <p:cNvSpPr txBox="1">
              <a:spLocks noChangeArrowheads="1"/>
            </p:cNvSpPr>
            <p:nvPr/>
          </p:nvSpPr>
          <p:spPr bwMode="auto">
            <a:xfrm>
              <a:off x="2298" y="212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46" name="Text Box 28"/>
            <p:cNvSpPr txBox="1">
              <a:spLocks noChangeArrowheads="1"/>
            </p:cNvSpPr>
            <p:nvPr/>
          </p:nvSpPr>
          <p:spPr bwMode="auto">
            <a:xfrm>
              <a:off x="2064"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5447" name="Text Box 29"/>
            <p:cNvSpPr txBox="1">
              <a:spLocks noChangeArrowheads="1"/>
            </p:cNvSpPr>
            <p:nvPr/>
          </p:nvSpPr>
          <p:spPr bwMode="auto">
            <a:xfrm>
              <a:off x="1536" y="244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48" name="Text Box 31"/>
            <p:cNvSpPr txBox="1">
              <a:spLocks noChangeArrowheads="1"/>
            </p:cNvSpPr>
            <p:nvPr/>
          </p:nvSpPr>
          <p:spPr bwMode="auto">
            <a:xfrm>
              <a:off x="720" y="163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49" name="Line 32"/>
            <p:cNvSpPr>
              <a:spLocks noChangeShapeType="1"/>
            </p:cNvSpPr>
            <p:nvPr/>
          </p:nvSpPr>
          <p:spPr bwMode="auto">
            <a:xfrm flipH="1">
              <a:off x="1392" y="14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50" name="Text Box 33"/>
            <p:cNvSpPr txBox="1">
              <a:spLocks noChangeArrowheads="1"/>
            </p:cNvSpPr>
            <p:nvPr/>
          </p:nvSpPr>
          <p:spPr bwMode="auto">
            <a:xfrm>
              <a:off x="1536" y="148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51" name="Line 34"/>
            <p:cNvSpPr>
              <a:spLocks noChangeShapeType="1"/>
            </p:cNvSpPr>
            <p:nvPr/>
          </p:nvSpPr>
          <p:spPr bwMode="auto">
            <a:xfrm flipV="1">
              <a:off x="1296" y="1584"/>
              <a:ext cx="624"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52" name="Text Box 35"/>
            <p:cNvSpPr txBox="1">
              <a:spLocks noChangeArrowheads="1"/>
            </p:cNvSpPr>
            <p:nvPr/>
          </p:nvSpPr>
          <p:spPr bwMode="auto">
            <a:xfrm>
              <a:off x="1478" y="170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53" name="Line 36"/>
            <p:cNvSpPr>
              <a:spLocks noChangeShapeType="1"/>
            </p:cNvSpPr>
            <p:nvPr/>
          </p:nvSpPr>
          <p:spPr bwMode="auto">
            <a:xfrm flipH="1">
              <a:off x="1344" y="2448"/>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54" name="Text Box 37"/>
            <p:cNvSpPr txBox="1">
              <a:spLocks noChangeArrowheads="1"/>
            </p:cNvSpPr>
            <p:nvPr/>
          </p:nvSpPr>
          <p:spPr bwMode="auto">
            <a:xfrm>
              <a:off x="1536" y="211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5455" name="Line 38"/>
            <p:cNvSpPr>
              <a:spLocks noChangeShapeType="1"/>
            </p:cNvSpPr>
            <p:nvPr/>
          </p:nvSpPr>
          <p:spPr bwMode="auto">
            <a:xfrm flipH="1">
              <a:off x="2160" y="1968"/>
              <a:ext cx="48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367" name="Group 69"/>
          <p:cNvGrpSpPr>
            <a:grpSpLocks/>
          </p:cNvGrpSpPr>
          <p:nvPr/>
        </p:nvGrpSpPr>
        <p:grpSpPr bwMode="auto">
          <a:xfrm>
            <a:off x="4730750" y="3160713"/>
            <a:ext cx="4114800" cy="2465387"/>
            <a:chOff x="2928" y="1200"/>
            <a:chExt cx="2592" cy="1553"/>
          </a:xfrm>
        </p:grpSpPr>
        <p:sp>
          <p:nvSpPr>
            <p:cNvPr id="15398" name="Text Box 40"/>
            <p:cNvSpPr txBox="1">
              <a:spLocks noChangeArrowheads="1"/>
            </p:cNvSpPr>
            <p:nvPr/>
          </p:nvSpPr>
          <p:spPr bwMode="auto">
            <a:xfrm>
              <a:off x="4200" y="1902"/>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5399" name="Group 68"/>
            <p:cNvGrpSpPr>
              <a:grpSpLocks/>
            </p:cNvGrpSpPr>
            <p:nvPr/>
          </p:nvGrpSpPr>
          <p:grpSpPr bwMode="auto">
            <a:xfrm>
              <a:off x="2928" y="1200"/>
              <a:ext cx="2592" cy="1553"/>
              <a:chOff x="2928" y="1200"/>
              <a:chExt cx="2592" cy="1553"/>
            </a:xfrm>
          </p:grpSpPr>
          <p:sp>
            <p:nvSpPr>
              <p:cNvPr id="45098" name="Oval 42"/>
              <p:cNvSpPr>
                <a:spLocks noChangeArrowheads="1"/>
              </p:cNvSpPr>
              <p:nvPr/>
            </p:nvSpPr>
            <p:spPr bwMode="auto">
              <a:xfrm>
                <a:off x="2928" y="175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5099" name="Oval 43"/>
              <p:cNvSpPr>
                <a:spLocks noChangeArrowheads="1"/>
              </p:cNvSpPr>
              <p:nvPr/>
            </p:nvSpPr>
            <p:spPr bwMode="auto">
              <a:xfrm>
                <a:off x="3721" y="2287"/>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5100" name="Oval 44"/>
              <p:cNvSpPr>
                <a:spLocks noChangeArrowheads="1"/>
              </p:cNvSpPr>
              <p:nvPr/>
            </p:nvSpPr>
            <p:spPr bwMode="auto">
              <a:xfrm>
                <a:off x="4515" y="228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5101" name="Oval 45"/>
              <p:cNvSpPr>
                <a:spLocks noChangeArrowheads="1"/>
              </p:cNvSpPr>
              <p:nvPr/>
            </p:nvSpPr>
            <p:spPr bwMode="auto">
              <a:xfrm>
                <a:off x="5256" y="1814"/>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5102" name="Oval 46"/>
              <p:cNvSpPr>
                <a:spLocks noChangeArrowheads="1"/>
              </p:cNvSpPr>
              <p:nvPr/>
            </p:nvSpPr>
            <p:spPr bwMode="auto">
              <a:xfrm>
                <a:off x="4515" y="1341"/>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5103" name="Oval 47"/>
              <p:cNvSpPr>
                <a:spLocks noChangeArrowheads="1"/>
              </p:cNvSpPr>
              <p:nvPr/>
            </p:nvSpPr>
            <p:spPr bwMode="auto">
              <a:xfrm>
                <a:off x="3721" y="1341"/>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1</a:t>
                </a:r>
                <a:endParaRPr lang="en-US" altLang="zh-CN">
                  <a:ea typeface="宋体" charset="-122"/>
                </a:endParaRPr>
              </a:p>
            </p:txBody>
          </p:sp>
          <p:sp>
            <p:nvSpPr>
              <p:cNvPr id="15406" name="Line 48"/>
              <p:cNvSpPr>
                <a:spLocks noChangeShapeType="1"/>
              </p:cNvSpPr>
              <p:nvPr/>
            </p:nvSpPr>
            <p:spPr bwMode="auto">
              <a:xfrm flipV="1">
                <a:off x="3192" y="1577"/>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7" name="Line 49"/>
              <p:cNvSpPr>
                <a:spLocks noChangeShapeType="1"/>
              </p:cNvSpPr>
              <p:nvPr/>
            </p:nvSpPr>
            <p:spPr bwMode="auto">
              <a:xfrm>
                <a:off x="3986" y="1518"/>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8" name="Line 50"/>
              <p:cNvSpPr>
                <a:spLocks noChangeShapeType="1"/>
              </p:cNvSpPr>
              <p:nvPr/>
            </p:nvSpPr>
            <p:spPr bwMode="auto">
              <a:xfrm>
                <a:off x="4727" y="1577"/>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9" name="Line 51"/>
              <p:cNvSpPr>
                <a:spLocks noChangeShapeType="1"/>
              </p:cNvSpPr>
              <p:nvPr/>
            </p:nvSpPr>
            <p:spPr bwMode="auto">
              <a:xfrm>
                <a:off x="3140" y="2051"/>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0" name="Line 52"/>
              <p:cNvSpPr>
                <a:spLocks noChangeShapeType="1"/>
              </p:cNvSpPr>
              <p:nvPr/>
            </p:nvSpPr>
            <p:spPr bwMode="auto">
              <a:xfrm>
                <a:off x="3986" y="2405"/>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1" name="Line 53"/>
              <p:cNvSpPr>
                <a:spLocks noChangeShapeType="1"/>
              </p:cNvSpPr>
              <p:nvPr/>
            </p:nvSpPr>
            <p:spPr bwMode="auto">
              <a:xfrm flipV="1">
                <a:off x="4779" y="2051"/>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2" name="Line 54"/>
              <p:cNvSpPr>
                <a:spLocks noChangeShapeType="1"/>
              </p:cNvSpPr>
              <p:nvPr/>
            </p:nvSpPr>
            <p:spPr bwMode="auto">
              <a:xfrm>
                <a:off x="3774"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3" name="Line 55"/>
              <p:cNvSpPr>
                <a:spLocks noChangeShapeType="1"/>
              </p:cNvSpPr>
              <p:nvPr/>
            </p:nvSpPr>
            <p:spPr bwMode="auto">
              <a:xfrm flipV="1">
                <a:off x="3933"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4" name="Line 56"/>
              <p:cNvSpPr>
                <a:spLocks noChangeShapeType="1"/>
              </p:cNvSpPr>
              <p:nvPr/>
            </p:nvSpPr>
            <p:spPr bwMode="auto">
              <a:xfrm flipV="1">
                <a:off x="4674"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5" name="Line 57"/>
              <p:cNvSpPr>
                <a:spLocks noChangeShapeType="1"/>
              </p:cNvSpPr>
              <p:nvPr/>
            </p:nvSpPr>
            <p:spPr bwMode="auto">
              <a:xfrm flipH="1">
                <a:off x="3986" y="1636"/>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6" name="Text Box 58"/>
              <p:cNvSpPr txBox="1">
                <a:spLocks noChangeArrowheads="1"/>
              </p:cNvSpPr>
              <p:nvPr/>
            </p:nvSpPr>
            <p:spPr bwMode="auto">
              <a:xfrm>
                <a:off x="3072" y="1488"/>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5417" name="Text Box 59"/>
              <p:cNvSpPr txBox="1">
                <a:spLocks noChangeArrowheads="1"/>
              </p:cNvSpPr>
              <p:nvPr/>
            </p:nvSpPr>
            <p:spPr bwMode="auto">
              <a:xfrm>
                <a:off x="3168" y="216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5418" name="Text Box 60"/>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4/12</a:t>
                </a:r>
              </a:p>
            </p:txBody>
          </p:sp>
          <p:sp>
            <p:nvSpPr>
              <p:cNvPr id="15419" name="Text Box 61"/>
              <p:cNvSpPr txBox="1">
                <a:spLocks noChangeArrowheads="1"/>
              </p:cNvSpPr>
              <p:nvPr/>
            </p:nvSpPr>
            <p:spPr bwMode="auto">
              <a:xfrm>
                <a:off x="3360" y="1824"/>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7/10</a:t>
                </a:r>
              </a:p>
            </p:txBody>
          </p:sp>
          <p:sp>
            <p:nvSpPr>
              <p:cNvPr id="15420" name="Text Box 62"/>
              <p:cNvSpPr txBox="1">
                <a:spLocks noChangeArrowheads="1"/>
              </p:cNvSpPr>
              <p:nvPr/>
            </p:nvSpPr>
            <p:spPr bwMode="auto">
              <a:xfrm>
                <a:off x="3880" y="181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21" name="Text Box 63"/>
              <p:cNvSpPr txBox="1">
                <a:spLocks noChangeArrowheads="1"/>
              </p:cNvSpPr>
              <p:nvPr/>
            </p:nvSpPr>
            <p:spPr bwMode="auto">
              <a:xfrm>
                <a:off x="4885" y="14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7/20</a:t>
                </a:r>
              </a:p>
            </p:txBody>
          </p:sp>
          <p:sp>
            <p:nvSpPr>
              <p:cNvPr id="15422" name="Text Box 64"/>
              <p:cNvSpPr txBox="1">
                <a:spLocks noChangeArrowheads="1"/>
              </p:cNvSpPr>
              <p:nvPr/>
            </p:nvSpPr>
            <p:spPr bwMode="auto">
              <a:xfrm>
                <a:off x="4938" y="2168"/>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5423" name="Text Box 65"/>
              <p:cNvSpPr txBox="1">
                <a:spLocks noChangeArrowheads="1"/>
              </p:cNvSpPr>
              <p:nvPr/>
            </p:nvSpPr>
            <p:spPr bwMode="auto">
              <a:xfrm>
                <a:off x="4663" y="1787"/>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5424" name="Text Box 66"/>
              <p:cNvSpPr txBox="1">
                <a:spLocks noChangeArrowheads="1"/>
              </p:cNvSpPr>
              <p:nvPr/>
            </p:nvSpPr>
            <p:spPr bwMode="auto">
              <a:xfrm>
                <a:off x="3988" y="2465"/>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5368" name="Text Box 67"/>
          <p:cNvSpPr txBox="1">
            <a:spLocks noChangeArrowheads="1"/>
          </p:cNvSpPr>
          <p:nvPr/>
        </p:nvSpPr>
        <p:spPr bwMode="auto">
          <a:xfrm>
            <a:off x="4230688" y="555783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(b)</a:t>
            </a:r>
          </a:p>
        </p:txBody>
      </p:sp>
      <p:grpSp>
        <p:nvGrpSpPr>
          <p:cNvPr id="15369" name="Group 93"/>
          <p:cNvGrpSpPr>
            <a:grpSpLocks/>
          </p:cNvGrpSpPr>
          <p:nvPr/>
        </p:nvGrpSpPr>
        <p:grpSpPr bwMode="auto">
          <a:xfrm>
            <a:off x="2225675" y="414338"/>
            <a:ext cx="4114800" cy="2514600"/>
            <a:chOff x="2928" y="1200"/>
            <a:chExt cx="2592" cy="1584"/>
          </a:xfrm>
        </p:grpSpPr>
        <p:sp>
          <p:nvSpPr>
            <p:cNvPr id="15371" name="Text Box 65"/>
            <p:cNvSpPr txBox="1">
              <a:spLocks noChangeArrowheads="1"/>
            </p:cNvSpPr>
            <p:nvPr/>
          </p:nvSpPr>
          <p:spPr bwMode="auto">
            <a:xfrm>
              <a:off x="4200" y="1950"/>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5372" name="Group 92"/>
            <p:cNvGrpSpPr>
              <a:grpSpLocks/>
            </p:cNvGrpSpPr>
            <p:nvPr/>
          </p:nvGrpSpPr>
          <p:grpSpPr bwMode="auto">
            <a:xfrm>
              <a:off x="2928" y="1200"/>
              <a:ext cx="2592" cy="1584"/>
              <a:chOff x="2928" y="1200"/>
              <a:chExt cx="2592" cy="1584"/>
            </a:xfrm>
          </p:grpSpPr>
          <p:sp>
            <p:nvSpPr>
              <p:cNvPr id="71" name="Oval 67"/>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72" name="Oval 68"/>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73" name="Oval 69"/>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74" name="Oval 70"/>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75" name="Oval 71"/>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76" name="Oval 72"/>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5379" name="Line 73"/>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0" name="Line 74"/>
              <p:cNvSpPr>
                <a:spLocks noChangeShapeType="1"/>
              </p:cNvSpPr>
              <p:nvPr/>
            </p:nvSpPr>
            <p:spPr bwMode="auto">
              <a:xfrm>
                <a:off x="3984" y="158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1" name="Line 75"/>
              <p:cNvSpPr>
                <a:spLocks noChangeShapeType="1"/>
              </p:cNvSpPr>
              <p:nvPr/>
            </p:nvSpPr>
            <p:spPr bwMode="auto">
              <a:xfrm>
                <a:off x="4727" y="1625"/>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2" name="Line 76"/>
              <p:cNvSpPr>
                <a:spLocks noChangeShapeType="1"/>
              </p:cNvSpPr>
              <p:nvPr/>
            </p:nvSpPr>
            <p:spPr bwMode="auto">
              <a:xfrm>
                <a:off x="3140" y="2099"/>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3" name="Line 77"/>
              <p:cNvSpPr>
                <a:spLocks noChangeShapeType="1"/>
              </p:cNvSpPr>
              <p:nvPr/>
            </p:nvSpPr>
            <p:spPr bwMode="auto">
              <a:xfrm>
                <a:off x="3986" y="2453"/>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4" name="Line 78"/>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5" name="Line 79"/>
              <p:cNvSpPr>
                <a:spLocks noChangeShapeType="1"/>
              </p:cNvSpPr>
              <p:nvPr/>
            </p:nvSpPr>
            <p:spPr bwMode="auto">
              <a:xfrm>
                <a:off x="37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6" name="Line 80"/>
              <p:cNvSpPr>
                <a:spLocks noChangeShapeType="1"/>
              </p:cNvSpPr>
              <p:nvPr/>
            </p:nvSpPr>
            <p:spPr bwMode="auto">
              <a:xfrm flipV="1">
                <a:off x="3933"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7" name="Line 81"/>
              <p:cNvSpPr>
                <a:spLocks noChangeShapeType="1"/>
              </p:cNvSpPr>
              <p:nvPr/>
            </p:nvSpPr>
            <p:spPr bwMode="auto">
              <a:xfrm flipV="1">
                <a:off x="46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8" name="Line 82"/>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9" name="Text Box 83"/>
              <p:cNvSpPr txBox="1">
                <a:spLocks noChangeArrowheads="1"/>
              </p:cNvSpPr>
              <p:nvPr/>
            </p:nvSpPr>
            <p:spPr bwMode="auto">
              <a:xfrm>
                <a:off x="3120" y="144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4/16</a:t>
                </a:r>
              </a:p>
            </p:txBody>
          </p:sp>
          <p:sp>
            <p:nvSpPr>
              <p:cNvPr id="15390" name="Text Box 84"/>
              <p:cNvSpPr txBox="1">
                <a:spLocks noChangeArrowheads="1"/>
              </p:cNvSpPr>
              <p:nvPr/>
            </p:nvSpPr>
            <p:spPr bwMode="auto">
              <a:xfrm>
                <a:off x="3168" y="22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5391" name="Text Box 85"/>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4/12</a:t>
                </a:r>
              </a:p>
            </p:txBody>
          </p:sp>
          <p:sp>
            <p:nvSpPr>
              <p:cNvPr id="15392" name="Text Box 86"/>
              <p:cNvSpPr txBox="1">
                <a:spLocks noChangeArrowheads="1"/>
              </p:cNvSpPr>
              <p:nvPr/>
            </p:nvSpPr>
            <p:spPr bwMode="auto">
              <a:xfrm>
                <a:off x="3457" y="186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5393" name="Text Box 87"/>
              <p:cNvSpPr txBox="1">
                <a:spLocks noChangeArrowheads="1"/>
              </p:cNvSpPr>
              <p:nvPr/>
            </p:nvSpPr>
            <p:spPr bwMode="auto">
              <a:xfrm>
                <a:off x="3888" y="18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394" name="Text Box 88"/>
              <p:cNvSpPr txBox="1">
                <a:spLocks noChangeArrowheads="1"/>
              </p:cNvSpPr>
              <p:nvPr/>
            </p:nvSpPr>
            <p:spPr bwMode="auto">
              <a:xfrm>
                <a:off x="4885" y="1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5395" name="Text Box 89"/>
              <p:cNvSpPr txBox="1">
                <a:spLocks noChangeArrowheads="1"/>
              </p:cNvSpPr>
              <p:nvPr/>
            </p:nvSpPr>
            <p:spPr bwMode="auto">
              <a:xfrm>
                <a:off x="4938" y="221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5396" name="Text Box 90"/>
              <p:cNvSpPr txBox="1">
                <a:spLocks noChangeArrowheads="1"/>
              </p:cNvSpPr>
              <p:nvPr/>
            </p:nvSpPr>
            <p:spPr bwMode="auto">
              <a:xfrm>
                <a:off x="4663" y="183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5397" name="Text Box 91"/>
              <p:cNvSpPr txBox="1">
                <a:spLocks noChangeArrowheads="1"/>
              </p:cNvSpPr>
              <p:nvPr/>
            </p:nvSpPr>
            <p:spPr bwMode="auto">
              <a:xfrm>
                <a:off x="4032" y="2496"/>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4/14</a:t>
                </a:r>
              </a:p>
            </p:txBody>
          </p:sp>
        </p:grpSp>
      </p:grpSp>
      <p:sp>
        <p:nvSpPr>
          <p:cNvPr id="15370" name="TextBox 2"/>
          <p:cNvSpPr txBox="1">
            <a:spLocks noChangeArrowheads="1"/>
          </p:cNvSpPr>
          <p:nvPr/>
        </p:nvSpPr>
        <p:spPr bwMode="auto">
          <a:xfrm>
            <a:off x="6899275" y="1600200"/>
            <a:ext cx="1876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dirty="0">
                <a:solidFill>
                  <a:schemeClr val="tx1"/>
                </a:solidFill>
                <a:ea typeface="宋体" charset="-122"/>
              </a:rPr>
              <a:t>当前流量</a:t>
            </a:r>
            <a:r>
              <a:rPr kumimoji="0" lang="en-US" altLang="zh-CN" b="0" dirty="0">
                <a:solidFill>
                  <a:schemeClr val="tx1"/>
                </a:solidFill>
                <a:ea typeface="宋体" charset="-122"/>
              </a:rPr>
              <a:t>=4</a:t>
            </a:r>
            <a:endParaRPr kumimoji="0" lang="zh-CN" altLang="en-US" b="0" dirty="0">
              <a:solidFill>
                <a:schemeClr val="tx1"/>
              </a:solidFill>
              <a:ea typeface="宋体" charset="-122"/>
            </a:endParaRPr>
          </a:p>
        </p:txBody>
      </p:sp>
    </p:spTree>
    <p:extLst>
      <p:ext uri="{BB962C8B-B14F-4D97-AF65-F5344CB8AC3E}">
        <p14:creationId xmlns:p14="http://schemas.microsoft.com/office/powerpoint/2010/main" val="42924939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C9CF7769-F4D4-46E8-A8C4-C6B39CFEBF41}" type="slidenum">
              <a:rPr kumimoji="0" lang="en-US" altLang="zh-CN" b="0">
                <a:solidFill>
                  <a:schemeClr val="tx1"/>
                </a:solidFill>
                <a:ea typeface="宋体" charset="-122"/>
              </a:rPr>
              <a:pPr algn="ctr">
                <a:spcBef>
                  <a:spcPct val="0"/>
                </a:spcBef>
                <a:buClrTx/>
                <a:buSzTx/>
                <a:buFontTx/>
                <a:buNone/>
              </a:pPr>
              <a:t>91</a:t>
            </a:fld>
            <a:endParaRPr kumimoji="0" lang="en-US" altLang="zh-CN" b="0">
              <a:solidFill>
                <a:schemeClr val="tx1"/>
              </a:solidFill>
              <a:ea typeface="宋体" charset="-122"/>
            </a:endParaRPr>
          </a:p>
        </p:txBody>
      </p:sp>
      <p:grpSp>
        <p:nvGrpSpPr>
          <p:cNvPr id="16387" name="Group 73"/>
          <p:cNvGrpSpPr>
            <a:grpSpLocks/>
          </p:cNvGrpSpPr>
          <p:nvPr/>
        </p:nvGrpSpPr>
        <p:grpSpPr bwMode="auto">
          <a:xfrm>
            <a:off x="519113" y="3033713"/>
            <a:ext cx="4114800" cy="2667000"/>
            <a:chOff x="240" y="1104"/>
            <a:chExt cx="2592" cy="1680"/>
          </a:xfrm>
        </p:grpSpPr>
        <p:sp>
          <p:nvSpPr>
            <p:cNvPr id="16446" name="Text Box 3"/>
            <p:cNvSpPr txBox="1">
              <a:spLocks noChangeArrowheads="1"/>
            </p:cNvSpPr>
            <p:nvPr/>
          </p:nvSpPr>
          <p:spPr bwMode="auto">
            <a:xfrm>
              <a:off x="1622" y="1899"/>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46085" name="Oval 5"/>
            <p:cNvSpPr>
              <a:spLocks noChangeArrowheads="1"/>
            </p:cNvSpPr>
            <p:nvPr/>
          </p:nvSpPr>
          <p:spPr bwMode="auto">
            <a:xfrm>
              <a:off x="240" y="175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6086" name="Oval 6"/>
            <p:cNvSpPr>
              <a:spLocks noChangeArrowheads="1"/>
            </p:cNvSpPr>
            <p:nvPr/>
          </p:nvSpPr>
          <p:spPr bwMode="auto">
            <a:xfrm>
              <a:off x="1033" y="2287"/>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6087" name="Oval 7"/>
            <p:cNvSpPr>
              <a:spLocks noChangeArrowheads="1"/>
            </p:cNvSpPr>
            <p:nvPr/>
          </p:nvSpPr>
          <p:spPr bwMode="auto">
            <a:xfrm>
              <a:off x="1827" y="228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6088" name="Oval 8"/>
            <p:cNvSpPr>
              <a:spLocks noChangeArrowheads="1"/>
            </p:cNvSpPr>
            <p:nvPr/>
          </p:nvSpPr>
          <p:spPr bwMode="auto">
            <a:xfrm>
              <a:off x="2568" y="1814"/>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6089" name="Oval 9"/>
            <p:cNvSpPr>
              <a:spLocks noChangeArrowheads="1"/>
            </p:cNvSpPr>
            <p:nvPr/>
          </p:nvSpPr>
          <p:spPr bwMode="auto">
            <a:xfrm>
              <a:off x="1827" y="1341"/>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3</a:t>
              </a:r>
              <a:endParaRPr lang="en-US" altLang="zh-CN">
                <a:ea typeface="宋体" charset="-122"/>
              </a:endParaRPr>
            </a:p>
          </p:txBody>
        </p:sp>
        <p:sp>
          <p:nvSpPr>
            <p:cNvPr id="46090" name="Oval 10"/>
            <p:cNvSpPr>
              <a:spLocks noChangeArrowheads="1"/>
            </p:cNvSpPr>
            <p:nvPr/>
          </p:nvSpPr>
          <p:spPr bwMode="auto">
            <a:xfrm>
              <a:off x="1033" y="1341"/>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6453" name="Line 11"/>
            <p:cNvSpPr>
              <a:spLocks noChangeShapeType="1"/>
            </p:cNvSpPr>
            <p:nvPr/>
          </p:nvSpPr>
          <p:spPr bwMode="auto">
            <a:xfrm flipV="1">
              <a:off x="480" y="1440"/>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4" name="Line 12"/>
            <p:cNvSpPr>
              <a:spLocks noChangeShapeType="1"/>
            </p:cNvSpPr>
            <p:nvPr/>
          </p:nvSpPr>
          <p:spPr bwMode="auto">
            <a:xfrm>
              <a:off x="1296" y="1392"/>
              <a:ext cx="529" cy="0"/>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5" name="Line 13"/>
            <p:cNvSpPr>
              <a:spLocks noChangeShapeType="1"/>
            </p:cNvSpPr>
            <p:nvPr/>
          </p:nvSpPr>
          <p:spPr bwMode="auto">
            <a:xfrm>
              <a:off x="2064" y="1488"/>
              <a:ext cx="581" cy="296"/>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6" name="Line 14"/>
            <p:cNvSpPr>
              <a:spLocks noChangeShapeType="1"/>
            </p:cNvSpPr>
            <p:nvPr/>
          </p:nvSpPr>
          <p:spPr bwMode="auto">
            <a:xfrm>
              <a:off x="452" y="2051"/>
              <a:ext cx="581" cy="295"/>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7" name="Line 15"/>
            <p:cNvSpPr>
              <a:spLocks noChangeShapeType="1"/>
            </p:cNvSpPr>
            <p:nvPr/>
          </p:nvSpPr>
          <p:spPr bwMode="auto">
            <a:xfrm>
              <a:off x="1298" y="2405"/>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8" name="Line 17"/>
            <p:cNvSpPr>
              <a:spLocks noChangeShapeType="1"/>
            </p:cNvSpPr>
            <p:nvPr/>
          </p:nvSpPr>
          <p:spPr bwMode="auto">
            <a:xfrm>
              <a:off x="1086"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9" name="Line 18"/>
            <p:cNvSpPr>
              <a:spLocks noChangeShapeType="1"/>
            </p:cNvSpPr>
            <p:nvPr/>
          </p:nvSpPr>
          <p:spPr bwMode="auto">
            <a:xfrm flipV="1">
              <a:off x="1245" y="1636"/>
              <a:ext cx="0" cy="651"/>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60" name="Line 20"/>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61" name="Text Box 21"/>
            <p:cNvSpPr txBox="1">
              <a:spLocks noChangeArrowheads="1"/>
            </p:cNvSpPr>
            <p:nvPr/>
          </p:nvSpPr>
          <p:spPr bwMode="auto">
            <a:xfrm>
              <a:off x="576" y="134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16462" name="Text Box 22"/>
            <p:cNvSpPr txBox="1">
              <a:spLocks noChangeArrowheads="1"/>
            </p:cNvSpPr>
            <p:nvPr/>
          </p:nvSpPr>
          <p:spPr bwMode="auto">
            <a:xfrm>
              <a:off x="480" y="216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6463" name="Text Box 23"/>
            <p:cNvSpPr txBox="1">
              <a:spLocks noChangeArrowheads="1"/>
            </p:cNvSpPr>
            <p:nvPr/>
          </p:nvSpPr>
          <p:spPr bwMode="auto">
            <a:xfrm>
              <a:off x="1440" y="110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a:t>
              </a:r>
            </a:p>
          </p:txBody>
        </p:sp>
        <p:sp>
          <p:nvSpPr>
            <p:cNvPr id="16464" name="Text Box 24"/>
            <p:cNvSpPr txBox="1">
              <a:spLocks noChangeArrowheads="1"/>
            </p:cNvSpPr>
            <p:nvPr/>
          </p:nvSpPr>
          <p:spPr bwMode="auto">
            <a:xfrm>
              <a:off x="864"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6465" name="Text Box 25"/>
            <p:cNvSpPr txBox="1">
              <a:spLocks noChangeArrowheads="1"/>
            </p:cNvSpPr>
            <p:nvPr/>
          </p:nvSpPr>
          <p:spPr bwMode="auto">
            <a:xfrm>
              <a:off x="1200" y="182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6466" name="Text Box 27"/>
            <p:cNvSpPr txBox="1">
              <a:spLocks noChangeArrowheads="1"/>
            </p:cNvSpPr>
            <p:nvPr/>
          </p:nvSpPr>
          <p:spPr bwMode="auto">
            <a:xfrm>
              <a:off x="2304" y="21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6467" name="Text Box 28"/>
            <p:cNvSpPr txBox="1">
              <a:spLocks noChangeArrowheads="1"/>
            </p:cNvSpPr>
            <p:nvPr/>
          </p:nvSpPr>
          <p:spPr bwMode="auto">
            <a:xfrm>
              <a:off x="1975" y="178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6468" name="Text Box 29"/>
            <p:cNvSpPr txBox="1">
              <a:spLocks noChangeArrowheads="1"/>
            </p:cNvSpPr>
            <p:nvPr/>
          </p:nvSpPr>
          <p:spPr bwMode="auto">
            <a:xfrm>
              <a:off x="1392" y="24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6469" name="Line 30"/>
            <p:cNvSpPr>
              <a:spLocks noChangeShapeType="1"/>
            </p:cNvSpPr>
            <p:nvPr/>
          </p:nvSpPr>
          <p:spPr bwMode="auto">
            <a:xfrm flipH="1">
              <a:off x="528" y="1584"/>
              <a:ext cx="48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0" name="Text Box 31"/>
            <p:cNvSpPr txBox="1">
              <a:spLocks noChangeArrowheads="1"/>
            </p:cNvSpPr>
            <p:nvPr/>
          </p:nvSpPr>
          <p:spPr bwMode="auto">
            <a:xfrm>
              <a:off x="672" y="163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6471" name="Line 32"/>
            <p:cNvSpPr>
              <a:spLocks noChangeShapeType="1"/>
            </p:cNvSpPr>
            <p:nvPr/>
          </p:nvSpPr>
          <p:spPr bwMode="auto">
            <a:xfrm flipH="1">
              <a:off x="1296" y="14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2" name="Text Box 33"/>
            <p:cNvSpPr txBox="1">
              <a:spLocks noChangeArrowheads="1"/>
            </p:cNvSpPr>
            <p:nvPr/>
          </p:nvSpPr>
          <p:spPr bwMode="auto">
            <a:xfrm>
              <a:off x="1488" y="148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6473" name="Line 34"/>
            <p:cNvSpPr>
              <a:spLocks noChangeShapeType="1"/>
            </p:cNvSpPr>
            <p:nvPr/>
          </p:nvSpPr>
          <p:spPr bwMode="auto">
            <a:xfrm flipV="1">
              <a:off x="1296" y="1632"/>
              <a:ext cx="576"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4" name="Text Box 35"/>
            <p:cNvSpPr txBox="1">
              <a:spLocks noChangeArrowheads="1"/>
            </p:cNvSpPr>
            <p:nvPr/>
          </p:nvSpPr>
          <p:spPr bwMode="auto">
            <a:xfrm>
              <a:off x="1478" y="165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6475" name="Text Box 36"/>
            <p:cNvSpPr txBox="1">
              <a:spLocks noChangeArrowheads="1"/>
            </p:cNvSpPr>
            <p:nvPr/>
          </p:nvSpPr>
          <p:spPr bwMode="auto">
            <a:xfrm>
              <a:off x="1478" y="213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6476" name="Line 37"/>
            <p:cNvSpPr>
              <a:spLocks noChangeShapeType="1"/>
            </p:cNvSpPr>
            <p:nvPr/>
          </p:nvSpPr>
          <p:spPr bwMode="auto">
            <a:xfrm flipH="1">
              <a:off x="1296" y="2496"/>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7" name="Line 38"/>
            <p:cNvSpPr>
              <a:spLocks noChangeShapeType="1"/>
            </p:cNvSpPr>
            <p:nvPr/>
          </p:nvSpPr>
          <p:spPr bwMode="auto">
            <a:xfrm>
              <a:off x="1968" y="1680"/>
              <a:ext cx="0"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8" name="Line 39"/>
            <p:cNvSpPr>
              <a:spLocks noChangeShapeType="1"/>
            </p:cNvSpPr>
            <p:nvPr/>
          </p:nvSpPr>
          <p:spPr bwMode="auto">
            <a:xfrm flipH="1">
              <a:off x="2112" y="2064"/>
              <a:ext cx="48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9" name="Text Box 40"/>
            <p:cNvSpPr txBox="1">
              <a:spLocks noChangeArrowheads="1"/>
            </p:cNvSpPr>
            <p:nvPr/>
          </p:nvSpPr>
          <p:spPr bwMode="auto">
            <a:xfrm>
              <a:off x="2304" y="13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6480" name="Line 41"/>
            <p:cNvSpPr>
              <a:spLocks noChangeShapeType="1"/>
            </p:cNvSpPr>
            <p:nvPr/>
          </p:nvSpPr>
          <p:spPr bwMode="auto">
            <a:xfrm flipH="1" flipV="1">
              <a:off x="2064" y="1584"/>
              <a:ext cx="52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81" name="Text Box 42"/>
            <p:cNvSpPr txBox="1">
              <a:spLocks noChangeArrowheads="1"/>
            </p:cNvSpPr>
            <p:nvPr/>
          </p:nvSpPr>
          <p:spPr bwMode="auto">
            <a:xfrm>
              <a:off x="2256" y="177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grpSp>
      <p:grpSp>
        <p:nvGrpSpPr>
          <p:cNvPr id="16388" name="Group 43"/>
          <p:cNvGrpSpPr>
            <a:grpSpLocks/>
          </p:cNvGrpSpPr>
          <p:nvPr/>
        </p:nvGrpSpPr>
        <p:grpSpPr bwMode="auto">
          <a:xfrm>
            <a:off x="4938713" y="3109913"/>
            <a:ext cx="4114800" cy="2617787"/>
            <a:chOff x="384" y="288"/>
            <a:chExt cx="2592" cy="1649"/>
          </a:xfrm>
        </p:grpSpPr>
        <p:sp>
          <p:nvSpPr>
            <p:cNvPr id="16419" name="Text Box 44"/>
            <p:cNvSpPr txBox="1">
              <a:spLocks noChangeArrowheads="1"/>
            </p:cNvSpPr>
            <p:nvPr/>
          </p:nvSpPr>
          <p:spPr bwMode="auto">
            <a:xfrm>
              <a:off x="1656" y="1086"/>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6420" name="Group 45"/>
            <p:cNvGrpSpPr>
              <a:grpSpLocks/>
            </p:cNvGrpSpPr>
            <p:nvPr/>
          </p:nvGrpSpPr>
          <p:grpSpPr bwMode="auto">
            <a:xfrm>
              <a:off x="384" y="288"/>
              <a:ext cx="2592" cy="1649"/>
              <a:chOff x="384" y="288"/>
              <a:chExt cx="2592" cy="1649"/>
            </a:xfrm>
          </p:grpSpPr>
          <p:sp>
            <p:nvSpPr>
              <p:cNvPr id="46126" name="Oval 46"/>
              <p:cNvSpPr>
                <a:spLocks noChangeArrowheads="1"/>
              </p:cNvSpPr>
              <p:nvPr/>
            </p:nvSpPr>
            <p:spPr bwMode="auto">
              <a:xfrm>
                <a:off x="384" y="939"/>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6127" name="Oval 47"/>
              <p:cNvSpPr>
                <a:spLocks noChangeArrowheads="1"/>
              </p:cNvSpPr>
              <p:nvPr/>
            </p:nvSpPr>
            <p:spPr bwMode="auto">
              <a:xfrm>
                <a:off x="1191" y="1471"/>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6128" name="Oval 48"/>
              <p:cNvSpPr>
                <a:spLocks noChangeArrowheads="1"/>
              </p:cNvSpPr>
              <p:nvPr/>
            </p:nvSpPr>
            <p:spPr bwMode="auto">
              <a:xfrm>
                <a:off x="1971" y="1471"/>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6129" name="Oval 49"/>
              <p:cNvSpPr>
                <a:spLocks noChangeArrowheads="1"/>
              </p:cNvSpPr>
              <p:nvPr/>
            </p:nvSpPr>
            <p:spPr bwMode="auto">
              <a:xfrm>
                <a:off x="2712" y="998"/>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6130" name="Oval 50"/>
              <p:cNvSpPr>
                <a:spLocks noChangeArrowheads="1"/>
              </p:cNvSpPr>
              <p:nvPr/>
            </p:nvSpPr>
            <p:spPr bwMode="auto">
              <a:xfrm>
                <a:off x="1985" y="525"/>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6131" name="Oval 51"/>
              <p:cNvSpPr>
                <a:spLocks noChangeArrowheads="1"/>
              </p:cNvSpPr>
              <p:nvPr/>
            </p:nvSpPr>
            <p:spPr bwMode="auto">
              <a:xfrm>
                <a:off x="1191" y="525"/>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1</a:t>
                </a:r>
                <a:endParaRPr lang="en-US" altLang="zh-CN">
                  <a:ea typeface="宋体" charset="-122"/>
                </a:endParaRPr>
              </a:p>
            </p:txBody>
          </p:sp>
          <p:sp>
            <p:nvSpPr>
              <p:cNvPr id="16427" name="Line 52"/>
              <p:cNvSpPr>
                <a:spLocks noChangeShapeType="1"/>
              </p:cNvSpPr>
              <p:nvPr/>
            </p:nvSpPr>
            <p:spPr bwMode="auto">
              <a:xfrm flipV="1">
                <a:off x="648" y="761"/>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8" name="Line 53"/>
              <p:cNvSpPr>
                <a:spLocks noChangeShapeType="1"/>
              </p:cNvSpPr>
              <p:nvPr/>
            </p:nvSpPr>
            <p:spPr bwMode="auto">
              <a:xfrm>
                <a:off x="1442" y="702"/>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9" name="Line 54"/>
              <p:cNvSpPr>
                <a:spLocks noChangeShapeType="1"/>
              </p:cNvSpPr>
              <p:nvPr/>
            </p:nvSpPr>
            <p:spPr bwMode="auto">
              <a:xfrm>
                <a:off x="2183" y="761"/>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0" name="Line 55"/>
              <p:cNvSpPr>
                <a:spLocks noChangeShapeType="1"/>
              </p:cNvSpPr>
              <p:nvPr/>
            </p:nvSpPr>
            <p:spPr bwMode="auto">
              <a:xfrm>
                <a:off x="596" y="1235"/>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1" name="Line 56"/>
              <p:cNvSpPr>
                <a:spLocks noChangeShapeType="1"/>
              </p:cNvSpPr>
              <p:nvPr/>
            </p:nvSpPr>
            <p:spPr bwMode="auto">
              <a:xfrm>
                <a:off x="1442" y="1589"/>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2" name="Line 57"/>
              <p:cNvSpPr>
                <a:spLocks noChangeShapeType="1"/>
              </p:cNvSpPr>
              <p:nvPr/>
            </p:nvSpPr>
            <p:spPr bwMode="auto">
              <a:xfrm flipV="1">
                <a:off x="2235" y="1235"/>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3" name="Line 58"/>
              <p:cNvSpPr>
                <a:spLocks noChangeShapeType="1"/>
              </p:cNvSpPr>
              <p:nvPr/>
            </p:nvSpPr>
            <p:spPr bwMode="auto">
              <a:xfrm>
                <a:off x="1230"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4" name="Line 59"/>
              <p:cNvSpPr>
                <a:spLocks noChangeShapeType="1"/>
              </p:cNvSpPr>
              <p:nvPr/>
            </p:nvSpPr>
            <p:spPr bwMode="auto">
              <a:xfrm flipV="1">
                <a:off x="1389"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5" name="Line 60"/>
              <p:cNvSpPr>
                <a:spLocks noChangeShapeType="1"/>
              </p:cNvSpPr>
              <p:nvPr/>
            </p:nvSpPr>
            <p:spPr bwMode="auto">
              <a:xfrm flipV="1">
                <a:off x="2130"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6" name="Line 61"/>
              <p:cNvSpPr>
                <a:spLocks noChangeShapeType="1"/>
              </p:cNvSpPr>
              <p:nvPr/>
            </p:nvSpPr>
            <p:spPr bwMode="auto">
              <a:xfrm flipH="1">
                <a:off x="1442" y="820"/>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7" name="Text Box 62"/>
              <p:cNvSpPr txBox="1">
                <a:spLocks noChangeArrowheads="1"/>
              </p:cNvSpPr>
              <p:nvPr/>
            </p:nvSpPr>
            <p:spPr bwMode="auto">
              <a:xfrm>
                <a:off x="490" y="584"/>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6438" name="Text Box 63"/>
              <p:cNvSpPr txBox="1">
                <a:spLocks noChangeArrowheads="1"/>
              </p:cNvSpPr>
              <p:nvPr/>
            </p:nvSpPr>
            <p:spPr bwMode="auto">
              <a:xfrm>
                <a:off x="490" y="1352"/>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8/13</a:t>
                </a:r>
              </a:p>
            </p:txBody>
          </p:sp>
          <p:sp>
            <p:nvSpPr>
              <p:cNvPr id="16439" name="Text Box 64"/>
              <p:cNvSpPr txBox="1">
                <a:spLocks noChangeArrowheads="1"/>
              </p:cNvSpPr>
              <p:nvPr/>
            </p:nvSpPr>
            <p:spPr bwMode="auto">
              <a:xfrm>
                <a:off x="1444" y="288"/>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12/12</a:t>
                </a:r>
              </a:p>
            </p:txBody>
          </p:sp>
          <p:sp>
            <p:nvSpPr>
              <p:cNvPr id="16440" name="Text Box 65"/>
              <p:cNvSpPr txBox="1">
                <a:spLocks noChangeArrowheads="1"/>
              </p:cNvSpPr>
              <p:nvPr/>
            </p:nvSpPr>
            <p:spPr bwMode="auto">
              <a:xfrm>
                <a:off x="913" y="99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6441" name="Text Box 66"/>
              <p:cNvSpPr txBox="1">
                <a:spLocks noChangeArrowheads="1"/>
              </p:cNvSpPr>
              <p:nvPr/>
            </p:nvSpPr>
            <p:spPr bwMode="auto">
              <a:xfrm>
                <a:off x="1336" y="998"/>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1/4</a:t>
                </a:r>
              </a:p>
            </p:txBody>
          </p:sp>
          <p:sp>
            <p:nvSpPr>
              <p:cNvPr id="16442" name="Text Box 67"/>
              <p:cNvSpPr txBox="1">
                <a:spLocks noChangeArrowheads="1"/>
              </p:cNvSpPr>
              <p:nvPr/>
            </p:nvSpPr>
            <p:spPr bwMode="auto">
              <a:xfrm>
                <a:off x="2341" y="584"/>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15/20</a:t>
                </a:r>
              </a:p>
            </p:txBody>
          </p:sp>
          <p:sp>
            <p:nvSpPr>
              <p:cNvPr id="16443" name="Text Box 68"/>
              <p:cNvSpPr txBox="1">
                <a:spLocks noChangeArrowheads="1"/>
              </p:cNvSpPr>
              <p:nvPr/>
            </p:nvSpPr>
            <p:spPr bwMode="auto">
              <a:xfrm>
                <a:off x="2394" y="1352"/>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6444" name="Text Box 69"/>
              <p:cNvSpPr txBox="1">
                <a:spLocks noChangeArrowheads="1"/>
              </p:cNvSpPr>
              <p:nvPr/>
            </p:nvSpPr>
            <p:spPr bwMode="auto">
              <a:xfrm>
                <a:off x="2119" y="971"/>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6445" name="Text Box 70"/>
              <p:cNvSpPr txBox="1">
                <a:spLocks noChangeArrowheads="1"/>
              </p:cNvSpPr>
              <p:nvPr/>
            </p:nvSpPr>
            <p:spPr bwMode="auto">
              <a:xfrm>
                <a:off x="1444" y="1649"/>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6389" name="Text Box 71"/>
          <p:cNvSpPr txBox="1">
            <a:spLocks noChangeArrowheads="1"/>
          </p:cNvSpPr>
          <p:nvPr/>
        </p:nvSpPr>
        <p:spPr bwMode="auto">
          <a:xfrm>
            <a:off x="4286250" y="5840413"/>
            <a:ext cx="52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(c)</a:t>
            </a:r>
          </a:p>
        </p:txBody>
      </p:sp>
      <p:grpSp>
        <p:nvGrpSpPr>
          <p:cNvPr id="16390" name="Group 69"/>
          <p:cNvGrpSpPr>
            <a:grpSpLocks/>
          </p:cNvGrpSpPr>
          <p:nvPr/>
        </p:nvGrpSpPr>
        <p:grpSpPr bwMode="auto">
          <a:xfrm>
            <a:off x="2335213" y="476250"/>
            <a:ext cx="4114800" cy="2465388"/>
            <a:chOff x="2928" y="1200"/>
            <a:chExt cx="2592" cy="1553"/>
          </a:xfrm>
        </p:grpSpPr>
        <p:sp>
          <p:nvSpPr>
            <p:cNvPr id="16392" name="Text Box 40"/>
            <p:cNvSpPr txBox="1">
              <a:spLocks noChangeArrowheads="1"/>
            </p:cNvSpPr>
            <p:nvPr/>
          </p:nvSpPr>
          <p:spPr bwMode="auto">
            <a:xfrm>
              <a:off x="4200" y="1902"/>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6393" name="Group 68"/>
            <p:cNvGrpSpPr>
              <a:grpSpLocks/>
            </p:cNvGrpSpPr>
            <p:nvPr/>
          </p:nvGrpSpPr>
          <p:grpSpPr bwMode="auto">
            <a:xfrm>
              <a:off x="2928" y="1200"/>
              <a:ext cx="2592" cy="1553"/>
              <a:chOff x="2928" y="1200"/>
              <a:chExt cx="2592" cy="1553"/>
            </a:xfrm>
          </p:grpSpPr>
          <p:sp>
            <p:nvSpPr>
              <p:cNvPr id="73" name="Oval 42"/>
              <p:cNvSpPr>
                <a:spLocks noChangeArrowheads="1"/>
              </p:cNvSpPr>
              <p:nvPr/>
            </p:nvSpPr>
            <p:spPr bwMode="auto">
              <a:xfrm>
                <a:off x="2928" y="175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74" name="Oval 43"/>
              <p:cNvSpPr>
                <a:spLocks noChangeArrowheads="1"/>
              </p:cNvSpPr>
              <p:nvPr/>
            </p:nvSpPr>
            <p:spPr bwMode="auto">
              <a:xfrm>
                <a:off x="3721" y="2287"/>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75" name="Oval 44"/>
              <p:cNvSpPr>
                <a:spLocks noChangeArrowheads="1"/>
              </p:cNvSpPr>
              <p:nvPr/>
            </p:nvSpPr>
            <p:spPr bwMode="auto">
              <a:xfrm>
                <a:off x="4515" y="228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76" name="Oval 45"/>
              <p:cNvSpPr>
                <a:spLocks noChangeArrowheads="1"/>
              </p:cNvSpPr>
              <p:nvPr/>
            </p:nvSpPr>
            <p:spPr bwMode="auto">
              <a:xfrm>
                <a:off x="5256" y="1814"/>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77" name="Oval 46"/>
              <p:cNvSpPr>
                <a:spLocks noChangeArrowheads="1"/>
              </p:cNvSpPr>
              <p:nvPr/>
            </p:nvSpPr>
            <p:spPr bwMode="auto">
              <a:xfrm>
                <a:off x="4515" y="1341"/>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3</a:t>
                </a:r>
                <a:endParaRPr lang="en-US" altLang="zh-CN">
                  <a:ea typeface="宋体" charset="-122"/>
                </a:endParaRPr>
              </a:p>
            </p:txBody>
          </p:sp>
          <p:sp>
            <p:nvSpPr>
              <p:cNvPr id="78" name="Oval 47"/>
              <p:cNvSpPr>
                <a:spLocks noChangeArrowheads="1"/>
              </p:cNvSpPr>
              <p:nvPr/>
            </p:nvSpPr>
            <p:spPr bwMode="auto">
              <a:xfrm>
                <a:off x="3721" y="1341"/>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6400" name="Line 48"/>
              <p:cNvSpPr>
                <a:spLocks noChangeShapeType="1"/>
              </p:cNvSpPr>
              <p:nvPr/>
            </p:nvSpPr>
            <p:spPr bwMode="auto">
              <a:xfrm flipV="1">
                <a:off x="3192" y="1577"/>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1" name="Line 49"/>
              <p:cNvSpPr>
                <a:spLocks noChangeShapeType="1"/>
              </p:cNvSpPr>
              <p:nvPr/>
            </p:nvSpPr>
            <p:spPr bwMode="auto">
              <a:xfrm>
                <a:off x="3986" y="1518"/>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2" name="Line 50"/>
              <p:cNvSpPr>
                <a:spLocks noChangeShapeType="1"/>
              </p:cNvSpPr>
              <p:nvPr/>
            </p:nvSpPr>
            <p:spPr bwMode="auto">
              <a:xfrm>
                <a:off x="4727" y="1577"/>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3" name="Line 51"/>
              <p:cNvSpPr>
                <a:spLocks noChangeShapeType="1"/>
              </p:cNvSpPr>
              <p:nvPr/>
            </p:nvSpPr>
            <p:spPr bwMode="auto">
              <a:xfrm>
                <a:off x="3140" y="2051"/>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4" name="Line 52"/>
              <p:cNvSpPr>
                <a:spLocks noChangeShapeType="1"/>
              </p:cNvSpPr>
              <p:nvPr/>
            </p:nvSpPr>
            <p:spPr bwMode="auto">
              <a:xfrm>
                <a:off x="3986" y="2405"/>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5" name="Line 53"/>
              <p:cNvSpPr>
                <a:spLocks noChangeShapeType="1"/>
              </p:cNvSpPr>
              <p:nvPr/>
            </p:nvSpPr>
            <p:spPr bwMode="auto">
              <a:xfrm flipV="1">
                <a:off x="4779" y="2051"/>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6" name="Line 54"/>
              <p:cNvSpPr>
                <a:spLocks noChangeShapeType="1"/>
              </p:cNvSpPr>
              <p:nvPr/>
            </p:nvSpPr>
            <p:spPr bwMode="auto">
              <a:xfrm>
                <a:off x="3774"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7" name="Line 55"/>
              <p:cNvSpPr>
                <a:spLocks noChangeShapeType="1"/>
              </p:cNvSpPr>
              <p:nvPr/>
            </p:nvSpPr>
            <p:spPr bwMode="auto">
              <a:xfrm flipV="1">
                <a:off x="3933"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8" name="Line 56"/>
              <p:cNvSpPr>
                <a:spLocks noChangeShapeType="1"/>
              </p:cNvSpPr>
              <p:nvPr/>
            </p:nvSpPr>
            <p:spPr bwMode="auto">
              <a:xfrm flipV="1">
                <a:off x="4674"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9" name="Line 57"/>
              <p:cNvSpPr>
                <a:spLocks noChangeShapeType="1"/>
              </p:cNvSpPr>
              <p:nvPr/>
            </p:nvSpPr>
            <p:spPr bwMode="auto">
              <a:xfrm flipH="1">
                <a:off x="3986" y="1636"/>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0" name="Text Box 58"/>
              <p:cNvSpPr txBox="1">
                <a:spLocks noChangeArrowheads="1"/>
              </p:cNvSpPr>
              <p:nvPr/>
            </p:nvSpPr>
            <p:spPr bwMode="auto">
              <a:xfrm>
                <a:off x="3072" y="1488"/>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6411" name="Text Box 59"/>
              <p:cNvSpPr txBox="1">
                <a:spLocks noChangeArrowheads="1"/>
              </p:cNvSpPr>
              <p:nvPr/>
            </p:nvSpPr>
            <p:spPr bwMode="auto">
              <a:xfrm>
                <a:off x="3168" y="216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6412" name="Text Box 60"/>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4/12</a:t>
                </a:r>
              </a:p>
            </p:txBody>
          </p:sp>
          <p:sp>
            <p:nvSpPr>
              <p:cNvPr id="16413" name="Text Box 61"/>
              <p:cNvSpPr txBox="1">
                <a:spLocks noChangeArrowheads="1"/>
              </p:cNvSpPr>
              <p:nvPr/>
            </p:nvSpPr>
            <p:spPr bwMode="auto">
              <a:xfrm>
                <a:off x="3360" y="1824"/>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7/10</a:t>
                </a:r>
              </a:p>
            </p:txBody>
          </p:sp>
          <p:sp>
            <p:nvSpPr>
              <p:cNvPr id="16414" name="Text Box 62"/>
              <p:cNvSpPr txBox="1">
                <a:spLocks noChangeArrowheads="1"/>
              </p:cNvSpPr>
              <p:nvPr/>
            </p:nvSpPr>
            <p:spPr bwMode="auto">
              <a:xfrm>
                <a:off x="3880" y="181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6415" name="Text Box 63"/>
              <p:cNvSpPr txBox="1">
                <a:spLocks noChangeArrowheads="1"/>
              </p:cNvSpPr>
              <p:nvPr/>
            </p:nvSpPr>
            <p:spPr bwMode="auto">
              <a:xfrm>
                <a:off x="4885" y="14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7/20</a:t>
                </a:r>
              </a:p>
            </p:txBody>
          </p:sp>
          <p:sp>
            <p:nvSpPr>
              <p:cNvPr id="16416" name="Text Box 64"/>
              <p:cNvSpPr txBox="1">
                <a:spLocks noChangeArrowheads="1"/>
              </p:cNvSpPr>
              <p:nvPr/>
            </p:nvSpPr>
            <p:spPr bwMode="auto">
              <a:xfrm>
                <a:off x="4938" y="2168"/>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6417" name="Text Box 65"/>
              <p:cNvSpPr txBox="1">
                <a:spLocks noChangeArrowheads="1"/>
              </p:cNvSpPr>
              <p:nvPr/>
            </p:nvSpPr>
            <p:spPr bwMode="auto">
              <a:xfrm>
                <a:off x="4663" y="1787"/>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6418" name="Text Box 66"/>
              <p:cNvSpPr txBox="1">
                <a:spLocks noChangeArrowheads="1"/>
              </p:cNvSpPr>
              <p:nvPr/>
            </p:nvSpPr>
            <p:spPr bwMode="auto">
              <a:xfrm>
                <a:off x="3988" y="2465"/>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6391" name="TextBox 96"/>
          <p:cNvSpPr txBox="1">
            <a:spLocks noChangeArrowheads="1"/>
          </p:cNvSpPr>
          <p:nvPr/>
        </p:nvSpPr>
        <p:spPr bwMode="auto">
          <a:xfrm>
            <a:off x="6922476" y="1602251"/>
            <a:ext cx="1876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dirty="0">
                <a:solidFill>
                  <a:schemeClr val="tx1"/>
                </a:solidFill>
                <a:ea typeface="宋体" charset="-122"/>
              </a:rPr>
              <a:t>当前流量</a:t>
            </a:r>
            <a:r>
              <a:rPr kumimoji="0" lang="en-US" altLang="zh-CN" b="0" dirty="0">
                <a:solidFill>
                  <a:schemeClr val="tx1"/>
                </a:solidFill>
                <a:ea typeface="宋体" charset="-122"/>
              </a:rPr>
              <a:t>=11</a:t>
            </a:r>
            <a:endParaRPr kumimoji="0" lang="zh-CN" altLang="en-US" b="0" dirty="0">
              <a:solidFill>
                <a:schemeClr val="tx1"/>
              </a:solidFill>
              <a:ea typeface="宋体" charset="-122"/>
            </a:endParaRPr>
          </a:p>
        </p:txBody>
      </p:sp>
    </p:spTree>
    <p:extLst>
      <p:ext uri="{BB962C8B-B14F-4D97-AF65-F5344CB8AC3E}">
        <p14:creationId xmlns:p14="http://schemas.microsoft.com/office/powerpoint/2010/main" val="41577081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5769EE84-3941-4C32-969C-0923DF1F7512}" type="slidenum">
              <a:rPr kumimoji="0" lang="en-US" altLang="zh-CN" b="0">
                <a:solidFill>
                  <a:schemeClr val="tx1"/>
                </a:solidFill>
                <a:ea typeface="宋体" charset="-122"/>
              </a:rPr>
              <a:pPr algn="ctr">
                <a:spcBef>
                  <a:spcPct val="0"/>
                </a:spcBef>
                <a:buClrTx/>
                <a:buSzTx/>
                <a:buFontTx/>
                <a:buNone/>
              </a:pPr>
              <a:t>92</a:t>
            </a:fld>
            <a:endParaRPr kumimoji="0" lang="en-US" altLang="zh-CN" b="0">
              <a:solidFill>
                <a:schemeClr val="tx1"/>
              </a:solidFill>
              <a:ea typeface="宋体" charset="-122"/>
            </a:endParaRPr>
          </a:p>
        </p:txBody>
      </p:sp>
      <p:grpSp>
        <p:nvGrpSpPr>
          <p:cNvPr id="17411" name="Group 100"/>
          <p:cNvGrpSpPr>
            <a:grpSpLocks/>
          </p:cNvGrpSpPr>
          <p:nvPr/>
        </p:nvGrpSpPr>
        <p:grpSpPr bwMode="auto">
          <a:xfrm>
            <a:off x="381000" y="2971800"/>
            <a:ext cx="4114800" cy="2590800"/>
            <a:chOff x="240" y="1152"/>
            <a:chExt cx="2592" cy="1632"/>
          </a:xfrm>
        </p:grpSpPr>
        <p:sp>
          <p:nvSpPr>
            <p:cNvPr id="17472" name="Text Box 33"/>
            <p:cNvSpPr txBox="1">
              <a:spLocks noChangeArrowheads="1"/>
            </p:cNvSpPr>
            <p:nvPr/>
          </p:nvSpPr>
          <p:spPr bwMode="auto">
            <a:xfrm>
              <a:off x="1584" y="196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47138" name="Oval 34"/>
            <p:cNvSpPr>
              <a:spLocks noChangeArrowheads="1"/>
            </p:cNvSpPr>
            <p:nvPr/>
          </p:nvSpPr>
          <p:spPr bwMode="auto">
            <a:xfrm>
              <a:off x="240" y="175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7139" name="Oval 35"/>
            <p:cNvSpPr>
              <a:spLocks noChangeArrowheads="1"/>
            </p:cNvSpPr>
            <p:nvPr/>
          </p:nvSpPr>
          <p:spPr bwMode="auto">
            <a:xfrm>
              <a:off x="1033" y="2287"/>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7140" name="Oval 36"/>
            <p:cNvSpPr>
              <a:spLocks noChangeArrowheads="1"/>
            </p:cNvSpPr>
            <p:nvPr/>
          </p:nvSpPr>
          <p:spPr bwMode="auto">
            <a:xfrm>
              <a:off x="1827" y="228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7141" name="Oval 37"/>
            <p:cNvSpPr>
              <a:spLocks noChangeArrowheads="1"/>
            </p:cNvSpPr>
            <p:nvPr/>
          </p:nvSpPr>
          <p:spPr bwMode="auto">
            <a:xfrm>
              <a:off x="2568" y="1814"/>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7142" name="Oval 38"/>
            <p:cNvSpPr>
              <a:spLocks noChangeArrowheads="1"/>
            </p:cNvSpPr>
            <p:nvPr/>
          </p:nvSpPr>
          <p:spPr bwMode="auto">
            <a:xfrm>
              <a:off x="1827" y="1341"/>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7143" name="Oval 39"/>
            <p:cNvSpPr>
              <a:spLocks noChangeArrowheads="1"/>
            </p:cNvSpPr>
            <p:nvPr/>
          </p:nvSpPr>
          <p:spPr bwMode="auto">
            <a:xfrm>
              <a:off x="1033" y="1341"/>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7479" name="Line 40"/>
            <p:cNvSpPr>
              <a:spLocks noChangeShapeType="1"/>
            </p:cNvSpPr>
            <p:nvPr/>
          </p:nvSpPr>
          <p:spPr bwMode="auto">
            <a:xfrm flipV="1">
              <a:off x="480" y="1440"/>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0" name="Line 42"/>
            <p:cNvSpPr>
              <a:spLocks noChangeShapeType="1"/>
            </p:cNvSpPr>
            <p:nvPr/>
          </p:nvSpPr>
          <p:spPr bwMode="auto">
            <a:xfrm>
              <a:off x="2112" y="1488"/>
              <a:ext cx="624" cy="336"/>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1" name="Line 43"/>
            <p:cNvSpPr>
              <a:spLocks noChangeShapeType="1"/>
            </p:cNvSpPr>
            <p:nvPr/>
          </p:nvSpPr>
          <p:spPr bwMode="auto">
            <a:xfrm>
              <a:off x="528" y="2016"/>
              <a:ext cx="533" cy="295"/>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2" name="Line 44"/>
            <p:cNvSpPr>
              <a:spLocks noChangeShapeType="1"/>
            </p:cNvSpPr>
            <p:nvPr/>
          </p:nvSpPr>
          <p:spPr bwMode="auto">
            <a:xfrm>
              <a:off x="1298" y="2405"/>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3" name="Line 45"/>
            <p:cNvSpPr>
              <a:spLocks noChangeShapeType="1"/>
            </p:cNvSpPr>
            <p:nvPr/>
          </p:nvSpPr>
          <p:spPr bwMode="auto">
            <a:xfrm>
              <a:off x="1104" y="1632"/>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4" name="Line 46"/>
            <p:cNvSpPr>
              <a:spLocks noChangeShapeType="1"/>
            </p:cNvSpPr>
            <p:nvPr/>
          </p:nvSpPr>
          <p:spPr bwMode="auto">
            <a:xfrm flipV="1">
              <a:off x="1200" y="1632"/>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5" name="Line 47"/>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6" name="Text Box 48"/>
            <p:cNvSpPr txBox="1">
              <a:spLocks noChangeArrowheads="1"/>
            </p:cNvSpPr>
            <p:nvPr/>
          </p:nvSpPr>
          <p:spPr bwMode="auto">
            <a:xfrm>
              <a:off x="576" y="134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17487" name="Text Box 49"/>
            <p:cNvSpPr txBox="1">
              <a:spLocks noChangeArrowheads="1"/>
            </p:cNvSpPr>
            <p:nvPr/>
          </p:nvSpPr>
          <p:spPr bwMode="auto">
            <a:xfrm>
              <a:off x="528" y="22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a:t>
              </a:r>
            </a:p>
          </p:txBody>
        </p:sp>
        <p:sp>
          <p:nvSpPr>
            <p:cNvPr id="17488" name="Text Box 51"/>
            <p:cNvSpPr txBox="1">
              <a:spLocks noChangeArrowheads="1"/>
            </p:cNvSpPr>
            <p:nvPr/>
          </p:nvSpPr>
          <p:spPr bwMode="auto">
            <a:xfrm>
              <a:off x="864" y="182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7489" name="Text Box 52"/>
            <p:cNvSpPr txBox="1">
              <a:spLocks noChangeArrowheads="1"/>
            </p:cNvSpPr>
            <p:nvPr/>
          </p:nvSpPr>
          <p:spPr bwMode="auto">
            <a:xfrm>
              <a:off x="1200"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7490" name="Text Box 53"/>
            <p:cNvSpPr txBox="1">
              <a:spLocks noChangeArrowheads="1"/>
            </p:cNvSpPr>
            <p:nvPr/>
          </p:nvSpPr>
          <p:spPr bwMode="auto">
            <a:xfrm>
              <a:off x="2304" y="225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7491" name="Text Box 54"/>
            <p:cNvSpPr txBox="1">
              <a:spLocks noChangeArrowheads="1"/>
            </p:cNvSpPr>
            <p:nvPr/>
          </p:nvSpPr>
          <p:spPr bwMode="auto">
            <a:xfrm>
              <a:off x="1975" y="178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7492" name="Text Box 55"/>
            <p:cNvSpPr txBox="1">
              <a:spLocks noChangeArrowheads="1"/>
            </p:cNvSpPr>
            <p:nvPr/>
          </p:nvSpPr>
          <p:spPr bwMode="auto">
            <a:xfrm>
              <a:off x="1392" y="24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7493" name="Line 56"/>
            <p:cNvSpPr>
              <a:spLocks noChangeShapeType="1"/>
            </p:cNvSpPr>
            <p:nvPr/>
          </p:nvSpPr>
          <p:spPr bwMode="auto">
            <a:xfrm flipH="1">
              <a:off x="528" y="1584"/>
              <a:ext cx="48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4" name="Text Box 57"/>
            <p:cNvSpPr txBox="1">
              <a:spLocks noChangeArrowheads="1"/>
            </p:cNvSpPr>
            <p:nvPr/>
          </p:nvSpPr>
          <p:spPr bwMode="auto">
            <a:xfrm>
              <a:off x="672" y="163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7495" name="Line 58"/>
            <p:cNvSpPr>
              <a:spLocks noChangeShapeType="1"/>
            </p:cNvSpPr>
            <p:nvPr/>
          </p:nvSpPr>
          <p:spPr bwMode="auto">
            <a:xfrm flipH="1">
              <a:off x="1296" y="1440"/>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6" name="Text Box 59"/>
            <p:cNvSpPr txBox="1">
              <a:spLocks noChangeArrowheads="1"/>
            </p:cNvSpPr>
            <p:nvPr/>
          </p:nvSpPr>
          <p:spPr bwMode="auto">
            <a:xfrm>
              <a:off x="1440" y="115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7497" name="Line 60"/>
            <p:cNvSpPr>
              <a:spLocks noChangeShapeType="1"/>
            </p:cNvSpPr>
            <p:nvPr/>
          </p:nvSpPr>
          <p:spPr bwMode="auto">
            <a:xfrm flipV="1">
              <a:off x="1296" y="1632"/>
              <a:ext cx="576" cy="624"/>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8" name="Text Box 61"/>
            <p:cNvSpPr txBox="1">
              <a:spLocks noChangeArrowheads="1"/>
            </p:cNvSpPr>
            <p:nvPr/>
          </p:nvSpPr>
          <p:spPr bwMode="auto">
            <a:xfrm>
              <a:off x="1478" y="165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7499" name="Text Box 62"/>
            <p:cNvSpPr txBox="1">
              <a:spLocks noChangeArrowheads="1"/>
            </p:cNvSpPr>
            <p:nvPr/>
          </p:nvSpPr>
          <p:spPr bwMode="auto">
            <a:xfrm>
              <a:off x="1478" y="213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7500" name="Line 63"/>
            <p:cNvSpPr>
              <a:spLocks noChangeShapeType="1"/>
            </p:cNvSpPr>
            <p:nvPr/>
          </p:nvSpPr>
          <p:spPr bwMode="auto">
            <a:xfrm flipH="1">
              <a:off x="1296" y="2496"/>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1" name="Line 64"/>
            <p:cNvSpPr>
              <a:spLocks noChangeShapeType="1"/>
            </p:cNvSpPr>
            <p:nvPr/>
          </p:nvSpPr>
          <p:spPr bwMode="auto">
            <a:xfrm>
              <a:off x="1968" y="1680"/>
              <a:ext cx="0"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2" name="Line 65"/>
            <p:cNvSpPr>
              <a:spLocks noChangeShapeType="1"/>
            </p:cNvSpPr>
            <p:nvPr/>
          </p:nvSpPr>
          <p:spPr bwMode="auto">
            <a:xfrm flipH="1">
              <a:off x="2112" y="2064"/>
              <a:ext cx="48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3" name="Text Box 66"/>
            <p:cNvSpPr txBox="1">
              <a:spLocks noChangeArrowheads="1"/>
            </p:cNvSpPr>
            <p:nvPr/>
          </p:nvSpPr>
          <p:spPr bwMode="auto">
            <a:xfrm>
              <a:off x="2352" y="139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17504" name="Line 67"/>
            <p:cNvSpPr>
              <a:spLocks noChangeShapeType="1"/>
            </p:cNvSpPr>
            <p:nvPr/>
          </p:nvSpPr>
          <p:spPr bwMode="auto">
            <a:xfrm flipH="1" flipV="1">
              <a:off x="2064" y="1584"/>
              <a:ext cx="52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5" name="Text Box 68"/>
            <p:cNvSpPr txBox="1">
              <a:spLocks noChangeArrowheads="1"/>
            </p:cNvSpPr>
            <p:nvPr/>
          </p:nvSpPr>
          <p:spPr bwMode="auto">
            <a:xfrm>
              <a:off x="2160" y="172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15</a:t>
              </a:r>
            </a:p>
          </p:txBody>
        </p:sp>
      </p:grpSp>
      <p:sp>
        <p:nvSpPr>
          <p:cNvPr id="17412" name="Text Box 69"/>
          <p:cNvSpPr txBox="1">
            <a:spLocks noChangeArrowheads="1"/>
          </p:cNvSpPr>
          <p:nvPr/>
        </p:nvSpPr>
        <p:spPr bwMode="auto">
          <a:xfrm>
            <a:off x="1127125" y="415607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17413" name="Line 70"/>
          <p:cNvSpPr>
            <a:spLocks noChangeShapeType="1"/>
          </p:cNvSpPr>
          <p:nvPr/>
        </p:nvSpPr>
        <p:spPr bwMode="auto">
          <a:xfrm flipH="1" flipV="1">
            <a:off x="685800" y="4419600"/>
            <a:ext cx="9144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14" name="Group 71"/>
          <p:cNvGrpSpPr>
            <a:grpSpLocks/>
          </p:cNvGrpSpPr>
          <p:nvPr/>
        </p:nvGrpSpPr>
        <p:grpSpPr bwMode="auto">
          <a:xfrm>
            <a:off x="4673600" y="2971800"/>
            <a:ext cx="4089400" cy="2617788"/>
            <a:chOff x="256" y="2256"/>
            <a:chExt cx="2576" cy="1649"/>
          </a:xfrm>
        </p:grpSpPr>
        <p:sp>
          <p:nvSpPr>
            <p:cNvPr id="17445" name="Text Box 72"/>
            <p:cNvSpPr txBox="1">
              <a:spLocks noChangeArrowheads="1"/>
            </p:cNvSpPr>
            <p:nvPr/>
          </p:nvSpPr>
          <p:spPr bwMode="auto">
            <a:xfrm>
              <a:off x="1512" y="3054"/>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9</a:t>
              </a:r>
            </a:p>
          </p:txBody>
        </p:sp>
        <p:grpSp>
          <p:nvGrpSpPr>
            <p:cNvPr id="17446" name="Group 73"/>
            <p:cNvGrpSpPr>
              <a:grpSpLocks/>
            </p:cNvGrpSpPr>
            <p:nvPr/>
          </p:nvGrpSpPr>
          <p:grpSpPr bwMode="auto">
            <a:xfrm>
              <a:off x="256" y="2256"/>
              <a:ext cx="2576" cy="1649"/>
              <a:chOff x="256" y="2256"/>
              <a:chExt cx="2576" cy="1649"/>
            </a:xfrm>
          </p:grpSpPr>
          <p:sp>
            <p:nvSpPr>
              <p:cNvPr id="47178" name="Oval 74"/>
              <p:cNvSpPr>
                <a:spLocks noChangeArrowheads="1"/>
              </p:cNvSpPr>
              <p:nvPr/>
            </p:nvSpPr>
            <p:spPr bwMode="auto">
              <a:xfrm>
                <a:off x="256" y="290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7179" name="Oval 75"/>
              <p:cNvSpPr>
                <a:spLocks noChangeArrowheads="1"/>
              </p:cNvSpPr>
              <p:nvPr/>
            </p:nvSpPr>
            <p:spPr bwMode="auto">
              <a:xfrm>
                <a:off x="1033" y="3439"/>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7180" name="Oval 76"/>
              <p:cNvSpPr>
                <a:spLocks noChangeArrowheads="1"/>
              </p:cNvSpPr>
              <p:nvPr/>
            </p:nvSpPr>
            <p:spPr bwMode="auto">
              <a:xfrm>
                <a:off x="1827" y="3439"/>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7181" name="Oval 77"/>
              <p:cNvSpPr>
                <a:spLocks noChangeArrowheads="1"/>
              </p:cNvSpPr>
              <p:nvPr/>
            </p:nvSpPr>
            <p:spPr bwMode="auto">
              <a:xfrm>
                <a:off x="2568" y="2966"/>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7182" name="Oval 78"/>
              <p:cNvSpPr>
                <a:spLocks noChangeArrowheads="1"/>
              </p:cNvSpPr>
              <p:nvPr/>
            </p:nvSpPr>
            <p:spPr bwMode="auto">
              <a:xfrm>
                <a:off x="1843" y="2493"/>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7183" name="Oval 79"/>
              <p:cNvSpPr>
                <a:spLocks noChangeArrowheads="1"/>
              </p:cNvSpPr>
              <p:nvPr/>
            </p:nvSpPr>
            <p:spPr bwMode="auto">
              <a:xfrm>
                <a:off x="1049" y="2493"/>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7453" name="Line 80"/>
              <p:cNvSpPr>
                <a:spLocks noChangeShapeType="1"/>
              </p:cNvSpPr>
              <p:nvPr/>
            </p:nvSpPr>
            <p:spPr bwMode="auto">
              <a:xfrm flipV="1">
                <a:off x="504" y="2729"/>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4" name="Line 81"/>
              <p:cNvSpPr>
                <a:spLocks noChangeShapeType="1"/>
              </p:cNvSpPr>
              <p:nvPr/>
            </p:nvSpPr>
            <p:spPr bwMode="auto">
              <a:xfrm>
                <a:off x="1298" y="2670"/>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5" name="Line 82"/>
              <p:cNvSpPr>
                <a:spLocks noChangeShapeType="1"/>
              </p:cNvSpPr>
              <p:nvPr/>
            </p:nvSpPr>
            <p:spPr bwMode="auto">
              <a:xfrm>
                <a:off x="2039" y="2729"/>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6" name="Line 83"/>
              <p:cNvSpPr>
                <a:spLocks noChangeShapeType="1"/>
              </p:cNvSpPr>
              <p:nvPr/>
            </p:nvSpPr>
            <p:spPr bwMode="auto">
              <a:xfrm>
                <a:off x="452" y="3203"/>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7" name="Line 84"/>
              <p:cNvSpPr>
                <a:spLocks noChangeShapeType="1"/>
              </p:cNvSpPr>
              <p:nvPr/>
            </p:nvSpPr>
            <p:spPr bwMode="auto">
              <a:xfrm>
                <a:off x="1298" y="3557"/>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8" name="Line 85"/>
              <p:cNvSpPr>
                <a:spLocks noChangeShapeType="1"/>
              </p:cNvSpPr>
              <p:nvPr/>
            </p:nvSpPr>
            <p:spPr bwMode="auto">
              <a:xfrm flipV="1">
                <a:off x="2091" y="3203"/>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9" name="Line 86"/>
              <p:cNvSpPr>
                <a:spLocks noChangeShapeType="1"/>
              </p:cNvSpPr>
              <p:nvPr/>
            </p:nvSpPr>
            <p:spPr bwMode="auto">
              <a:xfrm>
                <a:off x="1086"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0" name="Line 87"/>
              <p:cNvSpPr>
                <a:spLocks noChangeShapeType="1"/>
              </p:cNvSpPr>
              <p:nvPr/>
            </p:nvSpPr>
            <p:spPr bwMode="auto">
              <a:xfrm flipV="1">
                <a:off x="1245"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1" name="Line 88"/>
              <p:cNvSpPr>
                <a:spLocks noChangeShapeType="1"/>
              </p:cNvSpPr>
              <p:nvPr/>
            </p:nvSpPr>
            <p:spPr bwMode="auto">
              <a:xfrm flipV="1">
                <a:off x="1986"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2" name="Line 89"/>
              <p:cNvSpPr>
                <a:spLocks noChangeShapeType="1"/>
              </p:cNvSpPr>
              <p:nvPr/>
            </p:nvSpPr>
            <p:spPr bwMode="auto">
              <a:xfrm flipH="1">
                <a:off x="1298" y="2788"/>
                <a:ext cx="582" cy="651"/>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3" name="Text Box 90"/>
              <p:cNvSpPr txBox="1">
                <a:spLocks noChangeArrowheads="1"/>
              </p:cNvSpPr>
              <p:nvPr/>
            </p:nvSpPr>
            <p:spPr bwMode="auto">
              <a:xfrm>
                <a:off x="346" y="2552"/>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7464" name="Text Box 91"/>
              <p:cNvSpPr txBox="1">
                <a:spLocks noChangeArrowheads="1"/>
              </p:cNvSpPr>
              <p:nvPr/>
            </p:nvSpPr>
            <p:spPr bwMode="auto">
              <a:xfrm>
                <a:off x="346" y="3320"/>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12/13</a:t>
                </a:r>
              </a:p>
            </p:txBody>
          </p:sp>
          <p:sp>
            <p:nvSpPr>
              <p:cNvPr id="17465" name="Text Box 92"/>
              <p:cNvSpPr txBox="1">
                <a:spLocks noChangeArrowheads="1"/>
              </p:cNvSpPr>
              <p:nvPr/>
            </p:nvSpPr>
            <p:spPr bwMode="auto">
              <a:xfrm>
                <a:off x="1300" y="2256"/>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12/12</a:t>
                </a:r>
              </a:p>
            </p:txBody>
          </p:sp>
          <p:sp>
            <p:nvSpPr>
              <p:cNvPr id="17466" name="Text Box 93"/>
              <p:cNvSpPr txBox="1">
                <a:spLocks noChangeArrowheads="1"/>
              </p:cNvSpPr>
              <p:nvPr/>
            </p:nvSpPr>
            <p:spPr bwMode="auto">
              <a:xfrm>
                <a:off x="769" y="296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7467" name="Text Box 94"/>
              <p:cNvSpPr txBox="1">
                <a:spLocks noChangeArrowheads="1"/>
              </p:cNvSpPr>
              <p:nvPr/>
            </p:nvSpPr>
            <p:spPr bwMode="auto">
              <a:xfrm>
                <a:off x="1192" y="296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1/4</a:t>
                </a:r>
              </a:p>
            </p:txBody>
          </p:sp>
          <p:sp>
            <p:nvSpPr>
              <p:cNvPr id="17468" name="Text Box 95"/>
              <p:cNvSpPr txBox="1">
                <a:spLocks noChangeArrowheads="1"/>
              </p:cNvSpPr>
              <p:nvPr/>
            </p:nvSpPr>
            <p:spPr bwMode="auto">
              <a:xfrm>
                <a:off x="2197" y="2552"/>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19/20</a:t>
                </a:r>
              </a:p>
            </p:txBody>
          </p:sp>
          <p:sp>
            <p:nvSpPr>
              <p:cNvPr id="17469" name="Text Box 96"/>
              <p:cNvSpPr txBox="1">
                <a:spLocks noChangeArrowheads="1"/>
              </p:cNvSpPr>
              <p:nvPr/>
            </p:nvSpPr>
            <p:spPr bwMode="auto">
              <a:xfrm>
                <a:off x="2250" y="3320"/>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7470" name="Text Box 97"/>
              <p:cNvSpPr txBox="1">
                <a:spLocks noChangeArrowheads="1"/>
              </p:cNvSpPr>
              <p:nvPr/>
            </p:nvSpPr>
            <p:spPr bwMode="auto">
              <a:xfrm>
                <a:off x="1975" y="2939"/>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7471" name="Text Box 98"/>
              <p:cNvSpPr txBox="1">
                <a:spLocks noChangeArrowheads="1"/>
              </p:cNvSpPr>
              <p:nvPr/>
            </p:nvSpPr>
            <p:spPr bwMode="auto">
              <a:xfrm>
                <a:off x="1300" y="3617"/>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7415" name="Text Box 99"/>
          <p:cNvSpPr txBox="1">
            <a:spLocks noChangeArrowheads="1"/>
          </p:cNvSpPr>
          <p:nvPr/>
        </p:nvSpPr>
        <p:spPr bwMode="auto">
          <a:xfrm>
            <a:off x="4225925" y="5643563"/>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(d)</a:t>
            </a:r>
          </a:p>
        </p:txBody>
      </p:sp>
      <p:grpSp>
        <p:nvGrpSpPr>
          <p:cNvPr id="17416" name="Group 43"/>
          <p:cNvGrpSpPr>
            <a:grpSpLocks/>
          </p:cNvGrpSpPr>
          <p:nvPr/>
        </p:nvGrpSpPr>
        <p:grpSpPr bwMode="auto">
          <a:xfrm>
            <a:off x="2160588" y="123825"/>
            <a:ext cx="4114800" cy="2617788"/>
            <a:chOff x="384" y="288"/>
            <a:chExt cx="2592" cy="1649"/>
          </a:xfrm>
        </p:grpSpPr>
        <p:sp>
          <p:nvSpPr>
            <p:cNvPr id="17418" name="Text Box 44"/>
            <p:cNvSpPr txBox="1">
              <a:spLocks noChangeArrowheads="1"/>
            </p:cNvSpPr>
            <p:nvPr/>
          </p:nvSpPr>
          <p:spPr bwMode="auto">
            <a:xfrm>
              <a:off x="1656" y="1086"/>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7419" name="Group 45"/>
            <p:cNvGrpSpPr>
              <a:grpSpLocks/>
            </p:cNvGrpSpPr>
            <p:nvPr/>
          </p:nvGrpSpPr>
          <p:grpSpPr bwMode="auto">
            <a:xfrm>
              <a:off x="384" y="288"/>
              <a:ext cx="2592" cy="1649"/>
              <a:chOff x="384" y="288"/>
              <a:chExt cx="2592" cy="1649"/>
            </a:xfrm>
          </p:grpSpPr>
          <p:sp>
            <p:nvSpPr>
              <p:cNvPr id="72" name="Oval 46"/>
              <p:cNvSpPr>
                <a:spLocks noChangeArrowheads="1"/>
              </p:cNvSpPr>
              <p:nvPr/>
            </p:nvSpPr>
            <p:spPr bwMode="auto">
              <a:xfrm>
                <a:off x="384" y="939"/>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73" name="Oval 47"/>
              <p:cNvSpPr>
                <a:spLocks noChangeArrowheads="1"/>
              </p:cNvSpPr>
              <p:nvPr/>
            </p:nvSpPr>
            <p:spPr bwMode="auto">
              <a:xfrm>
                <a:off x="1191" y="1471"/>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74" name="Oval 48"/>
              <p:cNvSpPr>
                <a:spLocks noChangeArrowheads="1"/>
              </p:cNvSpPr>
              <p:nvPr/>
            </p:nvSpPr>
            <p:spPr bwMode="auto">
              <a:xfrm>
                <a:off x="1971" y="1471"/>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75" name="Oval 49"/>
              <p:cNvSpPr>
                <a:spLocks noChangeArrowheads="1"/>
              </p:cNvSpPr>
              <p:nvPr/>
            </p:nvSpPr>
            <p:spPr bwMode="auto">
              <a:xfrm>
                <a:off x="2712" y="998"/>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76" name="Oval 50"/>
              <p:cNvSpPr>
                <a:spLocks noChangeArrowheads="1"/>
              </p:cNvSpPr>
              <p:nvPr/>
            </p:nvSpPr>
            <p:spPr bwMode="auto">
              <a:xfrm>
                <a:off x="1985" y="525"/>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77" name="Oval 51"/>
              <p:cNvSpPr>
                <a:spLocks noChangeArrowheads="1"/>
              </p:cNvSpPr>
              <p:nvPr/>
            </p:nvSpPr>
            <p:spPr bwMode="auto">
              <a:xfrm>
                <a:off x="1191" y="525"/>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7426" name="Line 52"/>
              <p:cNvSpPr>
                <a:spLocks noChangeShapeType="1"/>
              </p:cNvSpPr>
              <p:nvPr/>
            </p:nvSpPr>
            <p:spPr bwMode="auto">
              <a:xfrm flipV="1">
                <a:off x="648" y="761"/>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7" name="Line 53"/>
              <p:cNvSpPr>
                <a:spLocks noChangeShapeType="1"/>
              </p:cNvSpPr>
              <p:nvPr/>
            </p:nvSpPr>
            <p:spPr bwMode="auto">
              <a:xfrm>
                <a:off x="1442" y="702"/>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8" name="Line 54"/>
              <p:cNvSpPr>
                <a:spLocks noChangeShapeType="1"/>
              </p:cNvSpPr>
              <p:nvPr/>
            </p:nvSpPr>
            <p:spPr bwMode="auto">
              <a:xfrm>
                <a:off x="2183" y="761"/>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9" name="Line 55"/>
              <p:cNvSpPr>
                <a:spLocks noChangeShapeType="1"/>
              </p:cNvSpPr>
              <p:nvPr/>
            </p:nvSpPr>
            <p:spPr bwMode="auto">
              <a:xfrm>
                <a:off x="596" y="1235"/>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0" name="Line 56"/>
              <p:cNvSpPr>
                <a:spLocks noChangeShapeType="1"/>
              </p:cNvSpPr>
              <p:nvPr/>
            </p:nvSpPr>
            <p:spPr bwMode="auto">
              <a:xfrm>
                <a:off x="1442" y="1589"/>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1" name="Line 57"/>
              <p:cNvSpPr>
                <a:spLocks noChangeShapeType="1"/>
              </p:cNvSpPr>
              <p:nvPr/>
            </p:nvSpPr>
            <p:spPr bwMode="auto">
              <a:xfrm flipV="1">
                <a:off x="2235" y="1235"/>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2" name="Line 58"/>
              <p:cNvSpPr>
                <a:spLocks noChangeShapeType="1"/>
              </p:cNvSpPr>
              <p:nvPr/>
            </p:nvSpPr>
            <p:spPr bwMode="auto">
              <a:xfrm>
                <a:off x="1230"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3" name="Line 59"/>
              <p:cNvSpPr>
                <a:spLocks noChangeShapeType="1"/>
              </p:cNvSpPr>
              <p:nvPr/>
            </p:nvSpPr>
            <p:spPr bwMode="auto">
              <a:xfrm flipV="1">
                <a:off x="1389"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4" name="Line 60"/>
              <p:cNvSpPr>
                <a:spLocks noChangeShapeType="1"/>
              </p:cNvSpPr>
              <p:nvPr/>
            </p:nvSpPr>
            <p:spPr bwMode="auto">
              <a:xfrm flipV="1">
                <a:off x="2130"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5" name="Line 61"/>
              <p:cNvSpPr>
                <a:spLocks noChangeShapeType="1"/>
              </p:cNvSpPr>
              <p:nvPr/>
            </p:nvSpPr>
            <p:spPr bwMode="auto">
              <a:xfrm flipH="1">
                <a:off x="1442" y="820"/>
                <a:ext cx="582" cy="651"/>
              </a:xfrm>
              <a:prstGeom prst="line">
                <a:avLst/>
              </a:prstGeom>
              <a:noFill/>
              <a:ln w="381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6" name="Text Box 62"/>
              <p:cNvSpPr txBox="1">
                <a:spLocks noChangeArrowheads="1"/>
              </p:cNvSpPr>
              <p:nvPr/>
            </p:nvSpPr>
            <p:spPr bwMode="auto">
              <a:xfrm>
                <a:off x="490" y="584"/>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7437" name="Text Box 63"/>
              <p:cNvSpPr txBox="1">
                <a:spLocks noChangeArrowheads="1"/>
              </p:cNvSpPr>
              <p:nvPr/>
            </p:nvSpPr>
            <p:spPr bwMode="auto">
              <a:xfrm>
                <a:off x="490" y="1352"/>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8/13</a:t>
                </a:r>
              </a:p>
            </p:txBody>
          </p:sp>
          <p:sp>
            <p:nvSpPr>
              <p:cNvPr id="17438" name="Text Box 64"/>
              <p:cNvSpPr txBox="1">
                <a:spLocks noChangeArrowheads="1"/>
              </p:cNvSpPr>
              <p:nvPr/>
            </p:nvSpPr>
            <p:spPr bwMode="auto">
              <a:xfrm>
                <a:off x="1444" y="288"/>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12/12</a:t>
                </a:r>
              </a:p>
            </p:txBody>
          </p:sp>
          <p:sp>
            <p:nvSpPr>
              <p:cNvPr id="17439" name="Text Box 65"/>
              <p:cNvSpPr txBox="1">
                <a:spLocks noChangeArrowheads="1"/>
              </p:cNvSpPr>
              <p:nvPr/>
            </p:nvSpPr>
            <p:spPr bwMode="auto">
              <a:xfrm>
                <a:off x="913" y="99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7440" name="Text Box 66"/>
              <p:cNvSpPr txBox="1">
                <a:spLocks noChangeArrowheads="1"/>
              </p:cNvSpPr>
              <p:nvPr/>
            </p:nvSpPr>
            <p:spPr bwMode="auto">
              <a:xfrm>
                <a:off x="1336" y="998"/>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1/4</a:t>
                </a:r>
              </a:p>
            </p:txBody>
          </p:sp>
          <p:sp>
            <p:nvSpPr>
              <p:cNvPr id="17441" name="Text Box 67"/>
              <p:cNvSpPr txBox="1">
                <a:spLocks noChangeArrowheads="1"/>
              </p:cNvSpPr>
              <p:nvPr/>
            </p:nvSpPr>
            <p:spPr bwMode="auto">
              <a:xfrm>
                <a:off x="2341" y="584"/>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15/20</a:t>
                </a:r>
              </a:p>
            </p:txBody>
          </p:sp>
          <p:sp>
            <p:nvSpPr>
              <p:cNvPr id="17442" name="Text Box 68"/>
              <p:cNvSpPr txBox="1">
                <a:spLocks noChangeArrowheads="1"/>
              </p:cNvSpPr>
              <p:nvPr/>
            </p:nvSpPr>
            <p:spPr bwMode="auto">
              <a:xfrm>
                <a:off x="2394" y="1352"/>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7443" name="Text Box 69"/>
              <p:cNvSpPr txBox="1">
                <a:spLocks noChangeArrowheads="1"/>
              </p:cNvSpPr>
              <p:nvPr/>
            </p:nvSpPr>
            <p:spPr bwMode="auto">
              <a:xfrm>
                <a:off x="2119" y="971"/>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7444" name="Text Box 70"/>
              <p:cNvSpPr txBox="1">
                <a:spLocks noChangeArrowheads="1"/>
              </p:cNvSpPr>
              <p:nvPr/>
            </p:nvSpPr>
            <p:spPr bwMode="auto">
              <a:xfrm>
                <a:off x="1444" y="1649"/>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7417" name="TextBox 96"/>
          <p:cNvSpPr txBox="1">
            <a:spLocks noChangeArrowheads="1"/>
          </p:cNvSpPr>
          <p:nvPr/>
        </p:nvSpPr>
        <p:spPr bwMode="auto">
          <a:xfrm>
            <a:off x="6872287" y="1727200"/>
            <a:ext cx="2092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dirty="0">
                <a:solidFill>
                  <a:schemeClr val="tx1"/>
                </a:solidFill>
                <a:ea typeface="宋体" charset="-122"/>
              </a:rPr>
              <a:t>当前流量</a:t>
            </a:r>
            <a:r>
              <a:rPr kumimoji="0" lang="en-US" altLang="zh-CN" b="0" dirty="0">
                <a:solidFill>
                  <a:schemeClr val="tx1"/>
                </a:solidFill>
                <a:ea typeface="宋体" charset="-122"/>
              </a:rPr>
              <a:t>=19</a:t>
            </a:r>
            <a:endParaRPr kumimoji="0" lang="zh-CN" altLang="en-US" b="0" dirty="0">
              <a:solidFill>
                <a:schemeClr val="tx1"/>
              </a:solidFill>
              <a:ea typeface="宋体" charset="-122"/>
            </a:endParaRPr>
          </a:p>
        </p:txBody>
      </p:sp>
    </p:spTree>
    <p:extLst>
      <p:ext uri="{BB962C8B-B14F-4D97-AF65-F5344CB8AC3E}">
        <p14:creationId xmlns:p14="http://schemas.microsoft.com/office/powerpoint/2010/main" val="157162214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3E0D697C-18AD-490E-9987-C0672A6BCBDF}" type="slidenum">
              <a:rPr kumimoji="0" lang="en-US" altLang="zh-CN" b="0">
                <a:solidFill>
                  <a:schemeClr val="tx1"/>
                </a:solidFill>
                <a:ea typeface="宋体" charset="-122"/>
              </a:rPr>
              <a:pPr algn="ctr">
                <a:spcBef>
                  <a:spcPct val="0"/>
                </a:spcBef>
                <a:buClrTx/>
                <a:buSzTx/>
                <a:buFontTx/>
                <a:buNone/>
              </a:pPr>
              <a:t>93</a:t>
            </a:fld>
            <a:endParaRPr kumimoji="0" lang="en-US" altLang="zh-CN" b="0">
              <a:solidFill>
                <a:schemeClr val="tx1"/>
              </a:solidFill>
              <a:ea typeface="宋体" charset="-122"/>
            </a:endParaRPr>
          </a:p>
        </p:txBody>
      </p:sp>
      <p:grpSp>
        <p:nvGrpSpPr>
          <p:cNvPr id="18435" name="Group 36"/>
          <p:cNvGrpSpPr>
            <a:grpSpLocks/>
          </p:cNvGrpSpPr>
          <p:nvPr/>
        </p:nvGrpSpPr>
        <p:grpSpPr bwMode="auto">
          <a:xfrm>
            <a:off x="4585911" y="3173413"/>
            <a:ext cx="4114800" cy="2514600"/>
            <a:chOff x="384" y="1344"/>
            <a:chExt cx="2592" cy="1584"/>
          </a:xfrm>
        </p:grpSpPr>
        <p:grpSp>
          <p:nvGrpSpPr>
            <p:cNvPr id="18466" name="Group 2"/>
            <p:cNvGrpSpPr>
              <a:grpSpLocks/>
            </p:cNvGrpSpPr>
            <p:nvPr/>
          </p:nvGrpSpPr>
          <p:grpSpPr bwMode="auto">
            <a:xfrm>
              <a:off x="384" y="1344"/>
              <a:ext cx="2592" cy="1584"/>
              <a:chOff x="2976" y="2448"/>
              <a:chExt cx="2592" cy="1584"/>
            </a:xfrm>
          </p:grpSpPr>
          <p:sp>
            <p:nvSpPr>
              <p:cNvPr id="48131" name="Oval 3"/>
              <p:cNvSpPr>
                <a:spLocks noChangeArrowheads="1"/>
              </p:cNvSpPr>
              <p:nvPr/>
            </p:nvSpPr>
            <p:spPr bwMode="auto">
              <a:xfrm>
                <a:off x="2976" y="3003"/>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8132" name="Oval 4"/>
              <p:cNvSpPr>
                <a:spLocks noChangeArrowheads="1"/>
              </p:cNvSpPr>
              <p:nvPr/>
            </p:nvSpPr>
            <p:spPr bwMode="auto">
              <a:xfrm>
                <a:off x="3769" y="3535"/>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8133" name="Oval 5"/>
              <p:cNvSpPr>
                <a:spLocks noChangeArrowheads="1"/>
              </p:cNvSpPr>
              <p:nvPr/>
            </p:nvSpPr>
            <p:spPr bwMode="auto">
              <a:xfrm>
                <a:off x="4563" y="353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8134" name="Oval 6"/>
              <p:cNvSpPr>
                <a:spLocks noChangeArrowheads="1"/>
              </p:cNvSpPr>
              <p:nvPr/>
            </p:nvSpPr>
            <p:spPr bwMode="auto">
              <a:xfrm>
                <a:off x="5304" y="3062"/>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8135" name="Oval 7"/>
              <p:cNvSpPr>
                <a:spLocks noChangeArrowheads="1"/>
              </p:cNvSpPr>
              <p:nvPr/>
            </p:nvSpPr>
            <p:spPr bwMode="auto">
              <a:xfrm>
                <a:off x="4563" y="2589"/>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3</a:t>
                </a:r>
                <a:endParaRPr lang="en-US" altLang="zh-CN">
                  <a:ea typeface="宋体" charset="-122"/>
                </a:endParaRPr>
              </a:p>
            </p:txBody>
          </p:sp>
          <p:sp>
            <p:nvSpPr>
              <p:cNvPr id="48136" name="Oval 8"/>
              <p:cNvSpPr>
                <a:spLocks noChangeArrowheads="1"/>
              </p:cNvSpPr>
              <p:nvPr/>
            </p:nvSpPr>
            <p:spPr bwMode="auto">
              <a:xfrm>
                <a:off x="3769" y="2589"/>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8474" name="Line 9"/>
              <p:cNvSpPr>
                <a:spLocks noChangeShapeType="1"/>
              </p:cNvSpPr>
              <p:nvPr/>
            </p:nvSpPr>
            <p:spPr bwMode="auto">
              <a:xfrm flipV="1">
                <a:off x="3216" y="2736"/>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5" name="Line 10"/>
              <p:cNvSpPr>
                <a:spLocks noChangeShapeType="1"/>
              </p:cNvSpPr>
              <p:nvPr/>
            </p:nvSpPr>
            <p:spPr bwMode="auto">
              <a:xfrm>
                <a:off x="4848" y="2784"/>
                <a:ext cx="52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6" name="Line 11"/>
              <p:cNvSpPr>
                <a:spLocks noChangeShapeType="1"/>
              </p:cNvSpPr>
              <p:nvPr/>
            </p:nvSpPr>
            <p:spPr bwMode="auto">
              <a:xfrm>
                <a:off x="3216" y="3264"/>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7" name="Line 12"/>
              <p:cNvSpPr>
                <a:spLocks noChangeShapeType="1"/>
              </p:cNvSpPr>
              <p:nvPr/>
            </p:nvSpPr>
            <p:spPr bwMode="auto">
              <a:xfrm>
                <a:off x="4034" y="3653"/>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8" name="Line 13"/>
              <p:cNvSpPr>
                <a:spLocks noChangeShapeType="1"/>
              </p:cNvSpPr>
              <p:nvPr/>
            </p:nvSpPr>
            <p:spPr bwMode="auto">
              <a:xfrm>
                <a:off x="3822" y="28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9" name="Line 14"/>
              <p:cNvSpPr>
                <a:spLocks noChangeShapeType="1"/>
              </p:cNvSpPr>
              <p:nvPr/>
            </p:nvSpPr>
            <p:spPr bwMode="auto">
              <a:xfrm flipV="1">
                <a:off x="3981" y="28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0" name="Line 15"/>
              <p:cNvSpPr>
                <a:spLocks noChangeShapeType="1"/>
              </p:cNvSpPr>
              <p:nvPr/>
            </p:nvSpPr>
            <p:spPr bwMode="auto">
              <a:xfrm flipH="1">
                <a:off x="4032" y="2880"/>
                <a:ext cx="624" cy="69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1" name="Text Box 16"/>
              <p:cNvSpPr txBox="1">
                <a:spLocks noChangeArrowheads="1"/>
              </p:cNvSpPr>
              <p:nvPr/>
            </p:nvSpPr>
            <p:spPr bwMode="auto">
              <a:xfrm>
                <a:off x="3312"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18482" name="Text Box 17"/>
              <p:cNvSpPr txBox="1">
                <a:spLocks noChangeArrowheads="1"/>
              </p:cNvSpPr>
              <p:nvPr/>
            </p:nvSpPr>
            <p:spPr bwMode="auto">
              <a:xfrm>
                <a:off x="3264" y="345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8483" name="Text Box 18"/>
              <p:cNvSpPr txBox="1">
                <a:spLocks noChangeArrowheads="1"/>
              </p:cNvSpPr>
              <p:nvPr/>
            </p:nvSpPr>
            <p:spPr bwMode="auto">
              <a:xfrm>
                <a:off x="4128" y="2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8484" name="Text Box 19"/>
              <p:cNvSpPr txBox="1">
                <a:spLocks noChangeArrowheads="1"/>
              </p:cNvSpPr>
              <p:nvPr/>
            </p:nvSpPr>
            <p:spPr bwMode="auto">
              <a:xfrm>
                <a:off x="3552" y="307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8485" name="Text Box 20"/>
              <p:cNvSpPr txBox="1">
                <a:spLocks noChangeArrowheads="1"/>
              </p:cNvSpPr>
              <p:nvPr/>
            </p:nvSpPr>
            <p:spPr bwMode="auto">
              <a:xfrm>
                <a:off x="3936" y="30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8486" name="Text Box 21"/>
              <p:cNvSpPr txBox="1">
                <a:spLocks noChangeArrowheads="1"/>
              </p:cNvSpPr>
              <p:nvPr/>
            </p:nvSpPr>
            <p:spPr bwMode="auto">
              <a:xfrm>
                <a:off x="4992"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a:t>
                </a:r>
              </a:p>
            </p:txBody>
          </p:sp>
          <p:sp>
            <p:nvSpPr>
              <p:cNvPr id="18487" name="Text Box 22"/>
              <p:cNvSpPr txBox="1">
                <a:spLocks noChangeArrowheads="1"/>
              </p:cNvSpPr>
              <p:nvPr/>
            </p:nvSpPr>
            <p:spPr bwMode="auto">
              <a:xfrm>
                <a:off x="4986" y="341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8488" name="Text Box 23"/>
              <p:cNvSpPr txBox="1">
                <a:spLocks noChangeArrowheads="1"/>
              </p:cNvSpPr>
              <p:nvPr/>
            </p:nvSpPr>
            <p:spPr bwMode="auto">
              <a:xfrm>
                <a:off x="4128" y="374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8489" name="Line 24"/>
              <p:cNvSpPr>
                <a:spLocks noChangeShapeType="1"/>
              </p:cNvSpPr>
              <p:nvPr/>
            </p:nvSpPr>
            <p:spPr bwMode="auto">
              <a:xfrm flipH="1">
                <a:off x="4032" y="2736"/>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0" name="Line 25"/>
              <p:cNvSpPr>
                <a:spLocks noChangeShapeType="1"/>
              </p:cNvSpPr>
              <p:nvPr/>
            </p:nvSpPr>
            <p:spPr bwMode="auto">
              <a:xfrm flipH="1">
                <a:off x="4800" y="3264"/>
                <a:ext cx="528"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1" name="Text Box 26"/>
              <p:cNvSpPr txBox="1">
                <a:spLocks noChangeArrowheads="1"/>
              </p:cNvSpPr>
              <p:nvPr/>
            </p:nvSpPr>
            <p:spPr bwMode="auto">
              <a:xfrm>
                <a:off x="4368" y="3120"/>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9</a:t>
                </a:r>
              </a:p>
            </p:txBody>
          </p:sp>
          <p:sp>
            <p:nvSpPr>
              <p:cNvPr id="18492" name="Line 27"/>
              <p:cNvSpPr>
                <a:spLocks noChangeShapeType="1"/>
              </p:cNvSpPr>
              <p:nvPr/>
            </p:nvSpPr>
            <p:spPr bwMode="auto">
              <a:xfrm flipH="1">
                <a:off x="4032" y="3744"/>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3" name="Text Box 28"/>
              <p:cNvSpPr txBox="1">
                <a:spLocks noChangeArrowheads="1"/>
              </p:cNvSpPr>
              <p:nvPr/>
            </p:nvSpPr>
            <p:spPr bwMode="auto">
              <a:xfrm>
                <a:off x="4224" y="34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8494" name="Line 29"/>
              <p:cNvSpPr>
                <a:spLocks noChangeShapeType="1"/>
              </p:cNvSpPr>
              <p:nvPr/>
            </p:nvSpPr>
            <p:spPr bwMode="auto">
              <a:xfrm flipH="1" flipV="1">
                <a:off x="3168" y="3312"/>
                <a:ext cx="576"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5" name="Text Box 30"/>
              <p:cNvSpPr txBox="1">
                <a:spLocks noChangeArrowheads="1"/>
              </p:cNvSpPr>
              <p:nvPr/>
            </p:nvSpPr>
            <p:spPr bwMode="auto">
              <a:xfrm>
                <a:off x="3360" y="312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a:t>
                </a:r>
              </a:p>
            </p:txBody>
          </p:sp>
          <p:sp>
            <p:nvSpPr>
              <p:cNvPr id="18496" name="Line 31"/>
              <p:cNvSpPr>
                <a:spLocks noChangeShapeType="1"/>
              </p:cNvSpPr>
              <p:nvPr/>
            </p:nvSpPr>
            <p:spPr bwMode="auto">
              <a:xfrm flipH="1" flipV="1">
                <a:off x="4800" y="2832"/>
                <a:ext cx="52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7" name="Text Box 32"/>
              <p:cNvSpPr txBox="1">
                <a:spLocks noChangeArrowheads="1"/>
              </p:cNvSpPr>
              <p:nvPr/>
            </p:nvSpPr>
            <p:spPr bwMode="auto">
              <a:xfrm>
                <a:off x="4896" y="297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19</a:t>
                </a:r>
              </a:p>
            </p:txBody>
          </p:sp>
          <p:sp>
            <p:nvSpPr>
              <p:cNvPr id="18498" name="Line 33"/>
              <p:cNvSpPr>
                <a:spLocks noChangeShapeType="1"/>
              </p:cNvSpPr>
              <p:nvPr/>
            </p:nvSpPr>
            <p:spPr bwMode="auto">
              <a:xfrm flipH="1">
                <a:off x="3264" y="2832"/>
                <a:ext cx="52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9" name="Line 34"/>
              <p:cNvSpPr>
                <a:spLocks noChangeShapeType="1"/>
              </p:cNvSpPr>
              <p:nvPr/>
            </p:nvSpPr>
            <p:spPr bwMode="auto">
              <a:xfrm>
                <a:off x="4704" y="2880"/>
                <a:ext cx="0"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467" name="Text Box 35"/>
            <p:cNvSpPr txBox="1">
              <a:spLocks noChangeArrowheads="1"/>
            </p:cNvSpPr>
            <p:nvPr/>
          </p:nvSpPr>
          <p:spPr bwMode="auto">
            <a:xfrm>
              <a:off x="2102" y="194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grpSp>
      <p:sp>
        <p:nvSpPr>
          <p:cNvPr id="18436" name="Text Box 37"/>
          <p:cNvSpPr txBox="1">
            <a:spLocks noChangeArrowheads="1"/>
          </p:cNvSpPr>
          <p:nvPr/>
        </p:nvSpPr>
        <p:spPr bwMode="auto">
          <a:xfrm>
            <a:off x="5158998" y="5684838"/>
            <a:ext cx="26812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(e)</a:t>
            </a:r>
            <a:r>
              <a:rPr kumimoji="0" lang="zh-CN" altLang="en-US" b="0">
                <a:solidFill>
                  <a:schemeClr val="tx1"/>
                </a:solidFill>
                <a:ea typeface="宋体" charset="-122"/>
              </a:rPr>
              <a:t>不存在增益路径</a:t>
            </a:r>
            <a:endParaRPr kumimoji="0" lang="en-US" altLang="zh-CN" b="0">
              <a:solidFill>
                <a:schemeClr val="tx1"/>
              </a:solidFill>
              <a:ea typeface="宋体" charset="-122"/>
            </a:endParaRPr>
          </a:p>
        </p:txBody>
      </p:sp>
      <p:grpSp>
        <p:nvGrpSpPr>
          <p:cNvPr id="18437" name="Group 71"/>
          <p:cNvGrpSpPr>
            <a:grpSpLocks/>
          </p:cNvGrpSpPr>
          <p:nvPr/>
        </p:nvGrpSpPr>
        <p:grpSpPr bwMode="auto">
          <a:xfrm>
            <a:off x="233363" y="1393826"/>
            <a:ext cx="4089400" cy="2617787"/>
            <a:chOff x="256" y="2256"/>
            <a:chExt cx="2576" cy="1649"/>
          </a:xfrm>
        </p:grpSpPr>
        <p:sp>
          <p:nvSpPr>
            <p:cNvPr id="18439" name="Text Box 72"/>
            <p:cNvSpPr txBox="1">
              <a:spLocks noChangeArrowheads="1"/>
            </p:cNvSpPr>
            <p:nvPr/>
          </p:nvSpPr>
          <p:spPr bwMode="auto">
            <a:xfrm>
              <a:off x="1512" y="3054"/>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9</a:t>
              </a:r>
            </a:p>
          </p:txBody>
        </p:sp>
        <p:grpSp>
          <p:nvGrpSpPr>
            <p:cNvPr id="18440" name="Group 73"/>
            <p:cNvGrpSpPr>
              <a:grpSpLocks/>
            </p:cNvGrpSpPr>
            <p:nvPr/>
          </p:nvGrpSpPr>
          <p:grpSpPr bwMode="auto">
            <a:xfrm>
              <a:off x="256" y="2256"/>
              <a:ext cx="2576" cy="1649"/>
              <a:chOff x="256" y="2256"/>
              <a:chExt cx="2576" cy="1649"/>
            </a:xfrm>
          </p:grpSpPr>
          <p:sp>
            <p:nvSpPr>
              <p:cNvPr id="42" name="Oval 74"/>
              <p:cNvSpPr>
                <a:spLocks noChangeArrowheads="1"/>
              </p:cNvSpPr>
              <p:nvPr/>
            </p:nvSpPr>
            <p:spPr bwMode="auto">
              <a:xfrm>
                <a:off x="256" y="290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3" name="Oval 75"/>
              <p:cNvSpPr>
                <a:spLocks noChangeArrowheads="1"/>
              </p:cNvSpPr>
              <p:nvPr/>
            </p:nvSpPr>
            <p:spPr bwMode="auto">
              <a:xfrm>
                <a:off x="1033" y="3439"/>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4" name="Oval 76"/>
              <p:cNvSpPr>
                <a:spLocks noChangeArrowheads="1"/>
              </p:cNvSpPr>
              <p:nvPr/>
            </p:nvSpPr>
            <p:spPr bwMode="auto">
              <a:xfrm>
                <a:off x="1827" y="3439"/>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4</a:t>
                </a:r>
                <a:endParaRPr lang="en-US" altLang="zh-CN">
                  <a:ea typeface="宋体" charset="-122"/>
                </a:endParaRPr>
              </a:p>
            </p:txBody>
          </p:sp>
          <p:sp>
            <p:nvSpPr>
              <p:cNvPr id="45" name="Oval 77"/>
              <p:cNvSpPr>
                <a:spLocks noChangeArrowheads="1"/>
              </p:cNvSpPr>
              <p:nvPr/>
            </p:nvSpPr>
            <p:spPr bwMode="auto">
              <a:xfrm>
                <a:off x="2568" y="2966"/>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t</a:t>
                </a:r>
              </a:p>
            </p:txBody>
          </p:sp>
          <p:sp>
            <p:nvSpPr>
              <p:cNvPr id="46" name="Oval 78"/>
              <p:cNvSpPr>
                <a:spLocks noChangeArrowheads="1"/>
              </p:cNvSpPr>
              <p:nvPr/>
            </p:nvSpPr>
            <p:spPr bwMode="auto">
              <a:xfrm>
                <a:off x="1843" y="2493"/>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7" name="Oval 79"/>
              <p:cNvSpPr>
                <a:spLocks noChangeArrowheads="1"/>
              </p:cNvSpPr>
              <p:nvPr/>
            </p:nvSpPr>
            <p:spPr bwMode="auto">
              <a:xfrm>
                <a:off x="1049" y="2493"/>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1</a:t>
                </a:r>
                <a:endParaRPr lang="en-US" altLang="zh-CN">
                  <a:ea typeface="宋体" charset="-122"/>
                </a:endParaRPr>
              </a:p>
            </p:txBody>
          </p:sp>
          <p:sp>
            <p:nvSpPr>
              <p:cNvPr id="18447" name="Line 80"/>
              <p:cNvSpPr>
                <a:spLocks noChangeShapeType="1"/>
              </p:cNvSpPr>
              <p:nvPr/>
            </p:nvSpPr>
            <p:spPr bwMode="auto">
              <a:xfrm flipV="1">
                <a:off x="504" y="2729"/>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8" name="Line 81"/>
              <p:cNvSpPr>
                <a:spLocks noChangeShapeType="1"/>
              </p:cNvSpPr>
              <p:nvPr/>
            </p:nvSpPr>
            <p:spPr bwMode="auto">
              <a:xfrm>
                <a:off x="1298" y="2670"/>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9" name="Line 82"/>
              <p:cNvSpPr>
                <a:spLocks noChangeShapeType="1"/>
              </p:cNvSpPr>
              <p:nvPr/>
            </p:nvSpPr>
            <p:spPr bwMode="auto">
              <a:xfrm>
                <a:off x="2039" y="2729"/>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0" name="Line 83"/>
              <p:cNvSpPr>
                <a:spLocks noChangeShapeType="1"/>
              </p:cNvSpPr>
              <p:nvPr/>
            </p:nvSpPr>
            <p:spPr bwMode="auto">
              <a:xfrm>
                <a:off x="452" y="3203"/>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1" name="Line 84"/>
              <p:cNvSpPr>
                <a:spLocks noChangeShapeType="1"/>
              </p:cNvSpPr>
              <p:nvPr/>
            </p:nvSpPr>
            <p:spPr bwMode="auto">
              <a:xfrm>
                <a:off x="1298" y="3557"/>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2" name="Line 85"/>
              <p:cNvSpPr>
                <a:spLocks noChangeShapeType="1"/>
              </p:cNvSpPr>
              <p:nvPr/>
            </p:nvSpPr>
            <p:spPr bwMode="auto">
              <a:xfrm flipV="1">
                <a:off x="2091" y="3203"/>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3" name="Line 86"/>
              <p:cNvSpPr>
                <a:spLocks noChangeShapeType="1"/>
              </p:cNvSpPr>
              <p:nvPr/>
            </p:nvSpPr>
            <p:spPr bwMode="auto">
              <a:xfrm>
                <a:off x="1086"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4" name="Line 87"/>
              <p:cNvSpPr>
                <a:spLocks noChangeShapeType="1"/>
              </p:cNvSpPr>
              <p:nvPr/>
            </p:nvSpPr>
            <p:spPr bwMode="auto">
              <a:xfrm flipV="1">
                <a:off x="1245"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5" name="Line 88"/>
              <p:cNvSpPr>
                <a:spLocks noChangeShapeType="1"/>
              </p:cNvSpPr>
              <p:nvPr/>
            </p:nvSpPr>
            <p:spPr bwMode="auto">
              <a:xfrm flipV="1">
                <a:off x="1986"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6" name="Line 89"/>
              <p:cNvSpPr>
                <a:spLocks noChangeShapeType="1"/>
              </p:cNvSpPr>
              <p:nvPr/>
            </p:nvSpPr>
            <p:spPr bwMode="auto">
              <a:xfrm flipH="1">
                <a:off x="1298" y="2788"/>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7" name="Text Box 90"/>
              <p:cNvSpPr txBox="1">
                <a:spLocks noChangeArrowheads="1"/>
              </p:cNvSpPr>
              <p:nvPr/>
            </p:nvSpPr>
            <p:spPr bwMode="auto">
              <a:xfrm>
                <a:off x="346" y="2552"/>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8458" name="Text Box 91"/>
              <p:cNvSpPr txBox="1">
                <a:spLocks noChangeArrowheads="1"/>
              </p:cNvSpPr>
              <p:nvPr/>
            </p:nvSpPr>
            <p:spPr bwMode="auto">
              <a:xfrm>
                <a:off x="346" y="3320"/>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12/13</a:t>
                </a:r>
              </a:p>
            </p:txBody>
          </p:sp>
          <p:sp>
            <p:nvSpPr>
              <p:cNvPr id="18459" name="Text Box 92"/>
              <p:cNvSpPr txBox="1">
                <a:spLocks noChangeArrowheads="1"/>
              </p:cNvSpPr>
              <p:nvPr/>
            </p:nvSpPr>
            <p:spPr bwMode="auto">
              <a:xfrm>
                <a:off x="1300" y="2256"/>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12/12</a:t>
                </a:r>
              </a:p>
            </p:txBody>
          </p:sp>
          <p:sp>
            <p:nvSpPr>
              <p:cNvPr id="18460" name="Text Box 93"/>
              <p:cNvSpPr txBox="1">
                <a:spLocks noChangeArrowheads="1"/>
              </p:cNvSpPr>
              <p:nvPr/>
            </p:nvSpPr>
            <p:spPr bwMode="auto">
              <a:xfrm>
                <a:off x="769" y="296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8461" name="Text Box 94"/>
              <p:cNvSpPr txBox="1">
                <a:spLocks noChangeArrowheads="1"/>
              </p:cNvSpPr>
              <p:nvPr/>
            </p:nvSpPr>
            <p:spPr bwMode="auto">
              <a:xfrm>
                <a:off x="1192" y="296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1/4</a:t>
                </a:r>
              </a:p>
            </p:txBody>
          </p:sp>
          <p:sp>
            <p:nvSpPr>
              <p:cNvPr id="18462" name="Text Box 95"/>
              <p:cNvSpPr txBox="1">
                <a:spLocks noChangeArrowheads="1"/>
              </p:cNvSpPr>
              <p:nvPr/>
            </p:nvSpPr>
            <p:spPr bwMode="auto">
              <a:xfrm>
                <a:off x="2197" y="2552"/>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19/20</a:t>
                </a:r>
              </a:p>
            </p:txBody>
          </p:sp>
          <p:sp>
            <p:nvSpPr>
              <p:cNvPr id="18463" name="Text Box 96"/>
              <p:cNvSpPr txBox="1">
                <a:spLocks noChangeArrowheads="1"/>
              </p:cNvSpPr>
              <p:nvPr/>
            </p:nvSpPr>
            <p:spPr bwMode="auto">
              <a:xfrm>
                <a:off x="2250" y="3320"/>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8464" name="Text Box 97"/>
              <p:cNvSpPr txBox="1">
                <a:spLocks noChangeArrowheads="1"/>
              </p:cNvSpPr>
              <p:nvPr/>
            </p:nvSpPr>
            <p:spPr bwMode="auto">
              <a:xfrm>
                <a:off x="1975" y="2939"/>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8465" name="Text Box 98"/>
              <p:cNvSpPr txBox="1">
                <a:spLocks noChangeArrowheads="1"/>
              </p:cNvSpPr>
              <p:nvPr/>
            </p:nvSpPr>
            <p:spPr bwMode="auto">
              <a:xfrm>
                <a:off x="1300" y="3617"/>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8438" name="TextBox 66"/>
          <p:cNvSpPr txBox="1">
            <a:spLocks noChangeArrowheads="1"/>
          </p:cNvSpPr>
          <p:nvPr/>
        </p:nvSpPr>
        <p:spPr bwMode="auto">
          <a:xfrm>
            <a:off x="6147681" y="1693541"/>
            <a:ext cx="2092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dirty="0">
                <a:solidFill>
                  <a:schemeClr val="tx1"/>
                </a:solidFill>
                <a:ea typeface="宋体" charset="-122"/>
              </a:rPr>
              <a:t>当前流量</a:t>
            </a:r>
            <a:r>
              <a:rPr kumimoji="0" lang="en-US" altLang="zh-CN" b="0" dirty="0">
                <a:solidFill>
                  <a:schemeClr val="tx1"/>
                </a:solidFill>
                <a:ea typeface="宋体" charset="-122"/>
              </a:rPr>
              <a:t>=23</a:t>
            </a:r>
            <a:endParaRPr kumimoji="0" lang="zh-CN" altLang="en-US" b="0" dirty="0">
              <a:solidFill>
                <a:schemeClr val="tx1"/>
              </a:solidFill>
              <a:ea typeface="宋体" charset="-122"/>
            </a:endParaRPr>
          </a:p>
        </p:txBody>
      </p:sp>
    </p:spTree>
    <p:extLst>
      <p:ext uri="{BB962C8B-B14F-4D97-AF65-F5344CB8AC3E}">
        <p14:creationId xmlns:p14="http://schemas.microsoft.com/office/powerpoint/2010/main" val="20001824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en-US" altLang="zh-CN" sz="2400" dirty="0">
                <a:latin typeface="+mj-lt"/>
                <a:ea typeface="黑体" pitchFamily="2" charset="-122"/>
              </a:rPr>
              <a:t>Ford-Fulkerson</a:t>
            </a:r>
            <a:r>
              <a:rPr lang="zh-CN" altLang="en-US" sz="2400" dirty="0">
                <a:latin typeface="+mj-lt"/>
                <a:ea typeface="黑体" pitchFamily="2" charset="-122"/>
              </a:rPr>
              <a:t>方法沿增广路径反复增加流，直到找出最大流为止。</a:t>
            </a:r>
            <a:endParaRPr lang="en-US" altLang="zh-CN" sz="2400" dirty="0">
              <a:latin typeface="+mj-lt"/>
              <a:ea typeface="黑体" pitchFamily="2" charset="-122"/>
            </a:endParaRPr>
          </a:p>
          <a:p>
            <a:r>
              <a:rPr lang="zh-CN" altLang="en-US" sz="2400" i="1" dirty="0">
                <a:solidFill>
                  <a:srgbClr val="C00000"/>
                </a:solidFill>
                <a:latin typeface="+mj-lt"/>
                <a:ea typeface="黑体" pitchFamily="2" charset="-122"/>
              </a:rPr>
              <a:t>最大流最小割定理</a:t>
            </a:r>
            <a:r>
              <a:rPr lang="zh-CN" altLang="en-US" sz="2400" dirty="0">
                <a:latin typeface="+mj-lt"/>
                <a:ea typeface="黑体" pitchFamily="2" charset="-122"/>
              </a:rPr>
              <a:t>告诉我们：一个流是最大流，当且仅当它的残留网络中不包含增广路径。</a:t>
            </a:r>
            <a:endParaRPr lang="en-US" altLang="zh-CN" sz="2400" dirty="0">
              <a:latin typeface="+mj-lt"/>
              <a:ea typeface="黑体" pitchFamily="2" charset="-122"/>
            </a:endParaRPr>
          </a:p>
          <a:p>
            <a:r>
              <a:rPr lang="zh-CN" altLang="en-US" sz="2400" dirty="0">
                <a:latin typeface="+mj-lt"/>
                <a:ea typeface="黑体" pitchFamily="2" charset="-122"/>
              </a:rPr>
              <a:t>流网络</a:t>
            </a:r>
            <a:r>
              <a:rPr lang="en-US" altLang="zh-CN" sz="2400" i="1" dirty="0">
                <a:latin typeface="+mj-lt"/>
                <a:ea typeface="黑体" pitchFamily="2" charset="-122"/>
              </a:rPr>
              <a:t>G=(V,E)</a:t>
            </a:r>
            <a:r>
              <a:rPr lang="zh-CN" altLang="en-US" sz="2400" dirty="0">
                <a:latin typeface="+mj-lt"/>
                <a:ea typeface="黑体" pitchFamily="2" charset="-122"/>
              </a:rPr>
              <a:t>的</a:t>
            </a:r>
            <a:r>
              <a:rPr lang="zh-CN" altLang="en-US" sz="2400" i="1" dirty="0">
                <a:solidFill>
                  <a:srgbClr val="C00000"/>
                </a:solidFill>
                <a:latin typeface="+mj-lt"/>
                <a:ea typeface="黑体" pitchFamily="2" charset="-122"/>
              </a:rPr>
              <a:t>割</a:t>
            </a:r>
            <a:r>
              <a:rPr lang="en-US" altLang="zh-CN" sz="2400" i="1" dirty="0">
                <a:solidFill>
                  <a:srgbClr val="C00000"/>
                </a:solidFill>
                <a:latin typeface="+mj-lt"/>
                <a:ea typeface="黑体" pitchFamily="2" charset="-122"/>
              </a:rPr>
              <a:t>(S,T)</a:t>
            </a:r>
            <a:r>
              <a:rPr lang="zh-CN" altLang="en-US" sz="2400" dirty="0">
                <a:latin typeface="+mj-lt"/>
                <a:ea typeface="黑体" pitchFamily="2" charset="-122"/>
              </a:rPr>
              <a:t>将</a:t>
            </a:r>
            <a:r>
              <a:rPr lang="en-US" altLang="zh-CN" sz="2400" i="1" dirty="0">
                <a:latin typeface="+mj-lt"/>
                <a:ea typeface="黑体" pitchFamily="2" charset="-122"/>
              </a:rPr>
              <a:t>V</a:t>
            </a:r>
            <a:r>
              <a:rPr lang="zh-CN" altLang="en-US" sz="2400" dirty="0">
                <a:latin typeface="+mj-lt"/>
                <a:ea typeface="黑体" pitchFamily="2" charset="-122"/>
              </a:rPr>
              <a:t>划分为</a:t>
            </a:r>
            <a:r>
              <a:rPr lang="en-US" altLang="zh-CN" sz="2400" i="1" dirty="0">
                <a:latin typeface="+mj-lt"/>
                <a:ea typeface="黑体" pitchFamily="2" charset="-122"/>
              </a:rPr>
              <a:t>S</a:t>
            </a:r>
            <a:r>
              <a:rPr lang="zh-CN" altLang="en-US" sz="2400" dirty="0">
                <a:latin typeface="+mj-lt"/>
                <a:ea typeface="黑体" pitchFamily="2" charset="-122"/>
              </a:rPr>
              <a:t>和</a:t>
            </a:r>
            <a:r>
              <a:rPr lang="en-US" altLang="zh-CN" sz="2400" i="1" dirty="0">
                <a:latin typeface="+mj-lt"/>
                <a:ea typeface="黑体" pitchFamily="2" charset="-122"/>
              </a:rPr>
              <a:t>T=V-S</a:t>
            </a:r>
            <a:r>
              <a:rPr lang="zh-CN" altLang="en-US" sz="2400" dirty="0">
                <a:latin typeface="+mj-lt"/>
                <a:ea typeface="黑体" pitchFamily="2" charset="-122"/>
              </a:rPr>
              <a:t>两部分，使得</a:t>
            </a:r>
            <a:r>
              <a:rPr lang="en-US" altLang="zh-CN" sz="2400" i="1" dirty="0" err="1">
                <a:latin typeface="+mj-lt"/>
                <a:ea typeface="黑体" pitchFamily="2" charset="-122"/>
              </a:rPr>
              <a:t>s∈S</a:t>
            </a:r>
            <a:r>
              <a:rPr lang="en-US" altLang="zh-CN" sz="2400" i="1" dirty="0">
                <a:latin typeface="+mj-lt"/>
                <a:ea typeface="黑体" pitchFamily="2" charset="-122"/>
              </a:rPr>
              <a:t>, </a:t>
            </a:r>
            <a:r>
              <a:rPr lang="en-US" altLang="zh-CN" sz="2400" i="1" dirty="0" err="1">
                <a:latin typeface="+mj-lt"/>
                <a:ea typeface="黑体" pitchFamily="2" charset="-122"/>
              </a:rPr>
              <a:t>t∈T</a:t>
            </a:r>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pic>
        <p:nvPicPr>
          <p:cNvPr id="4" name="Picture 2"/>
          <p:cNvPicPr>
            <a:picLocks noChangeAspect="1" noChangeArrowheads="1"/>
          </p:cNvPicPr>
          <p:nvPr/>
        </p:nvPicPr>
        <p:blipFill>
          <a:blip r:embed="rId3" cstate="print"/>
          <a:srcRect/>
          <a:stretch>
            <a:fillRect/>
          </a:stretch>
        </p:blipFill>
        <p:spPr bwMode="auto">
          <a:xfrm>
            <a:off x="2133600" y="3891130"/>
            <a:ext cx="4959424" cy="2795599"/>
          </a:xfrm>
          <a:prstGeom prst="rect">
            <a:avLst/>
          </a:prstGeom>
          <a:noFill/>
          <a:ln w="9525">
            <a:noFill/>
            <a:miter lim="800000"/>
            <a:headEnd/>
            <a:tailEnd/>
          </a:ln>
        </p:spPr>
      </p:pic>
    </p:spTree>
    <p:extLst>
      <p:ext uri="{BB962C8B-B14F-4D97-AF65-F5344CB8AC3E}">
        <p14:creationId xmlns:p14="http://schemas.microsoft.com/office/powerpoint/2010/main" val="27825296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
        <p:nvSpPr>
          <p:cNvPr id="6" name="内容占位符 2"/>
          <p:cNvSpPr txBox="1">
            <a:spLocks/>
          </p:cNvSpPr>
          <p:nvPr/>
        </p:nvSpPr>
        <p:spPr bwMode="auto">
          <a:xfrm>
            <a:off x="381000" y="1447800"/>
            <a:ext cx="8534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b="0" kern="0" dirty="0">
                <a:ea typeface="黑体" pitchFamily="2" charset="-122"/>
              </a:rPr>
              <a:t>如果</a:t>
            </a:r>
            <a:r>
              <a:rPr lang="en-US" altLang="zh-CN" b="0" i="1" kern="0" dirty="0">
                <a:ea typeface="黑体" pitchFamily="2" charset="-122"/>
              </a:rPr>
              <a:t>f</a:t>
            </a:r>
            <a:r>
              <a:rPr lang="zh-CN" altLang="en-US" b="0" kern="0" dirty="0">
                <a:ea typeface="黑体" pitchFamily="2" charset="-122"/>
              </a:rPr>
              <a:t>是一个流，则穿过割</a:t>
            </a:r>
            <a:r>
              <a:rPr lang="en-US" altLang="zh-CN" b="0" kern="0" dirty="0">
                <a:ea typeface="黑体" pitchFamily="2" charset="-122"/>
              </a:rPr>
              <a:t>(</a:t>
            </a:r>
            <a:r>
              <a:rPr lang="en-US" altLang="zh-CN" b="0" i="1" kern="0" dirty="0">
                <a:ea typeface="黑体" pitchFamily="2" charset="-122"/>
              </a:rPr>
              <a:t>S,T</a:t>
            </a:r>
            <a:r>
              <a:rPr lang="en-US" altLang="zh-CN" b="0" kern="0" dirty="0">
                <a:ea typeface="黑体" pitchFamily="2" charset="-122"/>
              </a:rPr>
              <a:t>)</a:t>
            </a:r>
            <a:r>
              <a:rPr lang="zh-CN" altLang="en-US" b="0" kern="0" dirty="0">
                <a:ea typeface="黑体" pitchFamily="2" charset="-122"/>
              </a:rPr>
              <a:t>的净流被定义为</a:t>
            </a:r>
            <a:r>
              <a:rPr lang="en-US" altLang="zh-CN" b="0" i="1" kern="0" dirty="0">
                <a:ea typeface="黑体" pitchFamily="2" charset="-122"/>
              </a:rPr>
              <a:t>f(S,T)</a:t>
            </a:r>
            <a:endParaRPr lang="en-US" altLang="zh-CN" b="0" kern="0" dirty="0">
              <a:ea typeface="黑体" pitchFamily="2" charset="-122"/>
            </a:endParaRPr>
          </a:p>
          <a:p>
            <a:r>
              <a:rPr lang="zh-CN" altLang="en-US" b="0" kern="0" dirty="0">
                <a:ea typeface="黑体" pitchFamily="2" charset="-122"/>
              </a:rPr>
              <a:t>割</a:t>
            </a:r>
            <a:r>
              <a:rPr lang="en-US" altLang="zh-CN" b="0" kern="0" dirty="0">
                <a:ea typeface="黑体" pitchFamily="2" charset="-122"/>
              </a:rPr>
              <a:t>(</a:t>
            </a:r>
            <a:r>
              <a:rPr lang="en-US" altLang="zh-CN" b="0" i="1" kern="0" dirty="0">
                <a:ea typeface="黑体" pitchFamily="2" charset="-122"/>
              </a:rPr>
              <a:t>S,T</a:t>
            </a:r>
            <a:r>
              <a:rPr lang="en-US" altLang="zh-CN" b="0" kern="0" dirty="0">
                <a:ea typeface="黑体" pitchFamily="2" charset="-122"/>
              </a:rPr>
              <a:t>)</a:t>
            </a:r>
            <a:r>
              <a:rPr lang="zh-CN" altLang="en-US" b="0" kern="0" dirty="0">
                <a:ea typeface="黑体" pitchFamily="2" charset="-122"/>
              </a:rPr>
              <a:t>的容量为</a:t>
            </a:r>
            <a:r>
              <a:rPr lang="en-US" altLang="zh-CN" b="0" i="1" kern="0" dirty="0">
                <a:ea typeface="黑体" pitchFamily="2" charset="-122"/>
              </a:rPr>
              <a:t>c</a:t>
            </a:r>
            <a:r>
              <a:rPr lang="en-US" altLang="zh-CN" b="0" kern="0" dirty="0">
                <a:ea typeface="黑体" pitchFamily="2" charset="-122"/>
              </a:rPr>
              <a:t>(</a:t>
            </a:r>
            <a:r>
              <a:rPr lang="en-US" altLang="zh-CN" b="0" i="1" kern="0" dirty="0">
                <a:ea typeface="黑体" pitchFamily="2" charset="-122"/>
              </a:rPr>
              <a:t>S,T</a:t>
            </a:r>
            <a:r>
              <a:rPr lang="en-US" altLang="zh-CN" b="0" kern="0" dirty="0">
                <a:ea typeface="黑体" pitchFamily="2" charset="-122"/>
              </a:rPr>
              <a:t>).</a:t>
            </a:r>
          </a:p>
          <a:p>
            <a:r>
              <a:rPr lang="zh-CN" altLang="en-US" b="0" kern="0" dirty="0">
                <a:ea typeface="黑体" pitchFamily="2" charset="-122"/>
              </a:rPr>
              <a:t>一个</a:t>
            </a:r>
            <a:r>
              <a:rPr lang="zh-CN" altLang="en-US" b="0" kern="0" dirty="0">
                <a:solidFill>
                  <a:srgbClr val="0000CC"/>
                </a:solidFill>
                <a:ea typeface="黑体" pitchFamily="2" charset="-122"/>
              </a:rPr>
              <a:t>网络的最小割</a:t>
            </a:r>
            <a:r>
              <a:rPr lang="zh-CN" altLang="en-US" b="0" kern="0" dirty="0">
                <a:ea typeface="黑体" pitchFamily="2" charset="-122"/>
              </a:rPr>
              <a:t>就是网络中所有割中具有最小容量的割</a:t>
            </a:r>
            <a:r>
              <a:rPr lang="en-US" altLang="zh-CN" b="0" kern="0" dirty="0">
                <a:ea typeface="黑体" pitchFamily="2" charset="-122"/>
              </a:rPr>
              <a:t>.</a:t>
            </a:r>
          </a:p>
          <a:p>
            <a:endParaRPr lang="en-US" altLang="zh-CN" b="0" kern="0" dirty="0">
              <a:solidFill>
                <a:srgbClr val="C00000"/>
              </a:solidFill>
              <a:ea typeface="黑体" pitchFamily="2" charset="-122"/>
            </a:endParaRPr>
          </a:p>
          <a:p>
            <a:endParaRPr lang="zh-CN" altLang="en-US" b="0" kern="0" dirty="0"/>
          </a:p>
        </p:txBody>
      </p:sp>
      <p:pic>
        <p:nvPicPr>
          <p:cNvPr id="7" name="Picture 2"/>
          <p:cNvPicPr>
            <a:picLocks noChangeAspect="1" noChangeArrowheads="1"/>
          </p:cNvPicPr>
          <p:nvPr/>
        </p:nvPicPr>
        <p:blipFill>
          <a:blip r:embed="rId3" cstate="print"/>
          <a:srcRect/>
          <a:stretch>
            <a:fillRect/>
          </a:stretch>
        </p:blipFill>
        <p:spPr bwMode="auto">
          <a:xfrm>
            <a:off x="228600" y="3891130"/>
            <a:ext cx="4959424" cy="2795599"/>
          </a:xfrm>
          <a:prstGeom prst="rect">
            <a:avLst/>
          </a:prstGeom>
          <a:noFill/>
          <a:ln w="9525">
            <a:noFill/>
            <a:miter lim="800000"/>
            <a:headEnd/>
            <a:tailEnd/>
          </a:ln>
        </p:spPr>
      </p:pic>
      <p:sp>
        <p:nvSpPr>
          <p:cNvPr id="8" name="TextBox 7"/>
          <p:cNvSpPr txBox="1"/>
          <p:nvPr/>
        </p:nvSpPr>
        <p:spPr>
          <a:xfrm>
            <a:off x="5257800" y="4267200"/>
            <a:ext cx="3767362" cy="1938992"/>
          </a:xfrm>
          <a:prstGeom prst="rect">
            <a:avLst/>
          </a:prstGeom>
          <a:gradFill>
            <a:gsLst>
              <a:gs pos="0">
                <a:srgbClr val="FFEFD1"/>
              </a:gs>
              <a:gs pos="64999">
                <a:srgbClr val="F0EBD5"/>
              </a:gs>
              <a:gs pos="100000">
                <a:srgbClr val="D1C39F"/>
              </a:gs>
            </a:gsLst>
            <a:lin ang="5400000" scaled="0"/>
          </a:gradFill>
        </p:spPr>
        <p:txBody>
          <a:bodyPr wrap="square" rtlCol="0">
            <a:spAutoFit/>
          </a:bodyPr>
          <a:lstStyle/>
          <a:p>
            <a:r>
              <a:rPr lang="zh-CN" altLang="en-US" sz="2400" dirty="0">
                <a:latin typeface="+mj-lt"/>
              </a:rPr>
              <a:t>割的净流为</a:t>
            </a:r>
            <a:r>
              <a:rPr lang="en-US" altLang="zh-CN" sz="2400" i="1" dirty="0">
                <a:latin typeface="+mj-lt"/>
              </a:rPr>
              <a:t>f(v1,v3)+f(v2,v4)=12+11=23</a:t>
            </a:r>
            <a:r>
              <a:rPr lang="en-US" altLang="zh-CN" sz="2400" dirty="0">
                <a:latin typeface="+mj-lt"/>
              </a:rPr>
              <a:t>.</a:t>
            </a:r>
          </a:p>
          <a:p>
            <a:r>
              <a:rPr lang="en-US" altLang="zh-CN" sz="2400" dirty="0">
                <a:latin typeface="+mj-lt"/>
              </a:rPr>
              <a:t> </a:t>
            </a:r>
            <a:r>
              <a:rPr lang="zh-CN" altLang="en-US" sz="2400" dirty="0">
                <a:latin typeface="+mj-lt"/>
              </a:rPr>
              <a:t>割的容量为</a:t>
            </a:r>
            <a:r>
              <a:rPr lang="en-US" altLang="zh-CN" sz="2400" i="1" dirty="0">
                <a:latin typeface="+mj-lt"/>
              </a:rPr>
              <a:t>c(v1,v3)+c(v2,v4)=12+14=26</a:t>
            </a:r>
            <a:r>
              <a:rPr lang="en-US" altLang="zh-CN" sz="2400" dirty="0">
                <a:latin typeface="+mj-lt"/>
              </a:rPr>
              <a:t>.</a:t>
            </a:r>
            <a:endParaRPr lang="zh-CN" altLang="en-US" sz="2400" dirty="0">
              <a:latin typeface="+mj-lt"/>
            </a:endParaRPr>
          </a:p>
        </p:txBody>
      </p:sp>
      <p:sp>
        <p:nvSpPr>
          <p:cNvPr id="9" name="任意多边形 8"/>
          <p:cNvSpPr/>
          <p:nvPr/>
        </p:nvSpPr>
        <p:spPr bwMode="auto">
          <a:xfrm>
            <a:off x="43408" y="3938257"/>
            <a:ext cx="2790327" cy="2774988"/>
          </a:xfrm>
          <a:custGeom>
            <a:avLst/>
            <a:gdLst>
              <a:gd name="connsiteX0" fmla="*/ 1350826 w 2790327"/>
              <a:gd name="connsiteY0" fmla="*/ 0 h 2774988"/>
              <a:gd name="connsiteX1" fmla="*/ 1269344 w 2790327"/>
              <a:gd name="connsiteY1" fmla="*/ 9054 h 2774988"/>
              <a:gd name="connsiteX2" fmla="*/ 1242184 w 2790327"/>
              <a:gd name="connsiteY2" fmla="*/ 27161 h 2774988"/>
              <a:gd name="connsiteX3" fmla="*/ 1215024 w 2790327"/>
              <a:gd name="connsiteY3" fmla="*/ 36214 h 2774988"/>
              <a:gd name="connsiteX4" fmla="*/ 1115436 w 2790327"/>
              <a:gd name="connsiteY4" fmla="*/ 63375 h 2774988"/>
              <a:gd name="connsiteX5" fmla="*/ 1061115 w 2790327"/>
              <a:gd name="connsiteY5" fmla="*/ 99589 h 2774988"/>
              <a:gd name="connsiteX6" fmla="*/ 1024901 w 2790327"/>
              <a:gd name="connsiteY6" fmla="*/ 126749 h 2774988"/>
              <a:gd name="connsiteX7" fmla="*/ 952473 w 2790327"/>
              <a:gd name="connsiteY7" fmla="*/ 153909 h 2774988"/>
              <a:gd name="connsiteX8" fmla="*/ 925313 w 2790327"/>
              <a:gd name="connsiteY8" fmla="*/ 172016 h 2774988"/>
              <a:gd name="connsiteX9" fmla="*/ 889099 w 2790327"/>
              <a:gd name="connsiteY9" fmla="*/ 199177 h 2774988"/>
              <a:gd name="connsiteX10" fmla="*/ 807618 w 2790327"/>
              <a:gd name="connsiteY10" fmla="*/ 253497 h 2774988"/>
              <a:gd name="connsiteX11" fmla="*/ 762350 w 2790327"/>
              <a:gd name="connsiteY11" fmla="*/ 280658 h 2774988"/>
              <a:gd name="connsiteX12" fmla="*/ 698976 w 2790327"/>
              <a:gd name="connsiteY12" fmla="*/ 334979 h 2774988"/>
              <a:gd name="connsiteX13" fmla="*/ 671816 w 2790327"/>
              <a:gd name="connsiteY13" fmla="*/ 344032 h 2774988"/>
              <a:gd name="connsiteX14" fmla="*/ 617495 w 2790327"/>
              <a:gd name="connsiteY14" fmla="*/ 380246 h 2774988"/>
              <a:gd name="connsiteX15" fmla="*/ 599388 w 2790327"/>
              <a:gd name="connsiteY15" fmla="*/ 407406 h 2774988"/>
              <a:gd name="connsiteX16" fmla="*/ 508853 w 2790327"/>
              <a:gd name="connsiteY16" fmla="*/ 461727 h 2774988"/>
              <a:gd name="connsiteX17" fmla="*/ 418319 w 2790327"/>
              <a:gd name="connsiteY17" fmla="*/ 534155 h 2774988"/>
              <a:gd name="connsiteX18" fmla="*/ 345891 w 2790327"/>
              <a:gd name="connsiteY18" fmla="*/ 588476 h 2774988"/>
              <a:gd name="connsiteX19" fmla="*/ 309677 w 2790327"/>
              <a:gd name="connsiteY19" fmla="*/ 615636 h 2774988"/>
              <a:gd name="connsiteX20" fmla="*/ 246303 w 2790327"/>
              <a:gd name="connsiteY20" fmla="*/ 651850 h 2774988"/>
              <a:gd name="connsiteX21" fmla="*/ 191982 w 2790327"/>
              <a:gd name="connsiteY21" fmla="*/ 715224 h 2774988"/>
              <a:gd name="connsiteX22" fmla="*/ 146715 w 2790327"/>
              <a:gd name="connsiteY22" fmla="*/ 796705 h 2774988"/>
              <a:gd name="connsiteX23" fmla="*/ 137661 w 2790327"/>
              <a:gd name="connsiteY23" fmla="*/ 823866 h 2774988"/>
              <a:gd name="connsiteX24" fmla="*/ 110501 w 2790327"/>
              <a:gd name="connsiteY24" fmla="*/ 905347 h 2774988"/>
              <a:gd name="connsiteX25" fmla="*/ 101447 w 2790327"/>
              <a:gd name="connsiteY25" fmla="*/ 932507 h 2774988"/>
              <a:gd name="connsiteX26" fmla="*/ 74287 w 2790327"/>
              <a:gd name="connsiteY26" fmla="*/ 1013989 h 2774988"/>
              <a:gd name="connsiteX27" fmla="*/ 65234 w 2790327"/>
              <a:gd name="connsiteY27" fmla="*/ 1059256 h 2774988"/>
              <a:gd name="connsiteX28" fmla="*/ 47127 w 2790327"/>
              <a:gd name="connsiteY28" fmla="*/ 1104523 h 2774988"/>
              <a:gd name="connsiteX29" fmla="*/ 38073 w 2790327"/>
              <a:gd name="connsiteY29" fmla="*/ 1176951 h 2774988"/>
              <a:gd name="connsiteX30" fmla="*/ 29020 w 2790327"/>
              <a:gd name="connsiteY30" fmla="*/ 1222218 h 2774988"/>
              <a:gd name="connsiteX31" fmla="*/ 19966 w 2790327"/>
              <a:gd name="connsiteY31" fmla="*/ 1430448 h 2774988"/>
              <a:gd name="connsiteX32" fmla="*/ 1859 w 2790327"/>
              <a:gd name="connsiteY32" fmla="*/ 1520983 h 2774988"/>
              <a:gd name="connsiteX33" fmla="*/ 10913 w 2790327"/>
              <a:gd name="connsiteY33" fmla="*/ 1665838 h 2774988"/>
              <a:gd name="connsiteX34" fmla="*/ 19966 w 2790327"/>
              <a:gd name="connsiteY34" fmla="*/ 1692998 h 2774988"/>
              <a:gd name="connsiteX35" fmla="*/ 29020 w 2790327"/>
              <a:gd name="connsiteY35" fmla="*/ 1729212 h 2774988"/>
              <a:gd name="connsiteX36" fmla="*/ 38073 w 2790327"/>
              <a:gd name="connsiteY36" fmla="*/ 1801640 h 2774988"/>
              <a:gd name="connsiteX37" fmla="*/ 47127 w 2790327"/>
              <a:gd name="connsiteY37" fmla="*/ 1901228 h 2774988"/>
              <a:gd name="connsiteX38" fmla="*/ 56180 w 2790327"/>
              <a:gd name="connsiteY38" fmla="*/ 1937442 h 2774988"/>
              <a:gd name="connsiteX39" fmla="*/ 92394 w 2790327"/>
              <a:gd name="connsiteY39" fmla="*/ 1982709 h 2774988"/>
              <a:gd name="connsiteX40" fmla="*/ 128608 w 2790327"/>
              <a:gd name="connsiteY40" fmla="*/ 2037030 h 2774988"/>
              <a:gd name="connsiteX41" fmla="*/ 164822 w 2790327"/>
              <a:gd name="connsiteY41" fmla="*/ 2091351 h 2774988"/>
              <a:gd name="connsiteX42" fmla="*/ 210089 w 2790327"/>
              <a:gd name="connsiteY42" fmla="*/ 2127565 h 2774988"/>
              <a:gd name="connsiteX43" fmla="*/ 264410 w 2790327"/>
              <a:gd name="connsiteY43" fmla="*/ 2181886 h 2774988"/>
              <a:gd name="connsiteX44" fmla="*/ 336838 w 2790327"/>
              <a:gd name="connsiteY44" fmla="*/ 2227153 h 2774988"/>
              <a:gd name="connsiteX45" fmla="*/ 363998 w 2790327"/>
              <a:gd name="connsiteY45" fmla="*/ 2245260 h 2774988"/>
              <a:gd name="connsiteX46" fmla="*/ 409265 w 2790327"/>
              <a:gd name="connsiteY46" fmla="*/ 2272420 h 2774988"/>
              <a:gd name="connsiteX47" fmla="*/ 436426 w 2790327"/>
              <a:gd name="connsiteY47" fmla="*/ 2290527 h 2774988"/>
              <a:gd name="connsiteX48" fmla="*/ 481693 w 2790327"/>
              <a:gd name="connsiteY48" fmla="*/ 2308634 h 2774988"/>
              <a:gd name="connsiteX49" fmla="*/ 526960 w 2790327"/>
              <a:gd name="connsiteY49" fmla="*/ 2335794 h 2774988"/>
              <a:gd name="connsiteX50" fmla="*/ 554121 w 2790327"/>
              <a:gd name="connsiteY50" fmla="*/ 2353901 h 2774988"/>
              <a:gd name="connsiteX51" fmla="*/ 608442 w 2790327"/>
              <a:gd name="connsiteY51" fmla="*/ 2372008 h 2774988"/>
              <a:gd name="connsiteX52" fmla="*/ 635602 w 2790327"/>
              <a:gd name="connsiteY52" fmla="*/ 2390115 h 2774988"/>
              <a:gd name="connsiteX53" fmla="*/ 735190 w 2790327"/>
              <a:gd name="connsiteY53" fmla="*/ 2408222 h 2774988"/>
              <a:gd name="connsiteX54" fmla="*/ 861939 w 2790327"/>
              <a:gd name="connsiteY54" fmla="*/ 2453490 h 2774988"/>
              <a:gd name="connsiteX55" fmla="*/ 907206 w 2790327"/>
              <a:gd name="connsiteY55" fmla="*/ 2480650 h 2774988"/>
              <a:gd name="connsiteX56" fmla="*/ 952473 w 2790327"/>
              <a:gd name="connsiteY56" fmla="*/ 2489703 h 2774988"/>
              <a:gd name="connsiteX57" fmla="*/ 988687 w 2790327"/>
              <a:gd name="connsiteY57" fmla="*/ 2498757 h 2774988"/>
              <a:gd name="connsiteX58" fmla="*/ 1070168 w 2790327"/>
              <a:gd name="connsiteY58" fmla="*/ 2534971 h 2774988"/>
              <a:gd name="connsiteX59" fmla="*/ 1097329 w 2790327"/>
              <a:gd name="connsiteY59" fmla="*/ 2544024 h 2774988"/>
              <a:gd name="connsiteX60" fmla="*/ 1133542 w 2790327"/>
              <a:gd name="connsiteY60" fmla="*/ 2571185 h 2774988"/>
              <a:gd name="connsiteX61" fmla="*/ 1278398 w 2790327"/>
              <a:gd name="connsiteY61" fmla="*/ 2598345 h 2774988"/>
              <a:gd name="connsiteX62" fmla="*/ 1332719 w 2790327"/>
              <a:gd name="connsiteY62" fmla="*/ 2607398 h 2774988"/>
              <a:gd name="connsiteX63" fmla="*/ 1396093 w 2790327"/>
              <a:gd name="connsiteY63" fmla="*/ 2616452 h 2774988"/>
              <a:gd name="connsiteX64" fmla="*/ 1459467 w 2790327"/>
              <a:gd name="connsiteY64" fmla="*/ 2634559 h 2774988"/>
              <a:gd name="connsiteX65" fmla="*/ 1531895 w 2790327"/>
              <a:gd name="connsiteY65" fmla="*/ 2643612 h 2774988"/>
              <a:gd name="connsiteX66" fmla="*/ 1613376 w 2790327"/>
              <a:gd name="connsiteY66" fmla="*/ 2670773 h 2774988"/>
              <a:gd name="connsiteX67" fmla="*/ 1722018 w 2790327"/>
              <a:gd name="connsiteY67" fmla="*/ 2706987 h 2774988"/>
              <a:gd name="connsiteX68" fmla="*/ 1767285 w 2790327"/>
              <a:gd name="connsiteY68" fmla="*/ 2734147 h 2774988"/>
              <a:gd name="connsiteX69" fmla="*/ 1812552 w 2790327"/>
              <a:gd name="connsiteY69" fmla="*/ 2743200 h 2774988"/>
              <a:gd name="connsiteX70" fmla="*/ 1839713 w 2790327"/>
              <a:gd name="connsiteY70" fmla="*/ 2752254 h 2774988"/>
              <a:gd name="connsiteX71" fmla="*/ 1903087 w 2790327"/>
              <a:gd name="connsiteY71" fmla="*/ 2770361 h 2774988"/>
              <a:gd name="connsiteX72" fmla="*/ 2156584 w 2790327"/>
              <a:gd name="connsiteY72" fmla="*/ 2761307 h 2774988"/>
              <a:gd name="connsiteX73" fmla="*/ 2229012 w 2790327"/>
              <a:gd name="connsiteY73" fmla="*/ 2752254 h 2774988"/>
              <a:gd name="connsiteX74" fmla="*/ 2301440 w 2790327"/>
              <a:gd name="connsiteY74" fmla="*/ 2697933 h 2774988"/>
              <a:gd name="connsiteX75" fmla="*/ 2364814 w 2790327"/>
              <a:gd name="connsiteY75" fmla="*/ 2661719 h 2774988"/>
              <a:gd name="connsiteX76" fmla="*/ 2391974 w 2790327"/>
              <a:gd name="connsiteY76" fmla="*/ 2643612 h 2774988"/>
              <a:gd name="connsiteX77" fmla="*/ 2428188 w 2790327"/>
              <a:gd name="connsiteY77" fmla="*/ 2625505 h 2774988"/>
              <a:gd name="connsiteX78" fmla="*/ 2464402 w 2790327"/>
              <a:gd name="connsiteY78" fmla="*/ 2589292 h 2774988"/>
              <a:gd name="connsiteX79" fmla="*/ 2518723 w 2790327"/>
              <a:gd name="connsiteY79" fmla="*/ 2480650 h 2774988"/>
              <a:gd name="connsiteX80" fmla="*/ 2536830 w 2790327"/>
              <a:gd name="connsiteY80" fmla="*/ 2444436 h 2774988"/>
              <a:gd name="connsiteX81" fmla="*/ 2563990 w 2790327"/>
              <a:gd name="connsiteY81" fmla="*/ 2353901 h 2774988"/>
              <a:gd name="connsiteX82" fmla="*/ 2573043 w 2790327"/>
              <a:gd name="connsiteY82" fmla="*/ 2299581 h 2774988"/>
              <a:gd name="connsiteX83" fmla="*/ 2591150 w 2790327"/>
              <a:gd name="connsiteY83" fmla="*/ 2190939 h 2774988"/>
              <a:gd name="connsiteX84" fmla="*/ 2600204 w 2790327"/>
              <a:gd name="connsiteY84" fmla="*/ 2136618 h 2774988"/>
              <a:gd name="connsiteX85" fmla="*/ 2609257 w 2790327"/>
              <a:gd name="connsiteY85" fmla="*/ 2037030 h 2774988"/>
              <a:gd name="connsiteX86" fmla="*/ 2636418 w 2790327"/>
              <a:gd name="connsiteY86" fmla="*/ 1991763 h 2774988"/>
              <a:gd name="connsiteX87" fmla="*/ 2654525 w 2790327"/>
              <a:gd name="connsiteY87" fmla="*/ 1946495 h 2774988"/>
              <a:gd name="connsiteX88" fmla="*/ 2672632 w 2790327"/>
              <a:gd name="connsiteY88" fmla="*/ 1910282 h 2774988"/>
              <a:gd name="connsiteX89" fmla="*/ 2690739 w 2790327"/>
              <a:gd name="connsiteY89" fmla="*/ 1846907 h 2774988"/>
              <a:gd name="connsiteX90" fmla="*/ 2708845 w 2790327"/>
              <a:gd name="connsiteY90" fmla="*/ 1792587 h 2774988"/>
              <a:gd name="connsiteX91" fmla="*/ 2726952 w 2790327"/>
              <a:gd name="connsiteY91" fmla="*/ 1720159 h 2774988"/>
              <a:gd name="connsiteX92" fmla="*/ 2736006 w 2790327"/>
              <a:gd name="connsiteY92" fmla="*/ 1683945 h 2774988"/>
              <a:gd name="connsiteX93" fmla="*/ 2763166 w 2790327"/>
              <a:gd name="connsiteY93" fmla="*/ 1611517 h 2774988"/>
              <a:gd name="connsiteX94" fmla="*/ 2772220 w 2790327"/>
              <a:gd name="connsiteY94" fmla="*/ 1548143 h 2774988"/>
              <a:gd name="connsiteX95" fmla="*/ 2781273 w 2790327"/>
              <a:gd name="connsiteY95" fmla="*/ 1493822 h 2774988"/>
              <a:gd name="connsiteX96" fmla="*/ 2790327 w 2790327"/>
              <a:gd name="connsiteY96" fmla="*/ 1348967 h 2774988"/>
              <a:gd name="connsiteX97" fmla="*/ 2781273 w 2790327"/>
              <a:gd name="connsiteY97" fmla="*/ 1095470 h 2774988"/>
              <a:gd name="connsiteX98" fmla="*/ 2763166 w 2790327"/>
              <a:gd name="connsiteY98" fmla="*/ 1013989 h 2774988"/>
              <a:gd name="connsiteX99" fmla="*/ 2745059 w 2790327"/>
              <a:gd name="connsiteY99" fmla="*/ 968721 h 2774988"/>
              <a:gd name="connsiteX100" fmla="*/ 2726952 w 2790327"/>
              <a:gd name="connsiteY100" fmla="*/ 941561 h 2774988"/>
              <a:gd name="connsiteX101" fmla="*/ 2708845 w 2790327"/>
              <a:gd name="connsiteY101" fmla="*/ 851026 h 2774988"/>
              <a:gd name="connsiteX102" fmla="*/ 2699792 w 2790327"/>
              <a:gd name="connsiteY102" fmla="*/ 805759 h 2774988"/>
              <a:gd name="connsiteX103" fmla="*/ 2681685 w 2790327"/>
              <a:gd name="connsiteY103" fmla="*/ 751438 h 2774988"/>
              <a:gd name="connsiteX104" fmla="*/ 2645471 w 2790327"/>
              <a:gd name="connsiteY104" fmla="*/ 669957 h 2774988"/>
              <a:gd name="connsiteX105" fmla="*/ 2627364 w 2790327"/>
              <a:gd name="connsiteY105" fmla="*/ 615636 h 2774988"/>
              <a:gd name="connsiteX106" fmla="*/ 2573043 w 2790327"/>
              <a:gd name="connsiteY106" fmla="*/ 534155 h 2774988"/>
              <a:gd name="connsiteX107" fmla="*/ 2545883 w 2790327"/>
              <a:gd name="connsiteY107" fmla="*/ 506994 h 2774988"/>
              <a:gd name="connsiteX108" fmla="*/ 2527776 w 2790327"/>
              <a:gd name="connsiteY108" fmla="*/ 479834 h 2774988"/>
              <a:gd name="connsiteX109" fmla="*/ 2473455 w 2790327"/>
              <a:gd name="connsiteY109" fmla="*/ 461727 h 2774988"/>
              <a:gd name="connsiteX110" fmla="*/ 2446295 w 2790327"/>
              <a:gd name="connsiteY110" fmla="*/ 443620 h 2774988"/>
              <a:gd name="connsiteX111" fmla="*/ 2401028 w 2790327"/>
              <a:gd name="connsiteY111" fmla="*/ 398353 h 2774988"/>
              <a:gd name="connsiteX112" fmla="*/ 2382921 w 2790327"/>
              <a:gd name="connsiteY112" fmla="*/ 371193 h 2774988"/>
              <a:gd name="connsiteX113" fmla="*/ 2301440 w 2790327"/>
              <a:gd name="connsiteY113" fmla="*/ 325925 h 2774988"/>
              <a:gd name="connsiteX114" fmla="*/ 2219958 w 2790327"/>
              <a:gd name="connsiteY114" fmla="*/ 289711 h 2774988"/>
              <a:gd name="connsiteX115" fmla="*/ 2165638 w 2790327"/>
              <a:gd name="connsiteY115" fmla="*/ 253497 h 2774988"/>
              <a:gd name="connsiteX116" fmla="*/ 2138477 w 2790327"/>
              <a:gd name="connsiteY116" fmla="*/ 235391 h 2774988"/>
              <a:gd name="connsiteX117" fmla="*/ 2102263 w 2790327"/>
              <a:gd name="connsiteY117" fmla="*/ 199177 h 2774988"/>
              <a:gd name="connsiteX118" fmla="*/ 2066049 w 2790327"/>
              <a:gd name="connsiteY118" fmla="*/ 190123 h 2774988"/>
              <a:gd name="connsiteX119" fmla="*/ 1939301 w 2790327"/>
              <a:gd name="connsiteY119" fmla="*/ 108642 h 2774988"/>
              <a:gd name="connsiteX120" fmla="*/ 1884980 w 2790327"/>
              <a:gd name="connsiteY120" fmla="*/ 72428 h 2774988"/>
              <a:gd name="connsiteX121" fmla="*/ 1767285 w 2790327"/>
              <a:gd name="connsiteY121" fmla="*/ 45268 h 2774988"/>
              <a:gd name="connsiteX122" fmla="*/ 1450414 w 2790327"/>
              <a:gd name="connsiteY122" fmla="*/ 36214 h 2774988"/>
              <a:gd name="connsiteX123" fmla="*/ 1396093 w 2790327"/>
              <a:gd name="connsiteY123" fmla="*/ 18107 h 2774988"/>
              <a:gd name="connsiteX124" fmla="*/ 1368933 w 2790327"/>
              <a:gd name="connsiteY124" fmla="*/ 9054 h 2774988"/>
              <a:gd name="connsiteX125" fmla="*/ 1341772 w 2790327"/>
              <a:gd name="connsiteY125" fmla="*/ 0 h 2774988"/>
              <a:gd name="connsiteX126" fmla="*/ 1350826 w 2790327"/>
              <a:gd name="connsiteY126" fmla="*/ 0 h 2774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2790327" h="2774988">
                <a:moveTo>
                  <a:pt x="1350826" y="0"/>
                </a:moveTo>
                <a:cubicBezTo>
                  <a:pt x="1323665" y="3018"/>
                  <a:pt x="1295856" y="2426"/>
                  <a:pt x="1269344" y="9054"/>
                </a:cubicBezTo>
                <a:cubicBezTo>
                  <a:pt x="1258788" y="11693"/>
                  <a:pt x="1251916" y="22295"/>
                  <a:pt x="1242184" y="27161"/>
                </a:cubicBezTo>
                <a:cubicBezTo>
                  <a:pt x="1233648" y="31429"/>
                  <a:pt x="1224231" y="33703"/>
                  <a:pt x="1215024" y="36214"/>
                </a:cubicBezTo>
                <a:cubicBezTo>
                  <a:pt x="1102725" y="66841"/>
                  <a:pt x="1177944" y="42537"/>
                  <a:pt x="1115436" y="63375"/>
                </a:cubicBezTo>
                <a:cubicBezTo>
                  <a:pt x="1052229" y="126580"/>
                  <a:pt x="1122259" y="64649"/>
                  <a:pt x="1061115" y="99589"/>
                </a:cubicBezTo>
                <a:cubicBezTo>
                  <a:pt x="1048014" y="107075"/>
                  <a:pt x="1038091" y="119421"/>
                  <a:pt x="1024901" y="126749"/>
                </a:cubicBezTo>
                <a:cubicBezTo>
                  <a:pt x="1008657" y="135773"/>
                  <a:pt x="972805" y="147132"/>
                  <a:pt x="952473" y="153909"/>
                </a:cubicBezTo>
                <a:cubicBezTo>
                  <a:pt x="943420" y="159945"/>
                  <a:pt x="934167" y="165692"/>
                  <a:pt x="925313" y="172016"/>
                </a:cubicBezTo>
                <a:cubicBezTo>
                  <a:pt x="913034" y="180787"/>
                  <a:pt x="901505" y="190588"/>
                  <a:pt x="889099" y="199177"/>
                </a:cubicBezTo>
                <a:cubicBezTo>
                  <a:pt x="862261" y="217757"/>
                  <a:pt x="835076" y="235845"/>
                  <a:pt x="807618" y="253497"/>
                </a:cubicBezTo>
                <a:cubicBezTo>
                  <a:pt x="792816" y="263013"/>
                  <a:pt x="774793" y="268215"/>
                  <a:pt x="762350" y="280658"/>
                </a:cubicBezTo>
                <a:cubicBezTo>
                  <a:pt x="740946" y="302062"/>
                  <a:pt x="726074" y="319494"/>
                  <a:pt x="698976" y="334979"/>
                </a:cubicBezTo>
                <a:cubicBezTo>
                  <a:pt x="690690" y="339714"/>
                  <a:pt x="680869" y="341014"/>
                  <a:pt x="671816" y="344032"/>
                </a:cubicBezTo>
                <a:cubicBezTo>
                  <a:pt x="653709" y="356103"/>
                  <a:pt x="633873" y="365916"/>
                  <a:pt x="617495" y="380246"/>
                </a:cubicBezTo>
                <a:cubicBezTo>
                  <a:pt x="609306" y="387411"/>
                  <a:pt x="607747" y="400440"/>
                  <a:pt x="599388" y="407406"/>
                </a:cubicBezTo>
                <a:cubicBezTo>
                  <a:pt x="513671" y="478836"/>
                  <a:pt x="622840" y="347738"/>
                  <a:pt x="508853" y="461727"/>
                </a:cubicBezTo>
                <a:cubicBezTo>
                  <a:pt x="444990" y="525591"/>
                  <a:pt x="477437" y="504596"/>
                  <a:pt x="418319" y="534155"/>
                </a:cubicBezTo>
                <a:cubicBezTo>
                  <a:pt x="370400" y="598046"/>
                  <a:pt x="417023" y="548958"/>
                  <a:pt x="345891" y="588476"/>
                </a:cubicBezTo>
                <a:cubicBezTo>
                  <a:pt x="332701" y="595804"/>
                  <a:pt x="321955" y="606866"/>
                  <a:pt x="309677" y="615636"/>
                </a:cubicBezTo>
                <a:cubicBezTo>
                  <a:pt x="279816" y="636965"/>
                  <a:pt x="281671" y="634166"/>
                  <a:pt x="246303" y="651850"/>
                </a:cubicBezTo>
                <a:cubicBezTo>
                  <a:pt x="181402" y="749200"/>
                  <a:pt x="294450" y="583478"/>
                  <a:pt x="191982" y="715224"/>
                </a:cubicBezTo>
                <a:cubicBezTo>
                  <a:pt x="181059" y="729268"/>
                  <a:pt x="154913" y="777576"/>
                  <a:pt x="146715" y="796705"/>
                </a:cubicBezTo>
                <a:cubicBezTo>
                  <a:pt x="142956" y="805477"/>
                  <a:pt x="141012" y="814930"/>
                  <a:pt x="137661" y="823866"/>
                </a:cubicBezTo>
                <a:cubicBezTo>
                  <a:pt x="100200" y="923760"/>
                  <a:pt x="134775" y="820387"/>
                  <a:pt x="110501" y="905347"/>
                </a:cubicBezTo>
                <a:cubicBezTo>
                  <a:pt x="107879" y="914523"/>
                  <a:pt x="103762" y="923249"/>
                  <a:pt x="101447" y="932507"/>
                </a:cubicBezTo>
                <a:cubicBezTo>
                  <a:pt x="83896" y="1002713"/>
                  <a:pt x="104408" y="953747"/>
                  <a:pt x="74287" y="1013989"/>
                </a:cubicBezTo>
                <a:cubicBezTo>
                  <a:pt x="71269" y="1029078"/>
                  <a:pt x="69656" y="1044517"/>
                  <a:pt x="65234" y="1059256"/>
                </a:cubicBezTo>
                <a:cubicBezTo>
                  <a:pt x="60564" y="1074822"/>
                  <a:pt x="50781" y="1088688"/>
                  <a:pt x="47127" y="1104523"/>
                </a:cubicBezTo>
                <a:cubicBezTo>
                  <a:pt x="41656" y="1128230"/>
                  <a:pt x="41773" y="1152903"/>
                  <a:pt x="38073" y="1176951"/>
                </a:cubicBezTo>
                <a:cubicBezTo>
                  <a:pt x="35733" y="1192160"/>
                  <a:pt x="32038" y="1207129"/>
                  <a:pt x="29020" y="1222218"/>
                </a:cubicBezTo>
                <a:cubicBezTo>
                  <a:pt x="26002" y="1291628"/>
                  <a:pt x="26256" y="1361258"/>
                  <a:pt x="19966" y="1430448"/>
                </a:cubicBezTo>
                <a:cubicBezTo>
                  <a:pt x="17180" y="1461098"/>
                  <a:pt x="3042" y="1490230"/>
                  <a:pt x="1859" y="1520983"/>
                </a:cubicBezTo>
                <a:cubicBezTo>
                  <a:pt x="0" y="1569326"/>
                  <a:pt x="5848" y="1617725"/>
                  <a:pt x="10913" y="1665838"/>
                </a:cubicBezTo>
                <a:cubicBezTo>
                  <a:pt x="11912" y="1675329"/>
                  <a:pt x="17344" y="1683822"/>
                  <a:pt x="19966" y="1692998"/>
                </a:cubicBezTo>
                <a:cubicBezTo>
                  <a:pt x="23384" y="1704962"/>
                  <a:pt x="26002" y="1717141"/>
                  <a:pt x="29020" y="1729212"/>
                </a:cubicBezTo>
                <a:cubicBezTo>
                  <a:pt x="32038" y="1753355"/>
                  <a:pt x="35526" y="1777443"/>
                  <a:pt x="38073" y="1801640"/>
                </a:cubicBezTo>
                <a:cubicBezTo>
                  <a:pt x="41562" y="1834790"/>
                  <a:pt x="42722" y="1868187"/>
                  <a:pt x="47127" y="1901228"/>
                </a:cubicBezTo>
                <a:cubicBezTo>
                  <a:pt x="48771" y="1913562"/>
                  <a:pt x="50137" y="1926565"/>
                  <a:pt x="56180" y="1937442"/>
                </a:cubicBezTo>
                <a:cubicBezTo>
                  <a:pt x="65564" y="1954334"/>
                  <a:pt x="80323" y="1967620"/>
                  <a:pt x="92394" y="1982709"/>
                </a:cubicBezTo>
                <a:cubicBezTo>
                  <a:pt x="111235" y="2058078"/>
                  <a:pt x="84842" y="1987012"/>
                  <a:pt x="128608" y="2037030"/>
                </a:cubicBezTo>
                <a:cubicBezTo>
                  <a:pt x="142938" y="2053407"/>
                  <a:pt x="147829" y="2077756"/>
                  <a:pt x="164822" y="2091351"/>
                </a:cubicBezTo>
                <a:cubicBezTo>
                  <a:pt x="179911" y="2103422"/>
                  <a:pt x="196425" y="2113901"/>
                  <a:pt x="210089" y="2127565"/>
                </a:cubicBezTo>
                <a:cubicBezTo>
                  <a:pt x="277465" y="2194942"/>
                  <a:pt x="200402" y="2139214"/>
                  <a:pt x="264410" y="2181886"/>
                </a:cubicBezTo>
                <a:cubicBezTo>
                  <a:pt x="296984" y="2230746"/>
                  <a:pt x="265390" y="2195398"/>
                  <a:pt x="336838" y="2227153"/>
                </a:cubicBezTo>
                <a:cubicBezTo>
                  <a:pt x="346781" y="2231572"/>
                  <a:pt x="354771" y="2239493"/>
                  <a:pt x="363998" y="2245260"/>
                </a:cubicBezTo>
                <a:cubicBezTo>
                  <a:pt x="378920" y="2254586"/>
                  <a:pt x="394343" y="2263094"/>
                  <a:pt x="409265" y="2272420"/>
                </a:cubicBezTo>
                <a:cubicBezTo>
                  <a:pt x="418492" y="2278187"/>
                  <a:pt x="426694" y="2285661"/>
                  <a:pt x="436426" y="2290527"/>
                </a:cubicBezTo>
                <a:cubicBezTo>
                  <a:pt x="450962" y="2297795"/>
                  <a:pt x="467157" y="2301366"/>
                  <a:pt x="481693" y="2308634"/>
                </a:cubicBezTo>
                <a:cubicBezTo>
                  <a:pt x="497432" y="2316503"/>
                  <a:pt x="512038" y="2326468"/>
                  <a:pt x="526960" y="2335794"/>
                </a:cubicBezTo>
                <a:cubicBezTo>
                  <a:pt x="536187" y="2341561"/>
                  <a:pt x="544178" y="2349482"/>
                  <a:pt x="554121" y="2353901"/>
                </a:cubicBezTo>
                <a:cubicBezTo>
                  <a:pt x="571562" y="2361653"/>
                  <a:pt x="608442" y="2372008"/>
                  <a:pt x="608442" y="2372008"/>
                </a:cubicBezTo>
                <a:cubicBezTo>
                  <a:pt x="617495" y="2378044"/>
                  <a:pt x="625414" y="2386294"/>
                  <a:pt x="635602" y="2390115"/>
                </a:cubicBezTo>
                <a:cubicBezTo>
                  <a:pt x="645731" y="2393913"/>
                  <a:pt x="729082" y="2407204"/>
                  <a:pt x="735190" y="2408222"/>
                </a:cubicBezTo>
                <a:cubicBezTo>
                  <a:pt x="756139" y="2415205"/>
                  <a:pt x="833202" y="2439122"/>
                  <a:pt x="861939" y="2453490"/>
                </a:cubicBezTo>
                <a:cubicBezTo>
                  <a:pt x="877678" y="2461359"/>
                  <a:pt x="890868" y="2474115"/>
                  <a:pt x="907206" y="2480650"/>
                </a:cubicBezTo>
                <a:cubicBezTo>
                  <a:pt x="921493" y="2486365"/>
                  <a:pt x="937452" y="2486365"/>
                  <a:pt x="952473" y="2489703"/>
                </a:cubicBezTo>
                <a:cubicBezTo>
                  <a:pt x="964620" y="2492402"/>
                  <a:pt x="976723" y="2495339"/>
                  <a:pt x="988687" y="2498757"/>
                </a:cubicBezTo>
                <a:cubicBezTo>
                  <a:pt x="1031520" y="2510995"/>
                  <a:pt x="1014806" y="2510366"/>
                  <a:pt x="1070168" y="2534971"/>
                </a:cubicBezTo>
                <a:cubicBezTo>
                  <a:pt x="1078889" y="2538847"/>
                  <a:pt x="1088275" y="2541006"/>
                  <a:pt x="1097329" y="2544024"/>
                </a:cubicBezTo>
                <a:cubicBezTo>
                  <a:pt x="1109400" y="2553078"/>
                  <a:pt x="1120046" y="2564437"/>
                  <a:pt x="1133542" y="2571185"/>
                </a:cubicBezTo>
                <a:cubicBezTo>
                  <a:pt x="1184299" y="2596564"/>
                  <a:pt x="1220255" y="2591077"/>
                  <a:pt x="1278398" y="2598345"/>
                </a:cubicBezTo>
                <a:cubicBezTo>
                  <a:pt x="1296613" y="2600622"/>
                  <a:pt x="1314576" y="2604607"/>
                  <a:pt x="1332719" y="2607398"/>
                </a:cubicBezTo>
                <a:cubicBezTo>
                  <a:pt x="1353810" y="2610643"/>
                  <a:pt x="1375228" y="2611981"/>
                  <a:pt x="1396093" y="2616452"/>
                </a:cubicBezTo>
                <a:cubicBezTo>
                  <a:pt x="1417575" y="2621055"/>
                  <a:pt x="1437924" y="2630250"/>
                  <a:pt x="1459467" y="2634559"/>
                </a:cubicBezTo>
                <a:cubicBezTo>
                  <a:pt x="1483325" y="2639331"/>
                  <a:pt x="1507752" y="2640594"/>
                  <a:pt x="1531895" y="2643612"/>
                </a:cubicBezTo>
                <a:cubicBezTo>
                  <a:pt x="1559055" y="2652666"/>
                  <a:pt x="1586569" y="2660720"/>
                  <a:pt x="1613376" y="2670773"/>
                </a:cubicBezTo>
                <a:cubicBezTo>
                  <a:pt x="1714622" y="2708740"/>
                  <a:pt x="1638327" y="2690248"/>
                  <a:pt x="1722018" y="2706987"/>
                </a:cubicBezTo>
                <a:cubicBezTo>
                  <a:pt x="1737107" y="2716040"/>
                  <a:pt x="1750947" y="2727612"/>
                  <a:pt x="1767285" y="2734147"/>
                </a:cubicBezTo>
                <a:cubicBezTo>
                  <a:pt x="1781572" y="2739862"/>
                  <a:pt x="1797624" y="2739468"/>
                  <a:pt x="1812552" y="2743200"/>
                </a:cubicBezTo>
                <a:cubicBezTo>
                  <a:pt x="1821810" y="2745515"/>
                  <a:pt x="1830537" y="2749632"/>
                  <a:pt x="1839713" y="2752254"/>
                </a:cubicBezTo>
                <a:cubicBezTo>
                  <a:pt x="1919281" y="2774988"/>
                  <a:pt x="1837973" y="2748655"/>
                  <a:pt x="1903087" y="2770361"/>
                </a:cubicBezTo>
                <a:lnTo>
                  <a:pt x="2156584" y="2761307"/>
                </a:lnTo>
                <a:cubicBezTo>
                  <a:pt x="2180877" y="2759957"/>
                  <a:pt x="2206721" y="2762006"/>
                  <a:pt x="2229012" y="2752254"/>
                </a:cubicBezTo>
                <a:cubicBezTo>
                  <a:pt x="2256660" y="2740158"/>
                  <a:pt x="2276330" y="2714673"/>
                  <a:pt x="2301440" y="2697933"/>
                </a:cubicBezTo>
                <a:cubicBezTo>
                  <a:pt x="2367611" y="2653818"/>
                  <a:pt x="2284409" y="2707665"/>
                  <a:pt x="2364814" y="2661719"/>
                </a:cubicBezTo>
                <a:cubicBezTo>
                  <a:pt x="2374261" y="2656321"/>
                  <a:pt x="2382527" y="2649010"/>
                  <a:pt x="2391974" y="2643612"/>
                </a:cubicBezTo>
                <a:cubicBezTo>
                  <a:pt x="2403692" y="2636916"/>
                  <a:pt x="2417391" y="2633603"/>
                  <a:pt x="2428188" y="2625505"/>
                </a:cubicBezTo>
                <a:cubicBezTo>
                  <a:pt x="2441845" y="2615262"/>
                  <a:pt x="2452331" y="2601363"/>
                  <a:pt x="2464402" y="2589292"/>
                </a:cubicBezTo>
                <a:lnTo>
                  <a:pt x="2518723" y="2480650"/>
                </a:lnTo>
                <a:cubicBezTo>
                  <a:pt x="2524759" y="2468579"/>
                  <a:pt x="2532562" y="2457240"/>
                  <a:pt x="2536830" y="2444436"/>
                </a:cubicBezTo>
                <a:cubicBezTo>
                  <a:pt x="2548379" y="2409788"/>
                  <a:pt x="2557148" y="2388111"/>
                  <a:pt x="2563990" y="2353901"/>
                </a:cubicBezTo>
                <a:cubicBezTo>
                  <a:pt x="2567590" y="2335901"/>
                  <a:pt x="2569759" y="2317641"/>
                  <a:pt x="2573043" y="2299581"/>
                </a:cubicBezTo>
                <a:cubicBezTo>
                  <a:pt x="2596956" y="2168060"/>
                  <a:pt x="2565119" y="2360138"/>
                  <a:pt x="2591150" y="2190939"/>
                </a:cubicBezTo>
                <a:cubicBezTo>
                  <a:pt x="2593941" y="2172796"/>
                  <a:pt x="2598059" y="2154849"/>
                  <a:pt x="2600204" y="2136618"/>
                </a:cubicBezTo>
                <a:cubicBezTo>
                  <a:pt x="2604099" y="2103513"/>
                  <a:pt x="2601173" y="2069368"/>
                  <a:pt x="2609257" y="2037030"/>
                </a:cubicBezTo>
                <a:cubicBezTo>
                  <a:pt x="2613525" y="2019959"/>
                  <a:pt x="2628548" y="2007502"/>
                  <a:pt x="2636418" y="1991763"/>
                </a:cubicBezTo>
                <a:cubicBezTo>
                  <a:pt x="2643686" y="1977227"/>
                  <a:pt x="2647925" y="1961346"/>
                  <a:pt x="2654525" y="1946495"/>
                </a:cubicBezTo>
                <a:cubicBezTo>
                  <a:pt x="2660006" y="1934162"/>
                  <a:pt x="2668020" y="1922965"/>
                  <a:pt x="2672632" y="1910282"/>
                </a:cubicBezTo>
                <a:cubicBezTo>
                  <a:pt x="2680140" y="1889634"/>
                  <a:pt x="2684278" y="1867906"/>
                  <a:pt x="2690739" y="1846907"/>
                </a:cubicBezTo>
                <a:cubicBezTo>
                  <a:pt x="2696352" y="1828665"/>
                  <a:pt x="2704216" y="1811103"/>
                  <a:pt x="2708845" y="1792587"/>
                </a:cubicBezTo>
                <a:lnTo>
                  <a:pt x="2726952" y="1720159"/>
                </a:lnTo>
                <a:cubicBezTo>
                  <a:pt x="2729970" y="1708088"/>
                  <a:pt x="2731385" y="1695498"/>
                  <a:pt x="2736006" y="1683945"/>
                </a:cubicBezTo>
                <a:cubicBezTo>
                  <a:pt x="2757657" y="1629817"/>
                  <a:pt x="2748974" y="1654096"/>
                  <a:pt x="2763166" y="1611517"/>
                </a:cubicBezTo>
                <a:cubicBezTo>
                  <a:pt x="2766184" y="1590392"/>
                  <a:pt x="2768975" y="1569234"/>
                  <a:pt x="2772220" y="1548143"/>
                </a:cubicBezTo>
                <a:cubicBezTo>
                  <a:pt x="2775011" y="1530000"/>
                  <a:pt x="2779611" y="1512103"/>
                  <a:pt x="2781273" y="1493822"/>
                </a:cubicBezTo>
                <a:cubicBezTo>
                  <a:pt x="2785653" y="1445641"/>
                  <a:pt x="2787309" y="1397252"/>
                  <a:pt x="2790327" y="1348967"/>
                </a:cubicBezTo>
                <a:cubicBezTo>
                  <a:pt x="2787309" y="1264468"/>
                  <a:pt x="2786238" y="1179877"/>
                  <a:pt x="2781273" y="1095470"/>
                </a:cubicBezTo>
                <a:cubicBezTo>
                  <a:pt x="2779467" y="1064766"/>
                  <a:pt x="2773442" y="1041392"/>
                  <a:pt x="2763166" y="1013989"/>
                </a:cubicBezTo>
                <a:cubicBezTo>
                  <a:pt x="2757460" y="998772"/>
                  <a:pt x="2752327" y="983257"/>
                  <a:pt x="2745059" y="968721"/>
                </a:cubicBezTo>
                <a:cubicBezTo>
                  <a:pt x="2740193" y="958989"/>
                  <a:pt x="2732988" y="950614"/>
                  <a:pt x="2726952" y="941561"/>
                </a:cubicBezTo>
                <a:lnTo>
                  <a:pt x="2708845" y="851026"/>
                </a:lnTo>
                <a:cubicBezTo>
                  <a:pt x="2705827" y="835937"/>
                  <a:pt x="2704658" y="820357"/>
                  <a:pt x="2699792" y="805759"/>
                </a:cubicBezTo>
                <a:cubicBezTo>
                  <a:pt x="2693756" y="787652"/>
                  <a:pt x="2690221" y="768509"/>
                  <a:pt x="2681685" y="751438"/>
                </a:cubicBezTo>
                <a:cubicBezTo>
                  <a:pt x="2662711" y="713489"/>
                  <a:pt x="2660883" y="712341"/>
                  <a:pt x="2645471" y="669957"/>
                </a:cubicBezTo>
                <a:cubicBezTo>
                  <a:pt x="2638948" y="652020"/>
                  <a:pt x="2637184" y="632003"/>
                  <a:pt x="2627364" y="615636"/>
                </a:cubicBezTo>
                <a:cubicBezTo>
                  <a:pt x="2607100" y="581862"/>
                  <a:pt x="2598192" y="563495"/>
                  <a:pt x="2573043" y="534155"/>
                </a:cubicBezTo>
                <a:cubicBezTo>
                  <a:pt x="2564711" y="524434"/>
                  <a:pt x="2554080" y="516830"/>
                  <a:pt x="2545883" y="506994"/>
                </a:cubicBezTo>
                <a:cubicBezTo>
                  <a:pt x="2538917" y="498635"/>
                  <a:pt x="2537003" y="485601"/>
                  <a:pt x="2527776" y="479834"/>
                </a:cubicBezTo>
                <a:cubicBezTo>
                  <a:pt x="2511591" y="469718"/>
                  <a:pt x="2489336" y="472314"/>
                  <a:pt x="2473455" y="461727"/>
                </a:cubicBezTo>
                <a:lnTo>
                  <a:pt x="2446295" y="443620"/>
                </a:lnTo>
                <a:cubicBezTo>
                  <a:pt x="2398010" y="371193"/>
                  <a:pt x="2461384" y="458709"/>
                  <a:pt x="2401028" y="398353"/>
                </a:cubicBezTo>
                <a:cubicBezTo>
                  <a:pt x="2393334" y="390659"/>
                  <a:pt x="2390615" y="378887"/>
                  <a:pt x="2382921" y="371193"/>
                </a:cubicBezTo>
                <a:cubicBezTo>
                  <a:pt x="2367745" y="356018"/>
                  <a:pt x="2311856" y="331606"/>
                  <a:pt x="2301440" y="325925"/>
                </a:cubicBezTo>
                <a:cubicBezTo>
                  <a:pt x="2235179" y="289782"/>
                  <a:pt x="2280543" y="304858"/>
                  <a:pt x="2219958" y="289711"/>
                </a:cubicBezTo>
                <a:lnTo>
                  <a:pt x="2165638" y="253497"/>
                </a:lnTo>
                <a:cubicBezTo>
                  <a:pt x="2156585" y="247461"/>
                  <a:pt x="2146171" y="243085"/>
                  <a:pt x="2138477" y="235391"/>
                </a:cubicBezTo>
                <a:cubicBezTo>
                  <a:pt x="2126406" y="223320"/>
                  <a:pt x="2116740" y="208225"/>
                  <a:pt x="2102263" y="199177"/>
                </a:cubicBezTo>
                <a:cubicBezTo>
                  <a:pt x="2091711" y="192582"/>
                  <a:pt x="2078120" y="193141"/>
                  <a:pt x="2066049" y="190123"/>
                </a:cubicBezTo>
                <a:cubicBezTo>
                  <a:pt x="1979213" y="103285"/>
                  <a:pt x="2098004" y="214444"/>
                  <a:pt x="1939301" y="108642"/>
                </a:cubicBezTo>
                <a:cubicBezTo>
                  <a:pt x="1921194" y="96571"/>
                  <a:pt x="1906092" y="77706"/>
                  <a:pt x="1884980" y="72428"/>
                </a:cubicBezTo>
                <a:cubicBezTo>
                  <a:pt x="1882123" y="71714"/>
                  <a:pt x="1784705" y="46139"/>
                  <a:pt x="1767285" y="45268"/>
                </a:cubicBezTo>
                <a:cubicBezTo>
                  <a:pt x="1661750" y="39991"/>
                  <a:pt x="1556038" y="39232"/>
                  <a:pt x="1450414" y="36214"/>
                </a:cubicBezTo>
                <a:lnTo>
                  <a:pt x="1396093" y="18107"/>
                </a:lnTo>
                <a:lnTo>
                  <a:pt x="1368933" y="9054"/>
                </a:lnTo>
                <a:cubicBezTo>
                  <a:pt x="1359879" y="6036"/>
                  <a:pt x="1351315" y="0"/>
                  <a:pt x="1341772" y="0"/>
                </a:cubicBezTo>
                <a:lnTo>
                  <a:pt x="1350826" y="0"/>
                </a:lnTo>
                <a:close/>
              </a:path>
            </a:pathLst>
          </a:custGeom>
          <a:noFill/>
          <a:ln w="38100" cap="flat" cmpd="sng" algn="ctr">
            <a:solidFill>
              <a:schemeClr val="accent2">
                <a:lumMod val="5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0" name="任意多边形 9"/>
          <p:cNvSpPr/>
          <p:nvPr/>
        </p:nvSpPr>
        <p:spPr bwMode="auto">
          <a:xfrm>
            <a:off x="3041964" y="3721463"/>
            <a:ext cx="2305370" cy="2769872"/>
          </a:xfrm>
          <a:custGeom>
            <a:avLst/>
            <a:gdLst>
              <a:gd name="connsiteX0" fmla="*/ 769545 w 2305370"/>
              <a:gd name="connsiteY0" fmla="*/ 8565 h 2769872"/>
              <a:gd name="connsiteX1" fmla="*/ 669957 w 2305370"/>
              <a:gd name="connsiteY1" fmla="*/ 35725 h 2769872"/>
              <a:gd name="connsiteX2" fmla="*/ 615636 w 2305370"/>
              <a:gd name="connsiteY2" fmla="*/ 53832 h 2769872"/>
              <a:gd name="connsiteX3" fmla="*/ 534155 w 2305370"/>
              <a:gd name="connsiteY3" fmla="*/ 117206 h 2769872"/>
              <a:gd name="connsiteX4" fmla="*/ 506994 w 2305370"/>
              <a:gd name="connsiteY4" fmla="*/ 126260 h 2769872"/>
              <a:gd name="connsiteX5" fmla="*/ 461727 w 2305370"/>
              <a:gd name="connsiteY5" fmla="*/ 171527 h 2769872"/>
              <a:gd name="connsiteX6" fmla="*/ 407406 w 2305370"/>
              <a:gd name="connsiteY6" fmla="*/ 189634 h 2769872"/>
              <a:gd name="connsiteX7" fmla="*/ 380246 w 2305370"/>
              <a:gd name="connsiteY7" fmla="*/ 216794 h 2769872"/>
              <a:gd name="connsiteX8" fmla="*/ 298765 w 2305370"/>
              <a:gd name="connsiteY8" fmla="*/ 262062 h 2769872"/>
              <a:gd name="connsiteX9" fmla="*/ 244444 w 2305370"/>
              <a:gd name="connsiteY9" fmla="*/ 316383 h 2769872"/>
              <a:gd name="connsiteX10" fmla="*/ 181070 w 2305370"/>
              <a:gd name="connsiteY10" fmla="*/ 370703 h 2769872"/>
              <a:gd name="connsiteX11" fmla="*/ 135802 w 2305370"/>
              <a:gd name="connsiteY11" fmla="*/ 443131 h 2769872"/>
              <a:gd name="connsiteX12" fmla="*/ 126749 w 2305370"/>
              <a:gd name="connsiteY12" fmla="*/ 470291 h 2769872"/>
              <a:gd name="connsiteX13" fmla="*/ 108642 w 2305370"/>
              <a:gd name="connsiteY13" fmla="*/ 506505 h 2769872"/>
              <a:gd name="connsiteX14" fmla="*/ 99588 w 2305370"/>
              <a:gd name="connsiteY14" fmla="*/ 533666 h 2769872"/>
              <a:gd name="connsiteX15" fmla="*/ 72428 w 2305370"/>
              <a:gd name="connsiteY15" fmla="*/ 587987 h 2769872"/>
              <a:gd name="connsiteX16" fmla="*/ 54321 w 2305370"/>
              <a:gd name="connsiteY16" fmla="*/ 687575 h 2769872"/>
              <a:gd name="connsiteX17" fmla="*/ 45268 w 2305370"/>
              <a:gd name="connsiteY17" fmla="*/ 714735 h 2769872"/>
              <a:gd name="connsiteX18" fmla="*/ 36214 w 2305370"/>
              <a:gd name="connsiteY18" fmla="*/ 877697 h 2769872"/>
              <a:gd name="connsiteX19" fmla="*/ 27161 w 2305370"/>
              <a:gd name="connsiteY19" fmla="*/ 932018 h 2769872"/>
              <a:gd name="connsiteX20" fmla="*/ 9054 w 2305370"/>
              <a:gd name="connsiteY20" fmla="*/ 1113087 h 2769872"/>
              <a:gd name="connsiteX21" fmla="*/ 0 w 2305370"/>
              <a:gd name="connsiteY21" fmla="*/ 1285103 h 2769872"/>
              <a:gd name="connsiteX22" fmla="*/ 18107 w 2305370"/>
              <a:gd name="connsiteY22" fmla="*/ 1665349 h 2769872"/>
              <a:gd name="connsiteX23" fmla="*/ 27161 w 2305370"/>
              <a:gd name="connsiteY23" fmla="*/ 2217610 h 2769872"/>
              <a:gd name="connsiteX24" fmla="*/ 63375 w 2305370"/>
              <a:gd name="connsiteY24" fmla="*/ 2271931 h 2769872"/>
              <a:gd name="connsiteX25" fmla="*/ 81482 w 2305370"/>
              <a:gd name="connsiteY25" fmla="*/ 2317198 h 2769872"/>
              <a:gd name="connsiteX26" fmla="*/ 108642 w 2305370"/>
              <a:gd name="connsiteY26" fmla="*/ 2371519 h 2769872"/>
              <a:gd name="connsiteX27" fmla="*/ 162963 w 2305370"/>
              <a:gd name="connsiteY27" fmla="*/ 2453000 h 2769872"/>
              <a:gd name="connsiteX28" fmla="*/ 181070 w 2305370"/>
              <a:gd name="connsiteY28" fmla="*/ 2480161 h 2769872"/>
              <a:gd name="connsiteX29" fmla="*/ 235390 w 2305370"/>
              <a:gd name="connsiteY29" fmla="*/ 2525428 h 2769872"/>
              <a:gd name="connsiteX30" fmla="*/ 253497 w 2305370"/>
              <a:gd name="connsiteY30" fmla="*/ 2552588 h 2769872"/>
              <a:gd name="connsiteX31" fmla="*/ 344032 w 2305370"/>
              <a:gd name="connsiteY31" fmla="*/ 2634070 h 2769872"/>
              <a:gd name="connsiteX32" fmla="*/ 380246 w 2305370"/>
              <a:gd name="connsiteY32" fmla="*/ 2670284 h 2769872"/>
              <a:gd name="connsiteX33" fmla="*/ 416460 w 2305370"/>
              <a:gd name="connsiteY33" fmla="*/ 2688390 h 2769872"/>
              <a:gd name="connsiteX34" fmla="*/ 461727 w 2305370"/>
              <a:gd name="connsiteY34" fmla="*/ 2724604 h 2769872"/>
              <a:gd name="connsiteX35" fmla="*/ 497941 w 2305370"/>
              <a:gd name="connsiteY35" fmla="*/ 2733658 h 2769872"/>
              <a:gd name="connsiteX36" fmla="*/ 552262 w 2305370"/>
              <a:gd name="connsiteY36" fmla="*/ 2751765 h 2769872"/>
              <a:gd name="connsiteX37" fmla="*/ 579422 w 2305370"/>
              <a:gd name="connsiteY37" fmla="*/ 2760818 h 2769872"/>
              <a:gd name="connsiteX38" fmla="*/ 615636 w 2305370"/>
              <a:gd name="connsiteY38" fmla="*/ 2769872 h 2769872"/>
              <a:gd name="connsiteX39" fmla="*/ 1158844 w 2305370"/>
              <a:gd name="connsiteY39" fmla="*/ 2760818 h 2769872"/>
              <a:gd name="connsiteX40" fmla="*/ 1186004 w 2305370"/>
              <a:gd name="connsiteY40" fmla="*/ 2742711 h 2769872"/>
              <a:gd name="connsiteX41" fmla="*/ 1213165 w 2305370"/>
              <a:gd name="connsiteY41" fmla="*/ 2733658 h 2769872"/>
              <a:gd name="connsiteX42" fmla="*/ 1258432 w 2305370"/>
              <a:gd name="connsiteY42" fmla="*/ 2715551 h 2769872"/>
              <a:gd name="connsiteX43" fmla="*/ 1303699 w 2305370"/>
              <a:gd name="connsiteY43" fmla="*/ 2706497 h 2769872"/>
              <a:gd name="connsiteX44" fmla="*/ 1376127 w 2305370"/>
              <a:gd name="connsiteY44" fmla="*/ 2679337 h 2769872"/>
              <a:gd name="connsiteX45" fmla="*/ 1412341 w 2305370"/>
              <a:gd name="connsiteY45" fmla="*/ 2670284 h 2769872"/>
              <a:gd name="connsiteX46" fmla="*/ 1439501 w 2305370"/>
              <a:gd name="connsiteY46" fmla="*/ 2661230 h 2769872"/>
              <a:gd name="connsiteX47" fmla="*/ 1475715 w 2305370"/>
              <a:gd name="connsiteY47" fmla="*/ 2652177 h 2769872"/>
              <a:gd name="connsiteX48" fmla="*/ 1502876 w 2305370"/>
              <a:gd name="connsiteY48" fmla="*/ 2643123 h 2769872"/>
              <a:gd name="connsiteX49" fmla="*/ 1593410 w 2305370"/>
              <a:gd name="connsiteY49" fmla="*/ 2625016 h 2769872"/>
              <a:gd name="connsiteX50" fmla="*/ 1638678 w 2305370"/>
              <a:gd name="connsiteY50" fmla="*/ 2597856 h 2769872"/>
              <a:gd name="connsiteX51" fmla="*/ 1683945 w 2305370"/>
              <a:gd name="connsiteY51" fmla="*/ 2588802 h 2769872"/>
              <a:gd name="connsiteX52" fmla="*/ 1783533 w 2305370"/>
              <a:gd name="connsiteY52" fmla="*/ 2561642 h 2769872"/>
              <a:gd name="connsiteX53" fmla="*/ 1819747 w 2305370"/>
              <a:gd name="connsiteY53" fmla="*/ 2543535 h 2769872"/>
              <a:gd name="connsiteX54" fmla="*/ 1846907 w 2305370"/>
              <a:gd name="connsiteY54" fmla="*/ 2525428 h 2769872"/>
              <a:gd name="connsiteX55" fmla="*/ 1901228 w 2305370"/>
              <a:gd name="connsiteY55" fmla="*/ 2507321 h 2769872"/>
              <a:gd name="connsiteX56" fmla="*/ 2000816 w 2305370"/>
              <a:gd name="connsiteY56" fmla="*/ 2398680 h 2769872"/>
              <a:gd name="connsiteX57" fmla="*/ 2046084 w 2305370"/>
              <a:gd name="connsiteY57" fmla="*/ 2335305 h 2769872"/>
              <a:gd name="connsiteX58" fmla="*/ 2064190 w 2305370"/>
              <a:gd name="connsiteY58" fmla="*/ 2308145 h 2769872"/>
              <a:gd name="connsiteX59" fmla="*/ 2118511 w 2305370"/>
              <a:gd name="connsiteY59" fmla="*/ 2235717 h 2769872"/>
              <a:gd name="connsiteX60" fmla="*/ 2163779 w 2305370"/>
              <a:gd name="connsiteY60" fmla="*/ 2108969 h 2769872"/>
              <a:gd name="connsiteX61" fmla="*/ 2172832 w 2305370"/>
              <a:gd name="connsiteY61" fmla="*/ 2081808 h 2769872"/>
              <a:gd name="connsiteX62" fmla="*/ 2209046 w 2305370"/>
              <a:gd name="connsiteY62" fmla="*/ 2018434 h 2769872"/>
              <a:gd name="connsiteX63" fmla="*/ 2254313 w 2305370"/>
              <a:gd name="connsiteY63" fmla="*/ 1964113 h 2769872"/>
              <a:gd name="connsiteX64" fmla="*/ 2263367 w 2305370"/>
              <a:gd name="connsiteY64" fmla="*/ 1927899 h 2769872"/>
              <a:gd name="connsiteX65" fmla="*/ 2272420 w 2305370"/>
              <a:gd name="connsiteY65" fmla="*/ 1900739 h 2769872"/>
              <a:gd name="connsiteX66" fmla="*/ 2290527 w 2305370"/>
              <a:gd name="connsiteY66" fmla="*/ 1783044 h 2769872"/>
              <a:gd name="connsiteX67" fmla="*/ 2290527 w 2305370"/>
              <a:gd name="connsiteY67" fmla="*/ 1502387 h 2769872"/>
              <a:gd name="connsiteX68" fmla="*/ 2281474 w 2305370"/>
              <a:gd name="connsiteY68" fmla="*/ 1475226 h 2769872"/>
              <a:gd name="connsiteX69" fmla="*/ 2272420 w 2305370"/>
              <a:gd name="connsiteY69" fmla="*/ 1439012 h 2769872"/>
              <a:gd name="connsiteX70" fmla="*/ 2218099 w 2305370"/>
              <a:gd name="connsiteY70" fmla="*/ 1312264 h 2769872"/>
              <a:gd name="connsiteX71" fmla="*/ 2190939 w 2305370"/>
              <a:gd name="connsiteY71" fmla="*/ 1276050 h 2769872"/>
              <a:gd name="connsiteX72" fmla="*/ 2172832 w 2305370"/>
              <a:gd name="connsiteY72" fmla="*/ 1239836 h 2769872"/>
              <a:gd name="connsiteX73" fmla="*/ 2127565 w 2305370"/>
              <a:gd name="connsiteY73" fmla="*/ 1194569 h 2769872"/>
              <a:gd name="connsiteX74" fmla="*/ 2064190 w 2305370"/>
              <a:gd name="connsiteY74" fmla="*/ 1113087 h 2769872"/>
              <a:gd name="connsiteX75" fmla="*/ 2046084 w 2305370"/>
              <a:gd name="connsiteY75" fmla="*/ 1076874 h 2769872"/>
              <a:gd name="connsiteX76" fmla="*/ 2037030 w 2305370"/>
              <a:gd name="connsiteY76" fmla="*/ 1049713 h 2769872"/>
              <a:gd name="connsiteX77" fmla="*/ 2009870 w 2305370"/>
              <a:gd name="connsiteY77" fmla="*/ 1013499 h 2769872"/>
              <a:gd name="connsiteX78" fmla="*/ 1964602 w 2305370"/>
              <a:gd name="connsiteY78" fmla="*/ 913911 h 2769872"/>
              <a:gd name="connsiteX79" fmla="*/ 1937442 w 2305370"/>
              <a:gd name="connsiteY79" fmla="*/ 868644 h 2769872"/>
              <a:gd name="connsiteX80" fmla="*/ 1892175 w 2305370"/>
              <a:gd name="connsiteY80" fmla="*/ 778109 h 2769872"/>
              <a:gd name="connsiteX81" fmla="*/ 1865014 w 2305370"/>
              <a:gd name="connsiteY81" fmla="*/ 723788 h 2769872"/>
              <a:gd name="connsiteX82" fmla="*/ 1855961 w 2305370"/>
              <a:gd name="connsiteY82" fmla="*/ 696628 h 2769872"/>
              <a:gd name="connsiteX83" fmla="*/ 1801640 w 2305370"/>
              <a:gd name="connsiteY83" fmla="*/ 606093 h 2769872"/>
              <a:gd name="connsiteX84" fmla="*/ 1792586 w 2305370"/>
              <a:gd name="connsiteY84" fmla="*/ 578933 h 2769872"/>
              <a:gd name="connsiteX85" fmla="*/ 1756373 w 2305370"/>
              <a:gd name="connsiteY85" fmla="*/ 533666 h 2769872"/>
              <a:gd name="connsiteX86" fmla="*/ 1738266 w 2305370"/>
              <a:gd name="connsiteY86" fmla="*/ 506505 h 2769872"/>
              <a:gd name="connsiteX87" fmla="*/ 1702052 w 2305370"/>
              <a:gd name="connsiteY87" fmla="*/ 461238 h 2769872"/>
              <a:gd name="connsiteX88" fmla="*/ 1656785 w 2305370"/>
              <a:gd name="connsiteY88" fmla="*/ 388810 h 2769872"/>
              <a:gd name="connsiteX89" fmla="*/ 1647731 w 2305370"/>
              <a:gd name="connsiteY89" fmla="*/ 361650 h 2769872"/>
              <a:gd name="connsiteX90" fmla="*/ 1602464 w 2305370"/>
              <a:gd name="connsiteY90" fmla="*/ 307329 h 2769872"/>
              <a:gd name="connsiteX91" fmla="*/ 1575303 w 2305370"/>
              <a:gd name="connsiteY91" fmla="*/ 271115 h 2769872"/>
              <a:gd name="connsiteX92" fmla="*/ 1557196 w 2305370"/>
              <a:gd name="connsiteY92" fmla="*/ 234901 h 2769872"/>
              <a:gd name="connsiteX93" fmla="*/ 1520983 w 2305370"/>
              <a:gd name="connsiteY93" fmla="*/ 207741 h 2769872"/>
              <a:gd name="connsiteX94" fmla="*/ 1457608 w 2305370"/>
              <a:gd name="connsiteY94" fmla="*/ 162474 h 2769872"/>
              <a:gd name="connsiteX95" fmla="*/ 1367074 w 2305370"/>
              <a:gd name="connsiteY95" fmla="*/ 108153 h 2769872"/>
              <a:gd name="connsiteX96" fmla="*/ 1303699 w 2305370"/>
              <a:gd name="connsiteY96" fmla="*/ 99099 h 2769872"/>
              <a:gd name="connsiteX97" fmla="*/ 1249379 w 2305370"/>
              <a:gd name="connsiteY97" fmla="*/ 90046 h 2769872"/>
              <a:gd name="connsiteX98" fmla="*/ 1041149 w 2305370"/>
              <a:gd name="connsiteY98" fmla="*/ 71939 h 2769872"/>
              <a:gd name="connsiteX99" fmla="*/ 995882 w 2305370"/>
              <a:gd name="connsiteY99" fmla="*/ 62886 h 2769872"/>
              <a:gd name="connsiteX100" fmla="*/ 959668 w 2305370"/>
              <a:gd name="connsiteY100" fmla="*/ 44779 h 2769872"/>
              <a:gd name="connsiteX101" fmla="*/ 932507 w 2305370"/>
              <a:gd name="connsiteY101" fmla="*/ 35725 h 2769872"/>
              <a:gd name="connsiteX102" fmla="*/ 878186 w 2305370"/>
              <a:gd name="connsiteY102" fmla="*/ 8565 h 2769872"/>
              <a:gd name="connsiteX103" fmla="*/ 769545 w 2305370"/>
              <a:gd name="connsiteY103" fmla="*/ 8565 h 276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305370" h="2769872">
                <a:moveTo>
                  <a:pt x="769545" y="8565"/>
                </a:moveTo>
                <a:cubicBezTo>
                  <a:pt x="734840" y="13092"/>
                  <a:pt x="750338" y="0"/>
                  <a:pt x="669957" y="35725"/>
                </a:cubicBezTo>
                <a:cubicBezTo>
                  <a:pt x="652516" y="43477"/>
                  <a:pt x="615636" y="53832"/>
                  <a:pt x="615636" y="53832"/>
                </a:cubicBezTo>
                <a:cubicBezTo>
                  <a:pt x="592201" y="77267"/>
                  <a:pt x="566643" y="106376"/>
                  <a:pt x="534155" y="117206"/>
                </a:cubicBezTo>
                <a:lnTo>
                  <a:pt x="506994" y="126260"/>
                </a:lnTo>
                <a:cubicBezTo>
                  <a:pt x="494890" y="162573"/>
                  <a:pt x="504755" y="154316"/>
                  <a:pt x="461727" y="171527"/>
                </a:cubicBezTo>
                <a:cubicBezTo>
                  <a:pt x="444006" y="178616"/>
                  <a:pt x="407406" y="189634"/>
                  <a:pt x="407406" y="189634"/>
                </a:cubicBezTo>
                <a:cubicBezTo>
                  <a:pt x="398353" y="198687"/>
                  <a:pt x="390665" y="209352"/>
                  <a:pt x="380246" y="216794"/>
                </a:cubicBezTo>
                <a:cubicBezTo>
                  <a:pt x="312687" y="265050"/>
                  <a:pt x="375952" y="198908"/>
                  <a:pt x="298765" y="262062"/>
                </a:cubicBezTo>
                <a:cubicBezTo>
                  <a:pt x="278946" y="278278"/>
                  <a:pt x="265751" y="302179"/>
                  <a:pt x="244444" y="316383"/>
                </a:cubicBezTo>
                <a:cubicBezTo>
                  <a:pt x="211474" y="338362"/>
                  <a:pt x="211807" y="335576"/>
                  <a:pt x="181070" y="370703"/>
                </a:cubicBezTo>
                <a:cubicBezTo>
                  <a:pt x="159233" y="395659"/>
                  <a:pt x="148652" y="413147"/>
                  <a:pt x="135802" y="443131"/>
                </a:cubicBezTo>
                <a:cubicBezTo>
                  <a:pt x="132043" y="451902"/>
                  <a:pt x="130508" y="461520"/>
                  <a:pt x="126749" y="470291"/>
                </a:cubicBezTo>
                <a:cubicBezTo>
                  <a:pt x="121433" y="482696"/>
                  <a:pt x="113958" y="494100"/>
                  <a:pt x="108642" y="506505"/>
                </a:cubicBezTo>
                <a:cubicBezTo>
                  <a:pt x="104883" y="515277"/>
                  <a:pt x="103856" y="525130"/>
                  <a:pt x="99588" y="533666"/>
                </a:cubicBezTo>
                <a:cubicBezTo>
                  <a:pt x="73138" y="586567"/>
                  <a:pt x="87598" y="534891"/>
                  <a:pt x="72428" y="587987"/>
                </a:cubicBezTo>
                <a:cubicBezTo>
                  <a:pt x="54538" y="650601"/>
                  <a:pt x="71414" y="602110"/>
                  <a:pt x="54321" y="687575"/>
                </a:cubicBezTo>
                <a:cubicBezTo>
                  <a:pt x="52449" y="696933"/>
                  <a:pt x="48286" y="705682"/>
                  <a:pt x="45268" y="714735"/>
                </a:cubicBezTo>
                <a:cubicBezTo>
                  <a:pt x="42250" y="769056"/>
                  <a:pt x="40732" y="823480"/>
                  <a:pt x="36214" y="877697"/>
                </a:cubicBezTo>
                <a:cubicBezTo>
                  <a:pt x="34690" y="895990"/>
                  <a:pt x="28823" y="913737"/>
                  <a:pt x="27161" y="932018"/>
                </a:cubicBezTo>
                <a:cubicBezTo>
                  <a:pt x="10310" y="1117375"/>
                  <a:pt x="31646" y="1022716"/>
                  <a:pt x="9054" y="1113087"/>
                </a:cubicBezTo>
                <a:cubicBezTo>
                  <a:pt x="6036" y="1170426"/>
                  <a:pt x="0" y="1227685"/>
                  <a:pt x="0" y="1285103"/>
                </a:cubicBezTo>
                <a:cubicBezTo>
                  <a:pt x="0" y="1505109"/>
                  <a:pt x="2580" y="1510073"/>
                  <a:pt x="18107" y="1665349"/>
                </a:cubicBezTo>
                <a:cubicBezTo>
                  <a:pt x="21125" y="1849436"/>
                  <a:pt x="13459" y="2034009"/>
                  <a:pt x="27161" y="2217610"/>
                </a:cubicBezTo>
                <a:cubicBezTo>
                  <a:pt x="28781" y="2239312"/>
                  <a:pt x="52954" y="2252826"/>
                  <a:pt x="63375" y="2271931"/>
                </a:cubicBezTo>
                <a:cubicBezTo>
                  <a:pt x="71157" y="2286198"/>
                  <a:pt x="74757" y="2302403"/>
                  <a:pt x="81482" y="2317198"/>
                </a:cubicBezTo>
                <a:cubicBezTo>
                  <a:pt x="89859" y="2335628"/>
                  <a:pt x="98442" y="2354032"/>
                  <a:pt x="108642" y="2371519"/>
                </a:cubicBezTo>
                <a:cubicBezTo>
                  <a:pt x="108650" y="2371532"/>
                  <a:pt x="153905" y="2439413"/>
                  <a:pt x="162963" y="2453000"/>
                </a:cubicBezTo>
                <a:cubicBezTo>
                  <a:pt x="168999" y="2462054"/>
                  <a:pt x="172016" y="2474125"/>
                  <a:pt x="181070" y="2480161"/>
                </a:cubicBezTo>
                <a:cubicBezTo>
                  <a:pt x="207775" y="2497965"/>
                  <a:pt x="213606" y="2499288"/>
                  <a:pt x="235390" y="2525428"/>
                </a:cubicBezTo>
                <a:cubicBezTo>
                  <a:pt x="242356" y="2533787"/>
                  <a:pt x="246268" y="2544456"/>
                  <a:pt x="253497" y="2552588"/>
                </a:cubicBezTo>
                <a:cubicBezTo>
                  <a:pt x="334103" y="2643269"/>
                  <a:pt x="278131" y="2576406"/>
                  <a:pt x="344032" y="2634070"/>
                </a:cubicBezTo>
                <a:cubicBezTo>
                  <a:pt x="356880" y="2645312"/>
                  <a:pt x="366589" y="2660041"/>
                  <a:pt x="380246" y="2670284"/>
                </a:cubicBezTo>
                <a:cubicBezTo>
                  <a:pt x="391043" y="2678382"/>
                  <a:pt x="405231" y="2680904"/>
                  <a:pt x="416460" y="2688390"/>
                </a:cubicBezTo>
                <a:cubicBezTo>
                  <a:pt x="432538" y="2699109"/>
                  <a:pt x="444835" y="2715220"/>
                  <a:pt x="461727" y="2724604"/>
                </a:cubicBezTo>
                <a:cubicBezTo>
                  <a:pt x="472604" y="2730647"/>
                  <a:pt x="486023" y="2730083"/>
                  <a:pt x="497941" y="2733658"/>
                </a:cubicBezTo>
                <a:cubicBezTo>
                  <a:pt x="516222" y="2739143"/>
                  <a:pt x="534155" y="2745729"/>
                  <a:pt x="552262" y="2751765"/>
                </a:cubicBezTo>
                <a:cubicBezTo>
                  <a:pt x="561315" y="2754783"/>
                  <a:pt x="570164" y="2758503"/>
                  <a:pt x="579422" y="2760818"/>
                </a:cubicBezTo>
                <a:lnTo>
                  <a:pt x="615636" y="2769872"/>
                </a:lnTo>
                <a:cubicBezTo>
                  <a:pt x="796705" y="2766854"/>
                  <a:pt x="977955" y="2769432"/>
                  <a:pt x="1158844" y="2760818"/>
                </a:cubicBezTo>
                <a:cubicBezTo>
                  <a:pt x="1169712" y="2760300"/>
                  <a:pt x="1176272" y="2747577"/>
                  <a:pt x="1186004" y="2742711"/>
                </a:cubicBezTo>
                <a:cubicBezTo>
                  <a:pt x="1194540" y="2738443"/>
                  <a:pt x="1204229" y="2737009"/>
                  <a:pt x="1213165" y="2733658"/>
                </a:cubicBezTo>
                <a:cubicBezTo>
                  <a:pt x="1228382" y="2727952"/>
                  <a:pt x="1242866" y="2720221"/>
                  <a:pt x="1258432" y="2715551"/>
                </a:cubicBezTo>
                <a:cubicBezTo>
                  <a:pt x="1273171" y="2711129"/>
                  <a:pt x="1288771" y="2710229"/>
                  <a:pt x="1303699" y="2706497"/>
                </a:cubicBezTo>
                <a:cubicBezTo>
                  <a:pt x="1329142" y="2700136"/>
                  <a:pt x="1351179" y="2687653"/>
                  <a:pt x="1376127" y="2679337"/>
                </a:cubicBezTo>
                <a:cubicBezTo>
                  <a:pt x="1387931" y="2675402"/>
                  <a:pt x="1400377" y="2673702"/>
                  <a:pt x="1412341" y="2670284"/>
                </a:cubicBezTo>
                <a:cubicBezTo>
                  <a:pt x="1421517" y="2667662"/>
                  <a:pt x="1430325" y="2663852"/>
                  <a:pt x="1439501" y="2661230"/>
                </a:cubicBezTo>
                <a:cubicBezTo>
                  <a:pt x="1451465" y="2657812"/>
                  <a:pt x="1463751" y="2655595"/>
                  <a:pt x="1475715" y="2652177"/>
                </a:cubicBezTo>
                <a:cubicBezTo>
                  <a:pt x="1484891" y="2649555"/>
                  <a:pt x="1493577" y="2645269"/>
                  <a:pt x="1502876" y="2643123"/>
                </a:cubicBezTo>
                <a:cubicBezTo>
                  <a:pt x="1532863" y="2636203"/>
                  <a:pt x="1593410" y="2625016"/>
                  <a:pt x="1593410" y="2625016"/>
                </a:cubicBezTo>
                <a:cubicBezTo>
                  <a:pt x="1608499" y="2615963"/>
                  <a:pt x="1622340" y="2604391"/>
                  <a:pt x="1638678" y="2597856"/>
                </a:cubicBezTo>
                <a:cubicBezTo>
                  <a:pt x="1652965" y="2592141"/>
                  <a:pt x="1668951" y="2592262"/>
                  <a:pt x="1683945" y="2588802"/>
                </a:cubicBezTo>
                <a:cubicBezTo>
                  <a:pt x="1693939" y="2586496"/>
                  <a:pt x="1760256" y="2571618"/>
                  <a:pt x="1783533" y="2561642"/>
                </a:cubicBezTo>
                <a:cubicBezTo>
                  <a:pt x="1795938" y="2556326"/>
                  <a:pt x="1808029" y="2550231"/>
                  <a:pt x="1819747" y="2543535"/>
                </a:cubicBezTo>
                <a:cubicBezTo>
                  <a:pt x="1829194" y="2538137"/>
                  <a:pt x="1836964" y="2529847"/>
                  <a:pt x="1846907" y="2525428"/>
                </a:cubicBezTo>
                <a:cubicBezTo>
                  <a:pt x="1864348" y="2517676"/>
                  <a:pt x="1883121" y="2513357"/>
                  <a:pt x="1901228" y="2507321"/>
                </a:cubicBezTo>
                <a:cubicBezTo>
                  <a:pt x="1980453" y="2408291"/>
                  <a:pt x="1941500" y="2438225"/>
                  <a:pt x="2000816" y="2398680"/>
                </a:cubicBezTo>
                <a:cubicBezTo>
                  <a:pt x="2043492" y="2334664"/>
                  <a:pt x="1989930" y="2413921"/>
                  <a:pt x="2046084" y="2335305"/>
                </a:cubicBezTo>
                <a:cubicBezTo>
                  <a:pt x="2052408" y="2326451"/>
                  <a:pt x="2057224" y="2316504"/>
                  <a:pt x="2064190" y="2308145"/>
                </a:cubicBezTo>
                <a:cubicBezTo>
                  <a:pt x="2103466" y="2261014"/>
                  <a:pt x="2085214" y="2302311"/>
                  <a:pt x="2118511" y="2235717"/>
                </a:cubicBezTo>
                <a:cubicBezTo>
                  <a:pt x="2132881" y="2206977"/>
                  <a:pt x="2156794" y="2129923"/>
                  <a:pt x="2163779" y="2108969"/>
                </a:cubicBezTo>
                <a:cubicBezTo>
                  <a:pt x="2166797" y="2099915"/>
                  <a:pt x="2168564" y="2090344"/>
                  <a:pt x="2172832" y="2081808"/>
                </a:cubicBezTo>
                <a:cubicBezTo>
                  <a:pt x="2183901" y="2059669"/>
                  <a:pt x="2193049" y="2037630"/>
                  <a:pt x="2209046" y="2018434"/>
                </a:cubicBezTo>
                <a:cubicBezTo>
                  <a:pt x="2267132" y="1948731"/>
                  <a:pt x="2209360" y="2031544"/>
                  <a:pt x="2254313" y="1964113"/>
                </a:cubicBezTo>
                <a:cubicBezTo>
                  <a:pt x="2257331" y="1952042"/>
                  <a:pt x="2259949" y="1939863"/>
                  <a:pt x="2263367" y="1927899"/>
                </a:cubicBezTo>
                <a:cubicBezTo>
                  <a:pt x="2265989" y="1918723"/>
                  <a:pt x="2270851" y="1910152"/>
                  <a:pt x="2272420" y="1900739"/>
                </a:cubicBezTo>
                <a:cubicBezTo>
                  <a:pt x="2298490" y="1744321"/>
                  <a:pt x="2267724" y="1874259"/>
                  <a:pt x="2290527" y="1783044"/>
                </a:cubicBezTo>
                <a:cubicBezTo>
                  <a:pt x="2305051" y="1652340"/>
                  <a:pt x="2305370" y="1687929"/>
                  <a:pt x="2290527" y="1502387"/>
                </a:cubicBezTo>
                <a:cubicBezTo>
                  <a:pt x="2289766" y="1492874"/>
                  <a:pt x="2284096" y="1484402"/>
                  <a:pt x="2281474" y="1475226"/>
                </a:cubicBezTo>
                <a:cubicBezTo>
                  <a:pt x="2278056" y="1463262"/>
                  <a:pt x="2275995" y="1450930"/>
                  <a:pt x="2272420" y="1439012"/>
                </a:cubicBezTo>
                <a:cubicBezTo>
                  <a:pt x="2260765" y="1400161"/>
                  <a:pt x="2241654" y="1343671"/>
                  <a:pt x="2218099" y="1312264"/>
                </a:cubicBezTo>
                <a:cubicBezTo>
                  <a:pt x="2209046" y="1300193"/>
                  <a:pt x="2198936" y="1288846"/>
                  <a:pt x="2190939" y="1276050"/>
                </a:cubicBezTo>
                <a:cubicBezTo>
                  <a:pt x="2183786" y="1264605"/>
                  <a:pt x="2181118" y="1250489"/>
                  <a:pt x="2172832" y="1239836"/>
                </a:cubicBezTo>
                <a:cubicBezTo>
                  <a:pt x="2159731" y="1222992"/>
                  <a:pt x="2141078" y="1211085"/>
                  <a:pt x="2127565" y="1194569"/>
                </a:cubicBezTo>
                <a:cubicBezTo>
                  <a:pt x="2030104" y="1075450"/>
                  <a:pt x="2138596" y="1187493"/>
                  <a:pt x="2064190" y="1113087"/>
                </a:cubicBezTo>
                <a:cubicBezTo>
                  <a:pt x="2058155" y="1101016"/>
                  <a:pt x="2051400" y="1089279"/>
                  <a:pt x="2046084" y="1076874"/>
                </a:cubicBezTo>
                <a:cubicBezTo>
                  <a:pt x="2042325" y="1068102"/>
                  <a:pt x="2041765" y="1057999"/>
                  <a:pt x="2037030" y="1049713"/>
                </a:cubicBezTo>
                <a:cubicBezTo>
                  <a:pt x="2029544" y="1036612"/>
                  <a:pt x="2018923" y="1025570"/>
                  <a:pt x="2009870" y="1013499"/>
                </a:cubicBezTo>
                <a:cubicBezTo>
                  <a:pt x="1995858" y="971467"/>
                  <a:pt x="1994962" y="964511"/>
                  <a:pt x="1964602" y="913911"/>
                </a:cubicBezTo>
                <a:cubicBezTo>
                  <a:pt x="1955549" y="898822"/>
                  <a:pt x="1944723" y="884663"/>
                  <a:pt x="1937442" y="868644"/>
                </a:cubicBezTo>
                <a:cubicBezTo>
                  <a:pt x="1893445" y="771850"/>
                  <a:pt x="1947482" y="851854"/>
                  <a:pt x="1892175" y="778109"/>
                </a:cubicBezTo>
                <a:cubicBezTo>
                  <a:pt x="1869415" y="709835"/>
                  <a:pt x="1900118" y="793997"/>
                  <a:pt x="1865014" y="723788"/>
                </a:cubicBezTo>
                <a:cubicBezTo>
                  <a:pt x="1860746" y="715252"/>
                  <a:pt x="1860485" y="705030"/>
                  <a:pt x="1855961" y="696628"/>
                </a:cubicBezTo>
                <a:cubicBezTo>
                  <a:pt x="1839276" y="665641"/>
                  <a:pt x="1812770" y="639480"/>
                  <a:pt x="1801640" y="606093"/>
                </a:cubicBezTo>
                <a:cubicBezTo>
                  <a:pt x="1798622" y="597040"/>
                  <a:pt x="1797644" y="587026"/>
                  <a:pt x="1792586" y="578933"/>
                </a:cubicBezTo>
                <a:cubicBezTo>
                  <a:pt x="1782345" y="562547"/>
                  <a:pt x="1767967" y="549125"/>
                  <a:pt x="1756373" y="533666"/>
                </a:cubicBezTo>
                <a:cubicBezTo>
                  <a:pt x="1749844" y="524961"/>
                  <a:pt x="1744795" y="515210"/>
                  <a:pt x="1738266" y="506505"/>
                </a:cubicBezTo>
                <a:cubicBezTo>
                  <a:pt x="1726672" y="491046"/>
                  <a:pt x="1714123" y="476327"/>
                  <a:pt x="1702052" y="461238"/>
                </a:cubicBezTo>
                <a:cubicBezTo>
                  <a:pt x="1655339" y="321099"/>
                  <a:pt x="1714172" y="460543"/>
                  <a:pt x="1656785" y="388810"/>
                </a:cubicBezTo>
                <a:cubicBezTo>
                  <a:pt x="1650823" y="381358"/>
                  <a:pt x="1651999" y="370186"/>
                  <a:pt x="1647731" y="361650"/>
                </a:cubicBezTo>
                <a:cubicBezTo>
                  <a:pt x="1631722" y="329632"/>
                  <a:pt x="1626493" y="335363"/>
                  <a:pt x="1602464" y="307329"/>
                </a:cubicBezTo>
                <a:cubicBezTo>
                  <a:pt x="1592644" y="295872"/>
                  <a:pt x="1583300" y="283911"/>
                  <a:pt x="1575303" y="271115"/>
                </a:cubicBezTo>
                <a:cubicBezTo>
                  <a:pt x="1568150" y="259670"/>
                  <a:pt x="1565979" y="245148"/>
                  <a:pt x="1557196" y="234901"/>
                </a:cubicBezTo>
                <a:cubicBezTo>
                  <a:pt x="1547376" y="223445"/>
                  <a:pt x="1532338" y="217677"/>
                  <a:pt x="1520983" y="207741"/>
                </a:cubicBezTo>
                <a:cubicBezTo>
                  <a:pt x="1468107" y="161475"/>
                  <a:pt x="1506506" y="178772"/>
                  <a:pt x="1457608" y="162474"/>
                </a:cubicBezTo>
                <a:cubicBezTo>
                  <a:pt x="1443856" y="153306"/>
                  <a:pt x="1390628" y="114577"/>
                  <a:pt x="1367074" y="108153"/>
                </a:cubicBezTo>
                <a:cubicBezTo>
                  <a:pt x="1346486" y="102538"/>
                  <a:pt x="1324790" y="102344"/>
                  <a:pt x="1303699" y="99099"/>
                </a:cubicBezTo>
                <a:cubicBezTo>
                  <a:pt x="1285556" y="96308"/>
                  <a:pt x="1267486" y="93064"/>
                  <a:pt x="1249379" y="90046"/>
                </a:cubicBezTo>
                <a:cubicBezTo>
                  <a:pt x="1161324" y="60693"/>
                  <a:pt x="1254318" y="88992"/>
                  <a:pt x="1041149" y="71939"/>
                </a:cubicBezTo>
                <a:cubicBezTo>
                  <a:pt x="1025810" y="70712"/>
                  <a:pt x="1010971" y="65904"/>
                  <a:pt x="995882" y="62886"/>
                </a:cubicBezTo>
                <a:cubicBezTo>
                  <a:pt x="983811" y="56850"/>
                  <a:pt x="972073" y="50095"/>
                  <a:pt x="959668" y="44779"/>
                </a:cubicBezTo>
                <a:cubicBezTo>
                  <a:pt x="950896" y="41020"/>
                  <a:pt x="941043" y="39993"/>
                  <a:pt x="932507" y="35725"/>
                </a:cubicBezTo>
                <a:cubicBezTo>
                  <a:pt x="862312" y="627"/>
                  <a:pt x="946450" y="31318"/>
                  <a:pt x="878186" y="8565"/>
                </a:cubicBezTo>
                <a:cubicBezTo>
                  <a:pt x="801524" y="18147"/>
                  <a:pt x="804250" y="4038"/>
                  <a:pt x="769545" y="8565"/>
                </a:cubicBezTo>
                <a:close/>
              </a:path>
            </a:pathLst>
          </a:custGeom>
          <a:noFill/>
          <a:ln w="38100" cap="flat" cmpd="sng" algn="ctr">
            <a:solidFill>
              <a:srgbClr val="7030A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958016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solidFill>
                  <a:srgbClr val="C00000"/>
                </a:solidFill>
                <a:latin typeface="+mj-lt"/>
                <a:ea typeface="黑体" pitchFamily="2" charset="-122"/>
              </a:rPr>
              <a:t>注意</a:t>
            </a:r>
            <a:r>
              <a:rPr lang="en-US" altLang="zh-CN" sz="2400" i="1" dirty="0">
                <a:solidFill>
                  <a:srgbClr val="C00000"/>
                </a:solidFill>
                <a:latin typeface="+mj-lt"/>
                <a:ea typeface="黑体" pitchFamily="2" charset="-122"/>
              </a:rPr>
              <a:t>:</a:t>
            </a:r>
            <a:r>
              <a:rPr lang="zh-CN" altLang="en-US" sz="2400" dirty="0">
                <a:latin typeface="+mj-lt"/>
                <a:ea typeface="黑体" pitchFamily="2" charset="-122"/>
              </a:rPr>
              <a:t>通过割的净流可能包括顶点间的负网络流。但割的容量完全由非负值组成。换句话说，</a:t>
            </a:r>
            <a:r>
              <a:rPr lang="zh-CN" altLang="en-US" sz="2400" dirty="0">
                <a:solidFill>
                  <a:srgbClr val="FF0000"/>
                </a:solidFill>
                <a:latin typeface="+mj-lt"/>
                <a:ea typeface="黑体" pitchFamily="2" charset="-122"/>
              </a:rPr>
              <a:t>穿过割</a:t>
            </a:r>
            <a:r>
              <a:rPr lang="en-US" altLang="zh-CN" sz="2400" dirty="0">
                <a:solidFill>
                  <a:srgbClr val="FF0000"/>
                </a:solidFill>
                <a:latin typeface="+mj-lt"/>
                <a:ea typeface="黑体" pitchFamily="2" charset="-122"/>
              </a:rPr>
              <a:t>(</a:t>
            </a:r>
            <a:r>
              <a:rPr lang="en-US" altLang="zh-CN" sz="2400" i="1" dirty="0">
                <a:solidFill>
                  <a:srgbClr val="FF0000"/>
                </a:solidFill>
                <a:latin typeface="+mj-lt"/>
                <a:ea typeface="黑体" pitchFamily="2" charset="-122"/>
              </a:rPr>
              <a:t>S,T</a:t>
            </a:r>
            <a:r>
              <a:rPr lang="en-US" altLang="zh-CN" sz="2400" dirty="0">
                <a:solidFill>
                  <a:srgbClr val="FF0000"/>
                </a:solidFill>
                <a:latin typeface="+mj-lt"/>
                <a:ea typeface="黑体" pitchFamily="2" charset="-122"/>
              </a:rPr>
              <a:t>)</a:t>
            </a:r>
            <a:r>
              <a:rPr lang="zh-CN" altLang="en-US" sz="2400" dirty="0">
                <a:solidFill>
                  <a:srgbClr val="FF0000"/>
                </a:solidFill>
                <a:latin typeface="+mj-lt"/>
                <a:ea typeface="黑体" pitchFamily="2" charset="-122"/>
              </a:rPr>
              <a:t>的净流由双向的正网络流组成。</a:t>
            </a:r>
            <a:r>
              <a:rPr lang="zh-CN" altLang="en-US" sz="2400" dirty="0">
                <a:latin typeface="+mj-lt"/>
                <a:ea typeface="黑体" pitchFamily="2" charset="-122"/>
              </a:rPr>
              <a:t>在加上从</a:t>
            </a:r>
            <a:r>
              <a:rPr lang="en-US" altLang="zh-CN" sz="2400" i="1" dirty="0">
                <a:latin typeface="+mj-lt"/>
                <a:ea typeface="黑体" pitchFamily="2" charset="-122"/>
              </a:rPr>
              <a:t>S</a:t>
            </a:r>
            <a:r>
              <a:rPr lang="zh-CN" altLang="en-US" sz="2400" dirty="0">
                <a:latin typeface="+mj-lt"/>
                <a:ea typeface="黑体" pitchFamily="2" charset="-122"/>
              </a:rPr>
              <a:t>到</a:t>
            </a:r>
            <a:r>
              <a:rPr lang="en-US" altLang="zh-CN" sz="2400" i="1" dirty="0">
                <a:latin typeface="+mj-lt"/>
                <a:ea typeface="黑体" pitchFamily="2" charset="-122"/>
              </a:rPr>
              <a:t>T</a:t>
            </a:r>
            <a:r>
              <a:rPr lang="zh-CN" altLang="en-US" sz="2400" dirty="0">
                <a:latin typeface="+mj-lt"/>
                <a:ea typeface="黑体" pitchFamily="2" charset="-122"/>
              </a:rPr>
              <a:t>的正网络流的同时，减去从</a:t>
            </a:r>
            <a:r>
              <a:rPr lang="en-US" altLang="zh-CN" sz="2400" i="1" dirty="0">
                <a:latin typeface="+mj-lt"/>
                <a:ea typeface="黑体" pitchFamily="2" charset="-122"/>
              </a:rPr>
              <a:t>T</a:t>
            </a:r>
            <a:r>
              <a:rPr lang="zh-CN" altLang="en-US" sz="2400" dirty="0">
                <a:latin typeface="+mj-lt"/>
                <a:ea typeface="黑体" pitchFamily="2" charset="-122"/>
              </a:rPr>
              <a:t>到</a:t>
            </a:r>
            <a:r>
              <a:rPr lang="en-US" altLang="zh-CN" sz="2400" i="1" dirty="0">
                <a:latin typeface="+mj-lt"/>
                <a:ea typeface="黑体" pitchFamily="2" charset="-122"/>
              </a:rPr>
              <a:t>S</a:t>
            </a:r>
            <a:r>
              <a:rPr lang="zh-CN" altLang="en-US" sz="2400" dirty="0">
                <a:latin typeface="+mj-lt"/>
                <a:ea typeface="黑体" pitchFamily="2" charset="-122"/>
              </a:rPr>
              <a:t>的正网络流。另一方面，</a:t>
            </a:r>
            <a:r>
              <a:rPr lang="zh-CN" altLang="en-US" sz="2400" dirty="0">
                <a:solidFill>
                  <a:srgbClr val="FF0000"/>
                </a:solidFill>
                <a:latin typeface="+mj-lt"/>
                <a:ea typeface="黑体" pitchFamily="2" charset="-122"/>
              </a:rPr>
              <a:t>割</a:t>
            </a:r>
            <a:r>
              <a:rPr lang="en-US" altLang="zh-CN" sz="2400" dirty="0">
                <a:solidFill>
                  <a:srgbClr val="FF0000"/>
                </a:solidFill>
                <a:latin typeface="+mj-lt"/>
                <a:ea typeface="黑体" pitchFamily="2" charset="-122"/>
              </a:rPr>
              <a:t>(</a:t>
            </a:r>
            <a:r>
              <a:rPr lang="en-US" altLang="zh-CN" sz="2400" i="1" dirty="0">
                <a:solidFill>
                  <a:srgbClr val="FF0000"/>
                </a:solidFill>
                <a:latin typeface="+mj-lt"/>
                <a:ea typeface="黑体" pitchFamily="2" charset="-122"/>
              </a:rPr>
              <a:t>S,T</a:t>
            </a:r>
            <a:r>
              <a:rPr lang="en-US" altLang="zh-CN" sz="2400" dirty="0">
                <a:solidFill>
                  <a:srgbClr val="FF0000"/>
                </a:solidFill>
                <a:latin typeface="+mj-lt"/>
                <a:ea typeface="黑体" pitchFamily="2" charset="-122"/>
              </a:rPr>
              <a:t>)</a:t>
            </a:r>
            <a:r>
              <a:rPr lang="zh-CN" altLang="en-US" sz="2400" dirty="0">
                <a:solidFill>
                  <a:srgbClr val="FF0000"/>
                </a:solidFill>
                <a:latin typeface="+mj-lt"/>
                <a:ea typeface="黑体" pitchFamily="2" charset="-122"/>
              </a:rPr>
              <a:t>的容量仅仅由</a:t>
            </a:r>
            <a:r>
              <a:rPr lang="en-US" altLang="zh-CN" sz="2400" dirty="0">
                <a:solidFill>
                  <a:srgbClr val="FF0000"/>
                </a:solidFill>
                <a:latin typeface="+mj-lt"/>
                <a:ea typeface="黑体" pitchFamily="2" charset="-122"/>
              </a:rPr>
              <a:t>S</a:t>
            </a:r>
            <a:r>
              <a:rPr lang="zh-CN" altLang="en-US" sz="2400" dirty="0">
                <a:solidFill>
                  <a:srgbClr val="FF0000"/>
                </a:solidFill>
                <a:latin typeface="+mj-lt"/>
                <a:ea typeface="黑体" pitchFamily="2" charset="-122"/>
              </a:rPr>
              <a:t>到</a:t>
            </a:r>
            <a:r>
              <a:rPr lang="en-US" altLang="zh-CN" sz="2400" i="1" dirty="0">
                <a:solidFill>
                  <a:srgbClr val="FF0000"/>
                </a:solidFill>
                <a:latin typeface="+mj-lt"/>
                <a:ea typeface="黑体" pitchFamily="2" charset="-122"/>
              </a:rPr>
              <a:t>T</a:t>
            </a:r>
            <a:r>
              <a:rPr lang="zh-CN" altLang="en-US" sz="2400" dirty="0">
                <a:solidFill>
                  <a:srgbClr val="FF0000"/>
                </a:solidFill>
                <a:latin typeface="+mj-lt"/>
                <a:ea typeface="黑体" pitchFamily="2" charset="-122"/>
              </a:rPr>
              <a:t>的边计算而得</a:t>
            </a:r>
            <a:r>
              <a:rPr lang="zh-CN" altLang="en-US" sz="2400" dirty="0">
                <a:latin typeface="+mj-lt"/>
                <a:ea typeface="黑体" pitchFamily="2" charset="-122"/>
              </a:rPr>
              <a:t>。从</a:t>
            </a:r>
            <a:r>
              <a:rPr lang="en-US" altLang="zh-CN" sz="2400" i="1" dirty="0">
                <a:latin typeface="+mj-lt"/>
                <a:ea typeface="黑体" pitchFamily="2" charset="-122"/>
              </a:rPr>
              <a:t>T</a:t>
            </a:r>
            <a:r>
              <a:rPr lang="zh-CN" altLang="en-US" sz="2400" dirty="0">
                <a:latin typeface="+mj-lt"/>
                <a:ea typeface="黑体" pitchFamily="2" charset="-122"/>
              </a:rPr>
              <a:t>到</a:t>
            </a:r>
            <a:r>
              <a:rPr lang="en-US" altLang="zh-CN" sz="2400" i="1" dirty="0">
                <a:latin typeface="+mj-lt"/>
                <a:ea typeface="黑体" pitchFamily="2" charset="-122"/>
              </a:rPr>
              <a:t>S</a:t>
            </a:r>
            <a:r>
              <a:rPr lang="zh-CN" altLang="en-US" sz="2400" dirty="0">
                <a:latin typeface="+mj-lt"/>
                <a:ea typeface="黑体" pitchFamily="2" charset="-122"/>
              </a:rPr>
              <a:t>的边在计算</a:t>
            </a:r>
            <a:r>
              <a:rPr lang="en-US" altLang="zh-CN" sz="2400" i="1" dirty="0">
                <a:latin typeface="+mj-lt"/>
                <a:ea typeface="黑体" pitchFamily="2" charset="-122"/>
              </a:rPr>
              <a:t>c(S,T)</a:t>
            </a:r>
            <a:r>
              <a:rPr lang="zh-CN" altLang="en-US" sz="2400" dirty="0">
                <a:latin typeface="+mj-lt"/>
                <a:ea typeface="黑体" pitchFamily="2" charset="-122"/>
              </a:rPr>
              <a:t>时是不包括在内的。下面引理说明，流经任意割的净流是相同的，且与流的值相等</a:t>
            </a:r>
            <a:r>
              <a:rPr lang="en-US" altLang="zh-CN" sz="2400" dirty="0">
                <a:latin typeface="+mj-lt"/>
                <a:ea typeface="黑体" pitchFamily="2" charset="-122"/>
              </a:rPr>
              <a:t>.</a:t>
            </a: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
        <p:nvSpPr>
          <p:cNvPr id="5" name="TextBox 4"/>
          <p:cNvSpPr txBox="1"/>
          <p:nvPr/>
        </p:nvSpPr>
        <p:spPr>
          <a:xfrm>
            <a:off x="4953000" y="4495800"/>
            <a:ext cx="4191000" cy="1938992"/>
          </a:xfrm>
          <a:prstGeom prst="rect">
            <a:avLst/>
          </a:prstGeom>
          <a:gradFill>
            <a:gsLst>
              <a:gs pos="0">
                <a:srgbClr val="FFEFD1"/>
              </a:gs>
              <a:gs pos="64999">
                <a:srgbClr val="F0EBD5"/>
              </a:gs>
              <a:gs pos="100000">
                <a:srgbClr val="D1C39F"/>
              </a:gs>
            </a:gsLst>
            <a:lin ang="5400000" scaled="0"/>
          </a:gradFill>
        </p:spPr>
        <p:txBody>
          <a:bodyPr wrap="square" rtlCol="0">
            <a:spAutoFit/>
          </a:bodyPr>
          <a:lstStyle/>
          <a:p>
            <a:r>
              <a:rPr lang="zh-CN" altLang="en-US" sz="2400" dirty="0">
                <a:latin typeface="+mj-lt"/>
              </a:rPr>
              <a:t>割的净流为</a:t>
            </a:r>
            <a:endParaRPr lang="en-US" altLang="zh-CN" sz="2400" dirty="0">
              <a:latin typeface="+mj-lt"/>
            </a:endParaRPr>
          </a:p>
          <a:p>
            <a:r>
              <a:rPr lang="en-US" altLang="zh-CN" sz="2400" i="1" dirty="0">
                <a:latin typeface="+mj-lt"/>
              </a:rPr>
              <a:t>f(v1,v3)+f(v2,v4)-</a:t>
            </a:r>
            <a:r>
              <a:rPr lang="en-US" altLang="zh-CN" sz="2400" i="1" dirty="0"/>
              <a:t>f(v3,v2)</a:t>
            </a:r>
            <a:r>
              <a:rPr lang="en-US" altLang="zh-CN" sz="2400" i="1" dirty="0">
                <a:latin typeface="+mj-lt"/>
              </a:rPr>
              <a:t>=4+4-4=4</a:t>
            </a:r>
            <a:r>
              <a:rPr lang="en-US" altLang="zh-CN" sz="2400" dirty="0">
                <a:latin typeface="+mj-lt"/>
              </a:rPr>
              <a:t>.</a:t>
            </a:r>
          </a:p>
          <a:p>
            <a:r>
              <a:rPr lang="en-US" altLang="zh-CN" sz="2400" dirty="0">
                <a:latin typeface="+mj-lt"/>
              </a:rPr>
              <a:t> </a:t>
            </a:r>
            <a:r>
              <a:rPr lang="zh-CN" altLang="en-US" sz="2400" dirty="0">
                <a:latin typeface="+mj-lt"/>
              </a:rPr>
              <a:t>割的容量为</a:t>
            </a:r>
            <a:r>
              <a:rPr lang="en-US" altLang="zh-CN" sz="2400" i="1" dirty="0">
                <a:latin typeface="+mj-lt"/>
              </a:rPr>
              <a:t>c(v1,v3)+c(v2,v4)=12+14=26</a:t>
            </a:r>
            <a:r>
              <a:rPr lang="en-US" altLang="zh-CN" sz="2400" dirty="0">
                <a:latin typeface="+mj-lt"/>
              </a:rPr>
              <a:t>.</a:t>
            </a:r>
            <a:endParaRPr lang="zh-CN" altLang="en-US" sz="2400" dirty="0">
              <a:latin typeface="+mj-lt"/>
            </a:endParaRPr>
          </a:p>
        </p:txBody>
      </p:sp>
      <p:grpSp>
        <p:nvGrpSpPr>
          <p:cNvPr id="6" name="Group 93"/>
          <p:cNvGrpSpPr>
            <a:grpSpLocks/>
          </p:cNvGrpSpPr>
          <p:nvPr/>
        </p:nvGrpSpPr>
        <p:grpSpPr bwMode="auto">
          <a:xfrm>
            <a:off x="265377" y="3962400"/>
            <a:ext cx="4114800" cy="2514600"/>
            <a:chOff x="2928" y="1200"/>
            <a:chExt cx="2592" cy="1584"/>
          </a:xfrm>
        </p:grpSpPr>
        <p:sp>
          <p:nvSpPr>
            <p:cNvPr id="7" name="Text Box 65"/>
            <p:cNvSpPr txBox="1">
              <a:spLocks noChangeArrowheads="1"/>
            </p:cNvSpPr>
            <p:nvPr/>
          </p:nvSpPr>
          <p:spPr bwMode="auto">
            <a:xfrm>
              <a:off x="4200" y="1950"/>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4/9</a:t>
              </a:r>
            </a:p>
          </p:txBody>
        </p:sp>
        <p:grpSp>
          <p:nvGrpSpPr>
            <p:cNvPr id="8" name="Group 92"/>
            <p:cNvGrpSpPr>
              <a:grpSpLocks/>
            </p:cNvGrpSpPr>
            <p:nvPr/>
          </p:nvGrpSpPr>
          <p:grpSpPr bwMode="auto">
            <a:xfrm>
              <a:off x="2928" y="1200"/>
              <a:ext cx="2592" cy="1584"/>
              <a:chOff x="2928" y="1200"/>
              <a:chExt cx="2592" cy="1584"/>
            </a:xfrm>
          </p:grpSpPr>
          <p:sp>
            <p:nvSpPr>
              <p:cNvPr id="9" name="Oval 67"/>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10" name="Oval 68"/>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11" name="Oval 69"/>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12" name="Oval 70"/>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13" name="Oval 71"/>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14" name="Oval 72"/>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5" name="Line 73"/>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74"/>
              <p:cNvSpPr>
                <a:spLocks noChangeShapeType="1"/>
              </p:cNvSpPr>
              <p:nvPr/>
            </p:nvSpPr>
            <p:spPr bwMode="auto">
              <a:xfrm>
                <a:off x="3984" y="158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75"/>
              <p:cNvSpPr>
                <a:spLocks noChangeShapeType="1"/>
              </p:cNvSpPr>
              <p:nvPr/>
            </p:nvSpPr>
            <p:spPr bwMode="auto">
              <a:xfrm>
                <a:off x="4727" y="1625"/>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76"/>
              <p:cNvSpPr>
                <a:spLocks noChangeShapeType="1"/>
              </p:cNvSpPr>
              <p:nvPr/>
            </p:nvSpPr>
            <p:spPr bwMode="auto">
              <a:xfrm>
                <a:off x="3140" y="2099"/>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77"/>
              <p:cNvSpPr>
                <a:spLocks noChangeShapeType="1"/>
              </p:cNvSpPr>
              <p:nvPr/>
            </p:nvSpPr>
            <p:spPr bwMode="auto">
              <a:xfrm>
                <a:off x="3986" y="2453"/>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78"/>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79"/>
              <p:cNvSpPr>
                <a:spLocks noChangeShapeType="1"/>
              </p:cNvSpPr>
              <p:nvPr/>
            </p:nvSpPr>
            <p:spPr bwMode="auto">
              <a:xfrm>
                <a:off x="37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80"/>
              <p:cNvSpPr>
                <a:spLocks noChangeShapeType="1"/>
              </p:cNvSpPr>
              <p:nvPr/>
            </p:nvSpPr>
            <p:spPr bwMode="auto">
              <a:xfrm flipV="1">
                <a:off x="3933"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81"/>
              <p:cNvSpPr>
                <a:spLocks noChangeShapeType="1"/>
              </p:cNvSpPr>
              <p:nvPr/>
            </p:nvSpPr>
            <p:spPr bwMode="auto">
              <a:xfrm flipV="1">
                <a:off x="46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82"/>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83"/>
              <p:cNvSpPr txBox="1">
                <a:spLocks noChangeArrowheads="1"/>
              </p:cNvSpPr>
              <p:nvPr/>
            </p:nvSpPr>
            <p:spPr bwMode="auto">
              <a:xfrm>
                <a:off x="3120" y="144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4/16</a:t>
                </a:r>
              </a:p>
            </p:txBody>
          </p:sp>
          <p:sp>
            <p:nvSpPr>
              <p:cNvPr id="26" name="Text Box 84"/>
              <p:cNvSpPr txBox="1">
                <a:spLocks noChangeArrowheads="1"/>
              </p:cNvSpPr>
              <p:nvPr/>
            </p:nvSpPr>
            <p:spPr bwMode="auto">
              <a:xfrm>
                <a:off x="3168" y="22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27" name="Text Box 85"/>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4/12</a:t>
                </a:r>
              </a:p>
            </p:txBody>
          </p:sp>
          <p:sp>
            <p:nvSpPr>
              <p:cNvPr id="28" name="Text Box 86"/>
              <p:cNvSpPr txBox="1">
                <a:spLocks noChangeArrowheads="1"/>
              </p:cNvSpPr>
              <p:nvPr/>
            </p:nvSpPr>
            <p:spPr bwMode="auto">
              <a:xfrm>
                <a:off x="3457" y="186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29" name="Text Box 87"/>
              <p:cNvSpPr txBox="1">
                <a:spLocks noChangeArrowheads="1"/>
              </p:cNvSpPr>
              <p:nvPr/>
            </p:nvSpPr>
            <p:spPr bwMode="auto">
              <a:xfrm>
                <a:off x="3888" y="18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a:t>
                </a:r>
              </a:p>
            </p:txBody>
          </p:sp>
          <p:sp>
            <p:nvSpPr>
              <p:cNvPr id="30" name="Text Box 88"/>
              <p:cNvSpPr txBox="1">
                <a:spLocks noChangeArrowheads="1"/>
              </p:cNvSpPr>
              <p:nvPr/>
            </p:nvSpPr>
            <p:spPr bwMode="auto">
              <a:xfrm>
                <a:off x="4885" y="1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31" name="Text Box 89"/>
              <p:cNvSpPr txBox="1">
                <a:spLocks noChangeArrowheads="1"/>
              </p:cNvSpPr>
              <p:nvPr/>
            </p:nvSpPr>
            <p:spPr bwMode="auto">
              <a:xfrm>
                <a:off x="4938" y="221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4/4</a:t>
                </a:r>
              </a:p>
            </p:txBody>
          </p:sp>
          <p:sp>
            <p:nvSpPr>
              <p:cNvPr id="32" name="Text Box 90"/>
              <p:cNvSpPr txBox="1">
                <a:spLocks noChangeArrowheads="1"/>
              </p:cNvSpPr>
              <p:nvPr/>
            </p:nvSpPr>
            <p:spPr bwMode="auto">
              <a:xfrm>
                <a:off x="4663" y="183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33" name="Text Box 91"/>
              <p:cNvSpPr txBox="1">
                <a:spLocks noChangeArrowheads="1"/>
              </p:cNvSpPr>
              <p:nvPr/>
            </p:nvSpPr>
            <p:spPr bwMode="auto">
              <a:xfrm>
                <a:off x="4032" y="2496"/>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4/14</a:t>
                </a:r>
              </a:p>
            </p:txBody>
          </p:sp>
        </p:grpSp>
      </p:grpSp>
      <p:sp>
        <p:nvSpPr>
          <p:cNvPr id="34" name="任意多边形 33"/>
          <p:cNvSpPr/>
          <p:nvPr/>
        </p:nvSpPr>
        <p:spPr bwMode="auto">
          <a:xfrm>
            <a:off x="56274" y="4039737"/>
            <a:ext cx="2336252" cy="2497722"/>
          </a:xfrm>
          <a:custGeom>
            <a:avLst/>
            <a:gdLst>
              <a:gd name="connsiteX0" fmla="*/ 139727 w 2336252"/>
              <a:gd name="connsiteY0" fmla="*/ 286603 h 2497722"/>
              <a:gd name="connsiteX1" fmla="*/ 160199 w 2336252"/>
              <a:gd name="connsiteY1" fmla="*/ 238836 h 2497722"/>
              <a:gd name="connsiteX2" fmla="*/ 180670 w 2336252"/>
              <a:gd name="connsiteY2" fmla="*/ 232012 h 2497722"/>
              <a:gd name="connsiteX3" fmla="*/ 214790 w 2336252"/>
              <a:gd name="connsiteY3" fmla="*/ 197893 h 2497722"/>
              <a:gd name="connsiteX4" fmla="*/ 235261 w 2336252"/>
              <a:gd name="connsiteY4" fmla="*/ 191069 h 2497722"/>
              <a:gd name="connsiteX5" fmla="*/ 289852 w 2336252"/>
              <a:gd name="connsiteY5" fmla="*/ 170597 h 2497722"/>
              <a:gd name="connsiteX6" fmla="*/ 337619 w 2336252"/>
              <a:gd name="connsiteY6" fmla="*/ 136478 h 2497722"/>
              <a:gd name="connsiteX7" fmla="*/ 358091 w 2336252"/>
              <a:gd name="connsiteY7" fmla="*/ 129654 h 2497722"/>
              <a:gd name="connsiteX8" fmla="*/ 399034 w 2336252"/>
              <a:gd name="connsiteY8" fmla="*/ 109182 h 2497722"/>
              <a:gd name="connsiteX9" fmla="*/ 419506 w 2336252"/>
              <a:gd name="connsiteY9" fmla="*/ 95535 h 2497722"/>
              <a:gd name="connsiteX10" fmla="*/ 439978 w 2336252"/>
              <a:gd name="connsiteY10" fmla="*/ 88711 h 2497722"/>
              <a:gd name="connsiteX11" fmla="*/ 474097 w 2336252"/>
              <a:gd name="connsiteY11" fmla="*/ 75063 h 2497722"/>
              <a:gd name="connsiteX12" fmla="*/ 508216 w 2336252"/>
              <a:gd name="connsiteY12" fmla="*/ 68239 h 2497722"/>
              <a:gd name="connsiteX13" fmla="*/ 583279 w 2336252"/>
              <a:gd name="connsiteY13" fmla="*/ 54591 h 2497722"/>
              <a:gd name="connsiteX14" fmla="*/ 740228 w 2336252"/>
              <a:gd name="connsiteY14" fmla="*/ 13648 h 2497722"/>
              <a:gd name="connsiteX15" fmla="*/ 863058 w 2336252"/>
              <a:gd name="connsiteY15" fmla="*/ 0 h 2497722"/>
              <a:gd name="connsiteX16" fmla="*/ 1449912 w 2336252"/>
              <a:gd name="connsiteY16" fmla="*/ 6824 h 2497722"/>
              <a:gd name="connsiteX17" fmla="*/ 1511327 w 2336252"/>
              <a:gd name="connsiteY17" fmla="*/ 20472 h 2497722"/>
              <a:gd name="connsiteX18" fmla="*/ 1572742 w 2336252"/>
              <a:gd name="connsiteY18" fmla="*/ 27296 h 2497722"/>
              <a:gd name="connsiteX19" fmla="*/ 1613685 w 2336252"/>
              <a:gd name="connsiteY19" fmla="*/ 40944 h 2497722"/>
              <a:gd name="connsiteX20" fmla="*/ 1722867 w 2336252"/>
              <a:gd name="connsiteY20" fmla="*/ 54591 h 2497722"/>
              <a:gd name="connsiteX21" fmla="*/ 1743339 w 2336252"/>
              <a:gd name="connsiteY21" fmla="*/ 75063 h 2497722"/>
              <a:gd name="connsiteX22" fmla="*/ 1770634 w 2336252"/>
              <a:gd name="connsiteY22" fmla="*/ 81887 h 2497722"/>
              <a:gd name="connsiteX23" fmla="*/ 1777458 w 2336252"/>
              <a:gd name="connsiteY23" fmla="*/ 109182 h 2497722"/>
              <a:gd name="connsiteX24" fmla="*/ 1811578 w 2336252"/>
              <a:gd name="connsiteY24" fmla="*/ 122830 h 2497722"/>
              <a:gd name="connsiteX25" fmla="*/ 1825225 w 2336252"/>
              <a:gd name="connsiteY25" fmla="*/ 143302 h 2497722"/>
              <a:gd name="connsiteX26" fmla="*/ 1852521 w 2336252"/>
              <a:gd name="connsiteY26" fmla="*/ 163773 h 2497722"/>
              <a:gd name="connsiteX27" fmla="*/ 1893464 w 2336252"/>
              <a:gd name="connsiteY27" fmla="*/ 204717 h 2497722"/>
              <a:gd name="connsiteX28" fmla="*/ 1913936 w 2336252"/>
              <a:gd name="connsiteY28" fmla="*/ 238836 h 2497722"/>
              <a:gd name="connsiteX29" fmla="*/ 1961703 w 2336252"/>
              <a:gd name="connsiteY29" fmla="*/ 286603 h 2497722"/>
              <a:gd name="connsiteX30" fmla="*/ 1995822 w 2336252"/>
              <a:gd name="connsiteY30" fmla="*/ 320723 h 2497722"/>
              <a:gd name="connsiteX31" fmla="*/ 2043590 w 2336252"/>
              <a:gd name="connsiteY31" fmla="*/ 361666 h 2497722"/>
              <a:gd name="connsiteX32" fmla="*/ 2077709 w 2336252"/>
              <a:gd name="connsiteY32" fmla="*/ 395785 h 2497722"/>
              <a:gd name="connsiteX33" fmla="*/ 2084533 w 2336252"/>
              <a:gd name="connsiteY33" fmla="*/ 416257 h 2497722"/>
              <a:gd name="connsiteX34" fmla="*/ 2118652 w 2336252"/>
              <a:gd name="connsiteY34" fmla="*/ 450376 h 2497722"/>
              <a:gd name="connsiteX35" fmla="*/ 2139124 w 2336252"/>
              <a:gd name="connsiteY35" fmla="*/ 477672 h 2497722"/>
              <a:gd name="connsiteX36" fmla="*/ 2159596 w 2336252"/>
              <a:gd name="connsiteY36" fmla="*/ 498144 h 2497722"/>
              <a:gd name="connsiteX37" fmla="*/ 2186891 w 2336252"/>
              <a:gd name="connsiteY37" fmla="*/ 552735 h 2497722"/>
              <a:gd name="connsiteX38" fmla="*/ 2221010 w 2336252"/>
              <a:gd name="connsiteY38" fmla="*/ 600502 h 2497722"/>
              <a:gd name="connsiteX39" fmla="*/ 2241482 w 2336252"/>
              <a:gd name="connsiteY39" fmla="*/ 620973 h 2497722"/>
              <a:gd name="connsiteX40" fmla="*/ 2261954 w 2336252"/>
              <a:gd name="connsiteY40" fmla="*/ 675564 h 2497722"/>
              <a:gd name="connsiteX41" fmla="*/ 2268778 w 2336252"/>
              <a:gd name="connsiteY41" fmla="*/ 709684 h 2497722"/>
              <a:gd name="connsiteX42" fmla="*/ 2282425 w 2336252"/>
              <a:gd name="connsiteY42" fmla="*/ 750627 h 2497722"/>
              <a:gd name="connsiteX43" fmla="*/ 2302897 w 2336252"/>
              <a:gd name="connsiteY43" fmla="*/ 825690 h 2497722"/>
              <a:gd name="connsiteX44" fmla="*/ 2309721 w 2336252"/>
              <a:gd name="connsiteY44" fmla="*/ 887105 h 2497722"/>
              <a:gd name="connsiteX45" fmla="*/ 2330193 w 2336252"/>
              <a:gd name="connsiteY45" fmla="*/ 1016759 h 2497722"/>
              <a:gd name="connsiteX46" fmla="*/ 2323369 w 2336252"/>
              <a:gd name="connsiteY46" fmla="*/ 1467135 h 2497722"/>
              <a:gd name="connsiteX47" fmla="*/ 2296073 w 2336252"/>
              <a:gd name="connsiteY47" fmla="*/ 1617260 h 2497722"/>
              <a:gd name="connsiteX48" fmla="*/ 2275602 w 2336252"/>
              <a:gd name="connsiteY48" fmla="*/ 1712794 h 2497722"/>
              <a:gd name="connsiteX49" fmla="*/ 2268778 w 2336252"/>
              <a:gd name="connsiteY49" fmla="*/ 1746914 h 2497722"/>
              <a:gd name="connsiteX50" fmla="*/ 2221010 w 2336252"/>
              <a:gd name="connsiteY50" fmla="*/ 1815153 h 2497722"/>
              <a:gd name="connsiteX51" fmla="*/ 2186891 w 2336252"/>
              <a:gd name="connsiteY51" fmla="*/ 1883391 h 2497722"/>
              <a:gd name="connsiteX52" fmla="*/ 2159596 w 2336252"/>
              <a:gd name="connsiteY52" fmla="*/ 1937982 h 2497722"/>
              <a:gd name="connsiteX53" fmla="*/ 2125476 w 2336252"/>
              <a:gd name="connsiteY53" fmla="*/ 1978926 h 2497722"/>
              <a:gd name="connsiteX54" fmla="*/ 2070885 w 2336252"/>
              <a:gd name="connsiteY54" fmla="*/ 2060812 h 2497722"/>
              <a:gd name="connsiteX55" fmla="*/ 2029942 w 2336252"/>
              <a:gd name="connsiteY55" fmla="*/ 2101756 h 2497722"/>
              <a:gd name="connsiteX56" fmla="*/ 2016294 w 2336252"/>
              <a:gd name="connsiteY56" fmla="*/ 2129051 h 2497722"/>
              <a:gd name="connsiteX57" fmla="*/ 1988999 w 2336252"/>
              <a:gd name="connsiteY57" fmla="*/ 2156347 h 2497722"/>
              <a:gd name="connsiteX58" fmla="*/ 1941231 w 2336252"/>
              <a:gd name="connsiteY58" fmla="*/ 2217762 h 2497722"/>
              <a:gd name="connsiteX59" fmla="*/ 1920760 w 2336252"/>
              <a:gd name="connsiteY59" fmla="*/ 2231409 h 2497722"/>
              <a:gd name="connsiteX60" fmla="*/ 1907112 w 2336252"/>
              <a:gd name="connsiteY60" fmla="*/ 2251881 h 2497722"/>
              <a:gd name="connsiteX61" fmla="*/ 1886640 w 2336252"/>
              <a:gd name="connsiteY61" fmla="*/ 2258705 h 2497722"/>
              <a:gd name="connsiteX62" fmla="*/ 1879816 w 2336252"/>
              <a:gd name="connsiteY62" fmla="*/ 2279176 h 2497722"/>
              <a:gd name="connsiteX63" fmla="*/ 1845697 w 2336252"/>
              <a:gd name="connsiteY63" fmla="*/ 2306472 h 2497722"/>
              <a:gd name="connsiteX64" fmla="*/ 1832049 w 2336252"/>
              <a:gd name="connsiteY64" fmla="*/ 2326944 h 2497722"/>
              <a:gd name="connsiteX65" fmla="*/ 1825225 w 2336252"/>
              <a:gd name="connsiteY65" fmla="*/ 2354239 h 2497722"/>
              <a:gd name="connsiteX66" fmla="*/ 1763810 w 2336252"/>
              <a:gd name="connsiteY66" fmla="*/ 2388359 h 2497722"/>
              <a:gd name="connsiteX67" fmla="*/ 1750163 w 2336252"/>
              <a:gd name="connsiteY67" fmla="*/ 2408830 h 2497722"/>
              <a:gd name="connsiteX68" fmla="*/ 1709219 w 2336252"/>
              <a:gd name="connsiteY68" fmla="*/ 2422478 h 2497722"/>
              <a:gd name="connsiteX69" fmla="*/ 1606861 w 2336252"/>
              <a:gd name="connsiteY69" fmla="*/ 2456597 h 2497722"/>
              <a:gd name="connsiteX70" fmla="*/ 1497679 w 2336252"/>
              <a:gd name="connsiteY70" fmla="*/ 2477069 h 2497722"/>
              <a:gd name="connsiteX71" fmla="*/ 1449912 w 2336252"/>
              <a:gd name="connsiteY71" fmla="*/ 2497541 h 2497722"/>
              <a:gd name="connsiteX72" fmla="*/ 1313434 w 2336252"/>
              <a:gd name="connsiteY72" fmla="*/ 2483893 h 2497722"/>
              <a:gd name="connsiteX73" fmla="*/ 1279315 w 2336252"/>
              <a:gd name="connsiteY73" fmla="*/ 2470245 h 2497722"/>
              <a:gd name="connsiteX74" fmla="*/ 1231548 w 2336252"/>
              <a:gd name="connsiteY74" fmla="*/ 2449773 h 2497722"/>
              <a:gd name="connsiteX75" fmla="*/ 1183781 w 2336252"/>
              <a:gd name="connsiteY75" fmla="*/ 2436126 h 2497722"/>
              <a:gd name="connsiteX76" fmla="*/ 1149661 w 2336252"/>
              <a:gd name="connsiteY76" fmla="*/ 2422478 h 2497722"/>
              <a:gd name="connsiteX77" fmla="*/ 1129190 w 2336252"/>
              <a:gd name="connsiteY77" fmla="*/ 2415654 h 2497722"/>
              <a:gd name="connsiteX78" fmla="*/ 1060951 w 2336252"/>
              <a:gd name="connsiteY78" fmla="*/ 2374711 h 2497722"/>
              <a:gd name="connsiteX79" fmla="*/ 1026831 w 2336252"/>
              <a:gd name="connsiteY79" fmla="*/ 2347415 h 2497722"/>
              <a:gd name="connsiteX80" fmla="*/ 951769 w 2336252"/>
              <a:gd name="connsiteY80" fmla="*/ 2306472 h 2497722"/>
              <a:gd name="connsiteX81" fmla="*/ 931297 w 2336252"/>
              <a:gd name="connsiteY81" fmla="*/ 2286000 h 2497722"/>
              <a:gd name="connsiteX82" fmla="*/ 910825 w 2336252"/>
              <a:gd name="connsiteY82" fmla="*/ 2272353 h 2497722"/>
              <a:gd name="connsiteX83" fmla="*/ 842587 w 2336252"/>
              <a:gd name="connsiteY83" fmla="*/ 2238233 h 2497722"/>
              <a:gd name="connsiteX84" fmla="*/ 794819 w 2336252"/>
              <a:gd name="connsiteY84" fmla="*/ 2197290 h 2497722"/>
              <a:gd name="connsiteX85" fmla="*/ 774348 w 2336252"/>
              <a:gd name="connsiteY85" fmla="*/ 2183642 h 2497722"/>
              <a:gd name="connsiteX86" fmla="*/ 747052 w 2336252"/>
              <a:gd name="connsiteY86" fmla="*/ 2156347 h 2497722"/>
              <a:gd name="connsiteX87" fmla="*/ 706109 w 2336252"/>
              <a:gd name="connsiteY87" fmla="*/ 2129051 h 2497722"/>
              <a:gd name="connsiteX88" fmla="*/ 671990 w 2336252"/>
              <a:gd name="connsiteY88" fmla="*/ 2108579 h 2497722"/>
              <a:gd name="connsiteX89" fmla="*/ 624222 w 2336252"/>
              <a:gd name="connsiteY89" fmla="*/ 2060812 h 2497722"/>
              <a:gd name="connsiteX90" fmla="*/ 576455 w 2336252"/>
              <a:gd name="connsiteY90" fmla="*/ 2019869 h 2497722"/>
              <a:gd name="connsiteX91" fmla="*/ 555984 w 2336252"/>
              <a:gd name="connsiteY91" fmla="*/ 2013045 h 2497722"/>
              <a:gd name="connsiteX92" fmla="*/ 528688 w 2336252"/>
              <a:gd name="connsiteY92" fmla="*/ 1992573 h 2497722"/>
              <a:gd name="connsiteX93" fmla="*/ 487745 w 2336252"/>
              <a:gd name="connsiteY93" fmla="*/ 1965278 h 2497722"/>
              <a:gd name="connsiteX94" fmla="*/ 433154 w 2336252"/>
              <a:gd name="connsiteY94" fmla="*/ 1910687 h 2497722"/>
              <a:gd name="connsiteX95" fmla="*/ 419506 w 2336252"/>
              <a:gd name="connsiteY95" fmla="*/ 1890215 h 2497722"/>
              <a:gd name="connsiteX96" fmla="*/ 344443 w 2336252"/>
              <a:gd name="connsiteY96" fmla="*/ 1856096 h 2497722"/>
              <a:gd name="connsiteX97" fmla="*/ 303500 w 2336252"/>
              <a:gd name="connsiteY97" fmla="*/ 1828800 h 2497722"/>
              <a:gd name="connsiteX98" fmla="*/ 289852 w 2336252"/>
              <a:gd name="connsiteY98" fmla="*/ 1801505 h 2497722"/>
              <a:gd name="connsiteX99" fmla="*/ 262557 w 2336252"/>
              <a:gd name="connsiteY99" fmla="*/ 1774209 h 2497722"/>
              <a:gd name="connsiteX100" fmla="*/ 221613 w 2336252"/>
              <a:gd name="connsiteY100" fmla="*/ 1726442 h 2497722"/>
              <a:gd name="connsiteX101" fmla="*/ 207966 w 2336252"/>
              <a:gd name="connsiteY101" fmla="*/ 1705970 h 2497722"/>
              <a:gd name="connsiteX102" fmla="*/ 201142 w 2336252"/>
              <a:gd name="connsiteY102" fmla="*/ 1685499 h 2497722"/>
              <a:gd name="connsiteX103" fmla="*/ 160199 w 2336252"/>
              <a:gd name="connsiteY103" fmla="*/ 1644556 h 2497722"/>
              <a:gd name="connsiteX104" fmla="*/ 112431 w 2336252"/>
              <a:gd name="connsiteY104" fmla="*/ 1535373 h 2497722"/>
              <a:gd name="connsiteX105" fmla="*/ 71488 w 2336252"/>
              <a:gd name="connsiteY105" fmla="*/ 1439839 h 2497722"/>
              <a:gd name="connsiteX106" fmla="*/ 64664 w 2336252"/>
              <a:gd name="connsiteY106" fmla="*/ 1378424 h 2497722"/>
              <a:gd name="connsiteX107" fmla="*/ 51016 w 2336252"/>
              <a:gd name="connsiteY107" fmla="*/ 1330657 h 2497722"/>
              <a:gd name="connsiteX108" fmla="*/ 44193 w 2336252"/>
              <a:gd name="connsiteY108" fmla="*/ 1221475 h 2497722"/>
              <a:gd name="connsiteX109" fmla="*/ 30545 w 2336252"/>
              <a:gd name="connsiteY109" fmla="*/ 1173708 h 2497722"/>
              <a:gd name="connsiteX110" fmla="*/ 23721 w 2336252"/>
              <a:gd name="connsiteY110" fmla="*/ 1132764 h 2497722"/>
              <a:gd name="connsiteX111" fmla="*/ 23721 w 2336252"/>
              <a:gd name="connsiteY111" fmla="*/ 716508 h 2497722"/>
              <a:gd name="connsiteX112" fmla="*/ 37369 w 2336252"/>
              <a:gd name="connsiteY112" fmla="*/ 696036 h 2497722"/>
              <a:gd name="connsiteX113" fmla="*/ 78312 w 2336252"/>
              <a:gd name="connsiteY113" fmla="*/ 580030 h 2497722"/>
              <a:gd name="connsiteX114" fmla="*/ 98784 w 2336252"/>
              <a:gd name="connsiteY114" fmla="*/ 498144 h 2497722"/>
              <a:gd name="connsiteX115" fmla="*/ 105607 w 2336252"/>
              <a:gd name="connsiteY115" fmla="*/ 443553 h 2497722"/>
              <a:gd name="connsiteX116" fmla="*/ 153375 w 2336252"/>
              <a:gd name="connsiteY116" fmla="*/ 382138 h 2497722"/>
              <a:gd name="connsiteX117" fmla="*/ 160199 w 2336252"/>
              <a:gd name="connsiteY117" fmla="*/ 361666 h 2497722"/>
              <a:gd name="connsiteX118" fmla="*/ 180670 w 2336252"/>
              <a:gd name="connsiteY118" fmla="*/ 348018 h 2497722"/>
              <a:gd name="connsiteX119" fmla="*/ 187494 w 2336252"/>
              <a:gd name="connsiteY119" fmla="*/ 313899 h 2497722"/>
              <a:gd name="connsiteX120" fmla="*/ 173846 w 2336252"/>
              <a:gd name="connsiteY120" fmla="*/ 266132 h 2497722"/>
              <a:gd name="connsiteX121" fmla="*/ 180670 w 2336252"/>
              <a:gd name="connsiteY121" fmla="*/ 238836 h 2497722"/>
              <a:gd name="connsiteX122" fmla="*/ 180670 w 2336252"/>
              <a:gd name="connsiteY122" fmla="*/ 232012 h 249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2336252" h="2497722">
                <a:moveTo>
                  <a:pt x="139727" y="286603"/>
                </a:moveTo>
                <a:cubicBezTo>
                  <a:pt x="146551" y="270681"/>
                  <a:pt x="149805" y="252694"/>
                  <a:pt x="160199" y="238836"/>
                </a:cubicBezTo>
                <a:cubicBezTo>
                  <a:pt x="164515" y="233082"/>
                  <a:pt x="174916" y="236328"/>
                  <a:pt x="180670" y="232012"/>
                </a:cubicBezTo>
                <a:cubicBezTo>
                  <a:pt x="193537" y="222362"/>
                  <a:pt x="201923" y="207543"/>
                  <a:pt x="214790" y="197893"/>
                </a:cubicBezTo>
                <a:cubicBezTo>
                  <a:pt x="220544" y="193577"/>
                  <a:pt x="228526" y="193595"/>
                  <a:pt x="235261" y="191069"/>
                </a:cubicBezTo>
                <a:cubicBezTo>
                  <a:pt x="300537" y="166590"/>
                  <a:pt x="243387" y="186086"/>
                  <a:pt x="289852" y="170597"/>
                </a:cubicBezTo>
                <a:cubicBezTo>
                  <a:pt x="305774" y="159224"/>
                  <a:pt x="320840" y="146545"/>
                  <a:pt x="337619" y="136478"/>
                </a:cubicBezTo>
                <a:cubicBezTo>
                  <a:pt x="343787" y="132777"/>
                  <a:pt x="351518" y="132575"/>
                  <a:pt x="358091" y="129654"/>
                </a:cubicBezTo>
                <a:cubicBezTo>
                  <a:pt x="372034" y="123457"/>
                  <a:pt x="385696" y="116592"/>
                  <a:pt x="399034" y="109182"/>
                </a:cubicBezTo>
                <a:cubicBezTo>
                  <a:pt x="406203" y="105199"/>
                  <a:pt x="412171" y="99203"/>
                  <a:pt x="419506" y="95535"/>
                </a:cubicBezTo>
                <a:cubicBezTo>
                  <a:pt x="425940" y="92318"/>
                  <a:pt x="433243" y="91237"/>
                  <a:pt x="439978" y="88711"/>
                </a:cubicBezTo>
                <a:cubicBezTo>
                  <a:pt x="451447" y="84410"/>
                  <a:pt x="462364" y="78583"/>
                  <a:pt x="474097" y="75063"/>
                </a:cubicBezTo>
                <a:cubicBezTo>
                  <a:pt x="485206" y="71730"/>
                  <a:pt x="496805" y="70314"/>
                  <a:pt x="508216" y="68239"/>
                </a:cubicBezTo>
                <a:cubicBezTo>
                  <a:pt x="604253" y="50778"/>
                  <a:pt x="499001" y="71447"/>
                  <a:pt x="583279" y="54591"/>
                </a:cubicBezTo>
                <a:cubicBezTo>
                  <a:pt x="637845" y="18217"/>
                  <a:pt x="621215" y="25549"/>
                  <a:pt x="740228" y="13648"/>
                </a:cubicBezTo>
                <a:cubicBezTo>
                  <a:pt x="826715" y="4999"/>
                  <a:pt x="785784" y="9659"/>
                  <a:pt x="863058" y="0"/>
                </a:cubicBezTo>
                <a:lnTo>
                  <a:pt x="1449912" y="6824"/>
                </a:lnTo>
                <a:cubicBezTo>
                  <a:pt x="1470873" y="7486"/>
                  <a:pt x="1490641" y="17024"/>
                  <a:pt x="1511327" y="20472"/>
                </a:cubicBezTo>
                <a:cubicBezTo>
                  <a:pt x="1531644" y="23858"/>
                  <a:pt x="1552270" y="25021"/>
                  <a:pt x="1572742" y="27296"/>
                </a:cubicBezTo>
                <a:cubicBezTo>
                  <a:pt x="1586390" y="31845"/>
                  <a:pt x="1599475" y="38700"/>
                  <a:pt x="1613685" y="40944"/>
                </a:cubicBezTo>
                <a:cubicBezTo>
                  <a:pt x="1753819" y="63070"/>
                  <a:pt x="1663528" y="34810"/>
                  <a:pt x="1722867" y="54591"/>
                </a:cubicBezTo>
                <a:cubicBezTo>
                  <a:pt x="1729691" y="61415"/>
                  <a:pt x="1734960" y="70275"/>
                  <a:pt x="1743339" y="75063"/>
                </a:cubicBezTo>
                <a:cubicBezTo>
                  <a:pt x="1751482" y="79716"/>
                  <a:pt x="1764002" y="75255"/>
                  <a:pt x="1770634" y="81887"/>
                </a:cubicBezTo>
                <a:cubicBezTo>
                  <a:pt x="1777266" y="88519"/>
                  <a:pt x="1770826" y="102551"/>
                  <a:pt x="1777458" y="109182"/>
                </a:cubicBezTo>
                <a:cubicBezTo>
                  <a:pt x="1786120" y="117844"/>
                  <a:pt x="1800205" y="118281"/>
                  <a:pt x="1811578" y="122830"/>
                </a:cubicBezTo>
                <a:cubicBezTo>
                  <a:pt x="1816127" y="129654"/>
                  <a:pt x="1819426" y="137503"/>
                  <a:pt x="1825225" y="143302"/>
                </a:cubicBezTo>
                <a:cubicBezTo>
                  <a:pt x="1833267" y="151344"/>
                  <a:pt x="1845119" y="155138"/>
                  <a:pt x="1852521" y="163773"/>
                </a:cubicBezTo>
                <a:cubicBezTo>
                  <a:pt x="1893467" y="211542"/>
                  <a:pt x="1834322" y="175145"/>
                  <a:pt x="1893464" y="204717"/>
                </a:cubicBezTo>
                <a:cubicBezTo>
                  <a:pt x="1900288" y="216090"/>
                  <a:pt x="1905445" y="228647"/>
                  <a:pt x="1913936" y="238836"/>
                </a:cubicBezTo>
                <a:cubicBezTo>
                  <a:pt x="1928351" y="256134"/>
                  <a:pt x="1949212" y="267867"/>
                  <a:pt x="1961703" y="286603"/>
                </a:cubicBezTo>
                <a:cubicBezTo>
                  <a:pt x="1987986" y="326028"/>
                  <a:pt x="1960441" y="290397"/>
                  <a:pt x="1995822" y="320723"/>
                </a:cubicBezTo>
                <a:cubicBezTo>
                  <a:pt x="2053733" y="370361"/>
                  <a:pt x="1996594" y="330336"/>
                  <a:pt x="2043590" y="361666"/>
                </a:cubicBezTo>
                <a:cubicBezTo>
                  <a:pt x="2059591" y="409675"/>
                  <a:pt x="2035549" y="353626"/>
                  <a:pt x="2077709" y="395785"/>
                </a:cubicBezTo>
                <a:cubicBezTo>
                  <a:pt x="2082795" y="400871"/>
                  <a:pt x="2081316" y="409823"/>
                  <a:pt x="2084533" y="416257"/>
                </a:cubicBezTo>
                <a:cubicBezTo>
                  <a:pt x="2095906" y="439004"/>
                  <a:pt x="2098180" y="436729"/>
                  <a:pt x="2118652" y="450376"/>
                </a:cubicBezTo>
                <a:cubicBezTo>
                  <a:pt x="2125476" y="459475"/>
                  <a:pt x="2131722" y="469037"/>
                  <a:pt x="2139124" y="477672"/>
                </a:cubicBezTo>
                <a:cubicBezTo>
                  <a:pt x="2145405" y="484999"/>
                  <a:pt x="2154415" y="490002"/>
                  <a:pt x="2159596" y="498144"/>
                </a:cubicBezTo>
                <a:cubicBezTo>
                  <a:pt x="2170519" y="515308"/>
                  <a:pt x="2175605" y="535807"/>
                  <a:pt x="2186891" y="552735"/>
                </a:cubicBezTo>
                <a:cubicBezTo>
                  <a:pt x="2197688" y="568929"/>
                  <a:pt x="2208322" y="585699"/>
                  <a:pt x="2221010" y="600502"/>
                </a:cubicBezTo>
                <a:cubicBezTo>
                  <a:pt x="2227290" y="607829"/>
                  <a:pt x="2234658" y="614149"/>
                  <a:pt x="2241482" y="620973"/>
                </a:cubicBezTo>
                <a:cubicBezTo>
                  <a:pt x="2264115" y="734138"/>
                  <a:pt x="2231831" y="595238"/>
                  <a:pt x="2261954" y="675564"/>
                </a:cubicBezTo>
                <a:cubicBezTo>
                  <a:pt x="2266027" y="686424"/>
                  <a:pt x="2265726" y="698494"/>
                  <a:pt x="2268778" y="709684"/>
                </a:cubicBezTo>
                <a:cubicBezTo>
                  <a:pt x="2272563" y="723563"/>
                  <a:pt x="2278194" y="736877"/>
                  <a:pt x="2282425" y="750627"/>
                </a:cubicBezTo>
                <a:cubicBezTo>
                  <a:pt x="2293244" y="785788"/>
                  <a:pt x="2295118" y="794576"/>
                  <a:pt x="2302897" y="825690"/>
                </a:cubicBezTo>
                <a:cubicBezTo>
                  <a:pt x="2305172" y="846162"/>
                  <a:pt x="2306508" y="866759"/>
                  <a:pt x="2309721" y="887105"/>
                </a:cubicBezTo>
                <a:cubicBezTo>
                  <a:pt x="2336252" y="1055135"/>
                  <a:pt x="2312954" y="861614"/>
                  <a:pt x="2330193" y="1016759"/>
                </a:cubicBezTo>
                <a:cubicBezTo>
                  <a:pt x="2327918" y="1166884"/>
                  <a:pt x="2330511" y="1317162"/>
                  <a:pt x="2323369" y="1467135"/>
                </a:cubicBezTo>
                <a:cubicBezTo>
                  <a:pt x="2313402" y="1676442"/>
                  <a:pt x="2310242" y="1532246"/>
                  <a:pt x="2296073" y="1617260"/>
                </a:cubicBezTo>
                <a:cubicBezTo>
                  <a:pt x="2273003" y="1755681"/>
                  <a:pt x="2306393" y="1599891"/>
                  <a:pt x="2275602" y="1712794"/>
                </a:cubicBezTo>
                <a:cubicBezTo>
                  <a:pt x="2272550" y="1723984"/>
                  <a:pt x="2274236" y="1736680"/>
                  <a:pt x="2268778" y="1746914"/>
                </a:cubicBezTo>
                <a:cubicBezTo>
                  <a:pt x="2255712" y="1771413"/>
                  <a:pt x="2231321" y="1789373"/>
                  <a:pt x="2221010" y="1815153"/>
                </a:cubicBezTo>
                <a:cubicBezTo>
                  <a:pt x="2195110" y="1879905"/>
                  <a:pt x="2221599" y="1818934"/>
                  <a:pt x="2186891" y="1883391"/>
                </a:cubicBezTo>
                <a:cubicBezTo>
                  <a:pt x="2177246" y="1901304"/>
                  <a:pt x="2173982" y="1923596"/>
                  <a:pt x="2159596" y="1937982"/>
                </a:cubicBezTo>
                <a:cubicBezTo>
                  <a:pt x="2146101" y="1951477"/>
                  <a:pt x="2133619" y="1961282"/>
                  <a:pt x="2125476" y="1978926"/>
                </a:cubicBezTo>
                <a:cubicBezTo>
                  <a:pt x="2088188" y="2059716"/>
                  <a:pt x="2122673" y="2034918"/>
                  <a:pt x="2070885" y="2060812"/>
                </a:cubicBezTo>
                <a:cubicBezTo>
                  <a:pt x="2055497" y="2106975"/>
                  <a:pt x="2078286" y="2053412"/>
                  <a:pt x="2029942" y="2101756"/>
                </a:cubicBezTo>
                <a:cubicBezTo>
                  <a:pt x="2022749" y="2108949"/>
                  <a:pt x="2022397" y="2120913"/>
                  <a:pt x="2016294" y="2129051"/>
                </a:cubicBezTo>
                <a:cubicBezTo>
                  <a:pt x="2008574" y="2139345"/>
                  <a:pt x="1997037" y="2146299"/>
                  <a:pt x="1988999" y="2156347"/>
                </a:cubicBezTo>
                <a:cubicBezTo>
                  <a:pt x="1958567" y="2194387"/>
                  <a:pt x="1971997" y="2192124"/>
                  <a:pt x="1941231" y="2217762"/>
                </a:cubicBezTo>
                <a:cubicBezTo>
                  <a:pt x="1934931" y="2223012"/>
                  <a:pt x="1927584" y="2226860"/>
                  <a:pt x="1920760" y="2231409"/>
                </a:cubicBezTo>
                <a:cubicBezTo>
                  <a:pt x="1916211" y="2238233"/>
                  <a:pt x="1913516" y="2246758"/>
                  <a:pt x="1907112" y="2251881"/>
                </a:cubicBezTo>
                <a:cubicBezTo>
                  <a:pt x="1901495" y="2256375"/>
                  <a:pt x="1891726" y="2253619"/>
                  <a:pt x="1886640" y="2258705"/>
                </a:cubicBezTo>
                <a:cubicBezTo>
                  <a:pt x="1881554" y="2263791"/>
                  <a:pt x="1884497" y="2273715"/>
                  <a:pt x="1879816" y="2279176"/>
                </a:cubicBezTo>
                <a:cubicBezTo>
                  <a:pt x="1870337" y="2290234"/>
                  <a:pt x="1855996" y="2296173"/>
                  <a:pt x="1845697" y="2306472"/>
                </a:cubicBezTo>
                <a:cubicBezTo>
                  <a:pt x="1839898" y="2312271"/>
                  <a:pt x="1836598" y="2320120"/>
                  <a:pt x="1832049" y="2326944"/>
                </a:cubicBezTo>
                <a:cubicBezTo>
                  <a:pt x="1829774" y="2336042"/>
                  <a:pt x="1829878" y="2346096"/>
                  <a:pt x="1825225" y="2354239"/>
                </a:cubicBezTo>
                <a:cubicBezTo>
                  <a:pt x="1810804" y="2379476"/>
                  <a:pt x="1789726" y="2379720"/>
                  <a:pt x="1763810" y="2388359"/>
                </a:cubicBezTo>
                <a:cubicBezTo>
                  <a:pt x="1759261" y="2395183"/>
                  <a:pt x="1757117" y="2404484"/>
                  <a:pt x="1750163" y="2408830"/>
                </a:cubicBezTo>
                <a:cubicBezTo>
                  <a:pt x="1737963" y="2416455"/>
                  <a:pt x="1722442" y="2416811"/>
                  <a:pt x="1709219" y="2422478"/>
                </a:cubicBezTo>
                <a:cubicBezTo>
                  <a:pt x="1644212" y="2450339"/>
                  <a:pt x="1678258" y="2438749"/>
                  <a:pt x="1606861" y="2456597"/>
                </a:cubicBezTo>
                <a:cubicBezTo>
                  <a:pt x="1540051" y="2490003"/>
                  <a:pt x="1630137" y="2449183"/>
                  <a:pt x="1497679" y="2477069"/>
                </a:cubicBezTo>
                <a:cubicBezTo>
                  <a:pt x="1480728" y="2480638"/>
                  <a:pt x="1465834" y="2490717"/>
                  <a:pt x="1449912" y="2497541"/>
                </a:cubicBezTo>
                <a:cubicBezTo>
                  <a:pt x="1433203" y="2496256"/>
                  <a:pt x="1342815" y="2491238"/>
                  <a:pt x="1313434" y="2483893"/>
                </a:cubicBezTo>
                <a:cubicBezTo>
                  <a:pt x="1301551" y="2480922"/>
                  <a:pt x="1290784" y="2474546"/>
                  <a:pt x="1279315" y="2470245"/>
                </a:cubicBezTo>
                <a:cubicBezTo>
                  <a:pt x="1193927" y="2438224"/>
                  <a:pt x="1343432" y="2497722"/>
                  <a:pt x="1231548" y="2449773"/>
                </a:cubicBezTo>
                <a:cubicBezTo>
                  <a:pt x="1208561" y="2439922"/>
                  <a:pt x="1209734" y="2444777"/>
                  <a:pt x="1183781" y="2436126"/>
                </a:cubicBezTo>
                <a:cubicBezTo>
                  <a:pt x="1172160" y="2432252"/>
                  <a:pt x="1161130" y="2426779"/>
                  <a:pt x="1149661" y="2422478"/>
                </a:cubicBezTo>
                <a:cubicBezTo>
                  <a:pt x="1142926" y="2419952"/>
                  <a:pt x="1135523" y="2419064"/>
                  <a:pt x="1129190" y="2415654"/>
                </a:cubicBezTo>
                <a:cubicBezTo>
                  <a:pt x="1105834" y="2403078"/>
                  <a:pt x="1081665" y="2391282"/>
                  <a:pt x="1060951" y="2374711"/>
                </a:cubicBezTo>
                <a:cubicBezTo>
                  <a:pt x="1049578" y="2365612"/>
                  <a:pt x="1039235" y="2355048"/>
                  <a:pt x="1026831" y="2347415"/>
                </a:cubicBezTo>
                <a:cubicBezTo>
                  <a:pt x="1003055" y="2332784"/>
                  <a:pt x="973789" y="2324822"/>
                  <a:pt x="951769" y="2306472"/>
                </a:cubicBezTo>
                <a:cubicBezTo>
                  <a:pt x="944355" y="2300294"/>
                  <a:pt x="938711" y="2292178"/>
                  <a:pt x="931297" y="2286000"/>
                </a:cubicBezTo>
                <a:cubicBezTo>
                  <a:pt x="924997" y="2280750"/>
                  <a:pt x="917858" y="2276572"/>
                  <a:pt x="910825" y="2272353"/>
                </a:cubicBezTo>
                <a:cubicBezTo>
                  <a:pt x="862597" y="2243416"/>
                  <a:pt x="878187" y="2250100"/>
                  <a:pt x="842587" y="2238233"/>
                </a:cubicBezTo>
                <a:cubicBezTo>
                  <a:pt x="817786" y="2213433"/>
                  <a:pt x="825459" y="2219176"/>
                  <a:pt x="794819" y="2197290"/>
                </a:cubicBezTo>
                <a:cubicBezTo>
                  <a:pt x="788145" y="2192523"/>
                  <a:pt x="780575" y="2188979"/>
                  <a:pt x="774348" y="2183642"/>
                </a:cubicBezTo>
                <a:cubicBezTo>
                  <a:pt x="764578" y="2175268"/>
                  <a:pt x="757100" y="2164385"/>
                  <a:pt x="747052" y="2156347"/>
                </a:cubicBezTo>
                <a:cubicBezTo>
                  <a:pt x="734244" y="2146100"/>
                  <a:pt x="719947" y="2137857"/>
                  <a:pt x="706109" y="2129051"/>
                </a:cubicBezTo>
                <a:cubicBezTo>
                  <a:pt x="694919" y="2121930"/>
                  <a:pt x="681369" y="2117957"/>
                  <a:pt x="671990" y="2108579"/>
                </a:cubicBezTo>
                <a:lnTo>
                  <a:pt x="624222" y="2060812"/>
                </a:lnTo>
                <a:cubicBezTo>
                  <a:pt x="607431" y="2044021"/>
                  <a:pt x="597241" y="2030262"/>
                  <a:pt x="576455" y="2019869"/>
                </a:cubicBezTo>
                <a:cubicBezTo>
                  <a:pt x="570022" y="2016652"/>
                  <a:pt x="562808" y="2015320"/>
                  <a:pt x="555984" y="2013045"/>
                </a:cubicBezTo>
                <a:cubicBezTo>
                  <a:pt x="546885" y="2006221"/>
                  <a:pt x="538005" y="1999095"/>
                  <a:pt x="528688" y="1992573"/>
                </a:cubicBezTo>
                <a:cubicBezTo>
                  <a:pt x="515251" y="1983167"/>
                  <a:pt x="500199" y="1975953"/>
                  <a:pt x="487745" y="1965278"/>
                </a:cubicBezTo>
                <a:cubicBezTo>
                  <a:pt x="468206" y="1948530"/>
                  <a:pt x="447429" y="1932099"/>
                  <a:pt x="433154" y="1910687"/>
                </a:cubicBezTo>
                <a:cubicBezTo>
                  <a:pt x="428605" y="1903863"/>
                  <a:pt x="426067" y="1895136"/>
                  <a:pt x="419506" y="1890215"/>
                </a:cubicBezTo>
                <a:cubicBezTo>
                  <a:pt x="404679" y="1879095"/>
                  <a:pt x="362968" y="1863506"/>
                  <a:pt x="344443" y="1856096"/>
                </a:cubicBezTo>
                <a:cubicBezTo>
                  <a:pt x="298627" y="1787367"/>
                  <a:pt x="369591" y="1883874"/>
                  <a:pt x="303500" y="1828800"/>
                </a:cubicBezTo>
                <a:cubicBezTo>
                  <a:pt x="295685" y="1822288"/>
                  <a:pt x="295955" y="1809643"/>
                  <a:pt x="289852" y="1801505"/>
                </a:cubicBezTo>
                <a:cubicBezTo>
                  <a:pt x="282132" y="1791211"/>
                  <a:pt x="271212" y="1783730"/>
                  <a:pt x="262557" y="1774209"/>
                </a:cubicBezTo>
                <a:cubicBezTo>
                  <a:pt x="248450" y="1758692"/>
                  <a:pt x="234714" y="1742818"/>
                  <a:pt x="221613" y="1726442"/>
                </a:cubicBezTo>
                <a:cubicBezTo>
                  <a:pt x="216490" y="1720038"/>
                  <a:pt x="211634" y="1713305"/>
                  <a:pt x="207966" y="1705970"/>
                </a:cubicBezTo>
                <a:cubicBezTo>
                  <a:pt x="204749" y="1699537"/>
                  <a:pt x="205558" y="1691177"/>
                  <a:pt x="201142" y="1685499"/>
                </a:cubicBezTo>
                <a:cubicBezTo>
                  <a:pt x="189292" y="1670264"/>
                  <a:pt x="160199" y="1644556"/>
                  <a:pt x="160199" y="1644556"/>
                </a:cubicBezTo>
                <a:cubicBezTo>
                  <a:pt x="133643" y="1538333"/>
                  <a:pt x="165305" y="1641121"/>
                  <a:pt x="112431" y="1535373"/>
                </a:cubicBezTo>
                <a:cubicBezTo>
                  <a:pt x="96937" y="1504385"/>
                  <a:pt x="71488" y="1439839"/>
                  <a:pt x="71488" y="1439839"/>
                </a:cubicBezTo>
                <a:cubicBezTo>
                  <a:pt x="69213" y="1419367"/>
                  <a:pt x="68460" y="1398669"/>
                  <a:pt x="64664" y="1378424"/>
                </a:cubicBezTo>
                <a:cubicBezTo>
                  <a:pt x="61612" y="1362148"/>
                  <a:pt x="53158" y="1347077"/>
                  <a:pt x="51016" y="1330657"/>
                </a:cubicBezTo>
                <a:cubicBezTo>
                  <a:pt x="46300" y="1294498"/>
                  <a:pt x="48909" y="1257634"/>
                  <a:pt x="44193" y="1221475"/>
                </a:cubicBezTo>
                <a:cubicBezTo>
                  <a:pt x="42051" y="1205055"/>
                  <a:pt x="34269" y="1189843"/>
                  <a:pt x="30545" y="1173708"/>
                </a:cubicBezTo>
                <a:cubicBezTo>
                  <a:pt x="27434" y="1160226"/>
                  <a:pt x="25996" y="1146412"/>
                  <a:pt x="23721" y="1132764"/>
                </a:cubicBezTo>
                <a:cubicBezTo>
                  <a:pt x="11524" y="937621"/>
                  <a:pt x="0" y="906274"/>
                  <a:pt x="23721" y="716508"/>
                </a:cubicBezTo>
                <a:cubicBezTo>
                  <a:pt x="24738" y="708370"/>
                  <a:pt x="32820" y="702860"/>
                  <a:pt x="37369" y="696036"/>
                </a:cubicBezTo>
                <a:cubicBezTo>
                  <a:pt x="54322" y="577369"/>
                  <a:pt x="26672" y="734952"/>
                  <a:pt x="78312" y="580030"/>
                </a:cubicBezTo>
                <a:cubicBezTo>
                  <a:pt x="126821" y="434501"/>
                  <a:pt x="54512" y="586685"/>
                  <a:pt x="98784" y="498144"/>
                </a:cubicBezTo>
                <a:cubicBezTo>
                  <a:pt x="101058" y="479947"/>
                  <a:pt x="99439" y="460823"/>
                  <a:pt x="105607" y="443553"/>
                </a:cubicBezTo>
                <a:cubicBezTo>
                  <a:pt x="114677" y="418158"/>
                  <a:pt x="135177" y="400335"/>
                  <a:pt x="153375" y="382138"/>
                </a:cubicBezTo>
                <a:cubicBezTo>
                  <a:pt x="155650" y="375314"/>
                  <a:pt x="155706" y="367283"/>
                  <a:pt x="160199" y="361666"/>
                </a:cubicBezTo>
                <a:cubicBezTo>
                  <a:pt x="165322" y="355262"/>
                  <a:pt x="176601" y="355139"/>
                  <a:pt x="180670" y="348018"/>
                </a:cubicBezTo>
                <a:cubicBezTo>
                  <a:pt x="186424" y="337948"/>
                  <a:pt x="185219" y="325272"/>
                  <a:pt x="187494" y="313899"/>
                </a:cubicBezTo>
                <a:cubicBezTo>
                  <a:pt x="182945" y="297977"/>
                  <a:pt x="175345" y="282623"/>
                  <a:pt x="173846" y="266132"/>
                </a:cubicBezTo>
                <a:cubicBezTo>
                  <a:pt x="172997" y="256792"/>
                  <a:pt x="178831" y="248033"/>
                  <a:pt x="180670" y="238836"/>
                </a:cubicBezTo>
                <a:cubicBezTo>
                  <a:pt x="181116" y="236606"/>
                  <a:pt x="180670" y="234287"/>
                  <a:pt x="180670" y="232012"/>
                </a:cubicBezTo>
              </a:path>
            </a:pathLst>
          </a:custGeom>
          <a:noFill/>
          <a:ln w="38100" cap="flat" cmpd="sng" algn="ctr">
            <a:solidFill>
              <a:schemeClr val="accent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5" name="任意多边形 34"/>
          <p:cNvSpPr/>
          <p:nvPr/>
        </p:nvSpPr>
        <p:spPr bwMode="auto">
          <a:xfrm>
            <a:off x="2485729" y="3978322"/>
            <a:ext cx="2162471" cy="2429302"/>
          </a:xfrm>
          <a:custGeom>
            <a:avLst/>
            <a:gdLst>
              <a:gd name="connsiteX0" fmla="*/ 78158 w 2162471"/>
              <a:gd name="connsiteY0" fmla="*/ 805218 h 2429302"/>
              <a:gd name="connsiteX1" fmla="*/ 91806 w 2162471"/>
              <a:gd name="connsiteY1" fmla="*/ 675565 h 2429302"/>
              <a:gd name="connsiteX2" fmla="*/ 98630 w 2162471"/>
              <a:gd name="connsiteY2" fmla="*/ 655093 h 2429302"/>
              <a:gd name="connsiteX3" fmla="*/ 132749 w 2162471"/>
              <a:gd name="connsiteY3" fmla="*/ 573206 h 2429302"/>
              <a:gd name="connsiteX4" fmla="*/ 166869 w 2162471"/>
              <a:gd name="connsiteY4" fmla="*/ 484496 h 2429302"/>
              <a:gd name="connsiteX5" fmla="*/ 173693 w 2162471"/>
              <a:gd name="connsiteY5" fmla="*/ 457200 h 2429302"/>
              <a:gd name="connsiteX6" fmla="*/ 228284 w 2162471"/>
              <a:gd name="connsiteY6" fmla="*/ 402609 h 2429302"/>
              <a:gd name="connsiteX7" fmla="*/ 248755 w 2162471"/>
              <a:gd name="connsiteY7" fmla="*/ 361666 h 2429302"/>
              <a:gd name="connsiteX8" fmla="*/ 255579 w 2162471"/>
              <a:gd name="connsiteY8" fmla="*/ 341194 h 2429302"/>
              <a:gd name="connsiteX9" fmla="*/ 310170 w 2162471"/>
              <a:gd name="connsiteY9" fmla="*/ 272956 h 2429302"/>
              <a:gd name="connsiteX10" fmla="*/ 337466 w 2162471"/>
              <a:gd name="connsiteY10" fmla="*/ 225188 h 2429302"/>
              <a:gd name="connsiteX11" fmla="*/ 392057 w 2162471"/>
              <a:gd name="connsiteY11" fmla="*/ 184245 h 2429302"/>
              <a:gd name="connsiteX12" fmla="*/ 412529 w 2162471"/>
              <a:gd name="connsiteY12" fmla="*/ 150126 h 2429302"/>
              <a:gd name="connsiteX13" fmla="*/ 460296 w 2162471"/>
              <a:gd name="connsiteY13" fmla="*/ 122830 h 2429302"/>
              <a:gd name="connsiteX14" fmla="*/ 494415 w 2162471"/>
              <a:gd name="connsiteY14" fmla="*/ 109182 h 2429302"/>
              <a:gd name="connsiteX15" fmla="*/ 589949 w 2162471"/>
              <a:gd name="connsiteY15" fmla="*/ 75063 h 2429302"/>
              <a:gd name="connsiteX16" fmla="*/ 603597 w 2162471"/>
              <a:gd name="connsiteY16" fmla="*/ 47768 h 2429302"/>
              <a:gd name="connsiteX17" fmla="*/ 624069 w 2162471"/>
              <a:gd name="connsiteY17" fmla="*/ 40944 h 2429302"/>
              <a:gd name="connsiteX18" fmla="*/ 699132 w 2162471"/>
              <a:gd name="connsiteY18" fmla="*/ 27296 h 2429302"/>
              <a:gd name="connsiteX19" fmla="*/ 733251 w 2162471"/>
              <a:gd name="connsiteY19" fmla="*/ 20472 h 2429302"/>
              <a:gd name="connsiteX20" fmla="*/ 753723 w 2162471"/>
              <a:gd name="connsiteY20" fmla="*/ 13648 h 2429302"/>
              <a:gd name="connsiteX21" fmla="*/ 842433 w 2162471"/>
              <a:gd name="connsiteY21" fmla="*/ 0 h 2429302"/>
              <a:gd name="connsiteX22" fmla="*/ 1101741 w 2162471"/>
              <a:gd name="connsiteY22" fmla="*/ 13648 h 2429302"/>
              <a:gd name="connsiteX23" fmla="*/ 1135860 w 2162471"/>
              <a:gd name="connsiteY23" fmla="*/ 20472 h 2429302"/>
              <a:gd name="connsiteX24" fmla="*/ 1142684 w 2162471"/>
              <a:gd name="connsiteY24" fmla="*/ 40944 h 2429302"/>
              <a:gd name="connsiteX25" fmla="*/ 1176803 w 2162471"/>
              <a:gd name="connsiteY25" fmla="*/ 54591 h 2429302"/>
              <a:gd name="connsiteX26" fmla="*/ 1251866 w 2162471"/>
              <a:gd name="connsiteY26" fmla="*/ 88711 h 2429302"/>
              <a:gd name="connsiteX27" fmla="*/ 1292809 w 2162471"/>
              <a:gd name="connsiteY27" fmla="*/ 136478 h 2429302"/>
              <a:gd name="connsiteX28" fmla="*/ 1340576 w 2162471"/>
              <a:gd name="connsiteY28" fmla="*/ 156950 h 2429302"/>
              <a:gd name="connsiteX29" fmla="*/ 1367872 w 2162471"/>
              <a:gd name="connsiteY29" fmla="*/ 184245 h 2429302"/>
              <a:gd name="connsiteX30" fmla="*/ 1381520 w 2162471"/>
              <a:gd name="connsiteY30" fmla="*/ 211541 h 2429302"/>
              <a:gd name="connsiteX31" fmla="*/ 1442935 w 2162471"/>
              <a:gd name="connsiteY31" fmla="*/ 279779 h 2429302"/>
              <a:gd name="connsiteX32" fmla="*/ 1490702 w 2162471"/>
              <a:gd name="connsiteY32" fmla="*/ 320723 h 2429302"/>
              <a:gd name="connsiteX33" fmla="*/ 1565764 w 2162471"/>
              <a:gd name="connsiteY33" fmla="*/ 375314 h 2429302"/>
              <a:gd name="connsiteX34" fmla="*/ 1627179 w 2162471"/>
              <a:gd name="connsiteY34" fmla="*/ 395785 h 2429302"/>
              <a:gd name="connsiteX35" fmla="*/ 1674947 w 2162471"/>
              <a:gd name="connsiteY35" fmla="*/ 416257 h 2429302"/>
              <a:gd name="connsiteX36" fmla="*/ 1702242 w 2162471"/>
              <a:gd name="connsiteY36" fmla="*/ 436729 h 2429302"/>
              <a:gd name="connsiteX37" fmla="*/ 1797776 w 2162471"/>
              <a:gd name="connsiteY37" fmla="*/ 464024 h 2429302"/>
              <a:gd name="connsiteX38" fmla="*/ 1831896 w 2162471"/>
              <a:gd name="connsiteY38" fmla="*/ 498144 h 2429302"/>
              <a:gd name="connsiteX39" fmla="*/ 1872839 w 2162471"/>
              <a:gd name="connsiteY39" fmla="*/ 525439 h 2429302"/>
              <a:gd name="connsiteX40" fmla="*/ 1927430 w 2162471"/>
              <a:gd name="connsiteY40" fmla="*/ 566382 h 2429302"/>
              <a:gd name="connsiteX41" fmla="*/ 1941078 w 2162471"/>
              <a:gd name="connsiteY41" fmla="*/ 593678 h 2429302"/>
              <a:gd name="connsiteX42" fmla="*/ 1961549 w 2162471"/>
              <a:gd name="connsiteY42" fmla="*/ 607326 h 2429302"/>
              <a:gd name="connsiteX43" fmla="*/ 1975197 w 2162471"/>
              <a:gd name="connsiteY43" fmla="*/ 641445 h 2429302"/>
              <a:gd name="connsiteX44" fmla="*/ 1982021 w 2162471"/>
              <a:gd name="connsiteY44" fmla="*/ 675565 h 2429302"/>
              <a:gd name="connsiteX45" fmla="*/ 1995669 w 2162471"/>
              <a:gd name="connsiteY45" fmla="*/ 696036 h 2429302"/>
              <a:gd name="connsiteX46" fmla="*/ 2002493 w 2162471"/>
              <a:gd name="connsiteY46" fmla="*/ 716508 h 2429302"/>
              <a:gd name="connsiteX47" fmla="*/ 2022964 w 2162471"/>
              <a:gd name="connsiteY47" fmla="*/ 764275 h 2429302"/>
              <a:gd name="connsiteX48" fmla="*/ 2029788 w 2162471"/>
              <a:gd name="connsiteY48" fmla="*/ 798394 h 2429302"/>
              <a:gd name="connsiteX49" fmla="*/ 2063908 w 2162471"/>
              <a:gd name="connsiteY49" fmla="*/ 832514 h 2429302"/>
              <a:gd name="connsiteX50" fmla="*/ 2084379 w 2162471"/>
              <a:gd name="connsiteY50" fmla="*/ 900753 h 2429302"/>
              <a:gd name="connsiteX51" fmla="*/ 2098027 w 2162471"/>
              <a:gd name="connsiteY51" fmla="*/ 1057702 h 2429302"/>
              <a:gd name="connsiteX52" fmla="*/ 2111675 w 2162471"/>
              <a:gd name="connsiteY52" fmla="*/ 1084997 h 2429302"/>
              <a:gd name="connsiteX53" fmla="*/ 2118499 w 2162471"/>
              <a:gd name="connsiteY53" fmla="*/ 1173708 h 2429302"/>
              <a:gd name="connsiteX54" fmla="*/ 2132147 w 2162471"/>
              <a:gd name="connsiteY54" fmla="*/ 1248771 h 2429302"/>
              <a:gd name="connsiteX55" fmla="*/ 2111675 w 2162471"/>
              <a:gd name="connsiteY55" fmla="*/ 1658203 h 2429302"/>
              <a:gd name="connsiteX56" fmla="*/ 2070732 w 2162471"/>
              <a:gd name="connsiteY56" fmla="*/ 1753738 h 2429302"/>
              <a:gd name="connsiteX57" fmla="*/ 2050260 w 2162471"/>
              <a:gd name="connsiteY57" fmla="*/ 1794681 h 2429302"/>
              <a:gd name="connsiteX58" fmla="*/ 2036612 w 2162471"/>
              <a:gd name="connsiteY58" fmla="*/ 1835624 h 2429302"/>
              <a:gd name="connsiteX59" fmla="*/ 2016141 w 2162471"/>
              <a:gd name="connsiteY59" fmla="*/ 1856096 h 2429302"/>
              <a:gd name="connsiteX60" fmla="*/ 1995669 w 2162471"/>
              <a:gd name="connsiteY60" fmla="*/ 1890215 h 2429302"/>
              <a:gd name="connsiteX61" fmla="*/ 1988845 w 2162471"/>
              <a:gd name="connsiteY61" fmla="*/ 1910687 h 2429302"/>
              <a:gd name="connsiteX62" fmla="*/ 1961549 w 2162471"/>
              <a:gd name="connsiteY62" fmla="*/ 1931159 h 2429302"/>
              <a:gd name="connsiteX63" fmla="*/ 1906958 w 2162471"/>
              <a:gd name="connsiteY63" fmla="*/ 1978926 h 2429302"/>
              <a:gd name="connsiteX64" fmla="*/ 1886487 w 2162471"/>
              <a:gd name="connsiteY64" fmla="*/ 1999397 h 2429302"/>
              <a:gd name="connsiteX65" fmla="*/ 1866015 w 2162471"/>
              <a:gd name="connsiteY65" fmla="*/ 2006221 h 2429302"/>
              <a:gd name="connsiteX66" fmla="*/ 1831896 w 2162471"/>
              <a:gd name="connsiteY66" fmla="*/ 2019869 h 2429302"/>
              <a:gd name="connsiteX67" fmla="*/ 1763657 w 2162471"/>
              <a:gd name="connsiteY67" fmla="*/ 2081284 h 2429302"/>
              <a:gd name="connsiteX68" fmla="*/ 1729538 w 2162471"/>
              <a:gd name="connsiteY68" fmla="*/ 2088108 h 2429302"/>
              <a:gd name="connsiteX69" fmla="*/ 1709066 w 2162471"/>
              <a:gd name="connsiteY69" fmla="*/ 2108579 h 2429302"/>
              <a:gd name="connsiteX70" fmla="*/ 1634003 w 2162471"/>
              <a:gd name="connsiteY70" fmla="*/ 2149523 h 2429302"/>
              <a:gd name="connsiteX71" fmla="*/ 1599884 w 2162471"/>
              <a:gd name="connsiteY71" fmla="*/ 2169994 h 2429302"/>
              <a:gd name="connsiteX72" fmla="*/ 1558941 w 2162471"/>
              <a:gd name="connsiteY72" fmla="*/ 2176818 h 2429302"/>
              <a:gd name="connsiteX73" fmla="*/ 1490702 w 2162471"/>
              <a:gd name="connsiteY73" fmla="*/ 2217762 h 2429302"/>
              <a:gd name="connsiteX74" fmla="*/ 1415639 w 2162471"/>
              <a:gd name="connsiteY74" fmla="*/ 2238233 h 2429302"/>
              <a:gd name="connsiteX75" fmla="*/ 1361048 w 2162471"/>
              <a:gd name="connsiteY75" fmla="*/ 2258705 h 2429302"/>
              <a:gd name="connsiteX76" fmla="*/ 1313281 w 2162471"/>
              <a:gd name="connsiteY76" fmla="*/ 2265529 h 2429302"/>
              <a:gd name="connsiteX77" fmla="*/ 1292809 w 2162471"/>
              <a:gd name="connsiteY77" fmla="*/ 2279177 h 2429302"/>
              <a:gd name="connsiteX78" fmla="*/ 1217747 w 2162471"/>
              <a:gd name="connsiteY78" fmla="*/ 2292824 h 2429302"/>
              <a:gd name="connsiteX79" fmla="*/ 1176803 w 2162471"/>
              <a:gd name="connsiteY79" fmla="*/ 2306472 h 2429302"/>
              <a:gd name="connsiteX80" fmla="*/ 1081269 w 2162471"/>
              <a:gd name="connsiteY80" fmla="*/ 2326944 h 2429302"/>
              <a:gd name="connsiteX81" fmla="*/ 1026678 w 2162471"/>
              <a:gd name="connsiteY81" fmla="*/ 2333768 h 2429302"/>
              <a:gd name="connsiteX82" fmla="*/ 924320 w 2162471"/>
              <a:gd name="connsiteY82" fmla="*/ 2381535 h 2429302"/>
              <a:gd name="connsiteX83" fmla="*/ 869729 w 2162471"/>
              <a:gd name="connsiteY83" fmla="*/ 2395182 h 2429302"/>
              <a:gd name="connsiteX84" fmla="*/ 828785 w 2162471"/>
              <a:gd name="connsiteY84" fmla="*/ 2408830 h 2429302"/>
              <a:gd name="connsiteX85" fmla="*/ 733251 w 2162471"/>
              <a:gd name="connsiteY85" fmla="*/ 2429302 h 2429302"/>
              <a:gd name="connsiteX86" fmla="*/ 535358 w 2162471"/>
              <a:gd name="connsiteY86" fmla="*/ 2422478 h 2429302"/>
              <a:gd name="connsiteX87" fmla="*/ 514887 w 2162471"/>
              <a:gd name="connsiteY87" fmla="*/ 2415654 h 2429302"/>
              <a:gd name="connsiteX88" fmla="*/ 487591 w 2162471"/>
              <a:gd name="connsiteY88" fmla="*/ 2408830 h 2429302"/>
              <a:gd name="connsiteX89" fmla="*/ 446648 w 2162471"/>
              <a:gd name="connsiteY89" fmla="*/ 2361063 h 2429302"/>
              <a:gd name="connsiteX90" fmla="*/ 426176 w 2162471"/>
              <a:gd name="connsiteY90" fmla="*/ 2333768 h 2429302"/>
              <a:gd name="connsiteX91" fmla="*/ 385233 w 2162471"/>
              <a:gd name="connsiteY91" fmla="*/ 2306472 h 2429302"/>
              <a:gd name="connsiteX92" fmla="*/ 351114 w 2162471"/>
              <a:gd name="connsiteY92" fmla="*/ 2272353 h 2429302"/>
              <a:gd name="connsiteX93" fmla="*/ 330642 w 2162471"/>
              <a:gd name="connsiteY93" fmla="*/ 2245057 h 2429302"/>
              <a:gd name="connsiteX94" fmla="*/ 323818 w 2162471"/>
              <a:gd name="connsiteY94" fmla="*/ 2217762 h 2429302"/>
              <a:gd name="connsiteX95" fmla="*/ 310170 w 2162471"/>
              <a:gd name="connsiteY95" fmla="*/ 2197290 h 2429302"/>
              <a:gd name="connsiteX96" fmla="*/ 296523 w 2162471"/>
              <a:gd name="connsiteY96" fmla="*/ 2169994 h 2429302"/>
              <a:gd name="connsiteX97" fmla="*/ 289699 w 2162471"/>
              <a:gd name="connsiteY97" fmla="*/ 2149523 h 2429302"/>
              <a:gd name="connsiteX98" fmla="*/ 276051 w 2162471"/>
              <a:gd name="connsiteY98" fmla="*/ 2115403 h 2429302"/>
              <a:gd name="connsiteX99" fmla="*/ 269227 w 2162471"/>
              <a:gd name="connsiteY99" fmla="*/ 2094932 h 2429302"/>
              <a:gd name="connsiteX100" fmla="*/ 248755 w 2162471"/>
              <a:gd name="connsiteY100" fmla="*/ 2074460 h 2429302"/>
              <a:gd name="connsiteX101" fmla="*/ 241932 w 2162471"/>
              <a:gd name="connsiteY101" fmla="*/ 2047165 h 2429302"/>
              <a:gd name="connsiteX102" fmla="*/ 207812 w 2162471"/>
              <a:gd name="connsiteY102" fmla="*/ 1999397 h 2429302"/>
              <a:gd name="connsiteX103" fmla="*/ 187341 w 2162471"/>
              <a:gd name="connsiteY103" fmla="*/ 1937982 h 2429302"/>
              <a:gd name="connsiteX104" fmla="*/ 160045 w 2162471"/>
              <a:gd name="connsiteY104" fmla="*/ 1869744 h 2429302"/>
              <a:gd name="connsiteX105" fmla="*/ 153221 w 2162471"/>
              <a:gd name="connsiteY105" fmla="*/ 1815153 h 2429302"/>
              <a:gd name="connsiteX106" fmla="*/ 132749 w 2162471"/>
              <a:gd name="connsiteY106" fmla="*/ 1746914 h 2429302"/>
              <a:gd name="connsiteX107" fmla="*/ 125926 w 2162471"/>
              <a:gd name="connsiteY107" fmla="*/ 1712794 h 2429302"/>
              <a:gd name="connsiteX108" fmla="*/ 105454 w 2162471"/>
              <a:gd name="connsiteY108" fmla="*/ 1658203 h 2429302"/>
              <a:gd name="connsiteX109" fmla="*/ 84982 w 2162471"/>
              <a:gd name="connsiteY109" fmla="*/ 1542197 h 2429302"/>
              <a:gd name="connsiteX110" fmla="*/ 57687 w 2162471"/>
              <a:gd name="connsiteY110" fmla="*/ 1446663 h 2429302"/>
              <a:gd name="connsiteX111" fmla="*/ 37215 w 2162471"/>
              <a:gd name="connsiteY111" fmla="*/ 1351129 h 2429302"/>
              <a:gd name="connsiteX112" fmla="*/ 23567 w 2162471"/>
              <a:gd name="connsiteY112" fmla="*/ 1214651 h 2429302"/>
              <a:gd name="connsiteX113" fmla="*/ 16744 w 2162471"/>
              <a:gd name="connsiteY113" fmla="*/ 1187356 h 2429302"/>
              <a:gd name="connsiteX114" fmla="*/ 37215 w 2162471"/>
              <a:gd name="connsiteY114" fmla="*/ 914400 h 2429302"/>
              <a:gd name="connsiteX115" fmla="*/ 50863 w 2162471"/>
              <a:gd name="connsiteY115" fmla="*/ 893929 h 2429302"/>
              <a:gd name="connsiteX116" fmla="*/ 57687 w 2162471"/>
              <a:gd name="connsiteY116" fmla="*/ 866633 h 2429302"/>
              <a:gd name="connsiteX117" fmla="*/ 78158 w 2162471"/>
              <a:gd name="connsiteY117" fmla="*/ 812042 h 2429302"/>
              <a:gd name="connsiteX118" fmla="*/ 78158 w 2162471"/>
              <a:gd name="connsiteY118" fmla="*/ 805218 h 24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2162471" h="2429302">
                <a:moveTo>
                  <a:pt x="78158" y="805218"/>
                </a:moveTo>
                <a:cubicBezTo>
                  <a:pt x="80433" y="782472"/>
                  <a:pt x="85934" y="718623"/>
                  <a:pt x="91806" y="675565"/>
                </a:cubicBezTo>
                <a:cubicBezTo>
                  <a:pt x="92778" y="668438"/>
                  <a:pt x="95959" y="661772"/>
                  <a:pt x="98630" y="655093"/>
                </a:cubicBezTo>
                <a:cubicBezTo>
                  <a:pt x="109612" y="627638"/>
                  <a:pt x="121376" y="600502"/>
                  <a:pt x="132749" y="573206"/>
                </a:cubicBezTo>
                <a:cubicBezTo>
                  <a:pt x="146412" y="504892"/>
                  <a:pt x="129388" y="574448"/>
                  <a:pt x="166869" y="484496"/>
                </a:cubicBezTo>
                <a:cubicBezTo>
                  <a:pt x="170476" y="475839"/>
                  <a:pt x="168066" y="464703"/>
                  <a:pt x="173693" y="457200"/>
                </a:cubicBezTo>
                <a:cubicBezTo>
                  <a:pt x="248086" y="358009"/>
                  <a:pt x="174559" y="492152"/>
                  <a:pt x="228284" y="402609"/>
                </a:cubicBezTo>
                <a:cubicBezTo>
                  <a:pt x="236134" y="389525"/>
                  <a:pt x="242558" y="375609"/>
                  <a:pt x="248755" y="361666"/>
                </a:cubicBezTo>
                <a:cubicBezTo>
                  <a:pt x="251676" y="355093"/>
                  <a:pt x="251485" y="347108"/>
                  <a:pt x="255579" y="341194"/>
                </a:cubicBezTo>
                <a:cubicBezTo>
                  <a:pt x="272160" y="317244"/>
                  <a:pt x="295718" y="298247"/>
                  <a:pt x="310170" y="272956"/>
                </a:cubicBezTo>
                <a:cubicBezTo>
                  <a:pt x="319269" y="257033"/>
                  <a:pt x="325198" y="238819"/>
                  <a:pt x="337466" y="225188"/>
                </a:cubicBezTo>
                <a:cubicBezTo>
                  <a:pt x="415843" y="138103"/>
                  <a:pt x="336025" y="258953"/>
                  <a:pt x="392057" y="184245"/>
                </a:cubicBezTo>
                <a:cubicBezTo>
                  <a:pt x="400015" y="173635"/>
                  <a:pt x="402671" y="158999"/>
                  <a:pt x="412529" y="150126"/>
                </a:cubicBezTo>
                <a:cubicBezTo>
                  <a:pt x="426160" y="137858"/>
                  <a:pt x="443893" y="131031"/>
                  <a:pt x="460296" y="122830"/>
                </a:cubicBezTo>
                <a:cubicBezTo>
                  <a:pt x="471252" y="117352"/>
                  <a:pt x="483222" y="114157"/>
                  <a:pt x="494415" y="109182"/>
                </a:cubicBezTo>
                <a:cubicBezTo>
                  <a:pt x="561613" y="79317"/>
                  <a:pt x="468403" y="111528"/>
                  <a:pt x="589949" y="75063"/>
                </a:cubicBezTo>
                <a:cubicBezTo>
                  <a:pt x="594498" y="65965"/>
                  <a:pt x="596404" y="54961"/>
                  <a:pt x="603597" y="47768"/>
                </a:cubicBezTo>
                <a:cubicBezTo>
                  <a:pt x="608683" y="42682"/>
                  <a:pt x="617036" y="42451"/>
                  <a:pt x="624069" y="40944"/>
                </a:cubicBezTo>
                <a:cubicBezTo>
                  <a:pt x="648936" y="35615"/>
                  <a:pt x="674136" y="31983"/>
                  <a:pt x="699132" y="27296"/>
                </a:cubicBezTo>
                <a:cubicBezTo>
                  <a:pt x="710532" y="25159"/>
                  <a:pt x="721999" y="23285"/>
                  <a:pt x="733251" y="20472"/>
                </a:cubicBezTo>
                <a:cubicBezTo>
                  <a:pt x="740229" y="18727"/>
                  <a:pt x="746653" y="14974"/>
                  <a:pt x="753723" y="13648"/>
                </a:cubicBezTo>
                <a:cubicBezTo>
                  <a:pt x="783128" y="8134"/>
                  <a:pt x="812863" y="4549"/>
                  <a:pt x="842433" y="0"/>
                </a:cubicBezTo>
                <a:lnTo>
                  <a:pt x="1101741" y="13648"/>
                </a:lnTo>
                <a:cubicBezTo>
                  <a:pt x="1113311" y="14455"/>
                  <a:pt x="1126210" y="14038"/>
                  <a:pt x="1135860" y="20472"/>
                </a:cubicBezTo>
                <a:cubicBezTo>
                  <a:pt x="1141845" y="24462"/>
                  <a:pt x="1137158" y="36339"/>
                  <a:pt x="1142684" y="40944"/>
                </a:cubicBezTo>
                <a:cubicBezTo>
                  <a:pt x="1152094" y="48786"/>
                  <a:pt x="1165291" y="50405"/>
                  <a:pt x="1176803" y="54591"/>
                </a:cubicBezTo>
                <a:cubicBezTo>
                  <a:pt x="1237189" y="76549"/>
                  <a:pt x="1199087" y="57043"/>
                  <a:pt x="1251866" y="88711"/>
                </a:cubicBezTo>
                <a:cubicBezTo>
                  <a:pt x="1263769" y="106565"/>
                  <a:pt x="1273652" y="124287"/>
                  <a:pt x="1292809" y="136478"/>
                </a:cubicBezTo>
                <a:cubicBezTo>
                  <a:pt x="1307424" y="145778"/>
                  <a:pt x="1324654" y="150126"/>
                  <a:pt x="1340576" y="156950"/>
                </a:cubicBezTo>
                <a:cubicBezTo>
                  <a:pt x="1349675" y="166048"/>
                  <a:pt x="1360152" y="173951"/>
                  <a:pt x="1367872" y="184245"/>
                </a:cubicBezTo>
                <a:cubicBezTo>
                  <a:pt x="1373976" y="192383"/>
                  <a:pt x="1375078" y="203668"/>
                  <a:pt x="1381520" y="211541"/>
                </a:cubicBezTo>
                <a:cubicBezTo>
                  <a:pt x="1477952" y="329402"/>
                  <a:pt x="1401184" y="217156"/>
                  <a:pt x="1442935" y="279779"/>
                </a:cubicBezTo>
                <a:cubicBezTo>
                  <a:pt x="1455871" y="318592"/>
                  <a:pt x="1440592" y="288835"/>
                  <a:pt x="1490702" y="320723"/>
                </a:cubicBezTo>
                <a:cubicBezTo>
                  <a:pt x="1511139" y="333729"/>
                  <a:pt x="1542536" y="367571"/>
                  <a:pt x="1565764" y="375314"/>
                </a:cubicBezTo>
                <a:lnTo>
                  <a:pt x="1627179" y="395785"/>
                </a:lnTo>
                <a:cubicBezTo>
                  <a:pt x="1701700" y="445466"/>
                  <a:pt x="1586811" y="372188"/>
                  <a:pt x="1674947" y="416257"/>
                </a:cubicBezTo>
                <a:cubicBezTo>
                  <a:pt x="1685119" y="421343"/>
                  <a:pt x="1691916" y="431963"/>
                  <a:pt x="1702242" y="436729"/>
                </a:cubicBezTo>
                <a:cubicBezTo>
                  <a:pt x="1739157" y="453767"/>
                  <a:pt x="1761579" y="456784"/>
                  <a:pt x="1797776" y="464024"/>
                </a:cubicBezTo>
                <a:cubicBezTo>
                  <a:pt x="1811424" y="518615"/>
                  <a:pt x="1790952" y="470849"/>
                  <a:pt x="1831896" y="498144"/>
                </a:cubicBezTo>
                <a:cubicBezTo>
                  <a:pt x="1888448" y="535844"/>
                  <a:pt x="1794474" y="505847"/>
                  <a:pt x="1872839" y="525439"/>
                </a:cubicBezTo>
                <a:cubicBezTo>
                  <a:pt x="1904846" y="589453"/>
                  <a:pt x="1859971" y="515788"/>
                  <a:pt x="1927430" y="566382"/>
                </a:cubicBezTo>
                <a:cubicBezTo>
                  <a:pt x="1935568" y="572486"/>
                  <a:pt x="1934566" y="585863"/>
                  <a:pt x="1941078" y="593678"/>
                </a:cubicBezTo>
                <a:cubicBezTo>
                  <a:pt x="1946328" y="599978"/>
                  <a:pt x="1954725" y="602777"/>
                  <a:pt x="1961549" y="607326"/>
                </a:cubicBezTo>
                <a:cubicBezTo>
                  <a:pt x="1966098" y="618699"/>
                  <a:pt x="1971677" y="629712"/>
                  <a:pt x="1975197" y="641445"/>
                </a:cubicBezTo>
                <a:cubicBezTo>
                  <a:pt x="1978530" y="652554"/>
                  <a:pt x="1977948" y="664705"/>
                  <a:pt x="1982021" y="675565"/>
                </a:cubicBezTo>
                <a:cubicBezTo>
                  <a:pt x="1984901" y="683244"/>
                  <a:pt x="1991120" y="689212"/>
                  <a:pt x="1995669" y="696036"/>
                </a:cubicBezTo>
                <a:cubicBezTo>
                  <a:pt x="1997944" y="702860"/>
                  <a:pt x="1999822" y="709829"/>
                  <a:pt x="2002493" y="716508"/>
                </a:cubicBezTo>
                <a:cubicBezTo>
                  <a:pt x="2008926" y="732592"/>
                  <a:pt x="2017486" y="747841"/>
                  <a:pt x="2022964" y="764275"/>
                </a:cubicBezTo>
                <a:cubicBezTo>
                  <a:pt x="2026632" y="775278"/>
                  <a:pt x="2023821" y="788449"/>
                  <a:pt x="2029788" y="798394"/>
                </a:cubicBezTo>
                <a:cubicBezTo>
                  <a:pt x="2038063" y="812186"/>
                  <a:pt x="2052535" y="821141"/>
                  <a:pt x="2063908" y="832514"/>
                </a:cubicBezTo>
                <a:cubicBezTo>
                  <a:pt x="2070732" y="855260"/>
                  <a:pt x="2080310" y="877356"/>
                  <a:pt x="2084379" y="900753"/>
                </a:cubicBezTo>
                <a:cubicBezTo>
                  <a:pt x="2087923" y="921133"/>
                  <a:pt x="2092131" y="1030190"/>
                  <a:pt x="2098027" y="1057702"/>
                </a:cubicBezTo>
                <a:cubicBezTo>
                  <a:pt x="2100158" y="1067649"/>
                  <a:pt x="2107126" y="1075899"/>
                  <a:pt x="2111675" y="1084997"/>
                </a:cubicBezTo>
                <a:cubicBezTo>
                  <a:pt x="2113950" y="1114567"/>
                  <a:pt x="2114820" y="1144279"/>
                  <a:pt x="2118499" y="1173708"/>
                </a:cubicBezTo>
                <a:cubicBezTo>
                  <a:pt x="2121653" y="1198943"/>
                  <a:pt x="2131756" y="1223343"/>
                  <a:pt x="2132147" y="1248771"/>
                </a:cubicBezTo>
                <a:cubicBezTo>
                  <a:pt x="2139591" y="1732643"/>
                  <a:pt x="2162471" y="1488887"/>
                  <a:pt x="2111675" y="1658203"/>
                </a:cubicBezTo>
                <a:cubicBezTo>
                  <a:pt x="2087935" y="1737335"/>
                  <a:pt x="2105451" y="1707443"/>
                  <a:pt x="2070732" y="1753738"/>
                </a:cubicBezTo>
                <a:cubicBezTo>
                  <a:pt x="2045844" y="1828398"/>
                  <a:pt x="2085537" y="1715308"/>
                  <a:pt x="2050260" y="1794681"/>
                </a:cubicBezTo>
                <a:cubicBezTo>
                  <a:pt x="2044417" y="1807827"/>
                  <a:pt x="2046784" y="1825451"/>
                  <a:pt x="2036612" y="1835624"/>
                </a:cubicBezTo>
                <a:cubicBezTo>
                  <a:pt x="2029788" y="1842448"/>
                  <a:pt x="2021931" y="1848376"/>
                  <a:pt x="2016141" y="1856096"/>
                </a:cubicBezTo>
                <a:cubicBezTo>
                  <a:pt x="2008183" y="1866707"/>
                  <a:pt x="2001601" y="1878352"/>
                  <a:pt x="1995669" y="1890215"/>
                </a:cubicBezTo>
                <a:cubicBezTo>
                  <a:pt x="1992452" y="1896649"/>
                  <a:pt x="1993450" y="1905161"/>
                  <a:pt x="1988845" y="1910687"/>
                </a:cubicBezTo>
                <a:cubicBezTo>
                  <a:pt x="1981564" y="1919424"/>
                  <a:pt x="1970286" y="1923878"/>
                  <a:pt x="1961549" y="1931159"/>
                </a:cubicBezTo>
                <a:cubicBezTo>
                  <a:pt x="1942974" y="1946638"/>
                  <a:pt x="1924849" y="1962661"/>
                  <a:pt x="1906958" y="1978926"/>
                </a:cubicBezTo>
                <a:cubicBezTo>
                  <a:pt x="1899817" y="1985417"/>
                  <a:pt x="1894516" y="1994044"/>
                  <a:pt x="1886487" y="1999397"/>
                </a:cubicBezTo>
                <a:cubicBezTo>
                  <a:pt x="1880502" y="2003387"/>
                  <a:pt x="1872750" y="2003695"/>
                  <a:pt x="1866015" y="2006221"/>
                </a:cubicBezTo>
                <a:cubicBezTo>
                  <a:pt x="1854546" y="2010522"/>
                  <a:pt x="1843269" y="2015320"/>
                  <a:pt x="1831896" y="2019869"/>
                </a:cubicBezTo>
                <a:cubicBezTo>
                  <a:pt x="1808206" y="2051455"/>
                  <a:pt x="1806017" y="2060104"/>
                  <a:pt x="1763657" y="2081284"/>
                </a:cubicBezTo>
                <a:cubicBezTo>
                  <a:pt x="1753283" y="2086471"/>
                  <a:pt x="1740911" y="2085833"/>
                  <a:pt x="1729538" y="2088108"/>
                </a:cubicBezTo>
                <a:cubicBezTo>
                  <a:pt x="1722714" y="2094932"/>
                  <a:pt x="1716786" y="2102789"/>
                  <a:pt x="1709066" y="2108579"/>
                </a:cubicBezTo>
                <a:cubicBezTo>
                  <a:pt x="1686274" y="2125673"/>
                  <a:pt x="1658725" y="2136038"/>
                  <a:pt x="1634003" y="2149523"/>
                </a:cubicBezTo>
                <a:cubicBezTo>
                  <a:pt x="1622359" y="2155874"/>
                  <a:pt x="1612349" y="2165461"/>
                  <a:pt x="1599884" y="2169994"/>
                </a:cubicBezTo>
                <a:cubicBezTo>
                  <a:pt x="1586881" y="2174722"/>
                  <a:pt x="1572589" y="2174543"/>
                  <a:pt x="1558941" y="2176818"/>
                </a:cubicBezTo>
                <a:cubicBezTo>
                  <a:pt x="1536195" y="2190466"/>
                  <a:pt x="1516714" y="2212560"/>
                  <a:pt x="1490702" y="2217762"/>
                </a:cubicBezTo>
                <a:cubicBezTo>
                  <a:pt x="1448819" y="2226137"/>
                  <a:pt x="1459717" y="2222491"/>
                  <a:pt x="1415639" y="2238233"/>
                </a:cubicBezTo>
                <a:cubicBezTo>
                  <a:pt x="1397337" y="2244770"/>
                  <a:pt x="1379826" y="2253697"/>
                  <a:pt x="1361048" y="2258705"/>
                </a:cubicBezTo>
                <a:cubicBezTo>
                  <a:pt x="1345507" y="2262849"/>
                  <a:pt x="1329203" y="2263254"/>
                  <a:pt x="1313281" y="2265529"/>
                </a:cubicBezTo>
                <a:cubicBezTo>
                  <a:pt x="1306457" y="2270078"/>
                  <a:pt x="1300145" y="2275509"/>
                  <a:pt x="1292809" y="2279177"/>
                </a:cubicBezTo>
                <a:cubicBezTo>
                  <a:pt x="1271774" y="2289694"/>
                  <a:pt x="1236557" y="2290473"/>
                  <a:pt x="1217747" y="2292824"/>
                </a:cubicBezTo>
                <a:cubicBezTo>
                  <a:pt x="1204099" y="2297373"/>
                  <a:pt x="1190760" y="2302983"/>
                  <a:pt x="1176803" y="2306472"/>
                </a:cubicBezTo>
                <a:cubicBezTo>
                  <a:pt x="1139526" y="2315792"/>
                  <a:pt x="1127732" y="2319200"/>
                  <a:pt x="1081269" y="2326944"/>
                </a:cubicBezTo>
                <a:cubicBezTo>
                  <a:pt x="1063180" y="2329959"/>
                  <a:pt x="1044875" y="2331493"/>
                  <a:pt x="1026678" y="2333768"/>
                </a:cubicBezTo>
                <a:cubicBezTo>
                  <a:pt x="992559" y="2349690"/>
                  <a:pt x="960848" y="2372404"/>
                  <a:pt x="924320" y="2381535"/>
                </a:cubicBezTo>
                <a:cubicBezTo>
                  <a:pt x="906123" y="2386084"/>
                  <a:pt x="887764" y="2390029"/>
                  <a:pt x="869729" y="2395182"/>
                </a:cubicBezTo>
                <a:cubicBezTo>
                  <a:pt x="855896" y="2399134"/>
                  <a:pt x="842742" y="2405341"/>
                  <a:pt x="828785" y="2408830"/>
                </a:cubicBezTo>
                <a:cubicBezTo>
                  <a:pt x="778986" y="2421280"/>
                  <a:pt x="810686" y="2413815"/>
                  <a:pt x="733251" y="2429302"/>
                </a:cubicBezTo>
                <a:cubicBezTo>
                  <a:pt x="667287" y="2427027"/>
                  <a:pt x="601233" y="2426595"/>
                  <a:pt x="535358" y="2422478"/>
                </a:cubicBezTo>
                <a:cubicBezTo>
                  <a:pt x="528179" y="2422029"/>
                  <a:pt x="521803" y="2417630"/>
                  <a:pt x="514887" y="2415654"/>
                </a:cubicBezTo>
                <a:cubicBezTo>
                  <a:pt x="505869" y="2413077"/>
                  <a:pt x="496690" y="2411105"/>
                  <a:pt x="487591" y="2408830"/>
                </a:cubicBezTo>
                <a:cubicBezTo>
                  <a:pt x="460936" y="2355519"/>
                  <a:pt x="490939" y="2405353"/>
                  <a:pt x="446648" y="2361063"/>
                </a:cubicBezTo>
                <a:cubicBezTo>
                  <a:pt x="438606" y="2353021"/>
                  <a:pt x="434676" y="2341324"/>
                  <a:pt x="426176" y="2333768"/>
                </a:cubicBezTo>
                <a:cubicBezTo>
                  <a:pt x="413917" y="2322871"/>
                  <a:pt x="385233" y="2306472"/>
                  <a:pt x="385233" y="2306472"/>
                </a:cubicBezTo>
                <a:cubicBezTo>
                  <a:pt x="371217" y="2264424"/>
                  <a:pt x="390464" y="2306082"/>
                  <a:pt x="351114" y="2272353"/>
                </a:cubicBezTo>
                <a:cubicBezTo>
                  <a:pt x="342479" y="2264951"/>
                  <a:pt x="337466" y="2254156"/>
                  <a:pt x="330642" y="2245057"/>
                </a:cubicBezTo>
                <a:cubicBezTo>
                  <a:pt x="328367" y="2235959"/>
                  <a:pt x="327512" y="2226382"/>
                  <a:pt x="323818" y="2217762"/>
                </a:cubicBezTo>
                <a:cubicBezTo>
                  <a:pt x="320587" y="2210224"/>
                  <a:pt x="314239" y="2204411"/>
                  <a:pt x="310170" y="2197290"/>
                </a:cubicBezTo>
                <a:cubicBezTo>
                  <a:pt x="305123" y="2188458"/>
                  <a:pt x="300530" y="2179344"/>
                  <a:pt x="296523" y="2169994"/>
                </a:cubicBezTo>
                <a:cubicBezTo>
                  <a:pt x="293690" y="2163383"/>
                  <a:pt x="292225" y="2156258"/>
                  <a:pt x="289699" y="2149523"/>
                </a:cubicBezTo>
                <a:cubicBezTo>
                  <a:pt x="285398" y="2138054"/>
                  <a:pt x="280352" y="2126872"/>
                  <a:pt x="276051" y="2115403"/>
                </a:cubicBezTo>
                <a:cubicBezTo>
                  <a:pt x="273525" y="2108668"/>
                  <a:pt x="273217" y="2100917"/>
                  <a:pt x="269227" y="2094932"/>
                </a:cubicBezTo>
                <a:cubicBezTo>
                  <a:pt x="263874" y="2086902"/>
                  <a:pt x="255579" y="2081284"/>
                  <a:pt x="248755" y="2074460"/>
                </a:cubicBezTo>
                <a:cubicBezTo>
                  <a:pt x="246481" y="2065362"/>
                  <a:pt x="245626" y="2055785"/>
                  <a:pt x="241932" y="2047165"/>
                </a:cubicBezTo>
                <a:cubicBezTo>
                  <a:pt x="238606" y="2039404"/>
                  <a:pt x="210142" y="2002504"/>
                  <a:pt x="207812" y="1999397"/>
                </a:cubicBezTo>
                <a:cubicBezTo>
                  <a:pt x="200204" y="1968967"/>
                  <a:pt x="201614" y="1969383"/>
                  <a:pt x="187341" y="1937982"/>
                </a:cubicBezTo>
                <a:cubicBezTo>
                  <a:pt x="159933" y="1877683"/>
                  <a:pt x="172255" y="1918583"/>
                  <a:pt x="160045" y="1869744"/>
                </a:cubicBezTo>
                <a:cubicBezTo>
                  <a:pt x="157770" y="1851547"/>
                  <a:pt x="156236" y="1833242"/>
                  <a:pt x="153221" y="1815153"/>
                </a:cubicBezTo>
                <a:cubicBezTo>
                  <a:pt x="148652" y="1787741"/>
                  <a:pt x="140552" y="1775524"/>
                  <a:pt x="132749" y="1746914"/>
                </a:cubicBezTo>
                <a:cubicBezTo>
                  <a:pt x="129697" y="1735724"/>
                  <a:pt x="128739" y="1724046"/>
                  <a:pt x="125926" y="1712794"/>
                </a:cubicBezTo>
                <a:cubicBezTo>
                  <a:pt x="122362" y="1698536"/>
                  <a:pt x="109625" y="1668631"/>
                  <a:pt x="105454" y="1658203"/>
                </a:cubicBezTo>
                <a:cubicBezTo>
                  <a:pt x="94283" y="1557667"/>
                  <a:pt x="105698" y="1635420"/>
                  <a:pt x="84982" y="1542197"/>
                </a:cubicBezTo>
                <a:cubicBezTo>
                  <a:pt x="66211" y="1457725"/>
                  <a:pt x="83081" y="1497451"/>
                  <a:pt x="57687" y="1446663"/>
                </a:cubicBezTo>
                <a:cubicBezTo>
                  <a:pt x="35360" y="1290378"/>
                  <a:pt x="68832" y="1509210"/>
                  <a:pt x="37215" y="1351129"/>
                </a:cubicBezTo>
                <a:cubicBezTo>
                  <a:pt x="29764" y="1313875"/>
                  <a:pt x="27776" y="1248325"/>
                  <a:pt x="23567" y="1214651"/>
                </a:cubicBezTo>
                <a:cubicBezTo>
                  <a:pt x="22404" y="1205345"/>
                  <a:pt x="19018" y="1196454"/>
                  <a:pt x="16744" y="1187356"/>
                </a:cubicBezTo>
                <a:cubicBezTo>
                  <a:pt x="19148" y="1105604"/>
                  <a:pt x="0" y="998131"/>
                  <a:pt x="37215" y="914400"/>
                </a:cubicBezTo>
                <a:cubicBezTo>
                  <a:pt x="40546" y="906906"/>
                  <a:pt x="46314" y="900753"/>
                  <a:pt x="50863" y="893929"/>
                </a:cubicBezTo>
                <a:cubicBezTo>
                  <a:pt x="53138" y="884830"/>
                  <a:pt x="54721" y="875530"/>
                  <a:pt x="57687" y="866633"/>
                </a:cubicBezTo>
                <a:cubicBezTo>
                  <a:pt x="59875" y="860069"/>
                  <a:pt x="75760" y="824032"/>
                  <a:pt x="78158" y="812042"/>
                </a:cubicBezTo>
                <a:cubicBezTo>
                  <a:pt x="79050" y="807581"/>
                  <a:pt x="75883" y="827964"/>
                  <a:pt x="78158" y="805218"/>
                </a:cubicBezTo>
                <a:close/>
              </a:path>
            </a:pathLst>
          </a:custGeom>
          <a:noFill/>
          <a:ln w="38100" cap="flat" cmpd="sng" algn="ctr">
            <a:solidFill>
              <a:schemeClr val="accent2">
                <a:lumMod val="5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25839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down)">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en-US" altLang="zh-CN" b="1" dirty="0">
                <a:solidFill>
                  <a:srgbClr val="0000CC"/>
                </a:solidFill>
              </a:rPr>
              <a:t>Ford-Fulkerson</a:t>
            </a:r>
            <a:r>
              <a:rPr lang="zh-CN" altLang="en-US" b="1" dirty="0">
                <a:solidFill>
                  <a:srgbClr val="0000CC"/>
                </a:solidFill>
              </a:rPr>
              <a:t>方法</a:t>
            </a:r>
            <a:endParaRPr lang="zh-CN" altLang="en-US" dirty="0"/>
          </a:p>
        </p:txBody>
      </p:sp>
      <p:sp>
        <p:nvSpPr>
          <p:cNvPr id="3" name="TextBox 2"/>
          <p:cNvSpPr txBox="1"/>
          <p:nvPr/>
        </p:nvSpPr>
        <p:spPr>
          <a:xfrm>
            <a:off x="685800" y="4648200"/>
            <a:ext cx="8229600" cy="1569660"/>
          </a:xfrm>
          <a:prstGeom prst="rect">
            <a:avLst/>
          </a:prstGeom>
          <a:gradFill>
            <a:gsLst>
              <a:gs pos="0">
                <a:srgbClr val="FFEFD1"/>
              </a:gs>
              <a:gs pos="64999">
                <a:srgbClr val="F0EBD5"/>
              </a:gs>
              <a:gs pos="100000">
                <a:srgbClr val="D1C39F"/>
              </a:gs>
            </a:gsLst>
            <a:lin ang="5400000" scaled="0"/>
          </a:gradFill>
        </p:spPr>
        <p:txBody>
          <a:bodyPr wrap="square" rtlCol="0">
            <a:spAutoFit/>
          </a:bodyPr>
          <a:lstStyle/>
          <a:p>
            <a:r>
              <a:rPr lang="zh-CN" altLang="en-US" sz="2400" dirty="0">
                <a:latin typeface="+mj-lt"/>
              </a:rPr>
              <a:t>割的净流为</a:t>
            </a:r>
            <a:endParaRPr lang="en-US" altLang="zh-CN" sz="2400" dirty="0">
              <a:latin typeface="+mj-lt"/>
            </a:endParaRPr>
          </a:p>
          <a:p>
            <a:r>
              <a:rPr lang="en-US" altLang="zh-CN" sz="2400" i="1" dirty="0">
                <a:latin typeface="+mj-lt"/>
              </a:rPr>
              <a:t>f(s,v1)+f(v2,v1)</a:t>
            </a:r>
            <a:r>
              <a:rPr lang="en-US" altLang="zh-CN" sz="2400" i="1" dirty="0"/>
              <a:t> +f(v2,v4) </a:t>
            </a:r>
            <a:r>
              <a:rPr lang="en-US" altLang="zh-CN" sz="2400" i="1" dirty="0">
                <a:latin typeface="+mj-lt"/>
              </a:rPr>
              <a:t>-</a:t>
            </a:r>
            <a:r>
              <a:rPr lang="en-US" altLang="zh-CN" sz="2400" i="1" dirty="0"/>
              <a:t>f(v1,v2)-f(v3,v2)</a:t>
            </a:r>
            <a:r>
              <a:rPr lang="en-US" altLang="zh-CN" sz="2400" i="1" dirty="0">
                <a:latin typeface="+mj-lt"/>
              </a:rPr>
              <a:t>=4+0+4-0-4=4</a:t>
            </a:r>
            <a:r>
              <a:rPr lang="en-US" altLang="zh-CN" sz="2400" dirty="0">
                <a:latin typeface="+mj-lt"/>
              </a:rPr>
              <a:t>.</a:t>
            </a:r>
          </a:p>
          <a:p>
            <a:endParaRPr lang="en-US" altLang="zh-CN" sz="2400" dirty="0">
              <a:latin typeface="+mj-lt"/>
            </a:endParaRPr>
          </a:p>
          <a:p>
            <a:r>
              <a:rPr lang="en-US" altLang="zh-CN" sz="2400" dirty="0">
                <a:latin typeface="+mj-lt"/>
              </a:rPr>
              <a:t> </a:t>
            </a:r>
            <a:r>
              <a:rPr lang="zh-CN" altLang="en-US" sz="2400" dirty="0">
                <a:latin typeface="+mj-lt"/>
              </a:rPr>
              <a:t>割的容量为</a:t>
            </a:r>
            <a:r>
              <a:rPr lang="en-US" altLang="zh-CN" sz="2400" i="1" dirty="0">
                <a:latin typeface="+mj-lt"/>
              </a:rPr>
              <a:t>c(s,v1)+c(v2,v1)+</a:t>
            </a:r>
            <a:r>
              <a:rPr lang="en-US" altLang="zh-CN" sz="2400" i="1" dirty="0"/>
              <a:t>c(v2,v4)</a:t>
            </a:r>
            <a:r>
              <a:rPr lang="en-US" altLang="zh-CN" sz="2400" i="1" dirty="0">
                <a:latin typeface="+mj-lt"/>
              </a:rPr>
              <a:t>=16+4+14=34</a:t>
            </a:r>
            <a:r>
              <a:rPr lang="en-US" altLang="zh-CN" sz="2400" dirty="0">
                <a:latin typeface="+mj-lt"/>
              </a:rPr>
              <a:t>.</a:t>
            </a:r>
            <a:endParaRPr lang="zh-CN" altLang="en-US" sz="2400" dirty="0">
              <a:latin typeface="+mj-lt"/>
            </a:endParaRPr>
          </a:p>
        </p:txBody>
      </p:sp>
      <p:grpSp>
        <p:nvGrpSpPr>
          <p:cNvPr id="4" name="Group 93"/>
          <p:cNvGrpSpPr>
            <a:grpSpLocks/>
          </p:cNvGrpSpPr>
          <p:nvPr/>
        </p:nvGrpSpPr>
        <p:grpSpPr bwMode="auto">
          <a:xfrm>
            <a:off x="1707490" y="1558197"/>
            <a:ext cx="4114800" cy="2514600"/>
            <a:chOff x="2928" y="1200"/>
            <a:chExt cx="2592" cy="1584"/>
          </a:xfrm>
        </p:grpSpPr>
        <p:sp>
          <p:nvSpPr>
            <p:cNvPr id="5" name="Text Box 65"/>
            <p:cNvSpPr txBox="1">
              <a:spLocks noChangeArrowheads="1"/>
            </p:cNvSpPr>
            <p:nvPr/>
          </p:nvSpPr>
          <p:spPr bwMode="auto">
            <a:xfrm>
              <a:off x="4200" y="1950"/>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4/9</a:t>
              </a:r>
            </a:p>
          </p:txBody>
        </p:sp>
        <p:grpSp>
          <p:nvGrpSpPr>
            <p:cNvPr id="6" name="Group 92"/>
            <p:cNvGrpSpPr>
              <a:grpSpLocks/>
            </p:cNvGrpSpPr>
            <p:nvPr/>
          </p:nvGrpSpPr>
          <p:grpSpPr bwMode="auto">
            <a:xfrm>
              <a:off x="2928" y="1200"/>
              <a:ext cx="2592" cy="1584"/>
              <a:chOff x="2928" y="1200"/>
              <a:chExt cx="2592" cy="1584"/>
            </a:xfrm>
          </p:grpSpPr>
          <p:sp>
            <p:nvSpPr>
              <p:cNvPr id="7" name="Oval 67"/>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8" name="Oval 68"/>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9" name="Oval 69"/>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10" name="Oval 70"/>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11" name="Oval 71"/>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12" name="Oval 72"/>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3" name="Line 73"/>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74"/>
              <p:cNvSpPr>
                <a:spLocks noChangeShapeType="1"/>
              </p:cNvSpPr>
              <p:nvPr/>
            </p:nvSpPr>
            <p:spPr bwMode="auto">
              <a:xfrm>
                <a:off x="3984" y="158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75"/>
              <p:cNvSpPr>
                <a:spLocks noChangeShapeType="1"/>
              </p:cNvSpPr>
              <p:nvPr/>
            </p:nvSpPr>
            <p:spPr bwMode="auto">
              <a:xfrm>
                <a:off x="4727" y="1625"/>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76"/>
              <p:cNvSpPr>
                <a:spLocks noChangeShapeType="1"/>
              </p:cNvSpPr>
              <p:nvPr/>
            </p:nvSpPr>
            <p:spPr bwMode="auto">
              <a:xfrm>
                <a:off x="3140" y="2099"/>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77"/>
              <p:cNvSpPr>
                <a:spLocks noChangeShapeType="1"/>
              </p:cNvSpPr>
              <p:nvPr/>
            </p:nvSpPr>
            <p:spPr bwMode="auto">
              <a:xfrm>
                <a:off x="3986" y="2453"/>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78"/>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79"/>
              <p:cNvSpPr>
                <a:spLocks noChangeShapeType="1"/>
              </p:cNvSpPr>
              <p:nvPr/>
            </p:nvSpPr>
            <p:spPr bwMode="auto">
              <a:xfrm>
                <a:off x="37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80"/>
              <p:cNvSpPr>
                <a:spLocks noChangeShapeType="1"/>
              </p:cNvSpPr>
              <p:nvPr/>
            </p:nvSpPr>
            <p:spPr bwMode="auto">
              <a:xfrm flipV="1">
                <a:off x="3933"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81"/>
              <p:cNvSpPr>
                <a:spLocks noChangeShapeType="1"/>
              </p:cNvSpPr>
              <p:nvPr/>
            </p:nvSpPr>
            <p:spPr bwMode="auto">
              <a:xfrm flipV="1">
                <a:off x="46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82"/>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Text Box 83"/>
              <p:cNvSpPr txBox="1">
                <a:spLocks noChangeArrowheads="1"/>
              </p:cNvSpPr>
              <p:nvPr/>
            </p:nvSpPr>
            <p:spPr bwMode="auto">
              <a:xfrm>
                <a:off x="3120" y="144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4/16</a:t>
                </a:r>
              </a:p>
            </p:txBody>
          </p:sp>
          <p:sp>
            <p:nvSpPr>
              <p:cNvPr id="24" name="Text Box 84"/>
              <p:cNvSpPr txBox="1">
                <a:spLocks noChangeArrowheads="1"/>
              </p:cNvSpPr>
              <p:nvPr/>
            </p:nvSpPr>
            <p:spPr bwMode="auto">
              <a:xfrm>
                <a:off x="3168" y="22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25" name="Text Box 85"/>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4/12</a:t>
                </a:r>
              </a:p>
            </p:txBody>
          </p:sp>
          <p:sp>
            <p:nvSpPr>
              <p:cNvPr id="26" name="Text Box 86"/>
              <p:cNvSpPr txBox="1">
                <a:spLocks noChangeArrowheads="1"/>
              </p:cNvSpPr>
              <p:nvPr/>
            </p:nvSpPr>
            <p:spPr bwMode="auto">
              <a:xfrm>
                <a:off x="3457" y="186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27" name="Text Box 87"/>
              <p:cNvSpPr txBox="1">
                <a:spLocks noChangeArrowheads="1"/>
              </p:cNvSpPr>
              <p:nvPr/>
            </p:nvSpPr>
            <p:spPr bwMode="auto">
              <a:xfrm>
                <a:off x="3888" y="18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a:t>
                </a:r>
              </a:p>
            </p:txBody>
          </p:sp>
          <p:sp>
            <p:nvSpPr>
              <p:cNvPr id="28" name="Text Box 88"/>
              <p:cNvSpPr txBox="1">
                <a:spLocks noChangeArrowheads="1"/>
              </p:cNvSpPr>
              <p:nvPr/>
            </p:nvSpPr>
            <p:spPr bwMode="auto">
              <a:xfrm>
                <a:off x="4885" y="1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29" name="Text Box 89"/>
              <p:cNvSpPr txBox="1">
                <a:spLocks noChangeArrowheads="1"/>
              </p:cNvSpPr>
              <p:nvPr/>
            </p:nvSpPr>
            <p:spPr bwMode="auto">
              <a:xfrm>
                <a:off x="4938" y="221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4/4</a:t>
                </a:r>
              </a:p>
            </p:txBody>
          </p:sp>
          <p:sp>
            <p:nvSpPr>
              <p:cNvPr id="30" name="Text Box 90"/>
              <p:cNvSpPr txBox="1">
                <a:spLocks noChangeArrowheads="1"/>
              </p:cNvSpPr>
              <p:nvPr/>
            </p:nvSpPr>
            <p:spPr bwMode="auto">
              <a:xfrm>
                <a:off x="4663" y="183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31" name="Text Box 91"/>
              <p:cNvSpPr txBox="1">
                <a:spLocks noChangeArrowheads="1"/>
              </p:cNvSpPr>
              <p:nvPr/>
            </p:nvSpPr>
            <p:spPr bwMode="auto">
              <a:xfrm>
                <a:off x="4032" y="2496"/>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4/14</a:t>
                </a:r>
              </a:p>
            </p:txBody>
          </p:sp>
        </p:grpSp>
      </p:grpSp>
      <p:sp>
        <p:nvSpPr>
          <p:cNvPr id="34" name="任意多边形 33"/>
          <p:cNvSpPr/>
          <p:nvPr/>
        </p:nvSpPr>
        <p:spPr bwMode="auto">
          <a:xfrm>
            <a:off x="1587263" y="1775805"/>
            <a:ext cx="1922486" cy="2384565"/>
          </a:xfrm>
          <a:custGeom>
            <a:avLst/>
            <a:gdLst>
              <a:gd name="connsiteX0" fmla="*/ 277931 w 1922486"/>
              <a:gd name="connsiteY0" fmla="*/ 16679 h 2384565"/>
              <a:gd name="connsiteX1" fmla="*/ 298402 w 1922486"/>
              <a:gd name="connsiteY1" fmla="*/ 3031 h 2384565"/>
              <a:gd name="connsiteX2" fmla="*/ 468999 w 1922486"/>
              <a:gd name="connsiteY2" fmla="*/ 16679 h 2384565"/>
              <a:gd name="connsiteX3" fmla="*/ 503119 w 1922486"/>
              <a:gd name="connsiteY3" fmla="*/ 30326 h 2384565"/>
              <a:gd name="connsiteX4" fmla="*/ 557710 w 1922486"/>
              <a:gd name="connsiteY4" fmla="*/ 37150 h 2384565"/>
              <a:gd name="connsiteX5" fmla="*/ 578181 w 1922486"/>
              <a:gd name="connsiteY5" fmla="*/ 57622 h 2384565"/>
              <a:gd name="connsiteX6" fmla="*/ 639596 w 1922486"/>
              <a:gd name="connsiteY6" fmla="*/ 84917 h 2384565"/>
              <a:gd name="connsiteX7" fmla="*/ 680540 w 1922486"/>
              <a:gd name="connsiteY7" fmla="*/ 125861 h 2384565"/>
              <a:gd name="connsiteX8" fmla="*/ 707835 w 1922486"/>
              <a:gd name="connsiteY8" fmla="*/ 132685 h 2384565"/>
              <a:gd name="connsiteX9" fmla="*/ 741954 w 1922486"/>
              <a:gd name="connsiteY9" fmla="*/ 166804 h 2384565"/>
              <a:gd name="connsiteX10" fmla="*/ 789722 w 1922486"/>
              <a:gd name="connsiteY10" fmla="*/ 200923 h 2384565"/>
              <a:gd name="connsiteX11" fmla="*/ 830665 w 1922486"/>
              <a:gd name="connsiteY11" fmla="*/ 248691 h 2384565"/>
              <a:gd name="connsiteX12" fmla="*/ 844313 w 1922486"/>
              <a:gd name="connsiteY12" fmla="*/ 269162 h 2384565"/>
              <a:gd name="connsiteX13" fmla="*/ 892080 w 1922486"/>
              <a:gd name="connsiteY13" fmla="*/ 296458 h 2384565"/>
              <a:gd name="connsiteX14" fmla="*/ 939847 w 1922486"/>
              <a:gd name="connsiteY14" fmla="*/ 344225 h 2384565"/>
              <a:gd name="connsiteX15" fmla="*/ 953495 w 1922486"/>
              <a:gd name="connsiteY15" fmla="*/ 364696 h 2384565"/>
              <a:gd name="connsiteX16" fmla="*/ 973966 w 1922486"/>
              <a:gd name="connsiteY16" fmla="*/ 371520 h 2384565"/>
              <a:gd name="connsiteX17" fmla="*/ 1028557 w 1922486"/>
              <a:gd name="connsiteY17" fmla="*/ 419288 h 2384565"/>
              <a:gd name="connsiteX18" fmla="*/ 1055853 w 1922486"/>
              <a:gd name="connsiteY18" fmla="*/ 446583 h 2384565"/>
              <a:gd name="connsiteX19" fmla="*/ 1069501 w 1922486"/>
              <a:gd name="connsiteY19" fmla="*/ 467055 h 2384565"/>
              <a:gd name="connsiteX20" fmla="*/ 1096796 w 1922486"/>
              <a:gd name="connsiteY20" fmla="*/ 480702 h 2384565"/>
              <a:gd name="connsiteX21" fmla="*/ 1117268 w 1922486"/>
              <a:gd name="connsiteY21" fmla="*/ 501174 h 2384565"/>
              <a:gd name="connsiteX22" fmla="*/ 1144563 w 1922486"/>
              <a:gd name="connsiteY22" fmla="*/ 542117 h 2384565"/>
              <a:gd name="connsiteX23" fmla="*/ 1178683 w 1922486"/>
              <a:gd name="connsiteY23" fmla="*/ 555765 h 2384565"/>
              <a:gd name="connsiteX24" fmla="*/ 1219626 w 1922486"/>
              <a:gd name="connsiteY24" fmla="*/ 583061 h 2384565"/>
              <a:gd name="connsiteX25" fmla="*/ 1267393 w 1922486"/>
              <a:gd name="connsiteY25" fmla="*/ 624004 h 2384565"/>
              <a:gd name="connsiteX26" fmla="*/ 1274217 w 1922486"/>
              <a:gd name="connsiteY26" fmla="*/ 658123 h 2384565"/>
              <a:gd name="connsiteX27" fmla="*/ 1315160 w 1922486"/>
              <a:gd name="connsiteY27" fmla="*/ 678595 h 2384565"/>
              <a:gd name="connsiteX28" fmla="*/ 1321984 w 1922486"/>
              <a:gd name="connsiteY28" fmla="*/ 699067 h 2384565"/>
              <a:gd name="connsiteX29" fmla="*/ 1362928 w 1922486"/>
              <a:gd name="connsiteY29" fmla="*/ 719538 h 2384565"/>
              <a:gd name="connsiteX30" fmla="*/ 1390223 w 1922486"/>
              <a:gd name="connsiteY30" fmla="*/ 753658 h 2384565"/>
              <a:gd name="connsiteX31" fmla="*/ 1410695 w 1922486"/>
              <a:gd name="connsiteY31" fmla="*/ 767305 h 2384565"/>
              <a:gd name="connsiteX32" fmla="*/ 1437990 w 1922486"/>
              <a:gd name="connsiteY32" fmla="*/ 815073 h 2384565"/>
              <a:gd name="connsiteX33" fmla="*/ 1478934 w 1922486"/>
              <a:gd name="connsiteY33" fmla="*/ 842368 h 2384565"/>
              <a:gd name="connsiteX34" fmla="*/ 1499405 w 1922486"/>
              <a:gd name="connsiteY34" fmla="*/ 862840 h 2384565"/>
              <a:gd name="connsiteX35" fmla="*/ 1526701 w 1922486"/>
              <a:gd name="connsiteY35" fmla="*/ 896959 h 2384565"/>
              <a:gd name="connsiteX36" fmla="*/ 1560820 w 1922486"/>
              <a:gd name="connsiteY36" fmla="*/ 924255 h 2384565"/>
              <a:gd name="connsiteX37" fmla="*/ 1588116 w 1922486"/>
              <a:gd name="connsiteY37" fmla="*/ 951550 h 2384565"/>
              <a:gd name="connsiteX38" fmla="*/ 1642707 w 1922486"/>
              <a:gd name="connsiteY38" fmla="*/ 1019789 h 2384565"/>
              <a:gd name="connsiteX39" fmla="*/ 1663178 w 1922486"/>
              <a:gd name="connsiteY39" fmla="*/ 1047085 h 2384565"/>
              <a:gd name="connsiteX40" fmla="*/ 1670002 w 1922486"/>
              <a:gd name="connsiteY40" fmla="*/ 1081204 h 2384565"/>
              <a:gd name="connsiteX41" fmla="*/ 1683650 w 1922486"/>
              <a:gd name="connsiteY41" fmla="*/ 1115323 h 2384565"/>
              <a:gd name="connsiteX42" fmla="*/ 1710946 w 1922486"/>
              <a:gd name="connsiteY42" fmla="*/ 1169914 h 2384565"/>
              <a:gd name="connsiteX43" fmla="*/ 1717769 w 1922486"/>
              <a:gd name="connsiteY43" fmla="*/ 1197210 h 2384565"/>
              <a:gd name="connsiteX44" fmla="*/ 1731417 w 1922486"/>
              <a:gd name="connsiteY44" fmla="*/ 1217682 h 2384565"/>
              <a:gd name="connsiteX45" fmla="*/ 1751889 w 1922486"/>
              <a:gd name="connsiteY45" fmla="*/ 1279096 h 2384565"/>
              <a:gd name="connsiteX46" fmla="*/ 1772360 w 1922486"/>
              <a:gd name="connsiteY46" fmla="*/ 1313216 h 2384565"/>
              <a:gd name="connsiteX47" fmla="*/ 1779184 w 1922486"/>
              <a:gd name="connsiteY47" fmla="*/ 1333688 h 2384565"/>
              <a:gd name="connsiteX48" fmla="*/ 1813304 w 1922486"/>
              <a:gd name="connsiteY48" fmla="*/ 1367807 h 2384565"/>
              <a:gd name="connsiteX49" fmla="*/ 1820128 w 1922486"/>
              <a:gd name="connsiteY49" fmla="*/ 1388279 h 2384565"/>
              <a:gd name="connsiteX50" fmla="*/ 1833775 w 1922486"/>
              <a:gd name="connsiteY50" fmla="*/ 1456517 h 2384565"/>
              <a:gd name="connsiteX51" fmla="*/ 1847423 w 1922486"/>
              <a:gd name="connsiteY51" fmla="*/ 1476989 h 2384565"/>
              <a:gd name="connsiteX52" fmla="*/ 1854247 w 1922486"/>
              <a:gd name="connsiteY52" fmla="*/ 1511108 h 2384565"/>
              <a:gd name="connsiteX53" fmla="*/ 1867895 w 1922486"/>
              <a:gd name="connsiteY53" fmla="*/ 1531580 h 2384565"/>
              <a:gd name="connsiteX54" fmla="*/ 1874719 w 1922486"/>
              <a:gd name="connsiteY54" fmla="*/ 1592995 h 2384565"/>
              <a:gd name="connsiteX55" fmla="*/ 1895190 w 1922486"/>
              <a:gd name="connsiteY55" fmla="*/ 1715825 h 2384565"/>
              <a:gd name="connsiteX56" fmla="*/ 1902014 w 1922486"/>
              <a:gd name="connsiteY56" fmla="*/ 1818183 h 2384565"/>
              <a:gd name="connsiteX57" fmla="*/ 1915662 w 1922486"/>
              <a:gd name="connsiteY57" fmla="*/ 1913717 h 2384565"/>
              <a:gd name="connsiteX58" fmla="*/ 1922486 w 1922486"/>
              <a:gd name="connsiteY58" fmla="*/ 2077491 h 2384565"/>
              <a:gd name="connsiteX59" fmla="*/ 1915662 w 1922486"/>
              <a:gd name="connsiteY59" fmla="*/ 2193496 h 2384565"/>
              <a:gd name="connsiteX60" fmla="*/ 1908838 w 1922486"/>
              <a:gd name="connsiteY60" fmla="*/ 2213968 h 2384565"/>
              <a:gd name="connsiteX61" fmla="*/ 1854247 w 1922486"/>
              <a:gd name="connsiteY61" fmla="*/ 2289031 h 2384565"/>
              <a:gd name="connsiteX62" fmla="*/ 1806480 w 1922486"/>
              <a:gd name="connsiteY62" fmla="*/ 2309502 h 2384565"/>
              <a:gd name="connsiteX63" fmla="*/ 1765537 w 1922486"/>
              <a:gd name="connsiteY63" fmla="*/ 2323150 h 2384565"/>
              <a:gd name="connsiteX64" fmla="*/ 1731417 w 1922486"/>
              <a:gd name="connsiteY64" fmla="*/ 2336798 h 2384565"/>
              <a:gd name="connsiteX65" fmla="*/ 1717769 w 1922486"/>
              <a:gd name="connsiteY65" fmla="*/ 2364093 h 2384565"/>
              <a:gd name="connsiteX66" fmla="*/ 1608587 w 1922486"/>
              <a:gd name="connsiteY66" fmla="*/ 2384565 h 2384565"/>
              <a:gd name="connsiteX67" fmla="*/ 1226450 w 1922486"/>
              <a:gd name="connsiteY67" fmla="*/ 2370917 h 2384565"/>
              <a:gd name="connsiteX68" fmla="*/ 1165035 w 1922486"/>
              <a:gd name="connsiteY68" fmla="*/ 2364093 h 2384565"/>
              <a:gd name="connsiteX69" fmla="*/ 1130916 w 1922486"/>
              <a:gd name="connsiteY69" fmla="*/ 2350446 h 2384565"/>
              <a:gd name="connsiteX70" fmla="*/ 1076325 w 1922486"/>
              <a:gd name="connsiteY70" fmla="*/ 2329974 h 2384565"/>
              <a:gd name="connsiteX71" fmla="*/ 1042205 w 1922486"/>
              <a:gd name="connsiteY71" fmla="*/ 2302679 h 2384565"/>
              <a:gd name="connsiteX72" fmla="*/ 994438 w 1922486"/>
              <a:gd name="connsiteY72" fmla="*/ 2289031 h 2384565"/>
              <a:gd name="connsiteX73" fmla="*/ 946671 w 1922486"/>
              <a:gd name="connsiteY73" fmla="*/ 2241264 h 2384565"/>
              <a:gd name="connsiteX74" fmla="*/ 926199 w 1922486"/>
              <a:gd name="connsiteY74" fmla="*/ 2213968 h 2384565"/>
              <a:gd name="connsiteX75" fmla="*/ 844313 w 1922486"/>
              <a:gd name="connsiteY75" fmla="*/ 2159377 h 2384565"/>
              <a:gd name="connsiteX76" fmla="*/ 782898 w 1922486"/>
              <a:gd name="connsiteY76" fmla="*/ 2091138 h 2384565"/>
              <a:gd name="connsiteX77" fmla="*/ 762426 w 1922486"/>
              <a:gd name="connsiteY77" fmla="*/ 2070667 h 2384565"/>
              <a:gd name="connsiteX78" fmla="*/ 741954 w 1922486"/>
              <a:gd name="connsiteY78" fmla="*/ 2043371 h 2384565"/>
              <a:gd name="connsiteX79" fmla="*/ 687363 w 1922486"/>
              <a:gd name="connsiteY79" fmla="*/ 1995604 h 2384565"/>
              <a:gd name="connsiteX80" fmla="*/ 666892 w 1922486"/>
              <a:gd name="connsiteY80" fmla="*/ 1981956 h 2384565"/>
              <a:gd name="connsiteX81" fmla="*/ 619125 w 1922486"/>
              <a:gd name="connsiteY81" fmla="*/ 1920541 h 2384565"/>
              <a:gd name="connsiteX82" fmla="*/ 591829 w 1922486"/>
              <a:gd name="connsiteY82" fmla="*/ 1893246 h 2384565"/>
              <a:gd name="connsiteX83" fmla="*/ 571357 w 1922486"/>
              <a:gd name="connsiteY83" fmla="*/ 1865950 h 2384565"/>
              <a:gd name="connsiteX84" fmla="*/ 530414 w 1922486"/>
              <a:gd name="connsiteY84" fmla="*/ 1838655 h 2384565"/>
              <a:gd name="connsiteX85" fmla="*/ 496295 w 1922486"/>
              <a:gd name="connsiteY85" fmla="*/ 1797711 h 2384565"/>
              <a:gd name="connsiteX86" fmla="*/ 468999 w 1922486"/>
              <a:gd name="connsiteY86" fmla="*/ 1777240 h 2384565"/>
              <a:gd name="connsiteX87" fmla="*/ 428056 w 1922486"/>
              <a:gd name="connsiteY87" fmla="*/ 1729473 h 2384565"/>
              <a:gd name="connsiteX88" fmla="*/ 421232 w 1922486"/>
              <a:gd name="connsiteY88" fmla="*/ 1709001 h 2384565"/>
              <a:gd name="connsiteX89" fmla="*/ 400760 w 1922486"/>
              <a:gd name="connsiteY89" fmla="*/ 1702177 h 2384565"/>
              <a:gd name="connsiteX90" fmla="*/ 380289 w 1922486"/>
              <a:gd name="connsiteY90" fmla="*/ 1681705 h 2384565"/>
              <a:gd name="connsiteX91" fmla="*/ 346169 w 1922486"/>
              <a:gd name="connsiteY91" fmla="*/ 1627114 h 2384565"/>
              <a:gd name="connsiteX92" fmla="*/ 325698 w 1922486"/>
              <a:gd name="connsiteY92" fmla="*/ 1579347 h 2384565"/>
              <a:gd name="connsiteX93" fmla="*/ 271107 w 1922486"/>
              <a:gd name="connsiteY93" fmla="*/ 1470165 h 2384565"/>
              <a:gd name="connsiteX94" fmla="*/ 257459 w 1922486"/>
              <a:gd name="connsiteY94" fmla="*/ 1449693 h 2384565"/>
              <a:gd name="connsiteX95" fmla="*/ 243811 w 1922486"/>
              <a:gd name="connsiteY95" fmla="*/ 1415574 h 2384565"/>
              <a:gd name="connsiteX96" fmla="*/ 196044 w 1922486"/>
              <a:gd name="connsiteY96" fmla="*/ 1367807 h 2384565"/>
              <a:gd name="connsiteX97" fmla="*/ 175572 w 1922486"/>
              <a:gd name="connsiteY97" fmla="*/ 1320040 h 2384565"/>
              <a:gd name="connsiteX98" fmla="*/ 168749 w 1922486"/>
              <a:gd name="connsiteY98" fmla="*/ 1299568 h 2384565"/>
              <a:gd name="connsiteX99" fmla="*/ 148277 w 1922486"/>
              <a:gd name="connsiteY99" fmla="*/ 1285920 h 2384565"/>
              <a:gd name="connsiteX100" fmla="*/ 107334 w 1922486"/>
              <a:gd name="connsiteY100" fmla="*/ 1169914 h 2384565"/>
              <a:gd name="connsiteX101" fmla="*/ 107334 w 1922486"/>
              <a:gd name="connsiteY101" fmla="*/ 1169914 h 2384565"/>
              <a:gd name="connsiteX102" fmla="*/ 66390 w 1922486"/>
              <a:gd name="connsiteY102" fmla="*/ 1012965 h 2384565"/>
              <a:gd name="connsiteX103" fmla="*/ 59566 w 1922486"/>
              <a:gd name="connsiteY103" fmla="*/ 828720 h 2384565"/>
              <a:gd name="connsiteX104" fmla="*/ 45919 w 1922486"/>
              <a:gd name="connsiteY104" fmla="*/ 794601 h 2384565"/>
              <a:gd name="connsiteX105" fmla="*/ 73214 w 1922486"/>
              <a:gd name="connsiteY105" fmla="*/ 446583 h 2384565"/>
              <a:gd name="connsiteX106" fmla="*/ 80038 w 1922486"/>
              <a:gd name="connsiteY106" fmla="*/ 419288 h 2384565"/>
              <a:gd name="connsiteX107" fmla="*/ 107334 w 1922486"/>
              <a:gd name="connsiteY107" fmla="*/ 310105 h 2384565"/>
              <a:gd name="connsiteX108" fmla="*/ 120981 w 1922486"/>
              <a:gd name="connsiteY108" fmla="*/ 289634 h 2384565"/>
              <a:gd name="connsiteX109" fmla="*/ 127805 w 1922486"/>
              <a:gd name="connsiteY109" fmla="*/ 269162 h 2384565"/>
              <a:gd name="connsiteX110" fmla="*/ 155101 w 1922486"/>
              <a:gd name="connsiteY110" fmla="*/ 228219 h 2384565"/>
              <a:gd name="connsiteX111" fmla="*/ 175572 w 1922486"/>
              <a:gd name="connsiteY111" fmla="*/ 180452 h 2384565"/>
              <a:gd name="connsiteX112" fmla="*/ 189220 w 1922486"/>
              <a:gd name="connsiteY112" fmla="*/ 153156 h 2384565"/>
              <a:gd name="connsiteX113" fmla="*/ 230163 w 1922486"/>
              <a:gd name="connsiteY113" fmla="*/ 125861 h 2384565"/>
              <a:gd name="connsiteX114" fmla="*/ 271107 w 1922486"/>
              <a:gd name="connsiteY114" fmla="*/ 71270 h 2384565"/>
              <a:gd name="connsiteX115" fmla="*/ 291578 w 1922486"/>
              <a:gd name="connsiteY115" fmla="*/ 64446 h 2384565"/>
              <a:gd name="connsiteX116" fmla="*/ 298402 w 1922486"/>
              <a:gd name="connsiteY116" fmla="*/ 37150 h 2384565"/>
              <a:gd name="connsiteX117" fmla="*/ 277931 w 1922486"/>
              <a:gd name="connsiteY117" fmla="*/ 16679 h 238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922486" h="2384565">
                <a:moveTo>
                  <a:pt x="277931" y="16679"/>
                </a:moveTo>
                <a:cubicBezTo>
                  <a:pt x="277931" y="10993"/>
                  <a:pt x="290210" y="3421"/>
                  <a:pt x="298402" y="3031"/>
                </a:cubicBezTo>
                <a:cubicBezTo>
                  <a:pt x="362060" y="0"/>
                  <a:pt x="410146" y="8271"/>
                  <a:pt x="468999" y="16679"/>
                </a:cubicBezTo>
                <a:cubicBezTo>
                  <a:pt x="480372" y="21228"/>
                  <a:pt x="491183" y="27572"/>
                  <a:pt x="503119" y="30326"/>
                </a:cubicBezTo>
                <a:cubicBezTo>
                  <a:pt x="520988" y="34449"/>
                  <a:pt x="540476" y="30883"/>
                  <a:pt x="557710" y="37150"/>
                </a:cubicBezTo>
                <a:cubicBezTo>
                  <a:pt x="566779" y="40448"/>
                  <a:pt x="570151" y="52269"/>
                  <a:pt x="578181" y="57622"/>
                </a:cubicBezTo>
                <a:cubicBezTo>
                  <a:pt x="601866" y="73412"/>
                  <a:pt x="615818" y="76991"/>
                  <a:pt x="639596" y="84917"/>
                </a:cubicBezTo>
                <a:cubicBezTo>
                  <a:pt x="653449" y="105697"/>
                  <a:pt x="655147" y="113164"/>
                  <a:pt x="680540" y="125861"/>
                </a:cubicBezTo>
                <a:cubicBezTo>
                  <a:pt x="688928" y="130055"/>
                  <a:pt x="698737" y="130410"/>
                  <a:pt x="707835" y="132685"/>
                </a:cubicBezTo>
                <a:cubicBezTo>
                  <a:pt x="719208" y="144058"/>
                  <a:pt x="729258" y="156929"/>
                  <a:pt x="741954" y="166804"/>
                </a:cubicBezTo>
                <a:cubicBezTo>
                  <a:pt x="822800" y="229684"/>
                  <a:pt x="719445" y="130649"/>
                  <a:pt x="789722" y="200923"/>
                </a:cubicBezTo>
                <a:cubicBezTo>
                  <a:pt x="803114" y="241099"/>
                  <a:pt x="786956" y="204982"/>
                  <a:pt x="830665" y="248691"/>
                </a:cubicBezTo>
                <a:cubicBezTo>
                  <a:pt x="836464" y="254490"/>
                  <a:pt x="837839" y="264127"/>
                  <a:pt x="844313" y="269162"/>
                </a:cubicBezTo>
                <a:cubicBezTo>
                  <a:pt x="858789" y="280421"/>
                  <a:pt x="877660" y="285128"/>
                  <a:pt x="892080" y="296458"/>
                </a:cubicBezTo>
                <a:cubicBezTo>
                  <a:pt x="909786" y="310370"/>
                  <a:pt x="924783" y="327488"/>
                  <a:pt x="939847" y="344225"/>
                </a:cubicBezTo>
                <a:cubicBezTo>
                  <a:pt x="945333" y="350321"/>
                  <a:pt x="947091" y="359573"/>
                  <a:pt x="953495" y="364696"/>
                </a:cubicBezTo>
                <a:cubicBezTo>
                  <a:pt x="959112" y="369189"/>
                  <a:pt x="967142" y="369245"/>
                  <a:pt x="973966" y="371520"/>
                </a:cubicBezTo>
                <a:cubicBezTo>
                  <a:pt x="1026811" y="424365"/>
                  <a:pt x="953588" y="352649"/>
                  <a:pt x="1028557" y="419288"/>
                </a:cubicBezTo>
                <a:cubicBezTo>
                  <a:pt x="1038174" y="427837"/>
                  <a:pt x="1047479" y="436814"/>
                  <a:pt x="1055853" y="446583"/>
                </a:cubicBezTo>
                <a:cubicBezTo>
                  <a:pt x="1061190" y="452810"/>
                  <a:pt x="1063200" y="461805"/>
                  <a:pt x="1069501" y="467055"/>
                </a:cubicBezTo>
                <a:cubicBezTo>
                  <a:pt x="1077315" y="473567"/>
                  <a:pt x="1087698" y="476153"/>
                  <a:pt x="1096796" y="480702"/>
                </a:cubicBezTo>
                <a:cubicBezTo>
                  <a:pt x="1103620" y="487526"/>
                  <a:pt x="1111915" y="493144"/>
                  <a:pt x="1117268" y="501174"/>
                </a:cubicBezTo>
                <a:cubicBezTo>
                  <a:pt x="1135909" y="529135"/>
                  <a:pt x="1107247" y="518795"/>
                  <a:pt x="1144563" y="542117"/>
                </a:cubicBezTo>
                <a:cubicBezTo>
                  <a:pt x="1154951" y="548609"/>
                  <a:pt x="1167310" y="551216"/>
                  <a:pt x="1178683" y="555765"/>
                </a:cubicBezTo>
                <a:cubicBezTo>
                  <a:pt x="1194282" y="602561"/>
                  <a:pt x="1170219" y="550123"/>
                  <a:pt x="1219626" y="583061"/>
                </a:cubicBezTo>
                <a:cubicBezTo>
                  <a:pt x="1307047" y="641342"/>
                  <a:pt x="1205631" y="603416"/>
                  <a:pt x="1267393" y="624004"/>
                </a:cubicBezTo>
                <a:cubicBezTo>
                  <a:pt x="1269668" y="635377"/>
                  <a:pt x="1268463" y="648053"/>
                  <a:pt x="1274217" y="658123"/>
                </a:cubicBezTo>
                <a:cubicBezTo>
                  <a:pt x="1280442" y="669017"/>
                  <a:pt x="1304652" y="675092"/>
                  <a:pt x="1315160" y="678595"/>
                </a:cubicBezTo>
                <a:cubicBezTo>
                  <a:pt x="1317435" y="685419"/>
                  <a:pt x="1317490" y="693450"/>
                  <a:pt x="1321984" y="699067"/>
                </a:cubicBezTo>
                <a:cubicBezTo>
                  <a:pt x="1331604" y="711091"/>
                  <a:pt x="1349443" y="715043"/>
                  <a:pt x="1362928" y="719538"/>
                </a:cubicBezTo>
                <a:cubicBezTo>
                  <a:pt x="1372026" y="730911"/>
                  <a:pt x="1379924" y="743359"/>
                  <a:pt x="1390223" y="753658"/>
                </a:cubicBezTo>
                <a:cubicBezTo>
                  <a:pt x="1396022" y="759457"/>
                  <a:pt x="1405660" y="760831"/>
                  <a:pt x="1410695" y="767305"/>
                </a:cubicBezTo>
                <a:cubicBezTo>
                  <a:pt x="1421954" y="781781"/>
                  <a:pt x="1425654" y="801503"/>
                  <a:pt x="1437990" y="815073"/>
                </a:cubicBezTo>
                <a:cubicBezTo>
                  <a:pt x="1449024" y="827210"/>
                  <a:pt x="1467336" y="830769"/>
                  <a:pt x="1478934" y="842368"/>
                </a:cubicBezTo>
                <a:cubicBezTo>
                  <a:pt x="1485758" y="849192"/>
                  <a:pt x="1493050" y="855577"/>
                  <a:pt x="1499405" y="862840"/>
                </a:cubicBezTo>
                <a:cubicBezTo>
                  <a:pt x="1508996" y="873801"/>
                  <a:pt x="1516402" y="886660"/>
                  <a:pt x="1526701" y="896959"/>
                </a:cubicBezTo>
                <a:cubicBezTo>
                  <a:pt x="1537000" y="907258"/>
                  <a:pt x="1549934" y="914579"/>
                  <a:pt x="1560820" y="924255"/>
                </a:cubicBezTo>
                <a:cubicBezTo>
                  <a:pt x="1570437" y="932804"/>
                  <a:pt x="1579017" y="942452"/>
                  <a:pt x="1588116" y="951550"/>
                </a:cubicBezTo>
                <a:cubicBezTo>
                  <a:pt x="1619960" y="1015240"/>
                  <a:pt x="1597214" y="997043"/>
                  <a:pt x="1642707" y="1019789"/>
                </a:cubicBezTo>
                <a:cubicBezTo>
                  <a:pt x="1649531" y="1028888"/>
                  <a:pt x="1658559" y="1036692"/>
                  <a:pt x="1663178" y="1047085"/>
                </a:cubicBezTo>
                <a:cubicBezTo>
                  <a:pt x="1667888" y="1057684"/>
                  <a:pt x="1666669" y="1070095"/>
                  <a:pt x="1670002" y="1081204"/>
                </a:cubicBezTo>
                <a:cubicBezTo>
                  <a:pt x="1673522" y="1092937"/>
                  <a:pt x="1678172" y="1104367"/>
                  <a:pt x="1683650" y="1115323"/>
                </a:cubicBezTo>
                <a:cubicBezTo>
                  <a:pt x="1708722" y="1165466"/>
                  <a:pt x="1687338" y="1099088"/>
                  <a:pt x="1710946" y="1169914"/>
                </a:cubicBezTo>
                <a:cubicBezTo>
                  <a:pt x="1713912" y="1178811"/>
                  <a:pt x="1714075" y="1188590"/>
                  <a:pt x="1717769" y="1197210"/>
                </a:cubicBezTo>
                <a:cubicBezTo>
                  <a:pt x="1721000" y="1204748"/>
                  <a:pt x="1728263" y="1210111"/>
                  <a:pt x="1731417" y="1217682"/>
                </a:cubicBezTo>
                <a:cubicBezTo>
                  <a:pt x="1739717" y="1237601"/>
                  <a:pt x="1743389" y="1259262"/>
                  <a:pt x="1751889" y="1279096"/>
                </a:cubicBezTo>
                <a:cubicBezTo>
                  <a:pt x="1757114" y="1291287"/>
                  <a:pt x="1766429" y="1301353"/>
                  <a:pt x="1772360" y="1313216"/>
                </a:cubicBezTo>
                <a:cubicBezTo>
                  <a:pt x="1775577" y="1319650"/>
                  <a:pt x="1774868" y="1327934"/>
                  <a:pt x="1779184" y="1333688"/>
                </a:cubicBezTo>
                <a:cubicBezTo>
                  <a:pt x="1788835" y="1346555"/>
                  <a:pt x="1801931" y="1356434"/>
                  <a:pt x="1813304" y="1367807"/>
                </a:cubicBezTo>
                <a:cubicBezTo>
                  <a:pt x="1815579" y="1374631"/>
                  <a:pt x="1818568" y="1381257"/>
                  <a:pt x="1820128" y="1388279"/>
                </a:cubicBezTo>
                <a:cubicBezTo>
                  <a:pt x="1822734" y="1400008"/>
                  <a:pt x="1827498" y="1441872"/>
                  <a:pt x="1833775" y="1456517"/>
                </a:cubicBezTo>
                <a:cubicBezTo>
                  <a:pt x="1837006" y="1464055"/>
                  <a:pt x="1842874" y="1470165"/>
                  <a:pt x="1847423" y="1476989"/>
                </a:cubicBezTo>
                <a:cubicBezTo>
                  <a:pt x="1849698" y="1488362"/>
                  <a:pt x="1850175" y="1500248"/>
                  <a:pt x="1854247" y="1511108"/>
                </a:cubicBezTo>
                <a:cubicBezTo>
                  <a:pt x="1857127" y="1518787"/>
                  <a:pt x="1865906" y="1523623"/>
                  <a:pt x="1867895" y="1531580"/>
                </a:cubicBezTo>
                <a:cubicBezTo>
                  <a:pt x="1872891" y="1551563"/>
                  <a:pt x="1872164" y="1572556"/>
                  <a:pt x="1874719" y="1592995"/>
                </a:cubicBezTo>
                <a:cubicBezTo>
                  <a:pt x="1880971" y="1643007"/>
                  <a:pt x="1885258" y="1661195"/>
                  <a:pt x="1895190" y="1715825"/>
                </a:cubicBezTo>
                <a:cubicBezTo>
                  <a:pt x="1897465" y="1749944"/>
                  <a:pt x="1898495" y="1784169"/>
                  <a:pt x="1902014" y="1818183"/>
                </a:cubicBezTo>
                <a:cubicBezTo>
                  <a:pt x="1905324" y="1850180"/>
                  <a:pt x="1913130" y="1881649"/>
                  <a:pt x="1915662" y="1913717"/>
                </a:cubicBezTo>
                <a:cubicBezTo>
                  <a:pt x="1919962" y="1968186"/>
                  <a:pt x="1920211" y="2022900"/>
                  <a:pt x="1922486" y="2077491"/>
                </a:cubicBezTo>
                <a:cubicBezTo>
                  <a:pt x="1920211" y="2116159"/>
                  <a:pt x="1919516" y="2154953"/>
                  <a:pt x="1915662" y="2193496"/>
                </a:cubicBezTo>
                <a:cubicBezTo>
                  <a:pt x="1914946" y="2200653"/>
                  <a:pt x="1912055" y="2207534"/>
                  <a:pt x="1908838" y="2213968"/>
                </a:cubicBezTo>
                <a:cubicBezTo>
                  <a:pt x="1896635" y="2238374"/>
                  <a:pt x="1879441" y="2272998"/>
                  <a:pt x="1854247" y="2289031"/>
                </a:cubicBezTo>
                <a:cubicBezTo>
                  <a:pt x="1839632" y="2298331"/>
                  <a:pt x="1822648" y="2303283"/>
                  <a:pt x="1806480" y="2309502"/>
                </a:cubicBezTo>
                <a:cubicBezTo>
                  <a:pt x="1793053" y="2314666"/>
                  <a:pt x="1779057" y="2318234"/>
                  <a:pt x="1765537" y="2323150"/>
                </a:cubicBezTo>
                <a:cubicBezTo>
                  <a:pt x="1754025" y="2327336"/>
                  <a:pt x="1742790" y="2332249"/>
                  <a:pt x="1731417" y="2336798"/>
                </a:cubicBezTo>
                <a:cubicBezTo>
                  <a:pt x="1726868" y="2345896"/>
                  <a:pt x="1726492" y="2358859"/>
                  <a:pt x="1717769" y="2364093"/>
                </a:cubicBezTo>
                <a:cubicBezTo>
                  <a:pt x="1698720" y="2375522"/>
                  <a:pt x="1629647" y="2381933"/>
                  <a:pt x="1608587" y="2384565"/>
                </a:cubicBezTo>
                <a:lnTo>
                  <a:pt x="1226450" y="2370917"/>
                </a:lnTo>
                <a:cubicBezTo>
                  <a:pt x="1205874" y="2369967"/>
                  <a:pt x="1185175" y="2368409"/>
                  <a:pt x="1165035" y="2364093"/>
                </a:cubicBezTo>
                <a:cubicBezTo>
                  <a:pt x="1153058" y="2361527"/>
                  <a:pt x="1142385" y="2354747"/>
                  <a:pt x="1130916" y="2350446"/>
                </a:cubicBezTo>
                <a:cubicBezTo>
                  <a:pt x="1114176" y="2344169"/>
                  <a:pt x="1090980" y="2338767"/>
                  <a:pt x="1076325" y="2329974"/>
                </a:cubicBezTo>
                <a:cubicBezTo>
                  <a:pt x="1063836" y="2322481"/>
                  <a:pt x="1055232" y="2309192"/>
                  <a:pt x="1042205" y="2302679"/>
                </a:cubicBezTo>
                <a:cubicBezTo>
                  <a:pt x="1027394" y="2295273"/>
                  <a:pt x="1010360" y="2293580"/>
                  <a:pt x="994438" y="2289031"/>
                </a:cubicBezTo>
                <a:cubicBezTo>
                  <a:pt x="963583" y="2242749"/>
                  <a:pt x="1003404" y="2297997"/>
                  <a:pt x="946671" y="2241264"/>
                </a:cubicBezTo>
                <a:cubicBezTo>
                  <a:pt x="938629" y="2233222"/>
                  <a:pt x="934241" y="2222010"/>
                  <a:pt x="926199" y="2213968"/>
                </a:cubicBezTo>
                <a:cubicBezTo>
                  <a:pt x="900366" y="2188135"/>
                  <a:pt x="876261" y="2177634"/>
                  <a:pt x="844313" y="2159377"/>
                </a:cubicBezTo>
                <a:cubicBezTo>
                  <a:pt x="818175" y="2120170"/>
                  <a:pt x="836463" y="2144702"/>
                  <a:pt x="782898" y="2091138"/>
                </a:cubicBezTo>
                <a:cubicBezTo>
                  <a:pt x="776074" y="2084314"/>
                  <a:pt x="768216" y="2078387"/>
                  <a:pt x="762426" y="2070667"/>
                </a:cubicBezTo>
                <a:cubicBezTo>
                  <a:pt x="755602" y="2061568"/>
                  <a:pt x="749996" y="2051413"/>
                  <a:pt x="741954" y="2043371"/>
                </a:cubicBezTo>
                <a:cubicBezTo>
                  <a:pt x="724856" y="2026273"/>
                  <a:pt x="706077" y="2010916"/>
                  <a:pt x="687363" y="1995604"/>
                </a:cubicBezTo>
                <a:cubicBezTo>
                  <a:pt x="681016" y="1990411"/>
                  <a:pt x="672409" y="1988024"/>
                  <a:pt x="666892" y="1981956"/>
                </a:cubicBezTo>
                <a:cubicBezTo>
                  <a:pt x="649447" y="1962766"/>
                  <a:pt x="637464" y="1938879"/>
                  <a:pt x="619125" y="1920541"/>
                </a:cubicBezTo>
                <a:cubicBezTo>
                  <a:pt x="610026" y="1911443"/>
                  <a:pt x="600302" y="1902929"/>
                  <a:pt x="591829" y="1893246"/>
                </a:cubicBezTo>
                <a:cubicBezTo>
                  <a:pt x="584340" y="1884687"/>
                  <a:pt x="579858" y="1873506"/>
                  <a:pt x="571357" y="1865950"/>
                </a:cubicBezTo>
                <a:cubicBezTo>
                  <a:pt x="559098" y="1855053"/>
                  <a:pt x="543361" y="1848725"/>
                  <a:pt x="530414" y="1838655"/>
                </a:cubicBezTo>
                <a:cubicBezTo>
                  <a:pt x="480107" y="1799527"/>
                  <a:pt x="535724" y="1837139"/>
                  <a:pt x="496295" y="1797711"/>
                </a:cubicBezTo>
                <a:cubicBezTo>
                  <a:pt x="488253" y="1789669"/>
                  <a:pt x="477634" y="1784642"/>
                  <a:pt x="468999" y="1777240"/>
                </a:cubicBezTo>
                <a:cubicBezTo>
                  <a:pt x="449044" y="1760136"/>
                  <a:pt x="444233" y="1751041"/>
                  <a:pt x="428056" y="1729473"/>
                </a:cubicBezTo>
                <a:cubicBezTo>
                  <a:pt x="425781" y="1722649"/>
                  <a:pt x="426318" y="1714087"/>
                  <a:pt x="421232" y="1709001"/>
                </a:cubicBezTo>
                <a:cubicBezTo>
                  <a:pt x="416146" y="1703915"/>
                  <a:pt x="406745" y="1706167"/>
                  <a:pt x="400760" y="1702177"/>
                </a:cubicBezTo>
                <a:cubicBezTo>
                  <a:pt x="392730" y="1696824"/>
                  <a:pt x="385965" y="1689510"/>
                  <a:pt x="380289" y="1681705"/>
                </a:cubicBezTo>
                <a:cubicBezTo>
                  <a:pt x="367668" y="1664350"/>
                  <a:pt x="346169" y="1627114"/>
                  <a:pt x="346169" y="1627114"/>
                </a:cubicBezTo>
                <a:cubicBezTo>
                  <a:pt x="333252" y="1575441"/>
                  <a:pt x="348138" y="1621983"/>
                  <a:pt x="325698" y="1579347"/>
                </a:cubicBezTo>
                <a:cubicBezTo>
                  <a:pt x="306747" y="1543340"/>
                  <a:pt x="293678" y="1504021"/>
                  <a:pt x="271107" y="1470165"/>
                </a:cubicBezTo>
                <a:cubicBezTo>
                  <a:pt x="266558" y="1463341"/>
                  <a:pt x="261127" y="1457029"/>
                  <a:pt x="257459" y="1449693"/>
                </a:cubicBezTo>
                <a:cubicBezTo>
                  <a:pt x="251981" y="1438737"/>
                  <a:pt x="251331" y="1425243"/>
                  <a:pt x="243811" y="1415574"/>
                </a:cubicBezTo>
                <a:cubicBezTo>
                  <a:pt x="202739" y="1362768"/>
                  <a:pt x="218080" y="1411878"/>
                  <a:pt x="196044" y="1367807"/>
                </a:cubicBezTo>
                <a:cubicBezTo>
                  <a:pt x="188297" y="1352313"/>
                  <a:pt x="182005" y="1336124"/>
                  <a:pt x="175572" y="1320040"/>
                </a:cubicBezTo>
                <a:cubicBezTo>
                  <a:pt x="172901" y="1313361"/>
                  <a:pt x="173242" y="1305185"/>
                  <a:pt x="168749" y="1299568"/>
                </a:cubicBezTo>
                <a:cubicBezTo>
                  <a:pt x="163626" y="1293164"/>
                  <a:pt x="155101" y="1290469"/>
                  <a:pt x="148277" y="1285920"/>
                </a:cubicBezTo>
                <a:cubicBezTo>
                  <a:pt x="135654" y="1222805"/>
                  <a:pt x="145914" y="1262507"/>
                  <a:pt x="107334" y="1169914"/>
                </a:cubicBezTo>
                <a:lnTo>
                  <a:pt x="107334" y="1169914"/>
                </a:lnTo>
                <a:lnTo>
                  <a:pt x="66390" y="1012965"/>
                </a:lnTo>
                <a:cubicBezTo>
                  <a:pt x="64115" y="951550"/>
                  <a:pt x="65302" y="889909"/>
                  <a:pt x="59566" y="828720"/>
                </a:cubicBezTo>
                <a:cubicBezTo>
                  <a:pt x="58423" y="816524"/>
                  <a:pt x="45919" y="806850"/>
                  <a:pt x="45919" y="794601"/>
                </a:cubicBezTo>
                <a:cubicBezTo>
                  <a:pt x="45919" y="479843"/>
                  <a:pt x="0" y="556404"/>
                  <a:pt x="73214" y="446583"/>
                </a:cubicBezTo>
                <a:cubicBezTo>
                  <a:pt x="75489" y="437485"/>
                  <a:pt x="78073" y="428458"/>
                  <a:pt x="80038" y="419288"/>
                </a:cubicBezTo>
                <a:cubicBezTo>
                  <a:pt x="88279" y="380831"/>
                  <a:pt x="91454" y="345837"/>
                  <a:pt x="107334" y="310105"/>
                </a:cubicBezTo>
                <a:cubicBezTo>
                  <a:pt x="110665" y="302611"/>
                  <a:pt x="117313" y="296969"/>
                  <a:pt x="120981" y="289634"/>
                </a:cubicBezTo>
                <a:cubicBezTo>
                  <a:pt x="124198" y="283200"/>
                  <a:pt x="124312" y="275450"/>
                  <a:pt x="127805" y="269162"/>
                </a:cubicBezTo>
                <a:cubicBezTo>
                  <a:pt x="135771" y="254824"/>
                  <a:pt x="155101" y="228219"/>
                  <a:pt x="155101" y="228219"/>
                </a:cubicBezTo>
                <a:cubicBezTo>
                  <a:pt x="166309" y="183387"/>
                  <a:pt x="154628" y="217104"/>
                  <a:pt x="175572" y="180452"/>
                </a:cubicBezTo>
                <a:cubicBezTo>
                  <a:pt x="180619" y="171620"/>
                  <a:pt x="182027" y="160349"/>
                  <a:pt x="189220" y="153156"/>
                </a:cubicBezTo>
                <a:cubicBezTo>
                  <a:pt x="200818" y="141558"/>
                  <a:pt x="230163" y="125861"/>
                  <a:pt x="230163" y="125861"/>
                </a:cubicBezTo>
                <a:cubicBezTo>
                  <a:pt x="240735" y="110003"/>
                  <a:pt x="258498" y="82078"/>
                  <a:pt x="271107" y="71270"/>
                </a:cubicBezTo>
                <a:cubicBezTo>
                  <a:pt x="276568" y="66589"/>
                  <a:pt x="284754" y="66721"/>
                  <a:pt x="291578" y="64446"/>
                </a:cubicBezTo>
                <a:cubicBezTo>
                  <a:pt x="293853" y="55347"/>
                  <a:pt x="294707" y="45770"/>
                  <a:pt x="298402" y="37150"/>
                </a:cubicBezTo>
                <a:cubicBezTo>
                  <a:pt x="301633" y="29612"/>
                  <a:pt x="277931" y="22365"/>
                  <a:pt x="277931" y="16679"/>
                </a:cubicBezTo>
                <a:close/>
              </a:path>
            </a:pathLst>
          </a:custGeom>
          <a:noFill/>
          <a:ln w="38100" cap="flat" cmpd="sng" algn="ctr">
            <a:solidFill>
              <a:schemeClr val="accent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5" name="任意多边形 34"/>
          <p:cNvSpPr/>
          <p:nvPr/>
        </p:nvSpPr>
        <p:spPr bwMode="auto">
          <a:xfrm>
            <a:off x="2895600" y="1447800"/>
            <a:ext cx="3350525" cy="2410922"/>
          </a:xfrm>
          <a:custGeom>
            <a:avLst/>
            <a:gdLst>
              <a:gd name="connsiteX0" fmla="*/ 2135874 w 3350525"/>
              <a:gd name="connsiteY0" fmla="*/ 2378200 h 2410922"/>
              <a:gd name="connsiteX1" fmla="*/ 1549020 w 3350525"/>
              <a:gd name="connsiteY1" fmla="*/ 2391848 h 2410922"/>
              <a:gd name="connsiteX2" fmla="*/ 1528549 w 3350525"/>
              <a:gd name="connsiteY2" fmla="*/ 2378200 h 2410922"/>
              <a:gd name="connsiteX3" fmla="*/ 1494429 w 3350525"/>
              <a:gd name="connsiteY3" fmla="*/ 2371376 h 2410922"/>
              <a:gd name="connsiteX4" fmla="*/ 1453486 w 3350525"/>
              <a:gd name="connsiteY4" fmla="*/ 2350904 h 2410922"/>
              <a:gd name="connsiteX5" fmla="*/ 1385247 w 3350525"/>
              <a:gd name="connsiteY5" fmla="*/ 2316785 h 2410922"/>
              <a:gd name="connsiteX6" fmla="*/ 1364776 w 3350525"/>
              <a:gd name="connsiteY6" fmla="*/ 2303137 h 2410922"/>
              <a:gd name="connsiteX7" fmla="*/ 1310185 w 3350525"/>
              <a:gd name="connsiteY7" fmla="*/ 2275842 h 2410922"/>
              <a:gd name="connsiteX8" fmla="*/ 1289713 w 3350525"/>
              <a:gd name="connsiteY8" fmla="*/ 2248546 h 2410922"/>
              <a:gd name="connsiteX9" fmla="*/ 1269241 w 3350525"/>
              <a:gd name="connsiteY9" fmla="*/ 2234898 h 2410922"/>
              <a:gd name="connsiteX10" fmla="*/ 1262417 w 3350525"/>
              <a:gd name="connsiteY10" fmla="*/ 2214427 h 2410922"/>
              <a:gd name="connsiteX11" fmla="*/ 1241946 w 3350525"/>
              <a:gd name="connsiteY11" fmla="*/ 2200779 h 2410922"/>
              <a:gd name="connsiteX12" fmla="*/ 1214650 w 3350525"/>
              <a:gd name="connsiteY12" fmla="*/ 2173484 h 2410922"/>
              <a:gd name="connsiteX13" fmla="*/ 1187355 w 3350525"/>
              <a:gd name="connsiteY13" fmla="*/ 2159836 h 2410922"/>
              <a:gd name="connsiteX14" fmla="*/ 1139588 w 3350525"/>
              <a:gd name="connsiteY14" fmla="*/ 2125716 h 2410922"/>
              <a:gd name="connsiteX15" fmla="*/ 1125940 w 3350525"/>
              <a:gd name="connsiteY15" fmla="*/ 2091597 h 2410922"/>
              <a:gd name="connsiteX16" fmla="*/ 1098644 w 3350525"/>
              <a:gd name="connsiteY16" fmla="*/ 2071125 h 2410922"/>
              <a:gd name="connsiteX17" fmla="*/ 1071349 w 3350525"/>
              <a:gd name="connsiteY17" fmla="*/ 2043830 h 2410922"/>
              <a:gd name="connsiteX18" fmla="*/ 1016758 w 3350525"/>
              <a:gd name="connsiteY18" fmla="*/ 2009710 h 2410922"/>
              <a:gd name="connsiteX19" fmla="*/ 948519 w 3350525"/>
              <a:gd name="connsiteY19" fmla="*/ 1941472 h 2410922"/>
              <a:gd name="connsiteX20" fmla="*/ 941695 w 3350525"/>
              <a:gd name="connsiteY20" fmla="*/ 1921000 h 2410922"/>
              <a:gd name="connsiteX21" fmla="*/ 873456 w 3350525"/>
              <a:gd name="connsiteY21" fmla="*/ 1845937 h 2410922"/>
              <a:gd name="connsiteX22" fmla="*/ 839337 w 3350525"/>
              <a:gd name="connsiteY22" fmla="*/ 1825466 h 2410922"/>
              <a:gd name="connsiteX23" fmla="*/ 812041 w 3350525"/>
              <a:gd name="connsiteY23" fmla="*/ 1757227 h 2410922"/>
              <a:gd name="connsiteX24" fmla="*/ 791570 w 3350525"/>
              <a:gd name="connsiteY24" fmla="*/ 1750403 h 2410922"/>
              <a:gd name="connsiteX25" fmla="*/ 736979 w 3350525"/>
              <a:gd name="connsiteY25" fmla="*/ 1695812 h 2410922"/>
              <a:gd name="connsiteX26" fmla="*/ 661916 w 3350525"/>
              <a:gd name="connsiteY26" fmla="*/ 1613925 h 2410922"/>
              <a:gd name="connsiteX27" fmla="*/ 641444 w 3350525"/>
              <a:gd name="connsiteY27" fmla="*/ 1579806 h 2410922"/>
              <a:gd name="connsiteX28" fmla="*/ 620973 w 3350525"/>
              <a:gd name="connsiteY28" fmla="*/ 1559334 h 2410922"/>
              <a:gd name="connsiteX29" fmla="*/ 614149 w 3350525"/>
              <a:gd name="connsiteY29" fmla="*/ 1538863 h 2410922"/>
              <a:gd name="connsiteX30" fmla="*/ 573206 w 3350525"/>
              <a:gd name="connsiteY30" fmla="*/ 1491096 h 2410922"/>
              <a:gd name="connsiteX31" fmla="*/ 518614 w 3350525"/>
              <a:gd name="connsiteY31" fmla="*/ 1450152 h 2410922"/>
              <a:gd name="connsiteX32" fmla="*/ 504967 w 3350525"/>
              <a:gd name="connsiteY32" fmla="*/ 1416033 h 2410922"/>
              <a:gd name="connsiteX33" fmla="*/ 484495 w 3350525"/>
              <a:gd name="connsiteY33" fmla="*/ 1395561 h 2410922"/>
              <a:gd name="connsiteX34" fmla="*/ 470847 w 3350525"/>
              <a:gd name="connsiteY34" fmla="*/ 1375090 h 2410922"/>
              <a:gd name="connsiteX35" fmla="*/ 436728 w 3350525"/>
              <a:gd name="connsiteY35" fmla="*/ 1306851 h 2410922"/>
              <a:gd name="connsiteX36" fmla="*/ 429904 w 3350525"/>
              <a:gd name="connsiteY36" fmla="*/ 1279555 h 2410922"/>
              <a:gd name="connsiteX37" fmla="*/ 409432 w 3350525"/>
              <a:gd name="connsiteY37" fmla="*/ 1224964 h 2410922"/>
              <a:gd name="connsiteX38" fmla="*/ 361665 w 3350525"/>
              <a:gd name="connsiteY38" fmla="*/ 1163549 h 2410922"/>
              <a:gd name="connsiteX39" fmla="*/ 348017 w 3350525"/>
              <a:gd name="connsiteY39" fmla="*/ 1115782 h 2410922"/>
              <a:gd name="connsiteX40" fmla="*/ 341194 w 3350525"/>
              <a:gd name="connsiteY40" fmla="*/ 1095310 h 2410922"/>
              <a:gd name="connsiteX41" fmla="*/ 320722 w 3350525"/>
              <a:gd name="connsiteY41" fmla="*/ 1074839 h 2410922"/>
              <a:gd name="connsiteX42" fmla="*/ 313898 w 3350525"/>
              <a:gd name="connsiteY42" fmla="*/ 1054367 h 2410922"/>
              <a:gd name="connsiteX43" fmla="*/ 307074 w 3350525"/>
              <a:gd name="connsiteY43" fmla="*/ 1027072 h 2410922"/>
              <a:gd name="connsiteX44" fmla="*/ 279779 w 3350525"/>
              <a:gd name="connsiteY44" fmla="*/ 1006600 h 2410922"/>
              <a:gd name="connsiteX45" fmla="*/ 272955 w 3350525"/>
              <a:gd name="connsiteY45" fmla="*/ 972481 h 2410922"/>
              <a:gd name="connsiteX46" fmla="*/ 259307 w 3350525"/>
              <a:gd name="connsiteY46" fmla="*/ 952009 h 2410922"/>
              <a:gd name="connsiteX47" fmla="*/ 238835 w 3350525"/>
              <a:gd name="connsiteY47" fmla="*/ 924713 h 2410922"/>
              <a:gd name="connsiteX48" fmla="*/ 184244 w 3350525"/>
              <a:gd name="connsiteY48" fmla="*/ 890594 h 2410922"/>
              <a:gd name="connsiteX49" fmla="*/ 143301 w 3350525"/>
              <a:gd name="connsiteY49" fmla="*/ 815531 h 2410922"/>
              <a:gd name="connsiteX50" fmla="*/ 136477 w 3350525"/>
              <a:gd name="connsiteY50" fmla="*/ 788236 h 2410922"/>
              <a:gd name="connsiteX51" fmla="*/ 122829 w 3350525"/>
              <a:gd name="connsiteY51" fmla="*/ 767764 h 2410922"/>
              <a:gd name="connsiteX52" fmla="*/ 95534 w 3350525"/>
              <a:gd name="connsiteY52" fmla="*/ 733645 h 2410922"/>
              <a:gd name="connsiteX53" fmla="*/ 88710 w 3350525"/>
              <a:gd name="connsiteY53" fmla="*/ 706349 h 2410922"/>
              <a:gd name="connsiteX54" fmla="*/ 61414 w 3350525"/>
              <a:gd name="connsiteY54" fmla="*/ 672230 h 2410922"/>
              <a:gd name="connsiteX55" fmla="*/ 40943 w 3350525"/>
              <a:gd name="connsiteY55" fmla="*/ 590343 h 2410922"/>
              <a:gd name="connsiteX56" fmla="*/ 34119 w 3350525"/>
              <a:gd name="connsiteY56" fmla="*/ 569872 h 2410922"/>
              <a:gd name="connsiteX57" fmla="*/ 20471 w 3350525"/>
              <a:gd name="connsiteY57" fmla="*/ 549400 h 2410922"/>
              <a:gd name="connsiteX58" fmla="*/ 13647 w 3350525"/>
              <a:gd name="connsiteY58" fmla="*/ 501633 h 2410922"/>
              <a:gd name="connsiteX59" fmla="*/ 6823 w 3350525"/>
              <a:gd name="connsiteY59" fmla="*/ 481161 h 2410922"/>
              <a:gd name="connsiteX60" fmla="*/ 0 w 3350525"/>
              <a:gd name="connsiteY60" fmla="*/ 453866 h 2410922"/>
              <a:gd name="connsiteX61" fmla="*/ 6823 w 3350525"/>
              <a:gd name="connsiteY61" fmla="*/ 344684 h 2410922"/>
              <a:gd name="connsiteX62" fmla="*/ 13647 w 3350525"/>
              <a:gd name="connsiteY62" fmla="*/ 324212 h 2410922"/>
              <a:gd name="connsiteX63" fmla="*/ 34119 w 3350525"/>
              <a:gd name="connsiteY63" fmla="*/ 303740 h 2410922"/>
              <a:gd name="connsiteX64" fmla="*/ 68238 w 3350525"/>
              <a:gd name="connsiteY64" fmla="*/ 276445 h 2410922"/>
              <a:gd name="connsiteX65" fmla="*/ 81886 w 3350525"/>
              <a:gd name="connsiteY65" fmla="*/ 249149 h 2410922"/>
              <a:gd name="connsiteX66" fmla="*/ 122829 w 3350525"/>
              <a:gd name="connsiteY66" fmla="*/ 228678 h 2410922"/>
              <a:gd name="connsiteX67" fmla="*/ 150125 w 3350525"/>
              <a:gd name="connsiteY67" fmla="*/ 208206 h 2410922"/>
              <a:gd name="connsiteX68" fmla="*/ 170597 w 3350525"/>
              <a:gd name="connsiteY68" fmla="*/ 201382 h 2410922"/>
              <a:gd name="connsiteX69" fmla="*/ 225188 w 3350525"/>
              <a:gd name="connsiteY69" fmla="*/ 174087 h 2410922"/>
              <a:gd name="connsiteX70" fmla="*/ 259307 w 3350525"/>
              <a:gd name="connsiteY70" fmla="*/ 153615 h 2410922"/>
              <a:gd name="connsiteX71" fmla="*/ 307074 w 3350525"/>
              <a:gd name="connsiteY71" fmla="*/ 139967 h 2410922"/>
              <a:gd name="connsiteX72" fmla="*/ 327546 w 3350525"/>
              <a:gd name="connsiteY72" fmla="*/ 133143 h 2410922"/>
              <a:gd name="connsiteX73" fmla="*/ 348017 w 3350525"/>
              <a:gd name="connsiteY73" fmla="*/ 112672 h 2410922"/>
              <a:gd name="connsiteX74" fmla="*/ 443552 w 3350525"/>
              <a:gd name="connsiteY74" fmla="*/ 85376 h 2410922"/>
              <a:gd name="connsiteX75" fmla="*/ 477671 w 3350525"/>
              <a:gd name="connsiteY75" fmla="*/ 71728 h 2410922"/>
              <a:gd name="connsiteX76" fmla="*/ 498143 w 3350525"/>
              <a:gd name="connsiteY76" fmla="*/ 64904 h 2410922"/>
              <a:gd name="connsiteX77" fmla="*/ 818865 w 3350525"/>
              <a:gd name="connsiteY77" fmla="*/ 37609 h 2410922"/>
              <a:gd name="connsiteX78" fmla="*/ 900752 w 3350525"/>
              <a:gd name="connsiteY78" fmla="*/ 17137 h 2410922"/>
              <a:gd name="connsiteX79" fmla="*/ 1426191 w 3350525"/>
              <a:gd name="connsiteY79" fmla="*/ 37609 h 2410922"/>
              <a:gd name="connsiteX80" fmla="*/ 1692322 w 3350525"/>
              <a:gd name="connsiteY80" fmla="*/ 44433 h 2410922"/>
              <a:gd name="connsiteX81" fmla="*/ 1719617 w 3350525"/>
              <a:gd name="connsiteY81" fmla="*/ 51257 h 2410922"/>
              <a:gd name="connsiteX82" fmla="*/ 1781032 w 3350525"/>
              <a:gd name="connsiteY82" fmla="*/ 64904 h 2410922"/>
              <a:gd name="connsiteX83" fmla="*/ 1835623 w 3350525"/>
              <a:gd name="connsiteY83" fmla="*/ 85376 h 2410922"/>
              <a:gd name="connsiteX84" fmla="*/ 1897038 w 3350525"/>
              <a:gd name="connsiteY84" fmla="*/ 92200 h 2410922"/>
              <a:gd name="connsiteX85" fmla="*/ 1924334 w 3350525"/>
              <a:gd name="connsiteY85" fmla="*/ 105848 h 2410922"/>
              <a:gd name="connsiteX86" fmla="*/ 1944806 w 3350525"/>
              <a:gd name="connsiteY86" fmla="*/ 112672 h 2410922"/>
              <a:gd name="connsiteX87" fmla="*/ 1965277 w 3350525"/>
              <a:gd name="connsiteY87" fmla="*/ 126319 h 2410922"/>
              <a:gd name="connsiteX88" fmla="*/ 2026692 w 3350525"/>
              <a:gd name="connsiteY88" fmla="*/ 133143 h 2410922"/>
              <a:gd name="connsiteX89" fmla="*/ 2074459 w 3350525"/>
              <a:gd name="connsiteY89" fmla="*/ 146791 h 2410922"/>
              <a:gd name="connsiteX90" fmla="*/ 2108579 w 3350525"/>
              <a:gd name="connsiteY90" fmla="*/ 153615 h 2410922"/>
              <a:gd name="connsiteX91" fmla="*/ 2149522 w 3350525"/>
              <a:gd name="connsiteY91" fmla="*/ 167263 h 2410922"/>
              <a:gd name="connsiteX92" fmla="*/ 2217761 w 3350525"/>
              <a:gd name="connsiteY92" fmla="*/ 194558 h 2410922"/>
              <a:gd name="connsiteX93" fmla="*/ 2320119 w 3350525"/>
              <a:gd name="connsiteY93" fmla="*/ 228678 h 2410922"/>
              <a:gd name="connsiteX94" fmla="*/ 2442949 w 3350525"/>
              <a:gd name="connsiteY94" fmla="*/ 276445 h 2410922"/>
              <a:gd name="connsiteX95" fmla="*/ 2531659 w 3350525"/>
              <a:gd name="connsiteY95" fmla="*/ 303740 h 2410922"/>
              <a:gd name="connsiteX96" fmla="*/ 2654489 w 3350525"/>
              <a:gd name="connsiteY96" fmla="*/ 371979 h 2410922"/>
              <a:gd name="connsiteX97" fmla="*/ 2674961 w 3350525"/>
              <a:gd name="connsiteY97" fmla="*/ 392451 h 2410922"/>
              <a:gd name="connsiteX98" fmla="*/ 2709080 w 3350525"/>
              <a:gd name="connsiteY98" fmla="*/ 412922 h 2410922"/>
              <a:gd name="connsiteX99" fmla="*/ 2729552 w 3350525"/>
              <a:gd name="connsiteY99" fmla="*/ 426570 h 2410922"/>
              <a:gd name="connsiteX100" fmla="*/ 2770495 w 3350525"/>
              <a:gd name="connsiteY100" fmla="*/ 460690 h 2410922"/>
              <a:gd name="connsiteX101" fmla="*/ 2790967 w 3350525"/>
              <a:gd name="connsiteY101" fmla="*/ 481161 h 2410922"/>
              <a:gd name="connsiteX102" fmla="*/ 2845558 w 3350525"/>
              <a:gd name="connsiteY102" fmla="*/ 515281 h 2410922"/>
              <a:gd name="connsiteX103" fmla="*/ 2872853 w 3350525"/>
              <a:gd name="connsiteY103" fmla="*/ 522104 h 2410922"/>
              <a:gd name="connsiteX104" fmla="*/ 2906973 w 3350525"/>
              <a:gd name="connsiteY104" fmla="*/ 535752 h 2410922"/>
              <a:gd name="connsiteX105" fmla="*/ 2975212 w 3350525"/>
              <a:gd name="connsiteY105" fmla="*/ 549400 h 2410922"/>
              <a:gd name="connsiteX106" fmla="*/ 2995683 w 3350525"/>
              <a:gd name="connsiteY106" fmla="*/ 583519 h 2410922"/>
              <a:gd name="connsiteX107" fmla="*/ 3063922 w 3350525"/>
              <a:gd name="connsiteY107" fmla="*/ 631287 h 2410922"/>
              <a:gd name="connsiteX108" fmla="*/ 3084394 w 3350525"/>
              <a:gd name="connsiteY108" fmla="*/ 658582 h 2410922"/>
              <a:gd name="connsiteX109" fmla="*/ 3098041 w 3350525"/>
              <a:gd name="connsiteY109" fmla="*/ 679054 h 2410922"/>
              <a:gd name="connsiteX110" fmla="*/ 3125337 w 3350525"/>
              <a:gd name="connsiteY110" fmla="*/ 692701 h 2410922"/>
              <a:gd name="connsiteX111" fmla="*/ 3145809 w 3350525"/>
              <a:gd name="connsiteY111" fmla="*/ 754116 h 2410922"/>
              <a:gd name="connsiteX112" fmla="*/ 3173104 w 3350525"/>
              <a:gd name="connsiteY112" fmla="*/ 774588 h 2410922"/>
              <a:gd name="connsiteX113" fmla="*/ 3234519 w 3350525"/>
              <a:gd name="connsiteY113" fmla="*/ 856475 h 2410922"/>
              <a:gd name="connsiteX114" fmla="*/ 3241343 w 3350525"/>
              <a:gd name="connsiteY114" fmla="*/ 876946 h 2410922"/>
              <a:gd name="connsiteX115" fmla="*/ 3248167 w 3350525"/>
              <a:gd name="connsiteY115" fmla="*/ 911066 h 2410922"/>
              <a:gd name="connsiteX116" fmla="*/ 3275462 w 3350525"/>
              <a:gd name="connsiteY116" fmla="*/ 938361 h 2410922"/>
              <a:gd name="connsiteX117" fmla="*/ 3282286 w 3350525"/>
              <a:gd name="connsiteY117" fmla="*/ 999776 h 2410922"/>
              <a:gd name="connsiteX118" fmla="*/ 3295934 w 3350525"/>
              <a:gd name="connsiteY118" fmla="*/ 1033896 h 2410922"/>
              <a:gd name="connsiteX119" fmla="*/ 3323229 w 3350525"/>
              <a:gd name="connsiteY119" fmla="*/ 1184021 h 2410922"/>
              <a:gd name="connsiteX120" fmla="*/ 3330053 w 3350525"/>
              <a:gd name="connsiteY120" fmla="*/ 1252260 h 2410922"/>
              <a:gd name="connsiteX121" fmla="*/ 3336877 w 3350525"/>
              <a:gd name="connsiteY121" fmla="*/ 1293203 h 2410922"/>
              <a:gd name="connsiteX122" fmla="*/ 3350525 w 3350525"/>
              <a:gd name="connsiteY122" fmla="*/ 1416033 h 2410922"/>
              <a:gd name="connsiteX123" fmla="*/ 3343701 w 3350525"/>
              <a:gd name="connsiteY123" fmla="*/ 1770875 h 2410922"/>
              <a:gd name="connsiteX124" fmla="*/ 3330053 w 3350525"/>
              <a:gd name="connsiteY124" fmla="*/ 1859585 h 2410922"/>
              <a:gd name="connsiteX125" fmla="*/ 3309582 w 3350525"/>
              <a:gd name="connsiteY125" fmla="*/ 1880057 h 2410922"/>
              <a:gd name="connsiteX126" fmla="*/ 3289110 w 3350525"/>
              <a:gd name="connsiteY126" fmla="*/ 1907352 h 2410922"/>
              <a:gd name="connsiteX127" fmla="*/ 3268638 w 3350525"/>
              <a:gd name="connsiteY127" fmla="*/ 1955119 h 2410922"/>
              <a:gd name="connsiteX128" fmla="*/ 3261814 w 3350525"/>
              <a:gd name="connsiteY128" fmla="*/ 1975591 h 2410922"/>
              <a:gd name="connsiteX129" fmla="*/ 3207223 w 3350525"/>
              <a:gd name="connsiteY129" fmla="*/ 2037006 h 2410922"/>
              <a:gd name="connsiteX130" fmla="*/ 3193576 w 3350525"/>
              <a:gd name="connsiteY130" fmla="*/ 2084773 h 2410922"/>
              <a:gd name="connsiteX131" fmla="*/ 3173104 w 3350525"/>
              <a:gd name="connsiteY131" fmla="*/ 2091597 h 2410922"/>
              <a:gd name="connsiteX132" fmla="*/ 3152632 w 3350525"/>
              <a:gd name="connsiteY132" fmla="*/ 2118893 h 2410922"/>
              <a:gd name="connsiteX133" fmla="*/ 3132161 w 3350525"/>
              <a:gd name="connsiteY133" fmla="*/ 2132540 h 2410922"/>
              <a:gd name="connsiteX134" fmla="*/ 3111689 w 3350525"/>
              <a:gd name="connsiteY134" fmla="*/ 2166660 h 2410922"/>
              <a:gd name="connsiteX135" fmla="*/ 3084394 w 3350525"/>
              <a:gd name="connsiteY135" fmla="*/ 2193955 h 2410922"/>
              <a:gd name="connsiteX136" fmla="*/ 3077570 w 3350525"/>
              <a:gd name="connsiteY136" fmla="*/ 2214427 h 2410922"/>
              <a:gd name="connsiteX137" fmla="*/ 3050274 w 3350525"/>
              <a:gd name="connsiteY137" fmla="*/ 2221251 h 2410922"/>
              <a:gd name="connsiteX138" fmla="*/ 3022979 w 3350525"/>
              <a:gd name="connsiteY138" fmla="*/ 2248546 h 2410922"/>
              <a:gd name="connsiteX139" fmla="*/ 3002507 w 3350525"/>
              <a:gd name="connsiteY139" fmla="*/ 2255370 h 2410922"/>
              <a:gd name="connsiteX140" fmla="*/ 2975212 w 3350525"/>
              <a:gd name="connsiteY140" fmla="*/ 2269018 h 2410922"/>
              <a:gd name="connsiteX141" fmla="*/ 2934268 w 3350525"/>
              <a:gd name="connsiteY141" fmla="*/ 2296313 h 2410922"/>
              <a:gd name="connsiteX142" fmla="*/ 2913797 w 3350525"/>
              <a:gd name="connsiteY142" fmla="*/ 2316785 h 2410922"/>
              <a:gd name="connsiteX143" fmla="*/ 2872853 w 3350525"/>
              <a:gd name="connsiteY143" fmla="*/ 2330433 h 2410922"/>
              <a:gd name="connsiteX144" fmla="*/ 2797791 w 3350525"/>
              <a:gd name="connsiteY144" fmla="*/ 2344081 h 2410922"/>
              <a:gd name="connsiteX145" fmla="*/ 2763671 w 3350525"/>
              <a:gd name="connsiteY145" fmla="*/ 2357728 h 2410922"/>
              <a:gd name="connsiteX146" fmla="*/ 2729552 w 3350525"/>
              <a:gd name="connsiteY146" fmla="*/ 2364552 h 2410922"/>
              <a:gd name="connsiteX147" fmla="*/ 2313295 w 3350525"/>
              <a:gd name="connsiteY147" fmla="*/ 2357728 h 2410922"/>
              <a:gd name="connsiteX148" fmla="*/ 2265528 w 3350525"/>
              <a:gd name="connsiteY148" fmla="*/ 2337257 h 2410922"/>
              <a:gd name="connsiteX149" fmla="*/ 2224585 w 3350525"/>
              <a:gd name="connsiteY149" fmla="*/ 2323609 h 2410922"/>
              <a:gd name="connsiteX150" fmla="*/ 2108579 w 3350525"/>
              <a:gd name="connsiteY150" fmla="*/ 2330433 h 2410922"/>
              <a:gd name="connsiteX151" fmla="*/ 2101755 w 3350525"/>
              <a:gd name="connsiteY151" fmla="*/ 2350904 h 2410922"/>
              <a:gd name="connsiteX152" fmla="*/ 2074459 w 3350525"/>
              <a:gd name="connsiteY152" fmla="*/ 2364552 h 2410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3350525" h="2410922">
                <a:moveTo>
                  <a:pt x="2135874" y="2378200"/>
                </a:moveTo>
                <a:cubicBezTo>
                  <a:pt x="1863193" y="2410922"/>
                  <a:pt x="1936049" y="2409990"/>
                  <a:pt x="1549020" y="2391848"/>
                </a:cubicBezTo>
                <a:cubicBezTo>
                  <a:pt x="1540828" y="2391464"/>
                  <a:pt x="1536228" y="2381080"/>
                  <a:pt x="1528549" y="2378200"/>
                </a:cubicBezTo>
                <a:cubicBezTo>
                  <a:pt x="1517689" y="2374127"/>
                  <a:pt x="1505802" y="2373651"/>
                  <a:pt x="1494429" y="2371376"/>
                </a:cubicBezTo>
                <a:cubicBezTo>
                  <a:pt x="1447846" y="2340319"/>
                  <a:pt x="1499392" y="2372091"/>
                  <a:pt x="1453486" y="2350904"/>
                </a:cubicBezTo>
                <a:cubicBezTo>
                  <a:pt x="1430396" y="2340247"/>
                  <a:pt x="1406407" y="2330892"/>
                  <a:pt x="1385247" y="2316785"/>
                </a:cubicBezTo>
                <a:cubicBezTo>
                  <a:pt x="1378423" y="2312236"/>
                  <a:pt x="1371976" y="2307064"/>
                  <a:pt x="1364776" y="2303137"/>
                </a:cubicBezTo>
                <a:cubicBezTo>
                  <a:pt x="1346915" y="2293395"/>
                  <a:pt x="1310185" y="2275842"/>
                  <a:pt x="1310185" y="2275842"/>
                </a:cubicBezTo>
                <a:cubicBezTo>
                  <a:pt x="1303361" y="2266743"/>
                  <a:pt x="1297755" y="2256588"/>
                  <a:pt x="1289713" y="2248546"/>
                </a:cubicBezTo>
                <a:cubicBezTo>
                  <a:pt x="1283914" y="2242747"/>
                  <a:pt x="1274364" y="2241302"/>
                  <a:pt x="1269241" y="2234898"/>
                </a:cubicBezTo>
                <a:cubicBezTo>
                  <a:pt x="1264748" y="2229281"/>
                  <a:pt x="1266910" y="2220044"/>
                  <a:pt x="1262417" y="2214427"/>
                </a:cubicBezTo>
                <a:cubicBezTo>
                  <a:pt x="1257294" y="2208023"/>
                  <a:pt x="1248173" y="2206116"/>
                  <a:pt x="1241946" y="2200779"/>
                </a:cubicBezTo>
                <a:cubicBezTo>
                  <a:pt x="1232176" y="2192405"/>
                  <a:pt x="1224944" y="2181204"/>
                  <a:pt x="1214650" y="2173484"/>
                </a:cubicBezTo>
                <a:cubicBezTo>
                  <a:pt x="1206512" y="2167381"/>
                  <a:pt x="1195632" y="2165749"/>
                  <a:pt x="1187355" y="2159836"/>
                </a:cubicBezTo>
                <a:cubicBezTo>
                  <a:pt x="1122805" y="2113728"/>
                  <a:pt x="1214394" y="2163120"/>
                  <a:pt x="1139588" y="2125716"/>
                </a:cubicBezTo>
                <a:cubicBezTo>
                  <a:pt x="1135039" y="2114343"/>
                  <a:pt x="1133290" y="2101396"/>
                  <a:pt x="1125940" y="2091597"/>
                </a:cubicBezTo>
                <a:cubicBezTo>
                  <a:pt x="1119116" y="2082498"/>
                  <a:pt x="1107203" y="2078614"/>
                  <a:pt x="1098644" y="2071125"/>
                </a:cubicBezTo>
                <a:cubicBezTo>
                  <a:pt x="1088961" y="2062652"/>
                  <a:pt x="1081643" y="2051550"/>
                  <a:pt x="1071349" y="2043830"/>
                </a:cubicBezTo>
                <a:cubicBezTo>
                  <a:pt x="1054182" y="2030955"/>
                  <a:pt x="1033243" y="2023448"/>
                  <a:pt x="1016758" y="2009710"/>
                </a:cubicBezTo>
                <a:cubicBezTo>
                  <a:pt x="992046" y="1989117"/>
                  <a:pt x="948519" y="1941472"/>
                  <a:pt x="948519" y="1941472"/>
                </a:cubicBezTo>
                <a:cubicBezTo>
                  <a:pt x="946244" y="1934648"/>
                  <a:pt x="945264" y="1927245"/>
                  <a:pt x="941695" y="1921000"/>
                </a:cubicBezTo>
                <a:cubicBezTo>
                  <a:pt x="929830" y="1900236"/>
                  <a:pt x="885476" y="1853149"/>
                  <a:pt x="873456" y="1845937"/>
                </a:cubicBezTo>
                <a:lnTo>
                  <a:pt x="839337" y="1825466"/>
                </a:lnTo>
                <a:cubicBezTo>
                  <a:pt x="830238" y="1802720"/>
                  <a:pt x="825194" y="1777896"/>
                  <a:pt x="812041" y="1757227"/>
                </a:cubicBezTo>
                <a:cubicBezTo>
                  <a:pt x="808179" y="1751159"/>
                  <a:pt x="796656" y="1755489"/>
                  <a:pt x="791570" y="1750403"/>
                </a:cubicBezTo>
                <a:cubicBezTo>
                  <a:pt x="730290" y="1689123"/>
                  <a:pt x="784460" y="1711640"/>
                  <a:pt x="736979" y="1695812"/>
                </a:cubicBezTo>
                <a:cubicBezTo>
                  <a:pt x="690784" y="1618822"/>
                  <a:pt x="750704" y="1710784"/>
                  <a:pt x="661916" y="1613925"/>
                </a:cubicBezTo>
                <a:cubicBezTo>
                  <a:pt x="652954" y="1604148"/>
                  <a:pt x="649402" y="1590417"/>
                  <a:pt x="641444" y="1579806"/>
                </a:cubicBezTo>
                <a:cubicBezTo>
                  <a:pt x="635654" y="1572086"/>
                  <a:pt x="627797" y="1566158"/>
                  <a:pt x="620973" y="1559334"/>
                </a:cubicBezTo>
                <a:cubicBezTo>
                  <a:pt x="618698" y="1552510"/>
                  <a:pt x="617718" y="1545108"/>
                  <a:pt x="614149" y="1538863"/>
                </a:cubicBezTo>
                <a:cubicBezTo>
                  <a:pt x="606187" y="1524930"/>
                  <a:pt x="586192" y="1501721"/>
                  <a:pt x="573206" y="1491096"/>
                </a:cubicBezTo>
                <a:cubicBezTo>
                  <a:pt x="555601" y="1476692"/>
                  <a:pt x="536811" y="1463800"/>
                  <a:pt x="518614" y="1450152"/>
                </a:cubicBezTo>
                <a:cubicBezTo>
                  <a:pt x="514065" y="1438779"/>
                  <a:pt x="511459" y="1426420"/>
                  <a:pt x="504967" y="1416033"/>
                </a:cubicBezTo>
                <a:cubicBezTo>
                  <a:pt x="499852" y="1407849"/>
                  <a:pt x="490673" y="1402975"/>
                  <a:pt x="484495" y="1395561"/>
                </a:cubicBezTo>
                <a:cubicBezTo>
                  <a:pt x="479245" y="1389261"/>
                  <a:pt x="475396" y="1381914"/>
                  <a:pt x="470847" y="1375090"/>
                </a:cubicBezTo>
                <a:cubicBezTo>
                  <a:pt x="429067" y="1249740"/>
                  <a:pt x="485230" y="1403853"/>
                  <a:pt x="436728" y="1306851"/>
                </a:cubicBezTo>
                <a:cubicBezTo>
                  <a:pt x="432534" y="1298462"/>
                  <a:pt x="432870" y="1288452"/>
                  <a:pt x="429904" y="1279555"/>
                </a:cubicBezTo>
                <a:cubicBezTo>
                  <a:pt x="423758" y="1261118"/>
                  <a:pt x="418123" y="1242347"/>
                  <a:pt x="409432" y="1224964"/>
                </a:cubicBezTo>
                <a:cubicBezTo>
                  <a:pt x="393107" y="1192315"/>
                  <a:pt x="384131" y="1186015"/>
                  <a:pt x="361665" y="1163549"/>
                </a:cubicBezTo>
                <a:cubicBezTo>
                  <a:pt x="345312" y="1114493"/>
                  <a:pt x="365143" y="1175726"/>
                  <a:pt x="348017" y="1115782"/>
                </a:cubicBezTo>
                <a:cubicBezTo>
                  <a:pt x="346041" y="1108866"/>
                  <a:pt x="345184" y="1101295"/>
                  <a:pt x="341194" y="1095310"/>
                </a:cubicBezTo>
                <a:cubicBezTo>
                  <a:pt x="335841" y="1087280"/>
                  <a:pt x="327546" y="1081663"/>
                  <a:pt x="320722" y="1074839"/>
                </a:cubicBezTo>
                <a:cubicBezTo>
                  <a:pt x="318447" y="1068015"/>
                  <a:pt x="315874" y="1061283"/>
                  <a:pt x="313898" y="1054367"/>
                </a:cubicBezTo>
                <a:cubicBezTo>
                  <a:pt x="311322" y="1045349"/>
                  <a:pt x="312525" y="1034704"/>
                  <a:pt x="307074" y="1027072"/>
                </a:cubicBezTo>
                <a:cubicBezTo>
                  <a:pt x="300464" y="1017817"/>
                  <a:pt x="288877" y="1013424"/>
                  <a:pt x="279779" y="1006600"/>
                </a:cubicBezTo>
                <a:cubicBezTo>
                  <a:pt x="277504" y="995227"/>
                  <a:pt x="277027" y="983341"/>
                  <a:pt x="272955" y="972481"/>
                </a:cubicBezTo>
                <a:cubicBezTo>
                  <a:pt x="270075" y="964802"/>
                  <a:pt x="264074" y="958683"/>
                  <a:pt x="259307" y="952009"/>
                </a:cubicBezTo>
                <a:cubicBezTo>
                  <a:pt x="252696" y="942754"/>
                  <a:pt x="246877" y="932755"/>
                  <a:pt x="238835" y="924713"/>
                </a:cubicBezTo>
                <a:cubicBezTo>
                  <a:pt x="221119" y="906997"/>
                  <a:pt x="205865" y="901404"/>
                  <a:pt x="184244" y="890594"/>
                </a:cubicBezTo>
                <a:cubicBezTo>
                  <a:pt x="149570" y="786566"/>
                  <a:pt x="196210" y="910766"/>
                  <a:pt x="143301" y="815531"/>
                </a:cubicBezTo>
                <a:cubicBezTo>
                  <a:pt x="138746" y="807333"/>
                  <a:pt x="140171" y="796856"/>
                  <a:pt x="136477" y="788236"/>
                </a:cubicBezTo>
                <a:cubicBezTo>
                  <a:pt x="133246" y="780698"/>
                  <a:pt x="127378" y="774588"/>
                  <a:pt x="122829" y="767764"/>
                </a:cubicBezTo>
                <a:cubicBezTo>
                  <a:pt x="100525" y="700845"/>
                  <a:pt x="136686" y="795373"/>
                  <a:pt x="95534" y="733645"/>
                </a:cubicBezTo>
                <a:cubicBezTo>
                  <a:pt x="90332" y="725841"/>
                  <a:pt x="93265" y="714547"/>
                  <a:pt x="88710" y="706349"/>
                </a:cubicBezTo>
                <a:cubicBezTo>
                  <a:pt x="81637" y="693617"/>
                  <a:pt x="70513" y="683603"/>
                  <a:pt x="61414" y="672230"/>
                </a:cubicBezTo>
                <a:cubicBezTo>
                  <a:pt x="52226" y="617098"/>
                  <a:pt x="58966" y="644411"/>
                  <a:pt x="40943" y="590343"/>
                </a:cubicBezTo>
                <a:cubicBezTo>
                  <a:pt x="38668" y="583519"/>
                  <a:pt x="38109" y="575857"/>
                  <a:pt x="34119" y="569872"/>
                </a:cubicBezTo>
                <a:lnTo>
                  <a:pt x="20471" y="549400"/>
                </a:lnTo>
                <a:cubicBezTo>
                  <a:pt x="18196" y="533478"/>
                  <a:pt x="16801" y="517405"/>
                  <a:pt x="13647" y="501633"/>
                </a:cubicBezTo>
                <a:cubicBezTo>
                  <a:pt x="12236" y="494580"/>
                  <a:pt x="8799" y="488077"/>
                  <a:pt x="6823" y="481161"/>
                </a:cubicBezTo>
                <a:cubicBezTo>
                  <a:pt x="4247" y="472144"/>
                  <a:pt x="2274" y="462964"/>
                  <a:pt x="0" y="453866"/>
                </a:cubicBezTo>
                <a:cubicBezTo>
                  <a:pt x="2274" y="417472"/>
                  <a:pt x="3006" y="380949"/>
                  <a:pt x="6823" y="344684"/>
                </a:cubicBezTo>
                <a:cubicBezTo>
                  <a:pt x="7576" y="337530"/>
                  <a:pt x="9657" y="330197"/>
                  <a:pt x="13647" y="324212"/>
                </a:cubicBezTo>
                <a:cubicBezTo>
                  <a:pt x="19000" y="316182"/>
                  <a:pt x="27295" y="310564"/>
                  <a:pt x="34119" y="303740"/>
                </a:cubicBezTo>
                <a:cubicBezTo>
                  <a:pt x="50987" y="253140"/>
                  <a:pt x="24737" y="312697"/>
                  <a:pt x="68238" y="276445"/>
                </a:cubicBezTo>
                <a:cubicBezTo>
                  <a:pt x="76053" y="269933"/>
                  <a:pt x="75374" y="256964"/>
                  <a:pt x="81886" y="249149"/>
                </a:cubicBezTo>
                <a:cubicBezTo>
                  <a:pt x="92062" y="236937"/>
                  <a:pt x="108855" y="233335"/>
                  <a:pt x="122829" y="228678"/>
                </a:cubicBezTo>
                <a:cubicBezTo>
                  <a:pt x="131928" y="221854"/>
                  <a:pt x="140250" y="213849"/>
                  <a:pt x="150125" y="208206"/>
                </a:cubicBezTo>
                <a:cubicBezTo>
                  <a:pt x="156370" y="204637"/>
                  <a:pt x="164049" y="204358"/>
                  <a:pt x="170597" y="201382"/>
                </a:cubicBezTo>
                <a:cubicBezTo>
                  <a:pt x="189118" y="192963"/>
                  <a:pt x="207743" y="184555"/>
                  <a:pt x="225188" y="174087"/>
                </a:cubicBezTo>
                <a:cubicBezTo>
                  <a:pt x="236561" y="167263"/>
                  <a:pt x="247064" y="158716"/>
                  <a:pt x="259307" y="153615"/>
                </a:cubicBezTo>
                <a:cubicBezTo>
                  <a:pt x="274593" y="147246"/>
                  <a:pt x="291213" y="144725"/>
                  <a:pt x="307074" y="139967"/>
                </a:cubicBezTo>
                <a:cubicBezTo>
                  <a:pt x="313964" y="137900"/>
                  <a:pt x="320722" y="135418"/>
                  <a:pt x="327546" y="133143"/>
                </a:cubicBezTo>
                <a:cubicBezTo>
                  <a:pt x="334370" y="126319"/>
                  <a:pt x="339742" y="117637"/>
                  <a:pt x="348017" y="112672"/>
                </a:cubicBezTo>
                <a:cubicBezTo>
                  <a:pt x="387112" y="89215"/>
                  <a:pt x="400414" y="91539"/>
                  <a:pt x="443552" y="85376"/>
                </a:cubicBezTo>
                <a:cubicBezTo>
                  <a:pt x="454925" y="80827"/>
                  <a:pt x="466202" y="76029"/>
                  <a:pt x="477671" y="71728"/>
                </a:cubicBezTo>
                <a:cubicBezTo>
                  <a:pt x="484406" y="69202"/>
                  <a:pt x="491002" y="65770"/>
                  <a:pt x="498143" y="64904"/>
                </a:cubicBezTo>
                <a:cubicBezTo>
                  <a:pt x="658687" y="45444"/>
                  <a:pt x="681118" y="45712"/>
                  <a:pt x="818865" y="37609"/>
                </a:cubicBezTo>
                <a:cubicBezTo>
                  <a:pt x="846161" y="30785"/>
                  <a:pt x="872628" y="17964"/>
                  <a:pt x="900752" y="17137"/>
                </a:cubicBezTo>
                <a:cubicBezTo>
                  <a:pt x="1483410" y="0"/>
                  <a:pt x="1098609" y="21230"/>
                  <a:pt x="1426191" y="37609"/>
                </a:cubicBezTo>
                <a:cubicBezTo>
                  <a:pt x="1514820" y="42041"/>
                  <a:pt x="1603612" y="42158"/>
                  <a:pt x="1692322" y="44433"/>
                </a:cubicBezTo>
                <a:lnTo>
                  <a:pt x="1719617" y="51257"/>
                </a:lnTo>
                <a:cubicBezTo>
                  <a:pt x="1740051" y="55972"/>
                  <a:pt x="1760913" y="58987"/>
                  <a:pt x="1781032" y="64904"/>
                </a:cubicBezTo>
                <a:cubicBezTo>
                  <a:pt x="1799677" y="70388"/>
                  <a:pt x="1816705" y="80925"/>
                  <a:pt x="1835623" y="85376"/>
                </a:cubicBezTo>
                <a:cubicBezTo>
                  <a:pt x="1855673" y="90094"/>
                  <a:pt x="1876566" y="89925"/>
                  <a:pt x="1897038" y="92200"/>
                </a:cubicBezTo>
                <a:cubicBezTo>
                  <a:pt x="1906137" y="96749"/>
                  <a:pt x="1914984" y="101841"/>
                  <a:pt x="1924334" y="105848"/>
                </a:cubicBezTo>
                <a:cubicBezTo>
                  <a:pt x="1930946" y="108682"/>
                  <a:pt x="1938372" y="109455"/>
                  <a:pt x="1944806" y="112672"/>
                </a:cubicBezTo>
                <a:cubicBezTo>
                  <a:pt x="1952141" y="116340"/>
                  <a:pt x="1957321" y="124330"/>
                  <a:pt x="1965277" y="126319"/>
                </a:cubicBezTo>
                <a:cubicBezTo>
                  <a:pt x="1985260" y="131315"/>
                  <a:pt x="2006220" y="130868"/>
                  <a:pt x="2026692" y="133143"/>
                </a:cubicBezTo>
                <a:cubicBezTo>
                  <a:pt x="2042614" y="137692"/>
                  <a:pt x="2058394" y="142775"/>
                  <a:pt x="2074459" y="146791"/>
                </a:cubicBezTo>
                <a:cubicBezTo>
                  <a:pt x="2085711" y="149604"/>
                  <a:pt x="2097389" y="150563"/>
                  <a:pt x="2108579" y="153615"/>
                </a:cubicBezTo>
                <a:cubicBezTo>
                  <a:pt x="2122458" y="157400"/>
                  <a:pt x="2149522" y="167263"/>
                  <a:pt x="2149522" y="167263"/>
                </a:cubicBezTo>
                <a:cubicBezTo>
                  <a:pt x="2187509" y="205249"/>
                  <a:pt x="2150204" y="176133"/>
                  <a:pt x="2217761" y="194558"/>
                </a:cubicBezTo>
                <a:cubicBezTo>
                  <a:pt x="2252459" y="204021"/>
                  <a:pt x="2287951" y="212594"/>
                  <a:pt x="2320119" y="228678"/>
                </a:cubicBezTo>
                <a:cubicBezTo>
                  <a:pt x="2381930" y="259583"/>
                  <a:pt x="2355764" y="248913"/>
                  <a:pt x="2442949" y="276445"/>
                </a:cubicBezTo>
                <a:cubicBezTo>
                  <a:pt x="2455595" y="280439"/>
                  <a:pt x="2517534" y="296677"/>
                  <a:pt x="2531659" y="303740"/>
                </a:cubicBezTo>
                <a:cubicBezTo>
                  <a:pt x="2551398" y="313609"/>
                  <a:pt x="2635452" y="352942"/>
                  <a:pt x="2654489" y="371979"/>
                </a:cubicBezTo>
                <a:cubicBezTo>
                  <a:pt x="2661313" y="378803"/>
                  <a:pt x="2667241" y="386661"/>
                  <a:pt x="2674961" y="392451"/>
                </a:cubicBezTo>
                <a:cubicBezTo>
                  <a:pt x="2685571" y="400409"/>
                  <a:pt x="2697833" y="405893"/>
                  <a:pt x="2709080" y="412922"/>
                </a:cubicBezTo>
                <a:cubicBezTo>
                  <a:pt x="2716035" y="417269"/>
                  <a:pt x="2722728" y="422021"/>
                  <a:pt x="2729552" y="426570"/>
                </a:cubicBezTo>
                <a:cubicBezTo>
                  <a:pt x="2742519" y="465471"/>
                  <a:pt x="2725833" y="432776"/>
                  <a:pt x="2770495" y="460690"/>
                </a:cubicBezTo>
                <a:cubicBezTo>
                  <a:pt x="2778679" y="465805"/>
                  <a:pt x="2783162" y="475485"/>
                  <a:pt x="2790967" y="481161"/>
                </a:cubicBezTo>
                <a:cubicBezTo>
                  <a:pt x="2808322" y="493782"/>
                  <a:pt x="2826365" y="505684"/>
                  <a:pt x="2845558" y="515281"/>
                </a:cubicBezTo>
                <a:cubicBezTo>
                  <a:pt x="2853946" y="519475"/>
                  <a:pt x="2863956" y="519138"/>
                  <a:pt x="2872853" y="522104"/>
                </a:cubicBezTo>
                <a:cubicBezTo>
                  <a:pt x="2884474" y="525978"/>
                  <a:pt x="2895352" y="531878"/>
                  <a:pt x="2906973" y="535752"/>
                </a:cubicBezTo>
                <a:cubicBezTo>
                  <a:pt x="2927334" y="542539"/>
                  <a:pt x="2955051" y="546040"/>
                  <a:pt x="2975212" y="549400"/>
                </a:cubicBezTo>
                <a:cubicBezTo>
                  <a:pt x="2982036" y="560773"/>
                  <a:pt x="2987725" y="572909"/>
                  <a:pt x="2995683" y="583519"/>
                </a:cubicBezTo>
                <a:cubicBezTo>
                  <a:pt x="3014492" y="608598"/>
                  <a:pt x="3035577" y="615090"/>
                  <a:pt x="3063922" y="631287"/>
                </a:cubicBezTo>
                <a:cubicBezTo>
                  <a:pt x="3070746" y="640385"/>
                  <a:pt x="3077784" y="649327"/>
                  <a:pt x="3084394" y="658582"/>
                </a:cubicBezTo>
                <a:cubicBezTo>
                  <a:pt x="3089161" y="665256"/>
                  <a:pt x="3091741" y="673804"/>
                  <a:pt x="3098041" y="679054"/>
                </a:cubicBezTo>
                <a:cubicBezTo>
                  <a:pt x="3105856" y="685566"/>
                  <a:pt x="3116238" y="688152"/>
                  <a:pt x="3125337" y="692701"/>
                </a:cubicBezTo>
                <a:cubicBezTo>
                  <a:pt x="3132161" y="713173"/>
                  <a:pt x="3134936" y="735476"/>
                  <a:pt x="3145809" y="754116"/>
                </a:cubicBezTo>
                <a:cubicBezTo>
                  <a:pt x="3151540" y="763940"/>
                  <a:pt x="3166795" y="765125"/>
                  <a:pt x="3173104" y="774588"/>
                </a:cubicBezTo>
                <a:cubicBezTo>
                  <a:pt x="3233021" y="864464"/>
                  <a:pt x="3165066" y="814802"/>
                  <a:pt x="3234519" y="856475"/>
                </a:cubicBezTo>
                <a:cubicBezTo>
                  <a:pt x="3236794" y="863299"/>
                  <a:pt x="3239598" y="869968"/>
                  <a:pt x="3241343" y="876946"/>
                </a:cubicBezTo>
                <a:cubicBezTo>
                  <a:pt x="3244156" y="888198"/>
                  <a:pt x="3242534" y="900927"/>
                  <a:pt x="3248167" y="911066"/>
                </a:cubicBezTo>
                <a:cubicBezTo>
                  <a:pt x="3254416" y="922314"/>
                  <a:pt x="3266364" y="929263"/>
                  <a:pt x="3275462" y="938361"/>
                </a:cubicBezTo>
                <a:cubicBezTo>
                  <a:pt x="3277737" y="958833"/>
                  <a:pt x="3277970" y="979636"/>
                  <a:pt x="3282286" y="999776"/>
                </a:cubicBezTo>
                <a:cubicBezTo>
                  <a:pt x="3284853" y="1011754"/>
                  <a:pt x="3293642" y="1021863"/>
                  <a:pt x="3295934" y="1033896"/>
                </a:cubicBezTo>
                <a:cubicBezTo>
                  <a:pt x="3330230" y="1213945"/>
                  <a:pt x="3290586" y="1086086"/>
                  <a:pt x="3323229" y="1184021"/>
                </a:cubicBezTo>
                <a:cubicBezTo>
                  <a:pt x="3325504" y="1206767"/>
                  <a:pt x="3327218" y="1229577"/>
                  <a:pt x="3330053" y="1252260"/>
                </a:cubicBezTo>
                <a:cubicBezTo>
                  <a:pt x="3331769" y="1265989"/>
                  <a:pt x="3335161" y="1279474"/>
                  <a:pt x="3336877" y="1293203"/>
                </a:cubicBezTo>
                <a:cubicBezTo>
                  <a:pt x="3341987" y="1334080"/>
                  <a:pt x="3345976" y="1375090"/>
                  <a:pt x="3350525" y="1416033"/>
                </a:cubicBezTo>
                <a:cubicBezTo>
                  <a:pt x="3348250" y="1534314"/>
                  <a:pt x="3347642" y="1652638"/>
                  <a:pt x="3343701" y="1770875"/>
                </a:cubicBezTo>
                <a:cubicBezTo>
                  <a:pt x="3343696" y="1771033"/>
                  <a:pt x="3335251" y="1849188"/>
                  <a:pt x="3330053" y="1859585"/>
                </a:cubicBezTo>
                <a:cubicBezTo>
                  <a:pt x="3325737" y="1868217"/>
                  <a:pt x="3315862" y="1872730"/>
                  <a:pt x="3309582" y="1880057"/>
                </a:cubicBezTo>
                <a:cubicBezTo>
                  <a:pt x="3302181" y="1888692"/>
                  <a:pt x="3294556" y="1897368"/>
                  <a:pt x="3289110" y="1907352"/>
                </a:cubicBezTo>
                <a:cubicBezTo>
                  <a:pt x="3280815" y="1922560"/>
                  <a:pt x="3275072" y="1939035"/>
                  <a:pt x="3268638" y="1955119"/>
                </a:cubicBezTo>
                <a:cubicBezTo>
                  <a:pt x="3265967" y="1961798"/>
                  <a:pt x="3266130" y="1969836"/>
                  <a:pt x="3261814" y="1975591"/>
                </a:cubicBezTo>
                <a:cubicBezTo>
                  <a:pt x="3245380" y="1997503"/>
                  <a:pt x="3225420" y="2016534"/>
                  <a:pt x="3207223" y="2037006"/>
                </a:cubicBezTo>
                <a:cubicBezTo>
                  <a:pt x="3202674" y="2052928"/>
                  <a:pt x="3202352" y="2070731"/>
                  <a:pt x="3193576" y="2084773"/>
                </a:cubicBezTo>
                <a:cubicBezTo>
                  <a:pt x="3189764" y="2090873"/>
                  <a:pt x="3178630" y="2086992"/>
                  <a:pt x="3173104" y="2091597"/>
                </a:cubicBezTo>
                <a:cubicBezTo>
                  <a:pt x="3164367" y="2098878"/>
                  <a:pt x="3160674" y="2110851"/>
                  <a:pt x="3152632" y="2118893"/>
                </a:cubicBezTo>
                <a:cubicBezTo>
                  <a:pt x="3146833" y="2124692"/>
                  <a:pt x="3138985" y="2127991"/>
                  <a:pt x="3132161" y="2132540"/>
                </a:cubicBezTo>
                <a:cubicBezTo>
                  <a:pt x="3125337" y="2143913"/>
                  <a:pt x="3119832" y="2156190"/>
                  <a:pt x="3111689" y="2166660"/>
                </a:cubicBezTo>
                <a:cubicBezTo>
                  <a:pt x="3103789" y="2176817"/>
                  <a:pt x="3091873" y="2183485"/>
                  <a:pt x="3084394" y="2193955"/>
                </a:cubicBezTo>
                <a:cubicBezTo>
                  <a:pt x="3080213" y="2199808"/>
                  <a:pt x="3083187" y="2209933"/>
                  <a:pt x="3077570" y="2214427"/>
                </a:cubicBezTo>
                <a:cubicBezTo>
                  <a:pt x="3070246" y="2220286"/>
                  <a:pt x="3059373" y="2218976"/>
                  <a:pt x="3050274" y="2221251"/>
                </a:cubicBezTo>
                <a:cubicBezTo>
                  <a:pt x="3041176" y="2230349"/>
                  <a:pt x="3033449" y="2241067"/>
                  <a:pt x="3022979" y="2248546"/>
                </a:cubicBezTo>
                <a:cubicBezTo>
                  <a:pt x="3017126" y="2252727"/>
                  <a:pt x="3009119" y="2252536"/>
                  <a:pt x="3002507" y="2255370"/>
                </a:cubicBezTo>
                <a:cubicBezTo>
                  <a:pt x="2993157" y="2259377"/>
                  <a:pt x="2983489" y="2263105"/>
                  <a:pt x="2975212" y="2269018"/>
                </a:cubicBezTo>
                <a:cubicBezTo>
                  <a:pt x="2930489" y="2300963"/>
                  <a:pt x="2978180" y="2281678"/>
                  <a:pt x="2934268" y="2296313"/>
                </a:cubicBezTo>
                <a:cubicBezTo>
                  <a:pt x="2927444" y="2303137"/>
                  <a:pt x="2922233" y="2312098"/>
                  <a:pt x="2913797" y="2316785"/>
                </a:cubicBezTo>
                <a:cubicBezTo>
                  <a:pt x="2901221" y="2323772"/>
                  <a:pt x="2886501" y="2325884"/>
                  <a:pt x="2872853" y="2330433"/>
                </a:cubicBezTo>
                <a:cubicBezTo>
                  <a:pt x="2834983" y="2343057"/>
                  <a:pt x="2859524" y="2336364"/>
                  <a:pt x="2797791" y="2344081"/>
                </a:cubicBezTo>
                <a:cubicBezTo>
                  <a:pt x="2786418" y="2348630"/>
                  <a:pt x="2775404" y="2354208"/>
                  <a:pt x="2763671" y="2357728"/>
                </a:cubicBezTo>
                <a:cubicBezTo>
                  <a:pt x="2752562" y="2361061"/>
                  <a:pt x="2741150" y="2364552"/>
                  <a:pt x="2729552" y="2364552"/>
                </a:cubicBezTo>
                <a:cubicBezTo>
                  <a:pt x="2590781" y="2364552"/>
                  <a:pt x="2452047" y="2360003"/>
                  <a:pt x="2313295" y="2357728"/>
                </a:cubicBezTo>
                <a:cubicBezTo>
                  <a:pt x="2247400" y="2335763"/>
                  <a:pt x="2349844" y="2370983"/>
                  <a:pt x="2265528" y="2337257"/>
                </a:cubicBezTo>
                <a:cubicBezTo>
                  <a:pt x="2252171" y="2331914"/>
                  <a:pt x="2238233" y="2328158"/>
                  <a:pt x="2224585" y="2323609"/>
                </a:cubicBezTo>
                <a:cubicBezTo>
                  <a:pt x="2185916" y="2325884"/>
                  <a:pt x="2146392" y="2322030"/>
                  <a:pt x="2108579" y="2330433"/>
                </a:cubicBezTo>
                <a:cubicBezTo>
                  <a:pt x="2101557" y="2331993"/>
                  <a:pt x="2106841" y="2345818"/>
                  <a:pt x="2101755" y="2350904"/>
                </a:cubicBezTo>
                <a:cubicBezTo>
                  <a:pt x="2094562" y="2358097"/>
                  <a:pt x="2074459" y="2364552"/>
                  <a:pt x="2074459" y="2364552"/>
                </a:cubicBezTo>
              </a:path>
            </a:pathLst>
          </a:custGeom>
          <a:noFill/>
          <a:ln w="38100" cap="flat" cmpd="sng" algn="ctr">
            <a:solidFill>
              <a:schemeClr val="accent2">
                <a:lumMod val="5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down)">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solidFill>
                  <a:srgbClr val="C00000"/>
                </a:solidFill>
                <a:latin typeface="+mj-lt"/>
                <a:ea typeface="黑体" pitchFamily="2" charset="-122"/>
              </a:rPr>
              <a:t>引理</a:t>
            </a:r>
            <a:r>
              <a:rPr lang="en-US" altLang="zh-CN" sz="2400" dirty="0">
                <a:solidFill>
                  <a:srgbClr val="C00000"/>
                </a:solidFill>
                <a:latin typeface="+mj-lt"/>
                <a:ea typeface="黑体" pitchFamily="2" charset="-122"/>
              </a:rPr>
              <a:t>5. </a:t>
            </a:r>
            <a:r>
              <a:rPr lang="zh-CN" altLang="en-US" sz="2400" dirty="0">
                <a:latin typeface="+mj-lt"/>
                <a:ea typeface="黑体" pitchFamily="2" charset="-122"/>
              </a:rPr>
              <a:t>设</a:t>
            </a:r>
            <a:r>
              <a:rPr lang="en-US" altLang="zh-CN" sz="2400" i="1" dirty="0">
                <a:latin typeface="+mj-lt"/>
                <a:ea typeface="黑体" pitchFamily="2" charset="-122"/>
              </a:rPr>
              <a:t>f</a:t>
            </a:r>
            <a:r>
              <a:rPr lang="zh-CN" altLang="en-US" sz="2400" dirty="0">
                <a:latin typeface="+mj-lt"/>
                <a:ea typeface="黑体" pitchFamily="2" charset="-122"/>
              </a:rPr>
              <a:t>是源点为</a:t>
            </a:r>
            <a:r>
              <a:rPr lang="en-US" altLang="zh-CN" sz="2400" i="1" dirty="0">
                <a:latin typeface="+mj-lt"/>
                <a:ea typeface="黑体" pitchFamily="2" charset="-122"/>
              </a:rPr>
              <a:t>s</a:t>
            </a:r>
            <a:r>
              <a:rPr lang="zh-CN" altLang="en-US" sz="2400" dirty="0">
                <a:latin typeface="+mj-lt"/>
                <a:ea typeface="黑体" pitchFamily="2" charset="-122"/>
              </a:rPr>
              <a:t>，汇点为</a:t>
            </a:r>
            <a:r>
              <a:rPr lang="en-US" altLang="zh-CN" sz="2400" i="1" dirty="0">
                <a:latin typeface="+mj-lt"/>
                <a:ea typeface="黑体" pitchFamily="2" charset="-122"/>
              </a:rPr>
              <a:t>t</a:t>
            </a:r>
            <a:r>
              <a:rPr lang="zh-CN" altLang="en-US" sz="2400" dirty="0">
                <a:latin typeface="+mj-lt"/>
                <a:ea typeface="黑体" pitchFamily="2" charset="-122"/>
              </a:rPr>
              <a:t>的流网络</a:t>
            </a:r>
            <a:r>
              <a:rPr lang="en-US" altLang="zh-CN" sz="2400" i="1" dirty="0">
                <a:latin typeface="+mj-lt"/>
                <a:ea typeface="黑体" pitchFamily="2" charset="-122"/>
              </a:rPr>
              <a:t>G</a:t>
            </a:r>
            <a:r>
              <a:rPr lang="zh-CN" altLang="en-US" sz="2400" dirty="0">
                <a:latin typeface="+mj-lt"/>
                <a:ea typeface="黑体" pitchFamily="2" charset="-122"/>
              </a:rPr>
              <a:t>中的流。并且</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的一个割。则通过割</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的净流为</a:t>
            </a:r>
            <a:r>
              <a:rPr lang="en-US" altLang="zh-CN" sz="2400" i="1" dirty="0">
                <a:latin typeface="+mj-lt"/>
                <a:ea typeface="黑体" pitchFamily="2" charset="-122"/>
              </a:rPr>
              <a:t>f(S,T)=|f|</a:t>
            </a:r>
            <a:r>
              <a:rPr lang="zh-CN" altLang="en-US" sz="2400" dirty="0">
                <a:latin typeface="+mj-lt"/>
                <a:ea typeface="黑体" pitchFamily="2" charset="-122"/>
              </a:rPr>
              <a:t>。</a:t>
            </a:r>
            <a:endParaRPr lang="en-US" altLang="zh-CN" sz="2400" dirty="0">
              <a:latin typeface="+mj-lt"/>
              <a:ea typeface="黑体" pitchFamily="2" charset="-122"/>
            </a:endParaRPr>
          </a:p>
          <a:p>
            <a:r>
              <a:rPr lang="zh-CN" altLang="en-US" sz="2400" dirty="0">
                <a:latin typeface="+mj-lt"/>
                <a:ea typeface="黑体" pitchFamily="2" charset="-122"/>
              </a:rPr>
              <a:t>证明</a:t>
            </a:r>
            <a:r>
              <a:rPr lang="en-US" altLang="zh-CN" sz="2400" dirty="0">
                <a:latin typeface="+mj-lt"/>
                <a:ea typeface="黑体" pitchFamily="2" charset="-122"/>
              </a:rPr>
              <a:t>:  </a:t>
            </a:r>
            <a:r>
              <a:rPr lang="zh-CN" altLang="en-US" sz="2400" dirty="0">
                <a:latin typeface="+mj-lt"/>
                <a:ea typeface="黑体" pitchFamily="2" charset="-122"/>
              </a:rPr>
              <a:t>由流守恒性得</a:t>
            </a:r>
            <a:r>
              <a:rPr lang="en-US" altLang="zh-CN" sz="2400" dirty="0">
                <a:latin typeface="+mj-lt"/>
                <a:ea typeface="黑体" pitchFamily="2" charset="-122"/>
              </a:rPr>
              <a:t>:</a:t>
            </a:r>
            <a:r>
              <a:rPr lang="en-US" altLang="zh-CN" sz="2400" i="1" dirty="0">
                <a:latin typeface="+mj-lt"/>
                <a:ea typeface="黑体" pitchFamily="2" charset="-122"/>
              </a:rPr>
              <a:t>f(S-{s},V)=0</a:t>
            </a:r>
            <a:endParaRPr lang="en-US" altLang="zh-CN" sz="2400" dirty="0">
              <a:latin typeface="+mj-lt"/>
              <a:ea typeface="黑体" pitchFamily="2" charset="-122"/>
            </a:endParaRPr>
          </a:p>
          <a:p>
            <a:pPr marL="0" indent="0">
              <a:buNone/>
            </a:pPr>
            <a:r>
              <a:rPr lang="en-US" altLang="zh-CN" sz="2400" i="1" dirty="0">
                <a:latin typeface="+mj-lt"/>
                <a:ea typeface="黑体" pitchFamily="2" charset="-122"/>
              </a:rPr>
              <a:t>               f(S,T)=f(S,V)-f(S,S)=f(</a:t>
            </a:r>
            <a:r>
              <a:rPr lang="en-US" altLang="zh-CN" sz="2400" i="1" dirty="0" err="1">
                <a:latin typeface="+mj-lt"/>
                <a:ea typeface="黑体" pitchFamily="2" charset="-122"/>
              </a:rPr>
              <a:t>s,V</a:t>
            </a:r>
            <a:r>
              <a:rPr lang="en-US" altLang="zh-CN" sz="2400" i="1" dirty="0">
                <a:latin typeface="+mj-lt"/>
                <a:ea typeface="黑体" pitchFamily="2" charset="-122"/>
              </a:rPr>
              <a:t>)=|f|</a:t>
            </a:r>
            <a:endParaRPr lang="en-US" altLang="zh-CN" sz="2400" dirty="0">
              <a:latin typeface="+mj-lt"/>
              <a:ea typeface="黑体" pitchFamily="2" charset="-122"/>
            </a:endParaRPr>
          </a:p>
          <a:p>
            <a:r>
              <a:rPr lang="zh-CN" altLang="en-US" sz="2400" dirty="0">
                <a:latin typeface="+mj-lt"/>
                <a:ea typeface="黑体" pitchFamily="2" charset="-122"/>
              </a:rPr>
              <a:t>*任意割的净流都是相等的</a:t>
            </a:r>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solidFill>
                  <a:srgbClr val="C00000"/>
                </a:solidFill>
                <a:latin typeface="+mj-lt"/>
                <a:ea typeface="黑体" pitchFamily="2" charset="-122"/>
              </a:rPr>
              <a:t>推论</a:t>
            </a:r>
            <a:r>
              <a:rPr lang="en-US" altLang="zh-CN" sz="2400" dirty="0">
                <a:solidFill>
                  <a:srgbClr val="C00000"/>
                </a:solidFill>
                <a:latin typeface="+mj-lt"/>
                <a:ea typeface="黑体" pitchFamily="2" charset="-122"/>
              </a:rPr>
              <a:t>6.</a:t>
            </a:r>
            <a:r>
              <a:rPr lang="en-US" altLang="zh-CN" sz="2400" dirty="0">
                <a:latin typeface="+mj-lt"/>
                <a:ea typeface="黑体" pitchFamily="2" charset="-122"/>
              </a:rPr>
              <a:t> </a:t>
            </a:r>
            <a:r>
              <a:rPr lang="zh-CN" altLang="en-US" sz="2400" dirty="0">
                <a:latin typeface="+mj-lt"/>
                <a:ea typeface="黑体" pitchFamily="2" charset="-122"/>
              </a:rPr>
              <a:t>对于流网络</a:t>
            </a:r>
            <a:r>
              <a:rPr lang="en-US" altLang="zh-CN" sz="2400" i="1" dirty="0">
                <a:latin typeface="+mj-lt"/>
                <a:ea typeface="黑体" pitchFamily="2" charset="-122"/>
              </a:rPr>
              <a:t>G</a:t>
            </a:r>
            <a:r>
              <a:rPr lang="zh-CN" altLang="en-US" sz="2400" dirty="0">
                <a:latin typeface="+mj-lt"/>
                <a:ea typeface="黑体" pitchFamily="2" charset="-122"/>
              </a:rPr>
              <a:t>中任意流</a:t>
            </a:r>
            <a:r>
              <a:rPr lang="en-US" altLang="zh-CN" sz="2400" i="1" dirty="0">
                <a:latin typeface="+mj-lt"/>
                <a:ea typeface="黑体" pitchFamily="2" charset="-122"/>
              </a:rPr>
              <a:t>f</a:t>
            </a:r>
            <a:r>
              <a:rPr lang="zh-CN" altLang="en-US" sz="2400" dirty="0">
                <a:latin typeface="+mj-lt"/>
                <a:ea typeface="黑体" pitchFamily="2" charset="-122"/>
              </a:rPr>
              <a:t>，其值的上界为</a:t>
            </a:r>
            <a:r>
              <a:rPr lang="en-US" altLang="zh-CN" sz="2400" i="1" dirty="0">
                <a:latin typeface="+mj-lt"/>
                <a:ea typeface="黑体" pitchFamily="2" charset="-122"/>
              </a:rPr>
              <a:t>G</a:t>
            </a:r>
            <a:r>
              <a:rPr lang="zh-CN" altLang="en-US" sz="2400" dirty="0">
                <a:latin typeface="+mj-lt"/>
                <a:ea typeface="黑体" pitchFamily="2" charset="-122"/>
              </a:rPr>
              <a:t>的任意割的容量</a:t>
            </a:r>
            <a:endParaRPr lang="en-US" altLang="zh-CN" sz="2400" dirty="0">
              <a:latin typeface="+mj-lt"/>
              <a:ea typeface="黑体" pitchFamily="2" charset="-122"/>
            </a:endParaRPr>
          </a:p>
          <a:p>
            <a:r>
              <a:rPr lang="zh-CN" altLang="en-US" sz="2400" dirty="0">
                <a:latin typeface="+mj-lt"/>
                <a:ea typeface="黑体" pitchFamily="2" charset="-122"/>
              </a:rPr>
              <a:t>证明</a:t>
            </a:r>
            <a:r>
              <a:rPr lang="en-US" altLang="zh-CN" sz="2400" dirty="0">
                <a:latin typeface="+mj-lt"/>
                <a:ea typeface="黑体" pitchFamily="2" charset="-122"/>
              </a:rPr>
              <a:t>:</a:t>
            </a:r>
            <a:r>
              <a:rPr lang="zh-CN" altLang="en-US" sz="2400" dirty="0">
                <a:latin typeface="+mj-lt"/>
                <a:ea typeface="黑体" pitchFamily="2" charset="-122"/>
              </a:rPr>
              <a:t>设</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为</a:t>
            </a:r>
            <a:r>
              <a:rPr lang="en-US" altLang="zh-CN" sz="2400" i="1" dirty="0">
                <a:latin typeface="+mj-lt"/>
                <a:ea typeface="黑体" pitchFamily="2" charset="-122"/>
              </a:rPr>
              <a:t>G</a:t>
            </a:r>
            <a:r>
              <a:rPr lang="zh-CN" altLang="en-US" sz="2400" dirty="0">
                <a:latin typeface="+mj-lt"/>
                <a:ea typeface="黑体" pitchFamily="2" charset="-122"/>
              </a:rPr>
              <a:t>中的任意割，</a:t>
            </a:r>
            <a:r>
              <a:rPr lang="en-US" altLang="zh-CN" sz="2400" i="1" dirty="0">
                <a:latin typeface="+mj-lt"/>
                <a:ea typeface="黑体" pitchFamily="2" charset="-122"/>
              </a:rPr>
              <a:t>f</a:t>
            </a:r>
            <a:r>
              <a:rPr lang="zh-CN" altLang="en-US" sz="2400" dirty="0">
                <a:latin typeface="+mj-lt"/>
                <a:ea typeface="黑体" pitchFamily="2" charset="-122"/>
              </a:rPr>
              <a:t>为任意流</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latin typeface="+mj-lt"/>
                <a:ea typeface="黑体" pitchFamily="2" charset="-122"/>
              </a:rPr>
              <a:t>最大流的值不能大于最小割的容量（最大流的值就是最小割的容量）</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133247043"/>
              </p:ext>
            </p:extLst>
          </p:nvPr>
        </p:nvGraphicFramePr>
        <p:xfrm>
          <a:off x="1066800" y="5257800"/>
          <a:ext cx="6553199" cy="701622"/>
        </p:xfrm>
        <a:graphic>
          <a:graphicData uri="http://schemas.openxmlformats.org/presentationml/2006/ole">
            <mc:AlternateContent xmlns:mc="http://schemas.openxmlformats.org/markup-compatibility/2006">
              <mc:Choice xmlns:v="urn:schemas-microsoft-com:vml" Requires="v">
                <p:oleObj name="Equation" r:id="rId3" imgW="3200400" imgH="342900" progId="Equation.DSMT4">
                  <p:embed/>
                </p:oleObj>
              </mc:Choice>
              <mc:Fallback>
                <p:oleObj name="Equation" r:id="rId3" imgW="3200400" imgH="3429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5257800"/>
                        <a:ext cx="6553199" cy="7016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4061603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黑体" pitchFamily="2" charset="-122"/>
                <a:ea typeface="黑体" pitchFamily="2" charset="-122"/>
              </a:rPr>
              <a:t>因此</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网络的最大流必定不超过网络最小割的容量</a:t>
            </a:r>
            <a:r>
              <a:rPr lang="en-US" altLang="zh-CN" sz="2400" dirty="0">
                <a:latin typeface="黑体" pitchFamily="2" charset="-122"/>
                <a:ea typeface="黑体" pitchFamily="2" charset="-122"/>
              </a:rPr>
              <a:t>.</a:t>
            </a:r>
          </a:p>
          <a:p>
            <a:r>
              <a:rPr lang="zh-CN" altLang="en-US" sz="2400" dirty="0">
                <a:solidFill>
                  <a:srgbClr val="C00000"/>
                </a:solidFill>
                <a:latin typeface="黑体" pitchFamily="2" charset="-122"/>
                <a:ea typeface="黑体" pitchFamily="2" charset="-122"/>
              </a:rPr>
              <a:t>定理</a:t>
            </a:r>
            <a:r>
              <a:rPr lang="en-US" altLang="zh-CN" sz="2400" dirty="0">
                <a:solidFill>
                  <a:srgbClr val="C00000"/>
                </a:solidFill>
                <a:latin typeface="黑体" pitchFamily="2" charset="-122"/>
                <a:ea typeface="黑体" pitchFamily="2" charset="-122"/>
              </a:rPr>
              <a:t>7.</a:t>
            </a:r>
            <a:r>
              <a:rPr lang="en-US" altLang="zh-CN" sz="2400" dirty="0">
                <a:latin typeface="黑体" pitchFamily="2" charset="-122"/>
                <a:ea typeface="黑体" pitchFamily="2" charset="-122"/>
              </a:rPr>
              <a:t>(</a:t>
            </a:r>
            <a:r>
              <a:rPr lang="zh-CN" altLang="en-US" sz="2400" dirty="0">
                <a:solidFill>
                  <a:srgbClr val="0000CC"/>
                </a:solidFill>
                <a:latin typeface="黑体" pitchFamily="2" charset="-122"/>
                <a:ea typeface="黑体" pitchFamily="2" charset="-122"/>
              </a:rPr>
              <a:t>最大流最小割定理</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如果</a:t>
            </a:r>
            <a:r>
              <a:rPr lang="en-US" altLang="zh-CN" sz="2400" i="1" dirty="0">
                <a:latin typeface="黑体" pitchFamily="2" charset="-122"/>
                <a:ea typeface="黑体" pitchFamily="2" charset="-122"/>
              </a:rPr>
              <a:t>f</a:t>
            </a:r>
            <a:r>
              <a:rPr lang="zh-CN" altLang="en-US" sz="2400" dirty="0">
                <a:latin typeface="黑体" pitchFamily="2" charset="-122"/>
                <a:ea typeface="黑体" pitchFamily="2" charset="-122"/>
              </a:rPr>
              <a:t>是具有源点</a:t>
            </a:r>
            <a:r>
              <a:rPr lang="en-US" altLang="zh-CN" sz="2400" i="1" dirty="0">
                <a:latin typeface="黑体" pitchFamily="2" charset="-122"/>
                <a:ea typeface="黑体" pitchFamily="2" charset="-122"/>
              </a:rPr>
              <a:t>s</a:t>
            </a:r>
            <a:r>
              <a:rPr lang="zh-CN" altLang="en-US" sz="2400" dirty="0">
                <a:latin typeface="黑体" pitchFamily="2" charset="-122"/>
                <a:ea typeface="黑体" pitchFamily="2" charset="-122"/>
              </a:rPr>
              <a:t>和汇点</a:t>
            </a:r>
            <a:r>
              <a:rPr lang="en-US" altLang="zh-CN" sz="2400" i="1" dirty="0">
                <a:latin typeface="黑体" pitchFamily="2" charset="-122"/>
                <a:ea typeface="黑体" pitchFamily="2" charset="-122"/>
              </a:rPr>
              <a:t>t</a:t>
            </a:r>
            <a:r>
              <a:rPr lang="zh-CN" altLang="en-US" sz="2400" dirty="0">
                <a:latin typeface="黑体" pitchFamily="2" charset="-122"/>
                <a:ea typeface="黑体" pitchFamily="2" charset="-122"/>
              </a:rPr>
              <a:t>的流网络</a:t>
            </a:r>
            <a:r>
              <a:rPr lang="en-US" altLang="zh-CN" sz="2400" i="1" dirty="0">
                <a:latin typeface="黑体" pitchFamily="2" charset="-122"/>
                <a:ea typeface="黑体" pitchFamily="2" charset="-122"/>
              </a:rPr>
              <a:t>G=(V,E)</a:t>
            </a:r>
            <a:r>
              <a:rPr lang="zh-CN" altLang="en-US" sz="2400" dirty="0">
                <a:latin typeface="黑体" pitchFamily="2" charset="-122"/>
                <a:ea typeface="黑体" pitchFamily="2" charset="-122"/>
              </a:rPr>
              <a:t>中的一个流</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则下列条件是等价的</a:t>
            </a:r>
            <a:r>
              <a:rPr lang="en-US" altLang="zh-CN" sz="2400" dirty="0">
                <a:latin typeface="黑体" pitchFamily="2" charset="-122"/>
                <a:ea typeface="黑体" pitchFamily="2" charset="-122"/>
              </a:rPr>
              <a:t>.</a:t>
            </a:r>
          </a:p>
          <a:p>
            <a:pPr marL="0" indent="0">
              <a:buNone/>
            </a:pPr>
            <a:r>
              <a:rPr lang="en-US" altLang="zh-CN" sz="2400" dirty="0">
                <a:latin typeface="黑体" pitchFamily="2" charset="-122"/>
                <a:ea typeface="黑体" pitchFamily="2" charset="-122"/>
              </a:rPr>
              <a:t>  (1)</a:t>
            </a:r>
            <a:r>
              <a:rPr lang="en-US" altLang="zh-CN" sz="2400" i="1" dirty="0">
                <a:latin typeface="黑体" pitchFamily="2" charset="-122"/>
                <a:ea typeface="黑体" pitchFamily="2" charset="-122"/>
              </a:rPr>
              <a:t>f</a:t>
            </a:r>
            <a:r>
              <a:rPr lang="zh-CN" altLang="en-US" sz="2400" dirty="0">
                <a:latin typeface="黑体" pitchFamily="2" charset="-122"/>
                <a:ea typeface="黑体" pitchFamily="2" charset="-122"/>
              </a:rPr>
              <a:t>是</a:t>
            </a:r>
            <a:r>
              <a:rPr lang="en-US" altLang="zh-CN" sz="2400" i="1" dirty="0">
                <a:latin typeface="黑体" pitchFamily="2" charset="-122"/>
                <a:ea typeface="黑体" pitchFamily="2" charset="-122"/>
              </a:rPr>
              <a:t>G</a:t>
            </a:r>
            <a:r>
              <a:rPr lang="zh-CN" altLang="en-US" sz="2400" dirty="0">
                <a:latin typeface="黑体" pitchFamily="2" charset="-122"/>
                <a:ea typeface="黑体" pitchFamily="2" charset="-122"/>
              </a:rPr>
              <a:t>的一个最大流</a:t>
            </a:r>
            <a:r>
              <a:rPr lang="en-US" altLang="zh-CN" sz="2400" dirty="0">
                <a:latin typeface="黑体" pitchFamily="2" charset="-122"/>
                <a:ea typeface="黑体" pitchFamily="2" charset="-122"/>
              </a:rPr>
              <a:t>.</a:t>
            </a:r>
          </a:p>
          <a:p>
            <a:pPr marL="0" indent="0">
              <a:buNone/>
            </a:pPr>
            <a:r>
              <a:rPr lang="en-US" altLang="zh-CN" sz="2400" dirty="0">
                <a:latin typeface="黑体" pitchFamily="2" charset="-122"/>
                <a:ea typeface="黑体" pitchFamily="2" charset="-122"/>
              </a:rPr>
              <a:t>  (2)</a:t>
            </a:r>
            <a:r>
              <a:rPr lang="zh-CN" altLang="en-US" sz="2400" dirty="0">
                <a:latin typeface="黑体" pitchFamily="2" charset="-122"/>
                <a:ea typeface="黑体" pitchFamily="2" charset="-122"/>
              </a:rPr>
              <a:t>残留网络</a:t>
            </a:r>
            <a:r>
              <a:rPr lang="en-US" altLang="zh-CN" sz="2400" i="1" dirty="0" err="1">
                <a:latin typeface="黑体" pitchFamily="2" charset="-122"/>
                <a:ea typeface="黑体" pitchFamily="2" charset="-122"/>
              </a:rPr>
              <a:t>G</a:t>
            </a:r>
            <a:r>
              <a:rPr lang="en-US" altLang="zh-CN" sz="2400" i="1" baseline="-25000" dirty="0" err="1">
                <a:latin typeface="黑体" pitchFamily="2" charset="-122"/>
                <a:ea typeface="黑体" pitchFamily="2" charset="-122"/>
              </a:rPr>
              <a:t>f</a:t>
            </a:r>
            <a:r>
              <a:rPr lang="zh-CN" altLang="en-US" sz="2400" dirty="0">
                <a:latin typeface="黑体" pitchFamily="2" charset="-122"/>
                <a:ea typeface="黑体" pitchFamily="2" charset="-122"/>
              </a:rPr>
              <a:t>不包括增广路径</a:t>
            </a:r>
            <a:endParaRPr lang="en-US" altLang="zh-CN" sz="2400" dirty="0">
              <a:latin typeface="黑体" pitchFamily="2" charset="-122"/>
              <a:ea typeface="黑体" pitchFamily="2" charset="-122"/>
            </a:endParaRPr>
          </a:p>
          <a:p>
            <a:pPr marL="0" indent="0">
              <a:buNone/>
            </a:pPr>
            <a:r>
              <a:rPr lang="en-US" altLang="zh-CN" sz="2400" dirty="0">
                <a:latin typeface="黑体" pitchFamily="2" charset="-122"/>
                <a:ea typeface="黑体" pitchFamily="2" charset="-122"/>
              </a:rPr>
              <a:t>  (3)</a:t>
            </a:r>
            <a:r>
              <a:rPr lang="zh-CN" altLang="en-US" sz="2400" dirty="0">
                <a:latin typeface="黑体" pitchFamily="2" charset="-122"/>
                <a:ea typeface="黑体" pitchFamily="2" charset="-122"/>
              </a:rPr>
              <a:t>对</a:t>
            </a:r>
            <a:r>
              <a:rPr lang="en-US" altLang="zh-CN" sz="2400" i="1" dirty="0">
                <a:latin typeface="黑体" pitchFamily="2" charset="-122"/>
                <a:ea typeface="黑体" pitchFamily="2" charset="-122"/>
              </a:rPr>
              <a:t>G</a:t>
            </a:r>
            <a:r>
              <a:rPr lang="zh-CN" altLang="en-US" sz="2400" dirty="0">
                <a:latin typeface="黑体" pitchFamily="2" charset="-122"/>
                <a:ea typeface="黑体" pitchFamily="2" charset="-122"/>
              </a:rPr>
              <a:t>的某个割</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S,T</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有</a:t>
            </a:r>
            <a:r>
              <a:rPr lang="en-US" altLang="zh-CN" sz="2400" i="1" dirty="0">
                <a:latin typeface="黑体" pitchFamily="2" charset="-122"/>
                <a:ea typeface="黑体" pitchFamily="2" charset="-122"/>
              </a:rPr>
              <a:t>|f|=c(S,T)</a:t>
            </a:r>
          </a:p>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pSp>
        <p:nvGrpSpPr>
          <p:cNvPr id="2" name="Group 2"/>
          <p:cNvGrpSpPr>
            <a:grpSpLocks/>
          </p:cNvGrpSpPr>
          <p:nvPr/>
        </p:nvGrpSpPr>
        <p:grpSpPr bwMode="auto">
          <a:xfrm>
            <a:off x="3733800" y="3733800"/>
            <a:ext cx="4625975" cy="2855913"/>
            <a:chOff x="874" y="1033"/>
            <a:chExt cx="3648" cy="2496"/>
          </a:xfrm>
        </p:grpSpPr>
        <p:sp>
          <p:nvSpPr>
            <p:cNvPr id="5" name="Oval 3"/>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6" name="Oval 4"/>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7" name="Oval 5"/>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Oval 6"/>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9" name="Oval 7"/>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0" name="Oval 8"/>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1" name="Line 9"/>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0"/>
            <p:cNvSpPr>
              <a:spLocks noChangeShapeType="1"/>
            </p:cNvSpPr>
            <p:nvPr/>
          </p:nvSpPr>
          <p:spPr bwMode="auto">
            <a:xfrm>
              <a:off x="1210" y="2281"/>
              <a:ext cx="672" cy="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1"/>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2"/>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3"/>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p:cNvSpPr>
              <a:spLocks noChangeShapeType="1"/>
            </p:cNvSpPr>
            <p:nvPr/>
          </p:nvSpPr>
          <p:spPr bwMode="auto">
            <a:xfrm>
              <a:off x="3370" y="2281"/>
              <a:ext cx="816" cy="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5"/>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Text Box 16"/>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1</a:t>
              </a:r>
            </a:p>
          </p:txBody>
        </p:sp>
        <p:sp>
          <p:nvSpPr>
            <p:cNvPr id="19" name="Text Box 17"/>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20" name="Text Box 18"/>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3</a:t>
              </a:r>
            </a:p>
          </p:txBody>
        </p:sp>
        <p:sp>
          <p:nvSpPr>
            <p:cNvPr id="21" name="Text Box 19"/>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22" name="Text Box 20"/>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23" name="Text Box 21"/>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24" name="Text Box 22"/>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5" name="Text Box 23"/>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6" name="Text Box 24"/>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27" name="Text Box 25"/>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28" name="Text Box 26"/>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29" name="Text Box 27"/>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30" name="Text Box 28"/>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
        <p:nvSpPr>
          <p:cNvPr id="36" name="任意多边形 35"/>
          <p:cNvSpPr/>
          <p:nvPr/>
        </p:nvSpPr>
        <p:spPr bwMode="auto">
          <a:xfrm>
            <a:off x="4454305" y="4399984"/>
            <a:ext cx="2498756" cy="1822564"/>
          </a:xfrm>
          <a:custGeom>
            <a:avLst/>
            <a:gdLst>
              <a:gd name="connsiteX0" fmla="*/ 0 w 2498756"/>
              <a:gd name="connsiteY0" fmla="*/ 0 h 1822564"/>
              <a:gd name="connsiteX1" fmla="*/ 18107 w 2498756"/>
              <a:gd name="connsiteY1" fmla="*/ 144856 h 1822564"/>
              <a:gd name="connsiteX2" fmla="*/ 27160 w 2498756"/>
              <a:gd name="connsiteY2" fmla="*/ 380246 h 1822564"/>
              <a:gd name="connsiteX3" fmla="*/ 54321 w 2498756"/>
              <a:gd name="connsiteY3" fmla="*/ 570368 h 1822564"/>
              <a:gd name="connsiteX4" fmla="*/ 63374 w 2498756"/>
              <a:gd name="connsiteY4" fmla="*/ 606582 h 1822564"/>
              <a:gd name="connsiteX5" fmla="*/ 108642 w 2498756"/>
              <a:gd name="connsiteY5" fmla="*/ 697117 h 1822564"/>
              <a:gd name="connsiteX6" fmla="*/ 162962 w 2498756"/>
              <a:gd name="connsiteY6" fmla="*/ 805759 h 1822564"/>
              <a:gd name="connsiteX7" fmla="*/ 181069 w 2498756"/>
              <a:gd name="connsiteY7" fmla="*/ 841972 h 1822564"/>
              <a:gd name="connsiteX8" fmla="*/ 190123 w 2498756"/>
              <a:gd name="connsiteY8" fmla="*/ 878186 h 1822564"/>
              <a:gd name="connsiteX9" fmla="*/ 217283 w 2498756"/>
              <a:gd name="connsiteY9" fmla="*/ 914400 h 1822564"/>
              <a:gd name="connsiteX10" fmla="*/ 262550 w 2498756"/>
              <a:gd name="connsiteY10" fmla="*/ 968721 h 1822564"/>
              <a:gd name="connsiteX11" fmla="*/ 307818 w 2498756"/>
              <a:gd name="connsiteY11" fmla="*/ 1032095 h 1822564"/>
              <a:gd name="connsiteX12" fmla="*/ 344032 w 2498756"/>
              <a:gd name="connsiteY12" fmla="*/ 1095469 h 1822564"/>
              <a:gd name="connsiteX13" fmla="*/ 353085 w 2498756"/>
              <a:gd name="connsiteY13" fmla="*/ 1122630 h 1822564"/>
              <a:gd name="connsiteX14" fmla="*/ 407406 w 2498756"/>
              <a:gd name="connsiteY14" fmla="*/ 1176951 h 1822564"/>
              <a:gd name="connsiteX15" fmla="*/ 470780 w 2498756"/>
              <a:gd name="connsiteY15" fmla="*/ 1258432 h 1822564"/>
              <a:gd name="connsiteX16" fmla="*/ 497941 w 2498756"/>
              <a:gd name="connsiteY16" fmla="*/ 1285592 h 1822564"/>
              <a:gd name="connsiteX17" fmla="*/ 525101 w 2498756"/>
              <a:gd name="connsiteY17" fmla="*/ 1321806 h 1822564"/>
              <a:gd name="connsiteX18" fmla="*/ 570368 w 2498756"/>
              <a:gd name="connsiteY18" fmla="*/ 1348966 h 1822564"/>
              <a:gd name="connsiteX19" fmla="*/ 606582 w 2498756"/>
              <a:gd name="connsiteY19" fmla="*/ 1385180 h 1822564"/>
              <a:gd name="connsiteX20" fmla="*/ 651849 w 2498756"/>
              <a:gd name="connsiteY20" fmla="*/ 1403287 h 1822564"/>
              <a:gd name="connsiteX21" fmla="*/ 688063 w 2498756"/>
              <a:gd name="connsiteY21" fmla="*/ 1421394 h 1822564"/>
              <a:gd name="connsiteX22" fmla="*/ 715224 w 2498756"/>
              <a:gd name="connsiteY22" fmla="*/ 1439501 h 1822564"/>
              <a:gd name="connsiteX23" fmla="*/ 760491 w 2498756"/>
              <a:gd name="connsiteY23" fmla="*/ 1457608 h 1822564"/>
              <a:gd name="connsiteX24" fmla="*/ 787651 w 2498756"/>
              <a:gd name="connsiteY24" fmla="*/ 1475715 h 1822564"/>
              <a:gd name="connsiteX25" fmla="*/ 878186 w 2498756"/>
              <a:gd name="connsiteY25" fmla="*/ 1493822 h 1822564"/>
              <a:gd name="connsiteX26" fmla="*/ 923453 w 2498756"/>
              <a:gd name="connsiteY26" fmla="*/ 1511929 h 1822564"/>
              <a:gd name="connsiteX27" fmla="*/ 959667 w 2498756"/>
              <a:gd name="connsiteY27" fmla="*/ 1520982 h 1822564"/>
              <a:gd name="connsiteX28" fmla="*/ 1032095 w 2498756"/>
              <a:gd name="connsiteY28" fmla="*/ 1557196 h 1822564"/>
              <a:gd name="connsiteX29" fmla="*/ 1077362 w 2498756"/>
              <a:gd name="connsiteY29" fmla="*/ 1575303 h 1822564"/>
              <a:gd name="connsiteX30" fmla="*/ 1204111 w 2498756"/>
              <a:gd name="connsiteY30" fmla="*/ 1647731 h 1822564"/>
              <a:gd name="connsiteX31" fmla="*/ 1240325 w 2498756"/>
              <a:gd name="connsiteY31" fmla="*/ 1656784 h 1822564"/>
              <a:gd name="connsiteX32" fmla="*/ 1276539 w 2498756"/>
              <a:gd name="connsiteY32" fmla="*/ 1674891 h 1822564"/>
              <a:gd name="connsiteX33" fmla="*/ 1303699 w 2498756"/>
              <a:gd name="connsiteY33" fmla="*/ 1692998 h 1822564"/>
              <a:gd name="connsiteX34" fmla="*/ 1376127 w 2498756"/>
              <a:gd name="connsiteY34" fmla="*/ 1711105 h 1822564"/>
              <a:gd name="connsiteX35" fmla="*/ 1412341 w 2498756"/>
              <a:gd name="connsiteY35" fmla="*/ 1729212 h 1822564"/>
              <a:gd name="connsiteX36" fmla="*/ 1439501 w 2498756"/>
              <a:gd name="connsiteY36" fmla="*/ 1738266 h 1822564"/>
              <a:gd name="connsiteX37" fmla="*/ 1466661 w 2498756"/>
              <a:gd name="connsiteY37" fmla="*/ 1756372 h 1822564"/>
              <a:gd name="connsiteX38" fmla="*/ 1566249 w 2498756"/>
              <a:gd name="connsiteY38" fmla="*/ 1792586 h 1822564"/>
              <a:gd name="connsiteX39" fmla="*/ 1638677 w 2498756"/>
              <a:gd name="connsiteY39" fmla="*/ 1801640 h 1822564"/>
              <a:gd name="connsiteX40" fmla="*/ 1738265 w 2498756"/>
              <a:gd name="connsiteY40" fmla="*/ 1819747 h 1822564"/>
              <a:gd name="connsiteX41" fmla="*/ 2498756 w 2498756"/>
              <a:gd name="connsiteY41" fmla="*/ 1819747 h 182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498756" h="1822564">
                <a:moveTo>
                  <a:pt x="0" y="0"/>
                </a:moveTo>
                <a:cubicBezTo>
                  <a:pt x="6036" y="48285"/>
                  <a:pt x="14640" y="96319"/>
                  <a:pt x="18107" y="144856"/>
                </a:cubicBezTo>
                <a:cubicBezTo>
                  <a:pt x="23701" y="223178"/>
                  <a:pt x="21566" y="301924"/>
                  <a:pt x="27160" y="380246"/>
                </a:cubicBezTo>
                <a:cubicBezTo>
                  <a:pt x="31441" y="440175"/>
                  <a:pt x="40699" y="509070"/>
                  <a:pt x="54321" y="570368"/>
                </a:cubicBezTo>
                <a:cubicBezTo>
                  <a:pt x="57020" y="582515"/>
                  <a:pt x="59956" y="594618"/>
                  <a:pt x="63374" y="606582"/>
                </a:cubicBezTo>
                <a:cubicBezTo>
                  <a:pt x="76203" y="651485"/>
                  <a:pt x="77684" y="639070"/>
                  <a:pt x="108642" y="697117"/>
                </a:cubicBezTo>
                <a:cubicBezTo>
                  <a:pt x="127695" y="732842"/>
                  <a:pt x="144855" y="769545"/>
                  <a:pt x="162962" y="805759"/>
                </a:cubicBezTo>
                <a:cubicBezTo>
                  <a:pt x="168998" y="817830"/>
                  <a:pt x="177796" y="828879"/>
                  <a:pt x="181069" y="841972"/>
                </a:cubicBezTo>
                <a:cubicBezTo>
                  <a:pt x="184087" y="854043"/>
                  <a:pt x="184558" y="867057"/>
                  <a:pt x="190123" y="878186"/>
                </a:cubicBezTo>
                <a:cubicBezTo>
                  <a:pt x="196871" y="891682"/>
                  <a:pt x="208513" y="902121"/>
                  <a:pt x="217283" y="914400"/>
                </a:cubicBezTo>
                <a:cubicBezTo>
                  <a:pt x="274448" y="994432"/>
                  <a:pt x="190095" y="884190"/>
                  <a:pt x="262550" y="968721"/>
                </a:cubicBezTo>
                <a:cubicBezTo>
                  <a:pt x="279395" y="988374"/>
                  <a:pt x="293487" y="1010599"/>
                  <a:pt x="307818" y="1032095"/>
                </a:cubicBezTo>
                <a:cubicBezTo>
                  <a:pt x="328575" y="1094371"/>
                  <a:pt x="300183" y="1018734"/>
                  <a:pt x="344032" y="1095469"/>
                </a:cubicBezTo>
                <a:cubicBezTo>
                  <a:pt x="348767" y="1103755"/>
                  <a:pt x="347226" y="1115097"/>
                  <a:pt x="353085" y="1122630"/>
                </a:cubicBezTo>
                <a:cubicBezTo>
                  <a:pt x="368806" y="1142843"/>
                  <a:pt x="391685" y="1156738"/>
                  <a:pt x="407406" y="1176951"/>
                </a:cubicBezTo>
                <a:cubicBezTo>
                  <a:pt x="428531" y="1204111"/>
                  <a:pt x="446449" y="1234102"/>
                  <a:pt x="470780" y="1258432"/>
                </a:cubicBezTo>
                <a:cubicBezTo>
                  <a:pt x="479834" y="1267485"/>
                  <a:pt x="489609" y="1275871"/>
                  <a:pt x="497941" y="1285592"/>
                </a:cubicBezTo>
                <a:cubicBezTo>
                  <a:pt x="507761" y="1297048"/>
                  <a:pt x="513745" y="1311870"/>
                  <a:pt x="525101" y="1321806"/>
                </a:cubicBezTo>
                <a:cubicBezTo>
                  <a:pt x="538344" y="1333393"/>
                  <a:pt x="556478" y="1338163"/>
                  <a:pt x="570368" y="1348966"/>
                </a:cubicBezTo>
                <a:cubicBezTo>
                  <a:pt x="583843" y="1359447"/>
                  <a:pt x="592378" y="1375710"/>
                  <a:pt x="606582" y="1385180"/>
                </a:cubicBezTo>
                <a:cubicBezTo>
                  <a:pt x="620104" y="1394195"/>
                  <a:pt x="636998" y="1396687"/>
                  <a:pt x="651849" y="1403287"/>
                </a:cubicBezTo>
                <a:cubicBezTo>
                  <a:pt x="664182" y="1408768"/>
                  <a:pt x="676345" y="1414698"/>
                  <a:pt x="688063" y="1421394"/>
                </a:cubicBezTo>
                <a:cubicBezTo>
                  <a:pt x="697510" y="1426793"/>
                  <a:pt x="705492" y="1434635"/>
                  <a:pt x="715224" y="1439501"/>
                </a:cubicBezTo>
                <a:cubicBezTo>
                  <a:pt x="729760" y="1446769"/>
                  <a:pt x="745955" y="1450340"/>
                  <a:pt x="760491" y="1457608"/>
                </a:cubicBezTo>
                <a:cubicBezTo>
                  <a:pt x="770223" y="1462474"/>
                  <a:pt x="777650" y="1471429"/>
                  <a:pt x="787651" y="1475715"/>
                </a:cubicBezTo>
                <a:cubicBezTo>
                  <a:pt x="804836" y="1483080"/>
                  <a:pt x="865938" y="1491781"/>
                  <a:pt x="878186" y="1493822"/>
                </a:cubicBezTo>
                <a:cubicBezTo>
                  <a:pt x="893275" y="1499858"/>
                  <a:pt x="908036" y="1506790"/>
                  <a:pt x="923453" y="1511929"/>
                </a:cubicBezTo>
                <a:cubicBezTo>
                  <a:pt x="935257" y="1515864"/>
                  <a:pt x="948864" y="1514809"/>
                  <a:pt x="959667" y="1520982"/>
                </a:cubicBezTo>
                <a:cubicBezTo>
                  <a:pt x="1041603" y="1567802"/>
                  <a:pt x="921520" y="1535082"/>
                  <a:pt x="1032095" y="1557196"/>
                </a:cubicBezTo>
                <a:cubicBezTo>
                  <a:pt x="1047184" y="1563232"/>
                  <a:pt x="1063023" y="1567655"/>
                  <a:pt x="1077362" y="1575303"/>
                </a:cubicBezTo>
                <a:cubicBezTo>
                  <a:pt x="1083101" y="1578364"/>
                  <a:pt x="1173374" y="1636205"/>
                  <a:pt x="1204111" y="1647731"/>
                </a:cubicBezTo>
                <a:cubicBezTo>
                  <a:pt x="1215762" y="1652100"/>
                  <a:pt x="1228254" y="1653766"/>
                  <a:pt x="1240325" y="1656784"/>
                </a:cubicBezTo>
                <a:cubicBezTo>
                  <a:pt x="1252396" y="1662820"/>
                  <a:pt x="1264821" y="1668195"/>
                  <a:pt x="1276539" y="1674891"/>
                </a:cubicBezTo>
                <a:cubicBezTo>
                  <a:pt x="1285986" y="1680289"/>
                  <a:pt x="1293967" y="1688132"/>
                  <a:pt x="1303699" y="1692998"/>
                </a:cubicBezTo>
                <a:cubicBezTo>
                  <a:pt x="1322262" y="1702280"/>
                  <a:pt x="1358904" y="1707661"/>
                  <a:pt x="1376127" y="1711105"/>
                </a:cubicBezTo>
                <a:cubicBezTo>
                  <a:pt x="1388198" y="1717141"/>
                  <a:pt x="1399936" y="1723895"/>
                  <a:pt x="1412341" y="1729212"/>
                </a:cubicBezTo>
                <a:cubicBezTo>
                  <a:pt x="1421112" y="1732971"/>
                  <a:pt x="1430965" y="1733998"/>
                  <a:pt x="1439501" y="1738266"/>
                </a:cubicBezTo>
                <a:cubicBezTo>
                  <a:pt x="1449233" y="1743132"/>
                  <a:pt x="1456929" y="1751506"/>
                  <a:pt x="1466661" y="1756372"/>
                </a:cubicBezTo>
                <a:cubicBezTo>
                  <a:pt x="1479862" y="1762973"/>
                  <a:pt x="1554982" y="1791178"/>
                  <a:pt x="1566249" y="1792586"/>
                </a:cubicBezTo>
                <a:cubicBezTo>
                  <a:pt x="1590392" y="1795604"/>
                  <a:pt x="1614629" y="1797940"/>
                  <a:pt x="1638677" y="1801640"/>
                </a:cubicBezTo>
                <a:cubicBezTo>
                  <a:pt x="1658899" y="1804751"/>
                  <a:pt x="1720116" y="1819545"/>
                  <a:pt x="1738265" y="1819747"/>
                </a:cubicBezTo>
                <a:cubicBezTo>
                  <a:pt x="1991746" y="1822564"/>
                  <a:pt x="2245259" y="1819747"/>
                  <a:pt x="2498756" y="1819747"/>
                </a:cubicBezTo>
              </a:path>
            </a:pathLst>
          </a:custGeom>
          <a:noFill/>
          <a:ln w="3810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7" name="任意多边形 36"/>
          <p:cNvSpPr/>
          <p:nvPr/>
        </p:nvSpPr>
        <p:spPr bwMode="auto">
          <a:xfrm>
            <a:off x="7342360" y="3938257"/>
            <a:ext cx="443620" cy="1849418"/>
          </a:xfrm>
          <a:custGeom>
            <a:avLst/>
            <a:gdLst>
              <a:gd name="connsiteX0" fmla="*/ 443620 w 443620"/>
              <a:gd name="connsiteY0" fmla="*/ 0 h 1849418"/>
              <a:gd name="connsiteX1" fmla="*/ 416460 w 443620"/>
              <a:gd name="connsiteY1" fmla="*/ 9054 h 1849418"/>
              <a:gd name="connsiteX2" fmla="*/ 325925 w 443620"/>
              <a:gd name="connsiteY2" fmla="*/ 99589 h 1849418"/>
              <a:gd name="connsiteX3" fmla="*/ 280658 w 443620"/>
              <a:gd name="connsiteY3" fmla="*/ 172016 h 1849418"/>
              <a:gd name="connsiteX4" fmla="*/ 271604 w 443620"/>
              <a:gd name="connsiteY4" fmla="*/ 199177 h 1849418"/>
              <a:gd name="connsiteX5" fmla="*/ 253497 w 443620"/>
              <a:gd name="connsiteY5" fmla="*/ 235391 h 1849418"/>
              <a:gd name="connsiteX6" fmla="*/ 244444 w 443620"/>
              <a:gd name="connsiteY6" fmla="*/ 262551 h 1849418"/>
              <a:gd name="connsiteX7" fmla="*/ 199177 w 443620"/>
              <a:gd name="connsiteY7" fmla="*/ 334979 h 1849418"/>
              <a:gd name="connsiteX8" fmla="*/ 172016 w 443620"/>
              <a:gd name="connsiteY8" fmla="*/ 416460 h 1849418"/>
              <a:gd name="connsiteX9" fmla="*/ 153909 w 443620"/>
              <a:gd name="connsiteY9" fmla="*/ 443620 h 1849418"/>
              <a:gd name="connsiteX10" fmla="*/ 135802 w 443620"/>
              <a:gd name="connsiteY10" fmla="*/ 497941 h 1849418"/>
              <a:gd name="connsiteX11" fmla="*/ 108642 w 443620"/>
              <a:gd name="connsiteY11" fmla="*/ 561315 h 1849418"/>
              <a:gd name="connsiteX12" fmla="*/ 90535 w 443620"/>
              <a:gd name="connsiteY12" fmla="*/ 633743 h 1849418"/>
              <a:gd name="connsiteX13" fmla="*/ 63375 w 443620"/>
              <a:gd name="connsiteY13" fmla="*/ 751438 h 1849418"/>
              <a:gd name="connsiteX14" fmla="*/ 45268 w 443620"/>
              <a:gd name="connsiteY14" fmla="*/ 787652 h 1849418"/>
              <a:gd name="connsiteX15" fmla="*/ 18107 w 443620"/>
              <a:gd name="connsiteY15" fmla="*/ 923454 h 1849418"/>
              <a:gd name="connsiteX16" fmla="*/ 9054 w 443620"/>
              <a:gd name="connsiteY16" fmla="*/ 968721 h 1849418"/>
              <a:gd name="connsiteX17" fmla="*/ 0 w 443620"/>
              <a:gd name="connsiteY17" fmla="*/ 1041149 h 1849418"/>
              <a:gd name="connsiteX18" fmla="*/ 9054 w 443620"/>
              <a:gd name="connsiteY18" fmla="*/ 1620571 h 1849418"/>
              <a:gd name="connsiteX19" fmla="*/ 54321 w 443620"/>
              <a:gd name="connsiteY19" fmla="*/ 1720159 h 1849418"/>
              <a:gd name="connsiteX20" fmla="*/ 72428 w 443620"/>
              <a:gd name="connsiteY20" fmla="*/ 1792587 h 1849418"/>
              <a:gd name="connsiteX21" fmla="*/ 117695 w 443620"/>
              <a:gd name="connsiteY21" fmla="*/ 1846907 h 184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3620" h="1849418">
                <a:moveTo>
                  <a:pt x="443620" y="0"/>
                </a:moveTo>
                <a:cubicBezTo>
                  <a:pt x="434567" y="3018"/>
                  <a:pt x="423745" y="2890"/>
                  <a:pt x="416460" y="9054"/>
                </a:cubicBezTo>
                <a:cubicBezTo>
                  <a:pt x="383880" y="36622"/>
                  <a:pt x="325925" y="99589"/>
                  <a:pt x="325925" y="99589"/>
                </a:cubicBezTo>
                <a:cubicBezTo>
                  <a:pt x="279210" y="239731"/>
                  <a:pt x="338046" y="100280"/>
                  <a:pt x="280658" y="172016"/>
                </a:cubicBezTo>
                <a:cubicBezTo>
                  <a:pt x="274696" y="179468"/>
                  <a:pt x="275363" y="190405"/>
                  <a:pt x="271604" y="199177"/>
                </a:cubicBezTo>
                <a:cubicBezTo>
                  <a:pt x="266288" y="211582"/>
                  <a:pt x="258813" y="222986"/>
                  <a:pt x="253497" y="235391"/>
                </a:cubicBezTo>
                <a:cubicBezTo>
                  <a:pt x="249738" y="244162"/>
                  <a:pt x="248203" y="253780"/>
                  <a:pt x="244444" y="262551"/>
                </a:cubicBezTo>
                <a:cubicBezTo>
                  <a:pt x="227875" y="301213"/>
                  <a:pt x="225171" y="300320"/>
                  <a:pt x="199177" y="334979"/>
                </a:cubicBezTo>
                <a:cubicBezTo>
                  <a:pt x="190532" y="369556"/>
                  <a:pt x="189062" y="382369"/>
                  <a:pt x="172016" y="416460"/>
                </a:cubicBezTo>
                <a:cubicBezTo>
                  <a:pt x="167150" y="426192"/>
                  <a:pt x="159945" y="434567"/>
                  <a:pt x="153909" y="443620"/>
                </a:cubicBezTo>
                <a:cubicBezTo>
                  <a:pt x="147873" y="461727"/>
                  <a:pt x="142891" y="480220"/>
                  <a:pt x="135802" y="497941"/>
                </a:cubicBezTo>
                <a:cubicBezTo>
                  <a:pt x="114602" y="550941"/>
                  <a:pt x="121132" y="515518"/>
                  <a:pt x="108642" y="561315"/>
                </a:cubicBezTo>
                <a:cubicBezTo>
                  <a:pt x="102094" y="585324"/>
                  <a:pt x="94626" y="609196"/>
                  <a:pt x="90535" y="633743"/>
                </a:cubicBezTo>
                <a:cubicBezTo>
                  <a:pt x="82333" y="682955"/>
                  <a:pt x="81183" y="702465"/>
                  <a:pt x="63375" y="751438"/>
                </a:cubicBezTo>
                <a:cubicBezTo>
                  <a:pt x="58763" y="764122"/>
                  <a:pt x="51304" y="775581"/>
                  <a:pt x="45268" y="787652"/>
                </a:cubicBezTo>
                <a:lnTo>
                  <a:pt x="18107" y="923454"/>
                </a:lnTo>
                <a:cubicBezTo>
                  <a:pt x="15089" y="938543"/>
                  <a:pt x="10963" y="953452"/>
                  <a:pt x="9054" y="968721"/>
                </a:cubicBezTo>
                <a:lnTo>
                  <a:pt x="0" y="1041149"/>
                </a:lnTo>
                <a:cubicBezTo>
                  <a:pt x="3018" y="1234290"/>
                  <a:pt x="1012" y="1427574"/>
                  <a:pt x="9054" y="1620571"/>
                </a:cubicBezTo>
                <a:cubicBezTo>
                  <a:pt x="11821" y="1686973"/>
                  <a:pt x="19055" y="1684892"/>
                  <a:pt x="54321" y="1720159"/>
                </a:cubicBezTo>
                <a:cubicBezTo>
                  <a:pt x="56828" y="1732694"/>
                  <a:pt x="63730" y="1776931"/>
                  <a:pt x="72428" y="1792587"/>
                </a:cubicBezTo>
                <a:cubicBezTo>
                  <a:pt x="104001" y="1849418"/>
                  <a:pt x="87756" y="1846907"/>
                  <a:pt x="117695" y="1846907"/>
                </a:cubicBezTo>
              </a:path>
            </a:pathLst>
          </a:custGeom>
          <a:noFill/>
          <a:ln w="34925" cap="flat" cmpd="sng" algn="ctr">
            <a:solidFill>
              <a:schemeClr val="accent2">
                <a:lumMod val="7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891347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up)">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up)">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479490425"/>
              </p:ext>
            </p:extLst>
          </p:nvPr>
        </p:nvGraphicFramePr>
        <p:xfrm>
          <a:off x="1060450" y="1524000"/>
          <a:ext cx="6940550" cy="4594948"/>
        </p:xfrm>
        <a:graphic>
          <a:graphicData uri="http://schemas.openxmlformats.org/presentationml/2006/ole">
            <mc:AlternateContent xmlns:mc="http://schemas.openxmlformats.org/markup-compatibility/2006">
              <mc:Choice xmlns:v="urn:schemas-microsoft-com:vml" Requires="v">
                <p:oleObj name="公式" r:id="rId3" imgW="3721100" imgH="2463800" progId="">
                  <p:embed/>
                </p:oleObj>
              </mc:Choice>
              <mc:Fallback>
                <p:oleObj name="公式" r:id="rId3" imgW="3721100" imgH="24638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0450" y="1524000"/>
                        <a:ext cx="6940550" cy="4594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1471120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基本的</a:t>
            </a:r>
            <a:r>
              <a:rPr lang="en-US" altLang="zh-CN" sz="3600" b="1" dirty="0">
                <a:solidFill>
                  <a:srgbClr val="0000CC"/>
                </a:solidFill>
              </a:rPr>
              <a:t>Ford-Fulkerson</a:t>
            </a:r>
            <a:r>
              <a:rPr lang="zh-CN" altLang="en-US" sz="3600" b="1" dirty="0">
                <a:solidFill>
                  <a:srgbClr val="0000CC"/>
                </a:solidFill>
              </a:rPr>
              <a:t>算法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b="1" dirty="0">
                <a:latin typeface="宋体" pitchFamily="2" charset="-122"/>
                <a:ea typeface="宋体" pitchFamily="2" charset="-122"/>
              </a:rPr>
              <a:t>在</a:t>
            </a:r>
            <a:r>
              <a:rPr lang="en-US" altLang="zh-CN" sz="2400" b="1" dirty="0">
                <a:latin typeface="宋体" pitchFamily="2" charset="-122"/>
                <a:ea typeface="宋体" pitchFamily="2" charset="-122"/>
              </a:rPr>
              <a:t>Ford-Fulkerson</a:t>
            </a:r>
            <a:r>
              <a:rPr lang="zh-CN" altLang="en-US" sz="2400" b="1" dirty="0">
                <a:latin typeface="宋体" pitchFamily="2" charset="-122"/>
                <a:ea typeface="宋体" pitchFamily="2" charset="-122"/>
              </a:rPr>
              <a:t>方法的每次迭代中，找出任意增广路径</a:t>
            </a:r>
            <a:r>
              <a:rPr lang="en-US" altLang="zh-CN" sz="2400" b="1" i="1" dirty="0">
                <a:latin typeface="宋体" pitchFamily="2" charset="-122"/>
                <a:ea typeface="宋体" pitchFamily="2" charset="-122"/>
              </a:rPr>
              <a:t>p</a:t>
            </a:r>
            <a:r>
              <a:rPr lang="zh-CN" altLang="en-US" sz="2400" b="1" dirty="0">
                <a:latin typeface="宋体" pitchFamily="2" charset="-122"/>
                <a:ea typeface="宋体" pitchFamily="2" charset="-122"/>
              </a:rPr>
              <a:t>，沿</a:t>
            </a:r>
            <a:r>
              <a:rPr lang="en-US" altLang="zh-CN" sz="2400" b="1" i="1" dirty="0">
                <a:latin typeface="宋体" pitchFamily="2" charset="-122"/>
                <a:ea typeface="宋体" pitchFamily="2" charset="-122"/>
              </a:rPr>
              <a:t>p</a:t>
            </a:r>
            <a:r>
              <a:rPr lang="zh-CN" altLang="en-US" sz="2400" b="1" dirty="0">
                <a:latin typeface="宋体" pitchFamily="2" charset="-122"/>
                <a:ea typeface="宋体" pitchFamily="2" charset="-122"/>
              </a:rPr>
              <a:t>每条边的流</a:t>
            </a:r>
            <a:r>
              <a:rPr lang="en-US" altLang="zh-CN" sz="2400" b="1" dirty="0">
                <a:latin typeface="宋体" pitchFamily="2" charset="-122"/>
                <a:ea typeface="宋体" pitchFamily="2" charset="-122"/>
              </a:rPr>
              <a:t>f</a:t>
            </a:r>
            <a:r>
              <a:rPr lang="zh-CN" altLang="en-US" sz="2400" b="1" dirty="0">
                <a:latin typeface="宋体" pitchFamily="2" charset="-122"/>
                <a:ea typeface="宋体" pitchFamily="2" charset="-122"/>
              </a:rPr>
              <a:t>加上其残留容量 </a:t>
            </a:r>
            <a:endParaRPr lang="en-US" altLang="zh-CN" sz="2400" b="1" dirty="0">
              <a:latin typeface="宋体" pitchFamily="2" charset="-122"/>
              <a:ea typeface="宋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
        <p:nvSpPr>
          <p:cNvPr id="4" name="TextBox 3"/>
          <p:cNvSpPr txBox="1"/>
          <p:nvPr/>
        </p:nvSpPr>
        <p:spPr>
          <a:xfrm>
            <a:off x="990600" y="2438400"/>
            <a:ext cx="7467600" cy="3785652"/>
          </a:xfrm>
          <a:prstGeom prst="rect">
            <a:avLst/>
          </a:prstGeom>
          <a:noFill/>
        </p:spPr>
        <p:txBody>
          <a:bodyPr wrap="square" rtlCol="0">
            <a:spAutoFit/>
          </a:bodyPr>
          <a:lstStyle/>
          <a:p>
            <a:r>
              <a:rPr lang="en-US" altLang="zh-CN" sz="2400" dirty="0">
                <a:latin typeface="+mj-lt"/>
                <a:ea typeface="黑体" pitchFamily="2" charset="-122"/>
              </a:rPr>
              <a:t>Ford-Fulkerson(</a:t>
            </a:r>
            <a:r>
              <a:rPr lang="en-US" altLang="zh-CN" sz="2400" dirty="0" err="1">
                <a:latin typeface="+mj-lt"/>
                <a:ea typeface="黑体" pitchFamily="2" charset="-122"/>
              </a:rPr>
              <a:t>G,s,t</a:t>
            </a:r>
            <a:r>
              <a:rPr lang="en-US" altLang="zh-CN" sz="2400" dirty="0">
                <a:latin typeface="+mj-lt"/>
                <a:ea typeface="黑体" pitchFamily="2" charset="-122"/>
              </a:rPr>
              <a:t>)</a:t>
            </a:r>
          </a:p>
          <a:p>
            <a:r>
              <a:rPr lang="en-US" altLang="zh-CN" sz="2400" dirty="0">
                <a:latin typeface="+mj-lt"/>
                <a:ea typeface="黑体" pitchFamily="2" charset="-122"/>
              </a:rPr>
              <a:t>1 for each(</a:t>
            </a:r>
            <a:r>
              <a:rPr lang="en-US" altLang="zh-CN" sz="2400" dirty="0" err="1">
                <a:latin typeface="+mj-lt"/>
                <a:ea typeface="黑体" pitchFamily="2" charset="-122"/>
              </a:rPr>
              <a:t>u,v</a:t>
            </a:r>
            <a:r>
              <a:rPr lang="en-US" altLang="zh-CN" sz="2400" dirty="0">
                <a:latin typeface="+mj-lt"/>
                <a:ea typeface="黑体" pitchFamily="2" charset="-122"/>
              </a:rPr>
              <a:t>)∈E(G)</a:t>
            </a:r>
          </a:p>
          <a:p>
            <a:pPr marL="514350" indent="-514350">
              <a:buAutoNum type="arabicPlain" startAt="2"/>
            </a:pPr>
            <a:r>
              <a:rPr lang="en-US" altLang="zh-CN" sz="2400" dirty="0">
                <a:latin typeface="+mj-lt"/>
                <a:ea typeface="黑体" pitchFamily="2" charset="-122"/>
              </a:rPr>
              <a:t>   do f[</a:t>
            </a:r>
            <a:r>
              <a:rPr lang="en-US" altLang="zh-CN" sz="2400" dirty="0" err="1">
                <a:latin typeface="+mj-lt"/>
                <a:ea typeface="黑体" pitchFamily="2" charset="-122"/>
              </a:rPr>
              <a:t>u,v</a:t>
            </a:r>
            <a:r>
              <a:rPr lang="en-US" altLang="zh-CN" sz="2400" dirty="0">
                <a:latin typeface="+mj-lt"/>
                <a:ea typeface="黑体" pitchFamily="2" charset="-122"/>
              </a:rPr>
              <a:t>]←0</a:t>
            </a:r>
          </a:p>
          <a:p>
            <a:pPr marL="514350" indent="-514350">
              <a:buAutoNum type="arabicPlain" startAt="2"/>
            </a:pPr>
            <a:r>
              <a:rPr lang="en-US" altLang="zh-CN" sz="2400" dirty="0">
                <a:latin typeface="+mj-lt"/>
                <a:ea typeface="黑体" pitchFamily="2" charset="-122"/>
              </a:rPr>
              <a:t>      f[</a:t>
            </a:r>
            <a:r>
              <a:rPr lang="en-US" altLang="zh-CN" sz="2400" dirty="0" err="1">
                <a:latin typeface="+mj-lt"/>
                <a:ea typeface="黑体" pitchFamily="2" charset="-122"/>
              </a:rPr>
              <a:t>v,u</a:t>
            </a:r>
            <a:r>
              <a:rPr lang="en-US" altLang="zh-CN" sz="2400" dirty="0">
                <a:latin typeface="+mj-lt"/>
                <a:ea typeface="黑体" pitchFamily="2" charset="-122"/>
              </a:rPr>
              <a:t>]←0</a:t>
            </a:r>
          </a:p>
          <a:p>
            <a:pPr marL="514350" indent="-514350">
              <a:buAutoNum type="arabicPlain" startAt="2"/>
            </a:pPr>
            <a:r>
              <a:rPr lang="en-US" altLang="zh-CN" sz="2400" dirty="0">
                <a:latin typeface="+mj-lt"/>
                <a:ea typeface="黑体" pitchFamily="2" charset="-122"/>
              </a:rPr>
              <a:t>while there exists a path p from s to t in the residual network </a:t>
            </a:r>
            <a:r>
              <a:rPr lang="en-US" altLang="zh-CN" sz="2400" dirty="0" err="1">
                <a:latin typeface="+mj-lt"/>
                <a:ea typeface="黑体" pitchFamily="2" charset="-122"/>
              </a:rPr>
              <a:t>G</a:t>
            </a:r>
            <a:r>
              <a:rPr lang="en-US" altLang="zh-CN" sz="2400" baseline="-25000" dirty="0" err="1">
                <a:latin typeface="+mj-lt"/>
                <a:ea typeface="黑体" pitchFamily="2" charset="-122"/>
              </a:rPr>
              <a:t>f</a:t>
            </a:r>
            <a:r>
              <a:rPr lang="en-US" altLang="zh-CN" sz="2400" dirty="0">
                <a:latin typeface="+mj-lt"/>
                <a:ea typeface="黑体" pitchFamily="2" charset="-122"/>
              </a:rPr>
              <a:t> </a:t>
            </a:r>
          </a:p>
          <a:p>
            <a:pPr marL="514350" indent="-514350">
              <a:buAutoNum type="arabicPlain" startAt="2"/>
            </a:pPr>
            <a:r>
              <a:rPr lang="en-US" altLang="zh-CN" sz="2400" dirty="0">
                <a:latin typeface="+mj-lt"/>
                <a:ea typeface="黑体" pitchFamily="2" charset="-122"/>
              </a:rPr>
              <a:t>   do       ←min{</a:t>
            </a:r>
            <a:r>
              <a:rPr lang="en-US" altLang="zh-CN" sz="2400" dirty="0" err="1">
                <a:latin typeface="+mj-lt"/>
                <a:ea typeface="黑体" pitchFamily="2" charset="-122"/>
              </a:rPr>
              <a:t>c</a:t>
            </a:r>
            <a:r>
              <a:rPr lang="en-US" altLang="zh-CN" sz="2400" baseline="-25000" dirty="0" err="1">
                <a:latin typeface="+mj-lt"/>
                <a:ea typeface="黑体" pitchFamily="2" charset="-122"/>
              </a:rPr>
              <a:t>f</a:t>
            </a:r>
            <a:r>
              <a:rPr lang="en-US" altLang="zh-CN" sz="2400" dirty="0">
                <a:latin typeface="+mj-lt"/>
                <a:ea typeface="黑体" pitchFamily="2" charset="-122"/>
              </a:rPr>
              <a:t>(</a:t>
            </a:r>
            <a:r>
              <a:rPr lang="en-US" altLang="zh-CN" sz="2400" dirty="0" err="1">
                <a:latin typeface="+mj-lt"/>
                <a:ea typeface="黑体" pitchFamily="2" charset="-122"/>
              </a:rPr>
              <a:t>u,v</a:t>
            </a:r>
            <a:r>
              <a:rPr lang="en-US" altLang="zh-CN" sz="2400" dirty="0">
                <a:latin typeface="+mj-lt"/>
                <a:ea typeface="黑体" pitchFamily="2" charset="-122"/>
              </a:rPr>
              <a:t>)</a:t>
            </a:r>
            <a:r>
              <a:rPr lang="en-US" altLang="zh-CN" sz="2400" dirty="0">
                <a:latin typeface="+mj-lt"/>
                <a:ea typeface="黑体" pitchFamily="2" charset="-122"/>
                <a:sym typeface="Wingdings" pitchFamily="2" charset="2"/>
              </a:rPr>
              <a:t>:(</a:t>
            </a:r>
            <a:r>
              <a:rPr lang="en-US" altLang="zh-CN" sz="2400" dirty="0" err="1">
                <a:latin typeface="+mj-lt"/>
                <a:ea typeface="黑体" pitchFamily="2" charset="-122"/>
                <a:sym typeface="Wingdings" pitchFamily="2" charset="2"/>
              </a:rPr>
              <a:t>u,v</a:t>
            </a:r>
            <a:r>
              <a:rPr lang="en-US" altLang="zh-CN" sz="2400" dirty="0">
                <a:latin typeface="+mj-lt"/>
                <a:ea typeface="黑体" pitchFamily="2" charset="-122"/>
                <a:sym typeface="Wingdings" pitchFamily="2" charset="2"/>
              </a:rPr>
              <a:t>)is in p</a:t>
            </a:r>
            <a:r>
              <a:rPr lang="en-US" altLang="zh-CN" sz="2400" dirty="0">
                <a:latin typeface="+mj-lt"/>
                <a:ea typeface="黑体" pitchFamily="2" charset="-122"/>
              </a:rPr>
              <a:t>}</a:t>
            </a:r>
          </a:p>
          <a:p>
            <a:pPr marL="514350" indent="-514350">
              <a:buAutoNum type="arabicPlain" startAt="2"/>
            </a:pPr>
            <a:r>
              <a:rPr lang="en-US" altLang="zh-CN" sz="2400" dirty="0">
                <a:latin typeface="+mj-lt"/>
                <a:ea typeface="黑体" pitchFamily="2" charset="-122"/>
              </a:rPr>
              <a:t>for each (</a:t>
            </a:r>
            <a:r>
              <a:rPr lang="en-US" altLang="zh-CN" sz="2400" dirty="0" err="1">
                <a:latin typeface="+mj-lt"/>
                <a:ea typeface="黑体" pitchFamily="2" charset="-122"/>
              </a:rPr>
              <a:t>u,v</a:t>
            </a:r>
            <a:r>
              <a:rPr lang="en-US" altLang="zh-CN" sz="2400" dirty="0">
                <a:latin typeface="+mj-lt"/>
                <a:ea typeface="黑体" pitchFamily="2" charset="-122"/>
              </a:rPr>
              <a:t>) in p</a:t>
            </a:r>
          </a:p>
          <a:p>
            <a:pPr marL="514350" indent="-514350">
              <a:buAutoNum type="arabicPlain" startAt="2"/>
            </a:pPr>
            <a:r>
              <a:rPr lang="en-US" altLang="zh-CN" sz="2400" dirty="0">
                <a:latin typeface="+mj-lt"/>
                <a:ea typeface="黑体" pitchFamily="2" charset="-122"/>
              </a:rPr>
              <a:t>    do f[</a:t>
            </a:r>
            <a:r>
              <a:rPr lang="en-US" altLang="zh-CN" sz="2400" dirty="0" err="1">
                <a:latin typeface="+mj-lt"/>
                <a:ea typeface="黑体" pitchFamily="2" charset="-122"/>
              </a:rPr>
              <a:t>u,v</a:t>
            </a:r>
            <a:r>
              <a:rPr lang="en-US" altLang="zh-CN" sz="2400" dirty="0">
                <a:latin typeface="+mj-lt"/>
                <a:ea typeface="黑体" pitchFamily="2" charset="-122"/>
              </a:rPr>
              <a:t>]←f[</a:t>
            </a:r>
            <a:r>
              <a:rPr lang="en-US" altLang="zh-CN" sz="2400" dirty="0" err="1">
                <a:latin typeface="+mj-lt"/>
                <a:ea typeface="黑体" pitchFamily="2" charset="-122"/>
              </a:rPr>
              <a:t>u,v</a:t>
            </a:r>
            <a:r>
              <a:rPr lang="en-US" altLang="zh-CN" sz="2400" dirty="0">
                <a:latin typeface="+mj-lt"/>
                <a:ea typeface="黑体" pitchFamily="2" charset="-122"/>
              </a:rPr>
              <a:t>]+</a:t>
            </a:r>
            <a:r>
              <a:rPr lang="en-US" altLang="zh-CN" sz="2400" dirty="0" err="1">
                <a:latin typeface="+mj-lt"/>
                <a:ea typeface="黑体" pitchFamily="2" charset="-122"/>
              </a:rPr>
              <a:t>c</a:t>
            </a:r>
            <a:r>
              <a:rPr lang="en-US" altLang="zh-CN" sz="2400" baseline="-25000" dirty="0" err="1">
                <a:latin typeface="+mj-lt"/>
                <a:ea typeface="黑体" pitchFamily="2" charset="-122"/>
              </a:rPr>
              <a:t>f</a:t>
            </a:r>
            <a:r>
              <a:rPr lang="en-US" altLang="zh-CN" sz="2400" dirty="0">
                <a:latin typeface="+mj-lt"/>
                <a:ea typeface="黑体" pitchFamily="2" charset="-122"/>
              </a:rPr>
              <a:t>(p)</a:t>
            </a:r>
          </a:p>
          <a:p>
            <a:pPr marL="514350" indent="-514350">
              <a:buAutoNum type="arabicPlain" startAt="2"/>
            </a:pPr>
            <a:r>
              <a:rPr lang="en-US" altLang="zh-CN" sz="2400" dirty="0">
                <a:latin typeface="+mj-lt"/>
                <a:ea typeface="黑体" pitchFamily="2" charset="-122"/>
              </a:rPr>
              <a:t>       f[</a:t>
            </a:r>
            <a:r>
              <a:rPr lang="en-US" altLang="zh-CN" sz="2400" dirty="0" err="1">
                <a:latin typeface="+mj-lt"/>
                <a:ea typeface="黑体" pitchFamily="2" charset="-122"/>
              </a:rPr>
              <a:t>v,u</a:t>
            </a:r>
            <a:r>
              <a:rPr lang="en-US" altLang="zh-CN" sz="2400" dirty="0">
                <a:latin typeface="+mj-lt"/>
                <a:ea typeface="黑体" pitchFamily="2" charset="-122"/>
              </a:rPr>
              <a:t>]← -f[</a:t>
            </a:r>
            <a:r>
              <a:rPr lang="en-US" altLang="zh-CN" sz="2400" dirty="0" err="1">
                <a:latin typeface="+mj-lt"/>
                <a:ea typeface="黑体" pitchFamily="2" charset="-122"/>
              </a:rPr>
              <a:t>u,v</a:t>
            </a:r>
            <a:r>
              <a:rPr lang="en-US" altLang="zh-CN" sz="2400" dirty="0">
                <a:latin typeface="+mj-lt"/>
                <a:ea typeface="黑体" pitchFamily="2" charset="-122"/>
              </a:rPr>
              <a:t>]   </a:t>
            </a:r>
          </a:p>
        </p:txBody>
      </p:sp>
    </p:spTree>
    <p:extLst>
      <p:ext uri="{BB962C8B-B14F-4D97-AF65-F5344CB8AC3E}">
        <p14:creationId xmlns:p14="http://schemas.microsoft.com/office/powerpoint/2010/main" val="262081625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基本的</a:t>
            </a:r>
            <a:r>
              <a:rPr lang="en-US" altLang="zh-CN" sz="3600" b="1" dirty="0">
                <a:solidFill>
                  <a:srgbClr val="0000CC"/>
                </a:solidFill>
              </a:rPr>
              <a:t>Ford-Fulkerson</a:t>
            </a:r>
            <a:r>
              <a:rPr lang="zh-CN" altLang="en-US" sz="3600" b="1" dirty="0">
                <a:solidFill>
                  <a:srgbClr val="0000CC"/>
                </a:solidFill>
              </a:rPr>
              <a:t>算法分析</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基本的</a:t>
            </a:r>
            <a:r>
              <a:rPr lang="en-US" altLang="zh-CN" sz="2400" dirty="0">
                <a:latin typeface="+mj-lt"/>
                <a:ea typeface="黑体" pitchFamily="2" charset="-122"/>
              </a:rPr>
              <a:t>Ford-Fulkerson</a:t>
            </a:r>
            <a:r>
              <a:rPr lang="zh-CN" altLang="en-US" sz="2400" dirty="0">
                <a:latin typeface="+mj-lt"/>
                <a:ea typeface="黑体" pitchFamily="2" charset="-122"/>
              </a:rPr>
              <a:t>算法的时间最坏时间复杂度为：</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pPr marL="0" indent="0">
              <a:buNone/>
            </a:pPr>
            <a:r>
              <a:rPr lang="zh-CN" altLang="en-US" sz="2400" dirty="0">
                <a:latin typeface="+mj-lt"/>
                <a:ea typeface="黑体" pitchFamily="2" charset="-122"/>
              </a:rPr>
              <a:t>    其中</a:t>
            </a:r>
            <a:r>
              <a:rPr lang="en-US" altLang="zh-CN" sz="2400" i="1" dirty="0">
                <a:latin typeface="+mj-lt"/>
                <a:ea typeface="黑体" pitchFamily="2" charset="-122"/>
              </a:rPr>
              <a:t>f</a:t>
            </a:r>
            <a:r>
              <a:rPr lang="en-US" altLang="zh-CN" sz="2400" i="1" baseline="30000" dirty="0">
                <a:latin typeface="+mj-lt"/>
                <a:ea typeface="黑体" pitchFamily="2" charset="-122"/>
              </a:rPr>
              <a:t>*</a:t>
            </a:r>
            <a:r>
              <a:rPr lang="zh-CN" altLang="en-US" sz="2400" dirty="0">
                <a:latin typeface="+mj-lt"/>
                <a:ea typeface="黑体" pitchFamily="2" charset="-122"/>
              </a:rPr>
              <a:t>是最大流。</a:t>
            </a:r>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0013253"/>
              </p:ext>
            </p:extLst>
          </p:nvPr>
        </p:nvGraphicFramePr>
        <p:xfrm>
          <a:off x="2895600" y="1905000"/>
          <a:ext cx="1752600" cy="595610"/>
        </p:xfrm>
        <a:graphic>
          <a:graphicData uri="http://schemas.openxmlformats.org/presentationml/2006/ole">
            <mc:AlternateContent xmlns:mc="http://schemas.openxmlformats.org/markup-compatibility/2006">
              <mc:Choice xmlns:v="urn:schemas-microsoft-com:vml" Requires="v">
                <p:oleObj name="Equation" r:id="rId3" imgW="672808" imgH="228501" progId="Equation.DSMT4">
                  <p:embed/>
                </p:oleObj>
              </mc:Choice>
              <mc:Fallback>
                <p:oleObj name="Equation" r:id="rId3" imgW="672808" imgH="228501" progId="Equation.DSMT4">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905000"/>
                        <a:ext cx="1752600" cy="5956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341350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Edmonds-Karp</a:t>
            </a:r>
            <a:r>
              <a:rPr lang="zh-CN" altLang="en-US" sz="3600" b="1" dirty="0">
                <a:solidFill>
                  <a:srgbClr val="0000CC"/>
                </a:solidFill>
              </a:rPr>
              <a:t>算法</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如果在基本</a:t>
            </a:r>
            <a:r>
              <a:rPr lang="en-US" altLang="zh-CN" sz="2400" dirty="0">
                <a:latin typeface="+mj-lt"/>
                <a:ea typeface="黑体" pitchFamily="2" charset="-122"/>
              </a:rPr>
              <a:t>Ford-Fulkerson</a:t>
            </a:r>
            <a:r>
              <a:rPr lang="zh-CN" altLang="en-US" sz="2400" dirty="0">
                <a:latin typeface="+mj-lt"/>
                <a:ea typeface="黑体" pitchFamily="2" charset="-122"/>
              </a:rPr>
              <a:t>算法中第</a:t>
            </a:r>
            <a:r>
              <a:rPr lang="en-US" altLang="zh-CN" sz="2400" dirty="0">
                <a:latin typeface="+mj-lt"/>
                <a:ea typeface="黑体" pitchFamily="2" charset="-122"/>
              </a:rPr>
              <a:t>4</a:t>
            </a:r>
            <a:r>
              <a:rPr lang="zh-CN" altLang="en-US" sz="2400" dirty="0">
                <a:latin typeface="+mj-lt"/>
                <a:ea typeface="黑体" pitchFamily="2" charset="-122"/>
              </a:rPr>
              <a:t>行中用广度优先搜索来实现对增广路径</a:t>
            </a:r>
            <a:r>
              <a:rPr lang="en-US" altLang="zh-CN" sz="2400" i="1" dirty="0">
                <a:latin typeface="+mj-lt"/>
                <a:ea typeface="黑体" pitchFamily="2" charset="-122"/>
              </a:rPr>
              <a:t>p</a:t>
            </a:r>
            <a:r>
              <a:rPr lang="zh-CN" altLang="en-US" sz="2400" dirty="0">
                <a:latin typeface="+mj-lt"/>
                <a:ea typeface="黑体" pitchFamily="2" charset="-122"/>
              </a:rPr>
              <a:t>的计算，即如果增广路径是残留网络中从</a:t>
            </a:r>
            <a:r>
              <a:rPr lang="en-US" altLang="zh-CN" sz="2400" i="1" dirty="0">
                <a:latin typeface="+mj-lt"/>
                <a:ea typeface="黑体" pitchFamily="2" charset="-122"/>
              </a:rPr>
              <a:t>s</a:t>
            </a:r>
            <a:r>
              <a:rPr lang="zh-CN" altLang="en-US" sz="2400" dirty="0">
                <a:latin typeface="+mj-lt"/>
                <a:ea typeface="黑体" pitchFamily="2" charset="-122"/>
              </a:rPr>
              <a:t>到</a:t>
            </a:r>
            <a:r>
              <a:rPr lang="en-US" altLang="zh-CN" sz="2400" i="1" dirty="0">
                <a:latin typeface="+mj-lt"/>
                <a:ea typeface="黑体" pitchFamily="2" charset="-122"/>
              </a:rPr>
              <a:t>t</a:t>
            </a:r>
            <a:r>
              <a:rPr lang="zh-CN" altLang="en-US" sz="2400" dirty="0">
                <a:latin typeface="+mj-lt"/>
                <a:ea typeface="黑体" pitchFamily="2" charset="-122"/>
              </a:rPr>
              <a:t>的最短路径（其中每条边为单位距离，或权），则能够改进</a:t>
            </a:r>
            <a:r>
              <a:rPr lang="en-US" altLang="zh-CN" sz="2400" dirty="0">
                <a:latin typeface="+mj-lt"/>
                <a:ea typeface="黑体" pitchFamily="2" charset="-122"/>
              </a:rPr>
              <a:t>Ford-Fulkerson</a:t>
            </a:r>
            <a:r>
              <a:rPr lang="zh-CN" altLang="en-US" sz="2400" dirty="0">
                <a:latin typeface="+mj-lt"/>
                <a:ea typeface="黑体" pitchFamily="2" charset="-122"/>
              </a:rPr>
              <a:t>的界。即</a:t>
            </a:r>
            <a:r>
              <a:rPr lang="en-US" altLang="zh-CN" sz="2400" dirty="0">
                <a:latin typeface="+mj-lt"/>
                <a:ea typeface="黑体" pitchFamily="2" charset="-122"/>
              </a:rPr>
              <a:t>Edmonds-Karp</a:t>
            </a:r>
            <a:r>
              <a:rPr lang="zh-CN" altLang="en-US" sz="2400" dirty="0">
                <a:latin typeface="+mj-lt"/>
                <a:ea typeface="黑体" pitchFamily="2" charset="-122"/>
              </a:rPr>
              <a:t>算法。其运行时间为             </a:t>
            </a:r>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205926306"/>
              </p:ext>
            </p:extLst>
          </p:nvPr>
        </p:nvGraphicFramePr>
        <p:xfrm>
          <a:off x="2209800" y="2853068"/>
          <a:ext cx="2103437" cy="503920"/>
        </p:xfrm>
        <a:graphic>
          <a:graphicData uri="http://schemas.openxmlformats.org/presentationml/2006/ole">
            <mc:AlternateContent xmlns:mc="http://schemas.openxmlformats.org/markup-compatibility/2006">
              <mc:Choice xmlns:v="urn:schemas-microsoft-com:vml" Requires="v">
                <p:oleObj name="公式" r:id="rId3" imgW="952087" imgH="228501" progId="">
                  <p:embed/>
                </p:oleObj>
              </mc:Choice>
              <mc:Fallback>
                <p:oleObj name="公式" r:id="rId3" imgW="952087" imgH="228501" progId="">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853068"/>
                        <a:ext cx="2103437" cy="503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637082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Edmonds-Karp</a:t>
            </a:r>
            <a:r>
              <a:rPr lang="zh-CN" altLang="en-US" sz="3600" b="1" dirty="0">
                <a:solidFill>
                  <a:srgbClr val="0000CC"/>
                </a:solidFill>
              </a:rPr>
              <a:t>算法</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solidFill>
                  <a:srgbClr val="C00000"/>
                </a:solidFill>
                <a:latin typeface="+mj-lt"/>
                <a:ea typeface="黑体" pitchFamily="2" charset="-122"/>
              </a:rPr>
              <a:t>引理</a:t>
            </a:r>
            <a:r>
              <a:rPr lang="en-US" altLang="zh-CN" sz="2400" dirty="0">
                <a:solidFill>
                  <a:srgbClr val="C00000"/>
                </a:solidFill>
                <a:latin typeface="+mj-lt"/>
                <a:ea typeface="黑体" pitchFamily="2" charset="-122"/>
              </a:rPr>
              <a:t>8.</a:t>
            </a:r>
            <a:r>
              <a:rPr lang="en-US" altLang="zh-CN" sz="2400" dirty="0">
                <a:solidFill>
                  <a:srgbClr val="FF0000"/>
                </a:solidFill>
                <a:latin typeface="+mj-lt"/>
                <a:ea typeface="黑体" pitchFamily="2" charset="-122"/>
              </a:rPr>
              <a:t> </a:t>
            </a:r>
            <a:r>
              <a:rPr lang="zh-CN" altLang="en-US" sz="2400" dirty="0">
                <a:latin typeface="+mj-lt"/>
                <a:ea typeface="黑体" pitchFamily="2" charset="-122"/>
              </a:rPr>
              <a:t>如果对具有源点</a:t>
            </a:r>
            <a:r>
              <a:rPr lang="en-US" altLang="zh-CN" sz="2400" i="1" dirty="0">
                <a:latin typeface="+mj-lt"/>
                <a:ea typeface="黑体" pitchFamily="2" charset="-122"/>
              </a:rPr>
              <a:t>s</a:t>
            </a:r>
            <a:r>
              <a:rPr lang="zh-CN" altLang="en-US" sz="2400" dirty="0">
                <a:latin typeface="+mj-lt"/>
                <a:ea typeface="黑体" pitchFamily="2" charset="-122"/>
              </a:rPr>
              <a:t>和汇点</a:t>
            </a:r>
            <a:r>
              <a:rPr lang="en-US" altLang="zh-CN" sz="2400" i="1" dirty="0">
                <a:latin typeface="+mj-lt"/>
                <a:ea typeface="黑体" pitchFamily="2" charset="-122"/>
              </a:rPr>
              <a:t>t</a:t>
            </a:r>
            <a:r>
              <a:rPr lang="zh-CN" altLang="en-US" sz="2400" dirty="0">
                <a:latin typeface="+mj-lt"/>
                <a:ea typeface="黑体" pitchFamily="2" charset="-122"/>
              </a:rPr>
              <a:t>的流网络</a:t>
            </a:r>
            <a:r>
              <a:rPr lang="en-US" altLang="zh-CN" sz="2400" dirty="0">
                <a:latin typeface="+mj-lt"/>
                <a:ea typeface="黑体" pitchFamily="2" charset="-122"/>
              </a:rPr>
              <a:t>G=(V,E)</a:t>
            </a:r>
            <a:r>
              <a:rPr lang="zh-CN" altLang="en-US" sz="2400" dirty="0">
                <a:latin typeface="+mj-lt"/>
                <a:ea typeface="黑体" pitchFamily="2" charset="-122"/>
              </a:rPr>
              <a:t>运行</a:t>
            </a:r>
            <a:r>
              <a:rPr lang="en-US" altLang="zh-CN" sz="2400" dirty="0">
                <a:latin typeface="+mj-lt"/>
                <a:ea typeface="黑体" pitchFamily="2" charset="-122"/>
              </a:rPr>
              <a:t>Edmonds-Karp</a:t>
            </a:r>
            <a:r>
              <a:rPr lang="zh-CN" altLang="en-US" sz="2400" dirty="0">
                <a:latin typeface="+mj-lt"/>
                <a:ea typeface="黑体" pitchFamily="2" charset="-122"/>
              </a:rPr>
              <a:t>算法，则对所有顶点</a:t>
            </a:r>
            <a:r>
              <a:rPr lang="en-US" altLang="zh-CN" sz="2400" i="1" dirty="0" err="1">
                <a:latin typeface="+mj-lt"/>
                <a:ea typeface="黑体" pitchFamily="2" charset="-122"/>
              </a:rPr>
              <a:t>v∈V</a:t>
            </a:r>
            <a:r>
              <a:rPr lang="en-US" altLang="zh-CN" sz="2400" i="1" dirty="0">
                <a:latin typeface="+mj-lt"/>
                <a:ea typeface="黑体" pitchFamily="2" charset="-122"/>
              </a:rPr>
              <a:t>-{</a:t>
            </a:r>
            <a:r>
              <a:rPr lang="en-US" altLang="zh-CN" sz="2400" i="1" dirty="0" err="1">
                <a:latin typeface="+mj-lt"/>
                <a:ea typeface="黑体" pitchFamily="2" charset="-122"/>
              </a:rPr>
              <a:t>s,t</a:t>
            </a:r>
            <a:r>
              <a:rPr lang="en-US" altLang="zh-CN" sz="2400" i="1" dirty="0">
                <a:latin typeface="+mj-lt"/>
                <a:ea typeface="黑体" pitchFamily="2" charset="-122"/>
              </a:rPr>
              <a:t>}</a:t>
            </a:r>
            <a:r>
              <a:rPr lang="en-US" altLang="zh-CN" sz="2400" dirty="0">
                <a:latin typeface="+mj-lt"/>
                <a:ea typeface="黑体" pitchFamily="2" charset="-122"/>
              </a:rPr>
              <a:t>,</a:t>
            </a:r>
            <a:r>
              <a:rPr lang="zh-CN" altLang="en-US" sz="2400" dirty="0">
                <a:latin typeface="+mj-lt"/>
                <a:ea typeface="黑体" pitchFamily="2" charset="-122"/>
              </a:rPr>
              <a:t>残留网络</a:t>
            </a:r>
            <a:r>
              <a:rPr lang="en-US" altLang="zh-CN" sz="2400" i="1" dirty="0" err="1">
                <a:latin typeface="+mj-lt"/>
                <a:ea typeface="黑体" pitchFamily="2" charset="-122"/>
              </a:rPr>
              <a:t>G</a:t>
            </a:r>
            <a:r>
              <a:rPr lang="en-US" altLang="zh-CN" sz="2400" i="1" baseline="-25000" dirty="0" err="1">
                <a:latin typeface="+mj-lt"/>
                <a:ea typeface="黑体" pitchFamily="2" charset="-122"/>
              </a:rPr>
              <a:t>f</a:t>
            </a:r>
            <a:r>
              <a:rPr lang="zh-CN" altLang="en-US" sz="2400" dirty="0">
                <a:latin typeface="+mj-lt"/>
                <a:ea typeface="黑体" pitchFamily="2" charset="-122"/>
              </a:rPr>
              <a:t>中的最短路径长度</a:t>
            </a:r>
            <a:r>
              <a:rPr lang="el-GR" altLang="zh-CN" sz="2400" i="1" dirty="0">
                <a:latin typeface="+mj-lt"/>
                <a:ea typeface="黑体" pitchFamily="2" charset="-122"/>
              </a:rPr>
              <a:t>δ</a:t>
            </a:r>
            <a:r>
              <a:rPr lang="en-US" altLang="zh-CN" sz="2400" i="1" baseline="-25000" dirty="0">
                <a:latin typeface="+mj-lt"/>
                <a:ea typeface="黑体" pitchFamily="2" charset="-122"/>
              </a:rPr>
              <a:t>f</a:t>
            </a:r>
            <a:r>
              <a:rPr lang="en-US" altLang="zh-CN" sz="2400" i="1" dirty="0">
                <a:latin typeface="+mj-lt"/>
                <a:ea typeface="黑体" pitchFamily="2" charset="-122"/>
              </a:rPr>
              <a:t>(</a:t>
            </a:r>
            <a:r>
              <a:rPr lang="en-US" altLang="zh-CN" sz="2400" i="1" dirty="0" err="1">
                <a:latin typeface="+mj-lt"/>
                <a:ea typeface="黑体" pitchFamily="2" charset="-122"/>
              </a:rPr>
              <a:t>u,v</a:t>
            </a:r>
            <a:r>
              <a:rPr lang="en-US" altLang="zh-CN" sz="2400" i="1" dirty="0">
                <a:latin typeface="+mj-lt"/>
                <a:ea typeface="黑体" pitchFamily="2" charset="-122"/>
              </a:rPr>
              <a:t>)</a:t>
            </a:r>
            <a:r>
              <a:rPr lang="zh-CN" altLang="en-US" sz="2400" dirty="0">
                <a:latin typeface="+mj-lt"/>
                <a:ea typeface="黑体" pitchFamily="2" charset="-122"/>
              </a:rPr>
              <a:t>随着每个流的增加而单调递增。</a:t>
            </a:r>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solidFill>
                  <a:srgbClr val="C00000"/>
                </a:solidFill>
                <a:latin typeface="+mj-lt"/>
                <a:ea typeface="黑体" pitchFamily="2" charset="-122"/>
              </a:rPr>
              <a:t>定理</a:t>
            </a:r>
            <a:r>
              <a:rPr lang="en-US" altLang="zh-CN" sz="2400" dirty="0">
                <a:solidFill>
                  <a:srgbClr val="C00000"/>
                </a:solidFill>
                <a:latin typeface="+mj-lt"/>
                <a:ea typeface="黑体" pitchFamily="2" charset="-122"/>
              </a:rPr>
              <a:t>9.</a:t>
            </a:r>
            <a:r>
              <a:rPr lang="en-US" altLang="zh-CN" sz="2400" b="1" dirty="0">
                <a:solidFill>
                  <a:schemeClr val="tx2"/>
                </a:solidFill>
                <a:latin typeface="+mj-lt"/>
                <a:ea typeface="黑体" pitchFamily="2" charset="-122"/>
              </a:rPr>
              <a:t> </a:t>
            </a:r>
            <a:r>
              <a:rPr lang="zh-CN" altLang="en-US" sz="2400" dirty="0">
                <a:latin typeface="+mj-lt"/>
                <a:ea typeface="黑体" pitchFamily="2" charset="-122"/>
              </a:rPr>
              <a:t>如果对具有源点</a:t>
            </a:r>
            <a:r>
              <a:rPr lang="en-US" altLang="zh-CN" sz="2400" i="1" dirty="0">
                <a:latin typeface="+mj-lt"/>
                <a:ea typeface="黑体" pitchFamily="2" charset="-122"/>
              </a:rPr>
              <a:t>s</a:t>
            </a:r>
            <a:r>
              <a:rPr lang="zh-CN" altLang="en-US" sz="2400" dirty="0">
                <a:latin typeface="+mj-lt"/>
                <a:ea typeface="黑体" pitchFamily="2" charset="-122"/>
              </a:rPr>
              <a:t>和汇点</a:t>
            </a:r>
            <a:r>
              <a:rPr lang="en-US" altLang="zh-CN" sz="2400" i="1" dirty="0">
                <a:latin typeface="+mj-lt"/>
                <a:ea typeface="黑体" pitchFamily="2" charset="-122"/>
              </a:rPr>
              <a:t>t</a:t>
            </a:r>
            <a:r>
              <a:rPr lang="zh-CN" altLang="en-US" sz="2400" dirty="0">
                <a:latin typeface="+mj-lt"/>
                <a:ea typeface="黑体" pitchFamily="2" charset="-122"/>
              </a:rPr>
              <a:t>的一个流网络</a:t>
            </a:r>
            <a:r>
              <a:rPr lang="en-US" altLang="zh-CN" sz="2400" i="1" dirty="0">
                <a:latin typeface="+mj-lt"/>
                <a:ea typeface="黑体" pitchFamily="2" charset="-122"/>
              </a:rPr>
              <a:t>G=(V,E)</a:t>
            </a:r>
            <a:r>
              <a:rPr lang="zh-CN" altLang="en-US" sz="2400" dirty="0">
                <a:latin typeface="+mj-lt"/>
                <a:ea typeface="黑体" pitchFamily="2" charset="-122"/>
              </a:rPr>
              <a:t>运行</a:t>
            </a:r>
            <a:r>
              <a:rPr lang="en-US" altLang="zh-CN" sz="2400" dirty="0">
                <a:latin typeface="+mj-lt"/>
                <a:ea typeface="黑体" pitchFamily="2" charset="-122"/>
              </a:rPr>
              <a:t>Edmonds-Karp</a:t>
            </a:r>
            <a:r>
              <a:rPr lang="zh-CN" altLang="en-US" sz="2400" dirty="0">
                <a:latin typeface="+mj-lt"/>
                <a:ea typeface="黑体" pitchFamily="2" charset="-122"/>
              </a:rPr>
              <a:t>算法，对流进行增加的全部次数为</a:t>
            </a:r>
            <a:r>
              <a:rPr lang="az-Cyrl-AZ" altLang="zh-CN" sz="2400" i="1" dirty="0">
                <a:latin typeface="+mj-lt"/>
                <a:ea typeface="黑体" pitchFamily="2" charset="-122"/>
              </a:rPr>
              <a:t>О</a:t>
            </a:r>
            <a:r>
              <a:rPr lang="en-US" altLang="zh-CN" sz="2400" dirty="0">
                <a:latin typeface="+mj-lt"/>
                <a:ea typeface="黑体" pitchFamily="2" charset="-122"/>
              </a:rPr>
              <a:t>(</a:t>
            </a:r>
            <a:r>
              <a:rPr lang="en-US" altLang="zh-CN" sz="2400" i="1" dirty="0">
                <a:latin typeface="+mj-lt"/>
                <a:ea typeface="黑体" pitchFamily="2" charset="-122"/>
              </a:rPr>
              <a:t>VE</a:t>
            </a:r>
            <a:r>
              <a:rPr lang="en-US" altLang="zh-CN" sz="2400" dirty="0">
                <a:latin typeface="+mj-lt"/>
                <a:ea typeface="黑体" pitchFamily="2" charset="-122"/>
              </a:rPr>
              <a:t>)</a:t>
            </a:r>
            <a:r>
              <a:rPr lang="zh-CN" altLang="en-US" sz="2400" dirty="0">
                <a:latin typeface="+mj-lt"/>
                <a:ea typeface="黑体" pitchFamily="2" charset="-122"/>
              </a:rPr>
              <a:t>。由于在用广度优先搜索寻找增广路径时，</a:t>
            </a:r>
            <a:r>
              <a:rPr lang="en-US" altLang="zh-CN" sz="2400" dirty="0">
                <a:latin typeface="+mj-lt"/>
                <a:ea typeface="黑体" pitchFamily="2" charset="-122"/>
              </a:rPr>
              <a:t>Ford-Fulkerson</a:t>
            </a:r>
            <a:r>
              <a:rPr lang="zh-CN" altLang="en-US" sz="2400" dirty="0">
                <a:latin typeface="+mj-lt"/>
                <a:ea typeface="黑体" pitchFamily="2" charset="-122"/>
              </a:rPr>
              <a:t>中的每次迭代都可以在</a:t>
            </a:r>
            <a:r>
              <a:rPr lang="az-Cyrl-AZ" altLang="zh-CN" sz="2400" i="1" dirty="0">
                <a:latin typeface="+mj-lt"/>
                <a:ea typeface="黑体" pitchFamily="2" charset="-122"/>
              </a:rPr>
              <a:t>О</a:t>
            </a:r>
            <a:r>
              <a:rPr lang="en-US" altLang="zh-CN" sz="2400" dirty="0">
                <a:latin typeface="+mj-lt"/>
                <a:ea typeface="黑体" pitchFamily="2" charset="-122"/>
              </a:rPr>
              <a:t>(</a:t>
            </a:r>
            <a:r>
              <a:rPr lang="en-US" altLang="zh-CN" sz="2400" i="1" dirty="0">
                <a:latin typeface="+mj-lt"/>
                <a:ea typeface="黑体" pitchFamily="2" charset="-122"/>
              </a:rPr>
              <a:t>E</a:t>
            </a:r>
            <a:r>
              <a:rPr lang="en-US" altLang="zh-CN" sz="2400" dirty="0">
                <a:latin typeface="+mj-lt"/>
                <a:ea typeface="黑体" pitchFamily="2" charset="-122"/>
              </a:rPr>
              <a:t>)</a:t>
            </a:r>
            <a:r>
              <a:rPr lang="zh-CN" altLang="en-US" sz="2400" dirty="0">
                <a:latin typeface="+mj-lt"/>
                <a:ea typeface="黑体" pitchFamily="2" charset="-122"/>
              </a:rPr>
              <a:t>时间内完成，所以</a:t>
            </a:r>
            <a:r>
              <a:rPr lang="en-US" altLang="zh-CN" sz="2400" dirty="0">
                <a:latin typeface="+mj-lt"/>
                <a:ea typeface="黑体" pitchFamily="2" charset="-122"/>
              </a:rPr>
              <a:t>Edmonds-Karp</a:t>
            </a:r>
            <a:r>
              <a:rPr lang="zh-CN" altLang="en-US" sz="2400" dirty="0">
                <a:latin typeface="+mj-lt"/>
                <a:ea typeface="黑体" pitchFamily="2" charset="-122"/>
              </a:rPr>
              <a:t>算法的全部运行时间为</a:t>
            </a:r>
            <a:r>
              <a:rPr lang="az-Cyrl-AZ" altLang="zh-CN" sz="2400" i="1" dirty="0">
                <a:latin typeface="+mj-lt"/>
                <a:ea typeface="黑体" pitchFamily="2" charset="-122"/>
              </a:rPr>
              <a:t>О</a:t>
            </a:r>
            <a:r>
              <a:rPr lang="en-US" altLang="zh-CN" sz="2400" dirty="0">
                <a:latin typeface="+mj-lt"/>
                <a:ea typeface="黑体" pitchFamily="2" charset="-122"/>
              </a:rPr>
              <a:t>(</a:t>
            </a:r>
            <a:r>
              <a:rPr lang="en-US" altLang="zh-CN" sz="2400" i="1" dirty="0">
                <a:latin typeface="+mj-lt"/>
                <a:ea typeface="黑体" pitchFamily="2" charset="-122"/>
              </a:rPr>
              <a:t>VE</a:t>
            </a:r>
            <a:r>
              <a:rPr lang="en-US" altLang="zh-CN" sz="2400" i="1" baseline="30000" dirty="0">
                <a:latin typeface="+mj-lt"/>
                <a:ea typeface="黑体" pitchFamily="2" charset="-122"/>
              </a:rPr>
              <a:t>2</a:t>
            </a:r>
            <a:r>
              <a:rPr lang="en-US" altLang="zh-CN" sz="2400" dirty="0">
                <a:latin typeface="+mj-lt"/>
                <a:ea typeface="黑体" pitchFamily="2" charset="-122"/>
              </a:rPr>
              <a:t>)</a:t>
            </a:r>
            <a:r>
              <a:rPr lang="zh-CN" altLang="en-US" sz="2400" dirty="0">
                <a:latin typeface="+mj-lt"/>
                <a:ea typeface="黑体" pitchFamily="2" charset="-122"/>
              </a:rPr>
              <a:t>。</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Tree>
    <p:extLst>
      <p:ext uri="{BB962C8B-B14F-4D97-AF65-F5344CB8AC3E}">
        <p14:creationId xmlns:p14="http://schemas.microsoft.com/office/powerpoint/2010/main" val="48311417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can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0"/>
            <a:ext cx="6781800" cy="693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3" name="Group 2"/>
          <p:cNvGrpSpPr>
            <a:grpSpLocks/>
          </p:cNvGrpSpPr>
          <p:nvPr/>
        </p:nvGrpSpPr>
        <p:grpSpPr bwMode="auto">
          <a:xfrm>
            <a:off x="4518025" y="1676400"/>
            <a:ext cx="4625975" cy="2855913"/>
            <a:chOff x="874" y="1033"/>
            <a:chExt cx="3648" cy="2496"/>
          </a:xfrm>
        </p:grpSpPr>
        <p:sp>
          <p:nvSpPr>
            <p:cNvPr id="5" name="Oval 3"/>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6" name="Oval 4"/>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7" name="Oval 5"/>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Oval 6"/>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9" name="Oval 7"/>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0" name="Oval 8"/>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1" name="Line 9"/>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0"/>
            <p:cNvSpPr>
              <a:spLocks noChangeShapeType="1"/>
            </p:cNvSpPr>
            <p:nvPr/>
          </p:nvSpPr>
          <p:spPr bwMode="auto">
            <a:xfrm>
              <a:off x="1210" y="2281"/>
              <a:ext cx="672" cy="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1"/>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2"/>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3"/>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p:cNvSpPr>
              <a:spLocks noChangeShapeType="1"/>
            </p:cNvSpPr>
            <p:nvPr/>
          </p:nvSpPr>
          <p:spPr bwMode="auto">
            <a:xfrm>
              <a:off x="3370" y="2281"/>
              <a:ext cx="816" cy="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5"/>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Text Box 16"/>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1</a:t>
              </a:r>
            </a:p>
          </p:txBody>
        </p:sp>
        <p:sp>
          <p:nvSpPr>
            <p:cNvPr id="19" name="Text Box 17"/>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20" name="Text Box 18"/>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3</a:t>
              </a:r>
            </a:p>
          </p:txBody>
        </p:sp>
        <p:sp>
          <p:nvSpPr>
            <p:cNvPr id="21" name="Text Box 19"/>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22" name="Text Box 20"/>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23" name="Text Box 21"/>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24" name="Text Box 22"/>
            <p:cNvSpPr txBox="1">
              <a:spLocks noChangeArrowheads="1"/>
            </p:cNvSpPr>
            <p:nvPr/>
          </p:nvSpPr>
          <p:spPr bwMode="auto">
            <a:xfrm>
              <a:off x="1450"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0/2</a:t>
              </a:r>
            </a:p>
          </p:txBody>
        </p:sp>
        <p:sp>
          <p:nvSpPr>
            <p:cNvPr id="25" name="Text Box 23"/>
            <p:cNvSpPr txBox="1">
              <a:spLocks noChangeArrowheads="1"/>
            </p:cNvSpPr>
            <p:nvPr/>
          </p:nvSpPr>
          <p:spPr bwMode="auto">
            <a:xfrm>
              <a:off x="3610"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0/2</a:t>
              </a:r>
            </a:p>
          </p:txBody>
        </p:sp>
        <p:sp>
          <p:nvSpPr>
            <p:cNvPr id="26" name="Text Box 24"/>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27" name="Text Box 25"/>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28" name="Text Box 26"/>
            <p:cNvSpPr txBox="1">
              <a:spLocks noChangeArrowheads="1"/>
            </p:cNvSpPr>
            <p:nvPr/>
          </p:nvSpPr>
          <p:spPr bwMode="auto">
            <a:xfrm>
              <a:off x="2449"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0/5</a:t>
              </a:r>
            </a:p>
          </p:txBody>
        </p:sp>
        <p:sp>
          <p:nvSpPr>
            <p:cNvPr id="29" name="Text Box 27"/>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30" name="Text Box 28"/>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
        <p:nvSpPr>
          <p:cNvPr id="31" name="矩形 30"/>
          <p:cNvSpPr/>
          <p:nvPr/>
        </p:nvSpPr>
        <p:spPr bwMode="auto">
          <a:xfrm>
            <a:off x="304800" y="1905000"/>
            <a:ext cx="3886200" cy="1295400"/>
          </a:xfrm>
          <a:prstGeom prst="rect">
            <a:avLst/>
          </a:prstGeom>
          <a:noFill/>
          <a:ln w="31750"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2" name="矩形 31"/>
          <p:cNvSpPr/>
          <p:nvPr/>
        </p:nvSpPr>
        <p:spPr bwMode="auto">
          <a:xfrm>
            <a:off x="304800" y="3200400"/>
            <a:ext cx="3886200" cy="1066800"/>
          </a:xfrm>
          <a:prstGeom prst="rect">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3" name="圆角矩形标注 32"/>
          <p:cNvSpPr/>
          <p:nvPr/>
        </p:nvSpPr>
        <p:spPr bwMode="auto">
          <a:xfrm>
            <a:off x="4343400" y="1524000"/>
            <a:ext cx="1219200" cy="457200"/>
          </a:xfrm>
          <a:prstGeom prst="wedgeRoundRectCallout">
            <a:avLst>
              <a:gd name="adj1" fmla="val -56477"/>
              <a:gd name="adj2" fmla="val 74381"/>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dirty="0"/>
              <a:t>前向边</a:t>
            </a: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34" name="圆角矩形标注 33"/>
          <p:cNvSpPr/>
          <p:nvPr/>
        </p:nvSpPr>
        <p:spPr bwMode="auto">
          <a:xfrm>
            <a:off x="4267200" y="4038600"/>
            <a:ext cx="1219200" cy="457200"/>
          </a:xfrm>
          <a:prstGeom prst="wedgeRoundRectCallout">
            <a:avLst>
              <a:gd name="adj1" fmla="val -52764"/>
              <a:gd name="adj2" fmla="val -76114"/>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dirty="0"/>
              <a:t>反向边</a:t>
            </a: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35" name="矩形 34"/>
          <p:cNvSpPr/>
          <p:nvPr/>
        </p:nvSpPr>
        <p:spPr bwMode="auto">
          <a:xfrm>
            <a:off x="304800" y="3200400"/>
            <a:ext cx="3886200" cy="1066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6" name="矩形 35"/>
          <p:cNvSpPr/>
          <p:nvPr/>
        </p:nvSpPr>
        <p:spPr bwMode="auto">
          <a:xfrm>
            <a:off x="1066800" y="5562600"/>
            <a:ext cx="3048000" cy="4572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458627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down)">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down)">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down)">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down)">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1" nodeType="clickEffect">
                                  <p:stCondLst>
                                    <p:cond delay="0"/>
                                  </p:stCondLst>
                                  <p:childTnLst>
                                    <p:animEffect transition="out" filter="blinds(horizontal)">
                                      <p:cBhvr>
                                        <p:cTn id="36" dur="500"/>
                                        <p:tgtEl>
                                          <p:spTgt spid="35"/>
                                        </p:tgtEl>
                                      </p:cBhvr>
                                    </p:animEffect>
                                    <p:set>
                                      <p:cBhvr>
                                        <p:cTn id="37" dur="1" fill="hold">
                                          <p:stCondLst>
                                            <p:cond delay="49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5" grpId="1" animBg="1"/>
      <p:bldP spid="36"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0"/>
            <a:ext cx="7772400" cy="1143000"/>
          </a:xfrm>
        </p:spPr>
        <p:txBody>
          <a:bodyPr/>
          <a:lstStyle/>
          <a:p>
            <a:r>
              <a:rPr lang="zh-CN" altLang="en-US" dirty="0"/>
              <a:t>练习：标注每次迭代的节点</a:t>
            </a:r>
          </a:p>
        </p:txBody>
      </p:sp>
      <p:pic>
        <p:nvPicPr>
          <p:cNvPr id="493570" name="Picture 2" descr="“maximum flow”的图片搜索结果"/>
          <p:cNvPicPr>
            <a:picLocks noChangeAspect="1" noChangeArrowheads="1"/>
          </p:cNvPicPr>
          <p:nvPr/>
        </p:nvPicPr>
        <p:blipFill>
          <a:blip r:embed="rId2" cstate="print"/>
          <a:srcRect/>
          <a:stretch>
            <a:fillRect/>
          </a:stretch>
        </p:blipFill>
        <p:spPr bwMode="auto">
          <a:xfrm>
            <a:off x="381000" y="1905000"/>
            <a:ext cx="8655594" cy="4419600"/>
          </a:xfrm>
          <a:prstGeom prst="rect">
            <a:avLst/>
          </a:prstGeom>
          <a:noFill/>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i="1" dirty="0">
                <a:solidFill>
                  <a:srgbClr val="C00000"/>
                </a:solidFill>
                <a:latin typeface="+mj-lt"/>
                <a:ea typeface="黑体" pitchFamily="2" charset="-122"/>
              </a:rPr>
              <a:t>最大二分匹配问题</a:t>
            </a:r>
            <a:r>
              <a:rPr lang="zh-CN" altLang="en-US" sz="2400" dirty="0">
                <a:latin typeface="+mj-lt"/>
                <a:ea typeface="黑体" pitchFamily="2" charset="-122"/>
              </a:rPr>
              <a:t>：给定一个无向图</a:t>
            </a:r>
            <a:r>
              <a:rPr lang="en-US" altLang="zh-CN" sz="2400" i="1" dirty="0">
                <a:latin typeface="+mj-lt"/>
                <a:ea typeface="黑体" pitchFamily="2" charset="-122"/>
              </a:rPr>
              <a:t>G=(V,E)</a:t>
            </a:r>
            <a:r>
              <a:rPr lang="zh-CN" altLang="en-US" sz="2400" dirty="0">
                <a:latin typeface="+mj-lt"/>
                <a:ea typeface="黑体" pitchFamily="2" charset="-122"/>
              </a:rPr>
              <a:t>，一个匹配是一个边的子集</a:t>
            </a:r>
            <a:r>
              <a:rPr lang="en-US" altLang="zh-CN" sz="2400" i="1" dirty="0">
                <a:latin typeface="+mj-lt"/>
                <a:ea typeface="黑体" pitchFamily="2" charset="-122"/>
              </a:rPr>
              <a:t>M</a:t>
            </a:r>
            <a:r>
              <a:rPr lang="en-US" altLang="zh-CN" sz="2400" dirty="0">
                <a:latin typeface="+mj-lt"/>
                <a:ea typeface="黑体" pitchFamily="2" charset="-122"/>
              </a:rPr>
              <a:t>     </a:t>
            </a:r>
            <a:r>
              <a:rPr lang="en-US" altLang="zh-CN" sz="2400" i="1" dirty="0">
                <a:latin typeface="+mj-lt"/>
                <a:ea typeface="黑体" pitchFamily="2" charset="-122"/>
              </a:rPr>
              <a:t>E</a:t>
            </a:r>
            <a:r>
              <a:rPr lang="zh-CN" altLang="en-US" sz="2400" dirty="0">
                <a:latin typeface="+mj-lt"/>
                <a:ea typeface="黑体" pitchFamily="2" charset="-122"/>
              </a:rPr>
              <a:t>，且满足对所有的顶点</a:t>
            </a:r>
            <a:r>
              <a:rPr lang="en-US" altLang="zh-CN" sz="2400" i="1" dirty="0" err="1">
                <a:latin typeface="+mj-lt"/>
                <a:ea typeface="黑体" pitchFamily="2" charset="-122"/>
              </a:rPr>
              <a:t>v∈V</a:t>
            </a:r>
            <a:r>
              <a:rPr lang="zh-CN" altLang="en-US" sz="2400" i="1" dirty="0">
                <a:latin typeface="+mj-lt"/>
                <a:ea typeface="黑体" pitchFamily="2" charset="-122"/>
              </a:rPr>
              <a:t>，</a:t>
            </a:r>
            <a:r>
              <a:rPr lang="en-US" altLang="zh-CN" sz="2400" i="1" dirty="0">
                <a:latin typeface="+mj-lt"/>
                <a:ea typeface="黑体" pitchFamily="2" charset="-122"/>
              </a:rPr>
              <a:t>M</a:t>
            </a:r>
            <a:r>
              <a:rPr lang="zh-CN" altLang="en-US" sz="2400" dirty="0">
                <a:latin typeface="+mj-lt"/>
                <a:ea typeface="黑体" pitchFamily="2" charset="-122"/>
              </a:rPr>
              <a:t>中至多有一条边与</a:t>
            </a:r>
            <a:r>
              <a:rPr lang="en-US" altLang="zh-CN" sz="2400" i="1" dirty="0">
                <a:latin typeface="+mj-lt"/>
                <a:ea typeface="黑体" pitchFamily="2" charset="-122"/>
              </a:rPr>
              <a:t>v</a:t>
            </a:r>
            <a:r>
              <a:rPr lang="zh-CN" altLang="en-US" sz="2400" dirty="0">
                <a:latin typeface="+mj-lt"/>
                <a:ea typeface="黑体" pitchFamily="2" charset="-122"/>
              </a:rPr>
              <a:t>关联。如果</a:t>
            </a:r>
            <a:r>
              <a:rPr lang="en-US" altLang="zh-CN" sz="2400" i="1" dirty="0">
                <a:latin typeface="+mj-lt"/>
                <a:ea typeface="黑体" pitchFamily="2" charset="-122"/>
              </a:rPr>
              <a:t>M</a:t>
            </a:r>
            <a:r>
              <a:rPr lang="zh-CN" altLang="en-US" sz="2400" dirty="0">
                <a:latin typeface="+mj-lt"/>
                <a:ea typeface="黑体" pitchFamily="2" charset="-122"/>
              </a:rPr>
              <a:t>中某条边与</a:t>
            </a:r>
            <a:r>
              <a:rPr lang="en-US" altLang="zh-CN" sz="2400" i="1" dirty="0">
                <a:latin typeface="+mj-lt"/>
                <a:ea typeface="黑体" pitchFamily="2" charset="-122"/>
              </a:rPr>
              <a:t>v</a:t>
            </a:r>
            <a:r>
              <a:rPr lang="zh-CN" altLang="en-US" sz="2400" dirty="0">
                <a:latin typeface="+mj-lt"/>
                <a:ea typeface="黑体" pitchFamily="2" charset="-122"/>
              </a:rPr>
              <a:t>关联，则说顶点</a:t>
            </a:r>
            <a:r>
              <a:rPr lang="en-US" altLang="zh-CN" sz="2400" i="1" dirty="0">
                <a:latin typeface="+mj-lt"/>
                <a:ea typeface="黑体" pitchFamily="2" charset="-122"/>
              </a:rPr>
              <a:t>v</a:t>
            </a:r>
            <a:r>
              <a:rPr lang="zh-CN" altLang="en-US" sz="2400" dirty="0">
                <a:latin typeface="+mj-lt"/>
                <a:ea typeface="黑体" pitchFamily="2" charset="-122"/>
              </a:rPr>
              <a:t>被匹配，否则说</a:t>
            </a:r>
            <a:r>
              <a:rPr lang="en-US" altLang="zh-CN" sz="2400" i="1" dirty="0">
                <a:latin typeface="+mj-lt"/>
                <a:ea typeface="黑体" pitchFamily="2" charset="-122"/>
              </a:rPr>
              <a:t>v</a:t>
            </a:r>
            <a:r>
              <a:rPr lang="zh-CN" altLang="en-US" sz="2400" dirty="0">
                <a:latin typeface="+mj-lt"/>
                <a:ea typeface="黑体" pitchFamily="2" charset="-122"/>
              </a:rPr>
              <a:t>是无匹配的。最大匹配是最大势的匹配。也就是说，是满足对任意匹配</a:t>
            </a:r>
            <a:r>
              <a:rPr lang="en-US" altLang="zh-CN" sz="2400" i="1" dirty="0">
                <a:latin typeface="+mj-lt"/>
                <a:ea typeface="黑体" pitchFamily="2" charset="-122"/>
              </a:rPr>
              <a:t>M’</a:t>
            </a:r>
            <a:r>
              <a:rPr lang="zh-CN" altLang="en-US" sz="2400" dirty="0">
                <a:latin typeface="+mj-lt"/>
                <a:ea typeface="黑体" pitchFamily="2" charset="-122"/>
              </a:rPr>
              <a:t>，有</a:t>
            </a:r>
            <a:r>
              <a:rPr lang="en-US" altLang="zh-CN" sz="2400" i="1" dirty="0">
                <a:latin typeface="+mj-lt"/>
                <a:ea typeface="黑体" pitchFamily="2" charset="-122"/>
              </a:rPr>
              <a:t>|M|≥|M’|</a:t>
            </a:r>
            <a:r>
              <a:rPr lang="zh-CN" altLang="en-US" sz="2400" i="1" dirty="0">
                <a:latin typeface="+mj-lt"/>
                <a:ea typeface="黑体" pitchFamily="2" charset="-122"/>
              </a:rPr>
              <a:t>。</a:t>
            </a:r>
          </a:p>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080704333"/>
              </p:ext>
            </p:extLst>
          </p:nvPr>
        </p:nvGraphicFramePr>
        <p:xfrm>
          <a:off x="3352800" y="1828800"/>
          <a:ext cx="304800" cy="304799"/>
        </p:xfrm>
        <a:graphic>
          <a:graphicData uri="http://schemas.openxmlformats.org/presentationml/2006/ole">
            <mc:AlternateContent xmlns:mc="http://schemas.openxmlformats.org/markup-compatibility/2006">
              <mc:Choice xmlns:v="urn:schemas-microsoft-com:vml" Requires="v">
                <p:oleObj name="公式" r:id="rId3" imgW="152268" imgH="152268" progId="">
                  <p:embed/>
                </p:oleObj>
              </mc:Choice>
              <mc:Fallback>
                <p:oleObj name="公式" r:id="rId3" imgW="152268" imgH="152268" progId="">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1828800"/>
                        <a:ext cx="304800" cy="3047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0715224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579132143"/>
              </p:ext>
            </p:extLst>
          </p:nvPr>
        </p:nvGraphicFramePr>
        <p:xfrm>
          <a:off x="3352800" y="1828800"/>
          <a:ext cx="304800" cy="304799"/>
        </p:xfrm>
        <a:graphic>
          <a:graphicData uri="http://schemas.openxmlformats.org/presentationml/2006/ole">
            <mc:AlternateContent xmlns:mc="http://schemas.openxmlformats.org/markup-compatibility/2006">
              <mc:Choice xmlns:v="urn:schemas-microsoft-com:vml" Requires="v">
                <p:oleObj name="公式" r:id="rId3" imgW="152268" imgH="152268" progId="">
                  <p:embed/>
                </p:oleObj>
              </mc:Choice>
              <mc:Fallback>
                <p:oleObj name="公式" r:id="rId3" imgW="152268" imgH="152268" progId="">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1828800"/>
                        <a:ext cx="304800" cy="3047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3"/>
          <p:cNvPicPr>
            <a:picLocks noChangeAspect="1" noChangeArrowheads="1"/>
          </p:cNvPicPr>
          <p:nvPr/>
        </p:nvPicPr>
        <p:blipFill>
          <a:blip r:embed="rId5" cstate="print"/>
          <a:srcRect/>
          <a:stretch>
            <a:fillRect/>
          </a:stretch>
        </p:blipFill>
        <p:spPr bwMode="auto">
          <a:xfrm>
            <a:off x="1828800" y="1447800"/>
            <a:ext cx="6102424" cy="4068283"/>
          </a:xfrm>
          <a:prstGeom prst="rect">
            <a:avLst/>
          </a:prstGeom>
          <a:noFill/>
          <a:ln w="9525">
            <a:noFill/>
            <a:miter lim="800000"/>
            <a:headEnd/>
            <a:tailEnd/>
          </a:ln>
        </p:spPr>
      </p:pic>
    </p:spTree>
    <p:extLst>
      <p:ext uri="{BB962C8B-B14F-4D97-AF65-F5344CB8AC3E}">
        <p14:creationId xmlns:p14="http://schemas.microsoft.com/office/powerpoint/2010/main" val="43959638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在本节中，我们将关注寻找二分图的最大匹配。假设顶点集合可被划分为</a:t>
            </a:r>
            <a:r>
              <a:rPr lang="en-US" altLang="zh-CN" sz="2400" i="1" dirty="0">
                <a:latin typeface="+mj-lt"/>
                <a:ea typeface="黑体" pitchFamily="2" charset="-122"/>
              </a:rPr>
              <a:t>V=L∪R</a:t>
            </a:r>
            <a:r>
              <a:rPr lang="en-US" altLang="zh-CN" sz="2400" dirty="0">
                <a:latin typeface="+mj-lt"/>
                <a:ea typeface="黑体" pitchFamily="2" charset="-122"/>
              </a:rPr>
              <a:t>,</a:t>
            </a:r>
            <a:r>
              <a:rPr lang="zh-CN" altLang="en-US" sz="2400" dirty="0">
                <a:latin typeface="+mj-lt"/>
                <a:ea typeface="黑体" pitchFamily="2" charset="-122"/>
              </a:rPr>
              <a:t>其中</a:t>
            </a:r>
            <a:r>
              <a:rPr lang="en-US" altLang="zh-CN" sz="2400" i="1" dirty="0">
                <a:latin typeface="+mj-lt"/>
                <a:ea typeface="黑体" pitchFamily="2" charset="-122"/>
              </a:rPr>
              <a:t>L</a:t>
            </a:r>
            <a:r>
              <a:rPr lang="zh-CN" altLang="en-US" sz="2400" dirty="0">
                <a:latin typeface="+mj-lt"/>
                <a:ea typeface="黑体" pitchFamily="2" charset="-122"/>
              </a:rPr>
              <a:t>和</a:t>
            </a:r>
            <a:r>
              <a:rPr lang="en-US" altLang="zh-CN" sz="2400" i="1" dirty="0">
                <a:latin typeface="+mj-lt"/>
                <a:ea typeface="黑体" pitchFamily="2" charset="-122"/>
              </a:rPr>
              <a:t>R</a:t>
            </a:r>
            <a:r>
              <a:rPr lang="zh-CN" altLang="en-US" sz="2400" dirty="0">
                <a:latin typeface="+mj-lt"/>
                <a:ea typeface="黑体" pitchFamily="2" charset="-122"/>
              </a:rPr>
              <a:t>是不相交的，且</a:t>
            </a:r>
            <a:r>
              <a:rPr lang="en-US" altLang="zh-CN" sz="2400" i="1" dirty="0">
                <a:latin typeface="+mj-lt"/>
                <a:ea typeface="黑体" pitchFamily="2" charset="-122"/>
              </a:rPr>
              <a:t>E</a:t>
            </a:r>
            <a:r>
              <a:rPr lang="zh-CN" altLang="en-US" sz="2400" dirty="0">
                <a:latin typeface="+mj-lt"/>
                <a:ea typeface="黑体" pitchFamily="2" charset="-122"/>
              </a:rPr>
              <a:t>中的所有边的一个端点在</a:t>
            </a:r>
            <a:r>
              <a:rPr lang="en-US" altLang="zh-CN" sz="2400" i="1" dirty="0">
                <a:latin typeface="+mj-lt"/>
                <a:ea typeface="黑体" pitchFamily="2" charset="-122"/>
              </a:rPr>
              <a:t>R</a:t>
            </a:r>
            <a:r>
              <a:rPr lang="zh-CN" altLang="en-US" sz="2400" dirty="0">
                <a:latin typeface="+mj-lt"/>
                <a:ea typeface="黑体" pitchFamily="2" charset="-122"/>
              </a:rPr>
              <a:t>中，另一个端点在</a:t>
            </a:r>
            <a:r>
              <a:rPr lang="en-US" altLang="zh-CN" sz="2400" i="1" dirty="0">
                <a:latin typeface="+mj-lt"/>
                <a:ea typeface="黑体" pitchFamily="2" charset="-122"/>
              </a:rPr>
              <a:t>L</a:t>
            </a:r>
            <a:r>
              <a:rPr lang="zh-CN" altLang="en-US" sz="2400" dirty="0">
                <a:latin typeface="+mj-lt"/>
                <a:ea typeface="黑体" pitchFamily="2" charset="-122"/>
              </a:rPr>
              <a:t>中。二分图的最大匹配问题有着许多应用。例如，把一个机器集合</a:t>
            </a:r>
            <a:r>
              <a:rPr lang="en-US" altLang="zh-CN" sz="2400" i="1" dirty="0">
                <a:latin typeface="+mj-lt"/>
                <a:ea typeface="黑体" pitchFamily="2" charset="-122"/>
              </a:rPr>
              <a:t>L</a:t>
            </a:r>
            <a:r>
              <a:rPr lang="zh-CN" altLang="en-US" sz="2400" dirty="0">
                <a:latin typeface="+mj-lt"/>
                <a:ea typeface="黑体" pitchFamily="2" charset="-122"/>
              </a:rPr>
              <a:t>和分同时执行的任务集合</a:t>
            </a:r>
            <a:r>
              <a:rPr lang="en-US" altLang="zh-CN" sz="2400" i="1" dirty="0">
                <a:latin typeface="+mj-lt"/>
                <a:ea typeface="黑体" pitchFamily="2" charset="-122"/>
              </a:rPr>
              <a:t>R</a:t>
            </a:r>
            <a:r>
              <a:rPr lang="zh-CN" altLang="en-US" sz="2400" dirty="0">
                <a:latin typeface="+mj-lt"/>
                <a:ea typeface="黑体" pitchFamily="2" charset="-122"/>
              </a:rPr>
              <a:t>相匹配。</a:t>
            </a:r>
            <a:r>
              <a:rPr lang="en-US" altLang="zh-CN" sz="2400" i="1" dirty="0">
                <a:latin typeface="+mj-lt"/>
                <a:ea typeface="黑体" pitchFamily="2" charset="-122"/>
              </a:rPr>
              <a:t>E</a:t>
            </a:r>
            <a:r>
              <a:rPr lang="zh-CN" altLang="en-US" sz="2400" dirty="0">
                <a:latin typeface="+mj-lt"/>
                <a:ea typeface="黑体" pitchFamily="2" charset="-122"/>
              </a:rPr>
              <a:t>中有边</a:t>
            </a:r>
            <a:r>
              <a:rPr lang="en-US" altLang="zh-CN" sz="2400" dirty="0">
                <a:latin typeface="+mj-lt"/>
                <a:ea typeface="黑体" pitchFamily="2" charset="-122"/>
              </a:rPr>
              <a:t>(</a:t>
            </a:r>
            <a:r>
              <a:rPr lang="en-US" altLang="zh-CN" sz="2400" i="1" dirty="0" err="1">
                <a:latin typeface="+mj-lt"/>
                <a:ea typeface="黑体" pitchFamily="2" charset="-122"/>
              </a:rPr>
              <a:t>u,v</a:t>
            </a:r>
            <a:r>
              <a:rPr lang="en-US" altLang="zh-CN" sz="2400" dirty="0">
                <a:latin typeface="+mj-lt"/>
                <a:ea typeface="黑体" pitchFamily="2" charset="-122"/>
              </a:rPr>
              <a:t>),</a:t>
            </a:r>
            <a:r>
              <a:rPr lang="zh-CN" altLang="en-US" sz="2400" dirty="0">
                <a:latin typeface="+mj-lt"/>
                <a:ea typeface="黑体" pitchFamily="2" charset="-122"/>
              </a:rPr>
              <a:t>就说明一台特定机器</a:t>
            </a:r>
            <a:r>
              <a:rPr lang="en-US" altLang="zh-CN" sz="2400" i="1" dirty="0">
                <a:latin typeface="+mj-lt"/>
                <a:ea typeface="黑体" pitchFamily="2" charset="-122"/>
              </a:rPr>
              <a:t>u</a:t>
            </a:r>
            <a:r>
              <a:rPr lang="zh-CN" altLang="en-US" sz="2400" dirty="0">
                <a:latin typeface="+mj-lt"/>
                <a:ea typeface="黑体" pitchFamily="2" charset="-122"/>
              </a:rPr>
              <a:t>能完成一项特定任务</a:t>
            </a:r>
            <a:r>
              <a:rPr lang="en-US" altLang="zh-CN" sz="2400" i="1" dirty="0">
                <a:latin typeface="+mj-lt"/>
                <a:ea typeface="黑体" pitchFamily="2" charset="-122"/>
              </a:rPr>
              <a:t>v</a:t>
            </a:r>
            <a:r>
              <a:rPr lang="zh-CN" altLang="en-US" sz="2400" dirty="0">
                <a:latin typeface="+mj-lt"/>
                <a:ea typeface="黑体" pitchFamily="2" charset="-122"/>
              </a:rPr>
              <a:t>。</a:t>
            </a:r>
          </a:p>
        </p:txBody>
      </p:sp>
    </p:spTree>
    <p:extLst>
      <p:ext uri="{BB962C8B-B14F-4D97-AF65-F5344CB8AC3E}">
        <p14:creationId xmlns:p14="http://schemas.microsoft.com/office/powerpoint/2010/main" val="406737404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利用</a:t>
            </a:r>
            <a:r>
              <a:rPr lang="en-US" altLang="zh-CN" sz="2400" dirty="0">
                <a:latin typeface="+mj-lt"/>
                <a:ea typeface="黑体" pitchFamily="2" charset="-122"/>
              </a:rPr>
              <a:t>Ford-Fulkerson</a:t>
            </a:r>
            <a:r>
              <a:rPr lang="zh-CN" altLang="en-US" sz="2400" dirty="0">
                <a:latin typeface="+mj-lt"/>
                <a:ea typeface="黑体" pitchFamily="2" charset="-122"/>
              </a:rPr>
              <a:t>方法可以在关于</a:t>
            </a:r>
            <a:r>
              <a:rPr lang="en-US" altLang="zh-CN" sz="2400" dirty="0">
                <a:latin typeface="+mj-lt"/>
                <a:ea typeface="黑体" pitchFamily="2" charset="-122"/>
              </a:rPr>
              <a:t>|</a:t>
            </a:r>
            <a:r>
              <a:rPr lang="en-US" altLang="zh-CN" sz="2400" i="1" dirty="0">
                <a:latin typeface="+mj-lt"/>
                <a:ea typeface="黑体" pitchFamily="2" charset="-122"/>
              </a:rPr>
              <a:t>V</a:t>
            </a:r>
            <a:r>
              <a:rPr lang="en-US" altLang="zh-CN" sz="2400" dirty="0">
                <a:latin typeface="+mj-lt"/>
                <a:ea typeface="黑体" pitchFamily="2" charset="-122"/>
              </a:rPr>
              <a:t>|</a:t>
            </a:r>
            <a:r>
              <a:rPr lang="zh-CN" altLang="en-US" sz="2400" dirty="0">
                <a:latin typeface="+mj-lt"/>
                <a:ea typeface="黑体" pitchFamily="2" charset="-122"/>
              </a:rPr>
              <a:t>和</a:t>
            </a:r>
            <a:r>
              <a:rPr lang="en-US" altLang="zh-CN" sz="2400" dirty="0">
                <a:latin typeface="+mj-lt"/>
                <a:ea typeface="黑体" pitchFamily="2" charset="-122"/>
              </a:rPr>
              <a:t>|</a:t>
            </a:r>
            <a:r>
              <a:rPr lang="en-US" altLang="zh-CN" sz="2400" i="1" dirty="0">
                <a:latin typeface="+mj-lt"/>
                <a:ea typeface="黑体" pitchFamily="2" charset="-122"/>
              </a:rPr>
              <a:t>E</a:t>
            </a:r>
            <a:r>
              <a:rPr lang="en-US" altLang="zh-CN" sz="2400" dirty="0">
                <a:latin typeface="+mj-lt"/>
                <a:ea typeface="黑体" pitchFamily="2" charset="-122"/>
              </a:rPr>
              <a:t>|</a:t>
            </a:r>
            <a:r>
              <a:rPr lang="zh-CN" altLang="en-US" sz="2400" dirty="0">
                <a:latin typeface="+mj-lt"/>
                <a:ea typeface="黑体" pitchFamily="2" charset="-122"/>
              </a:rPr>
              <a:t>的多项式时间内，找出无向二分图的最大匹配。解决这一问题的关键技巧在于建立一个流网络，其中流对应于匹配。</a:t>
            </a:r>
          </a:p>
        </p:txBody>
      </p:sp>
      <p:pic>
        <p:nvPicPr>
          <p:cNvPr id="4" name="Picture 2"/>
          <p:cNvPicPr>
            <a:picLocks noChangeAspect="1" noChangeArrowheads="1"/>
          </p:cNvPicPr>
          <p:nvPr/>
        </p:nvPicPr>
        <p:blipFill>
          <a:blip r:embed="rId3" cstate="print"/>
          <a:srcRect/>
          <a:stretch>
            <a:fillRect/>
          </a:stretch>
        </p:blipFill>
        <p:spPr bwMode="auto">
          <a:xfrm>
            <a:off x="2590800" y="2743200"/>
            <a:ext cx="3960440" cy="2986386"/>
          </a:xfrm>
          <a:prstGeom prst="rect">
            <a:avLst/>
          </a:prstGeom>
          <a:noFill/>
          <a:ln w="9525">
            <a:noFill/>
            <a:miter lim="800000"/>
            <a:headEnd/>
            <a:tailEnd/>
          </a:ln>
        </p:spPr>
      </p:pic>
    </p:spTree>
    <p:extLst>
      <p:ext uri="{BB962C8B-B14F-4D97-AF65-F5344CB8AC3E}">
        <p14:creationId xmlns:p14="http://schemas.microsoft.com/office/powerpoint/2010/main" val="376058304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对二分图 </a:t>
            </a:r>
            <a:r>
              <a:rPr lang="en-US" altLang="zh-CN" sz="2400" i="1" dirty="0">
                <a:latin typeface="+mj-lt"/>
                <a:ea typeface="黑体" pitchFamily="2" charset="-122"/>
              </a:rPr>
              <a:t>G </a:t>
            </a:r>
            <a:r>
              <a:rPr lang="zh-CN" altLang="en-US" sz="2400" dirty="0">
                <a:latin typeface="+mj-lt"/>
                <a:ea typeface="黑体" pitchFamily="2" charset="-122"/>
              </a:rPr>
              <a:t>的相应流网络 </a:t>
            </a:r>
            <a:r>
              <a:rPr lang="en-US" altLang="zh-CN" sz="2400" i="1" dirty="0">
                <a:latin typeface="+mj-lt"/>
                <a:ea typeface="黑体" pitchFamily="2" charset="-122"/>
              </a:rPr>
              <a:t>G’=</a:t>
            </a:r>
            <a:r>
              <a:rPr lang="en-US" altLang="zh-CN" sz="2400" dirty="0">
                <a:latin typeface="+mj-lt"/>
                <a:ea typeface="黑体" pitchFamily="2" charset="-122"/>
              </a:rPr>
              <a:t>(</a:t>
            </a:r>
            <a:r>
              <a:rPr lang="en-US" altLang="zh-CN" sz="2400" i="1" dirty="0">
                <a:latin typeface="+mj-lt"/>
                <a:ea typeface="黑体" pitchFamily="2" charset="-122"/>
              </a:rPr>
              <a:t>V’,E’</a:t>
            </a:r>
            <a:r>
              <a:rPr lang="en-US" altLang="zh-CN" sz="2400" dirty="0">
                <a:latin typeface="+mj-lt"/>
                <a:ea typeface="黑体" pitchFamily="2" charset="-122"/>
              </a:rPr>
              <a:t>)</a:t>
            </a:r>
            <a:r>
              <a:rPr lang="zh-CN" altLang="en-US" sz="2400" dirty="0">
                <a:latin typeface="+mj-lt"/>
                <a:ea typeface="黑体" pitchFamily="2" charset="-122"/>
              </a:rPr>
              <a:t>定义如下。</a:t>
            </a:r>
            <a:endParaRPr lang="en-US" altLang="zh-CN" sz="2400" dirty="0">
              <a:latin typeface="+mj-lt"/>
              <a:ea typeface="黑体" pitchFamily="2" charset="-122"/>
            </a:endParaRPr>
          </a:p>
          <a:p>
            <a:pPr marL="0" indent="0">
              <a:buNone/>
            </a:pPr>
            <a:r>
              <a:rPr lang="zh-CN" altLang="en-US" sz="2400" dirty="0">
                <a:latin typeface="+mj-lt"/>
                <a:ea typeface="黑体" pitchFamily="2" charset="-122"/>
              </a:rPr>
              <a:t>    设源点</a:t>
            </a:r>
            <a:r>
              <a:rPr lang="en-US" altLang="zh-CN" sz="2400" i="1" dirty="0">
                <a:latin typeface="+mj-lt"/>
                <a:ea typeface="黑体" pitchFamily="2" charset="-122"/>
              </a:rPr>
              <a:t>s</a:t>
            </a:r>
            <a:r>
              <a:rPr lang="zh-CN" altLang="en-US" sz="2400" dirty="0">
                <a:latin typeface="+mj-lt"/>
                <a:ea typeface="黑体" pitchFamily="2" charset="-122"/>
              </a:rPr>
              <a:t>和汇点</a:t>
            </a:r>
            <a:r>
              <a:rPr lang="en-US" altLang="zh-CN" sz="2400" i="1" dirty="0">
                <a:latin typeface="+mj-lt"/>
                <a:ea typeface="黑体" pitchFamily="2" charset="-122"/>
              </a:rPr>
              <a:t>t</a:t>
            </a:r>
            <a:r>
              <a:rPr lang="zh-CN" altLang="en-US" sz="2400" dirty="0">
                <a:latin typeface="+mj-lt"/>
                <a:ea typeface="黑体" pitchFamily="2" charset="-122"/>
              </a:rPr>
              <a:t>是不属于</a:t>
            </a:r>
            <a:r>
              <a:rPr lang="en-US" altLang="zh-CN" sz="2400" i="1" dirty="0">
                <a:latin typeface="+mj-lt"/>
                <a:ea typeface="黑体" pitchFamily="2" charset="-122"/>
              </a:rPr>
              <a:t>V</a:t>
            </a:r>
            <a:r>
              <a:rPr lang="zh-CN" altLang="en-US" sz="2400" dirty="0">
                <a:latin typeface="+mj-lt"/>
                <a:ea typeface="黑体" pitchFamily="2" charset="-122"/>
              </a:rPr>
              <a:t>的新顶点，</a:t>
            </a:r>
            <a:r>
              <a:rPr lang="en-US" altLang="zh-CN" sz="2400" i="1" dirty="0">
                <a:latin typeface="+mj-lt"/>
                <a:ea typeface="黑体" pitchFamily="2" charset="-122"/>
              </a:rPr>
              <a:t>V’=V∪{</a:t>
            </a:r>
            <a:r>
              <a:rPr lang="en-US" altLang="zh-CN" sz="2400" i="1" dirty="0" err="1">
                <a:latin typeface="+mj-lt"/>
                <a:ea typeface="黑体" pitchFamily="2" charset="-122"/>
              </a:rPr>
              <a:t>s,t</a:t>
            </a:r>
            <a:r>
              <a:rPr lang="en-US" altLang="zh-CN" sz="2400" i="1" dirty="0">
                <a:latin typeface="+mj-lt"/>
                <a:ea typeface="黑体" pitchFamily="2" charset="-122"/>
              </a:rPr>
              <a:t>}</a:t>
            </a:r>
            <a:r>
              <a:rPr lang="zh-CN" altLang="en-US" sz="2400" dirty="0">
                <a:latin typeface="+mj-lt"/>
                <a:ea typeface="黑体" pitchFamily="2" charset="-122"/>
              </a:rPr>
              <a:t>。如果</a:t>
            </a:r>
            <a:r>
              <a:rPr lang="en-US" altLang="zh-CN" sz="2400" i="1" dirty="0">
                <a:latin typeface="+mj-lt"/>
                <a:ea typeface="黑体" pitchFamily="2" charset="-122"/>
              </a:rPr>
              <a:t>G </a:t>
            </a:r>
          </a:p>
          <a:p>
            <a:pPr marL="0" indent="0">
              <a:buNone/>
            </a:pPr>
            <a:r>
              <a:rPr lang="en-US" altLang="zh-CN" sz="2400" i="1" dirty="0">
                <a:latin typeface="+mj-lt"/>
                <a:ea typeface="黑体" pitchFamily="2" charset="-122"/>
              </a:rPr>
              <a:t>    </a:t>
            </a:r>
            <a:r>
              <a:rPr lang="zh-CN" altLang="en-US" sz="2400" dirty="0">
                <a:latin typeface="+mj-lt"/>
                <a:ea typeface="黑体" pitchFamily="2" charset="-122"/>
              </a:rPr>
              <a:t>的顶点划分为</a:t>
            </a:r>
            <a:r>
              <a:rPr lang="en-US" altLang="zh-CN" sz="2400" i="1" dirty="0">
                <a:latin typeface="+mj-lt"/>
                <a:ea typeface="黑体" pitchFamily="2" charset="-122"/>
              </a:rPr>
              <a:t>V=L∪R</a:t>
            </a:r>
            <a:r>
              <a:rPr lang="zh-CN" altLang="en-US" sz="2400" i="1" dirty="0">
                <a:latin typeface="+mj-lt"/>
                <a:ea typeface="黑体" pitchFamily="2" charset="-122"/>
              </a:rPr>
              <a:t>，</a:t>
            </a:r>
            <a:r>
              <a:rPr lang="en-US" altLang="zh-CN" sz="2400" i="1" dirty="0">
                <a:latin typeface="+mj-lt"/>
                <a:ea typeface="黑体" pitchFamily="2" charset="-122"/>
              </a:rPr>
              <a:t>G’ </a:t>
            </a:r>
            <a:r>
              <a:rPr lang="zh-CN" altLang="en-US" sz="2400" dirty="0">
                <a:latin typeface="+mj-lt"/>
                <a:ea typeface="黑体" pitchFamily="2" charset="-122"/>
              </a:rPr>
              <a:t>的有向边为 </a:t>
            </a:r>
            <a:r>
              <a:rPr lang="en-US" altLang="zh-CN" sz="2400" i="1" dirty="0">
                <a:latin typeface="+mj-lt"/>
                <a:ea typeface="黑体" pitchFamily="2" charset="-122"/>
              </a:rPr>
              <a:t>E </a:t>
            </a:r>
            <a:r>
              <a:rPr lang="zh-CN" altLang="en-US" sz="2400" dirty="0">
                <a:latin typeface="+mj-lt"/>
                <a:ea typeface="黑体" pitchFamily="2" charset="-122"/>
              </a:rPr>
              <a:t>中的边，从</a:t>
            </a:r>
            <a:r>
              <a:rPr lang="en-US" altLang="zh-CN" sz="2400" i="1" dirty="0">
                <a:latin typeface="+mj-lt"/>
                <a:ea typeface="黑体" pitchFamily="2" charset="-122"/>
              </a:rPr>
              <a:t>L</a:t>
            </a:r>
            <a:r>
              <a:rPr lang="zh-CN" altLang="en-US" sz="2400" dirty="0">
                <a:latin typeface="+mj-lt"/>
                <a:ea typeface="黑体" pitchFamily="2" charset="-122"/>
              </a:rPr>
              <a:t>指向</a:t>
            </a:r>
            <a:endParaRPr lang="en-US" altLang="zh-CN" sz="2400" dirty="0">
              <a:latin typeface="+mj-lt"/>
              <a:ea typeface="黑体" pitchFamily="2" charset="-122"/>
            </a:endParaRPr>
          </a:p>
          <a:p>
            <a:pPr marL="0" indent="0">
              <a:buNone/>
            </a:pPr>
            <a:r>
              <a:rPr lang="en-US" altLang="zh-CN" sz="2400" dirty="0">
                <a:latin typeface="+mj-lt"/>
                <a:ea typeface="黑体" pitchFamily="2" charset="-122"/>
              </a:rPr>
              <a:t>  </a:t>
            </a:r>
            <a:r>
              <a:rPr lang="zh-CN" altLang="en-US" sz="2400" dirty="0">
                <a:latin typeface="+mj-lt"/>
                <a:ea typeface="黑体" pitchFamily="2" charset="-122"/>
              </a:rPr>
              <a:t>  </a:t>
            </a:r>
            <a:r>
              <a:rPr lang="en-US" altLang="zh-CN" sz="2400" i="1" dirty="0">
                <a:latin typeface="+mj-lt"/>
                <a:ea typeface="黑体" pitchFamily="2" charset="-122"/>
              </a:rPr>
              <a:t>R</a:t>
            </a:r>
            <a:r>
              <a:rPr lang="zh-CN" altLang="en-US" sz="2400" dirty="0">
                <a:latin typeface="+mj-lt"/>
                <a:ea typeface="黑体" pitchFamily="2" charset="-122"/>
              </a:rPr>
              <a:t>，再加上</a:t>
            </a:r>
            <a:r>
              <a:rPr lang="en-US" altLang="zh-CN" sz="2400" dirty="0">
                <a:latin typeface="+mj-lt"/>
                <a:ea typeface="黑体" pitchFamily="2" charset="-122"/>
              </a:rPr>
              <a:t>|</a:t>
            </a:r>
            <a:r>
              <a:rPr lang="en-US" altLang="zh-CN" sz="2400" i="1" dirty="0">
                <a:latin typeface="+mj-lt"/>
                <a:ea typeface="黑体" pitchFamily="2" charset="-122"/>
              </a:rPr>
              <a:t>V</a:t>
            </a:r>
            <a:r>
              <a:rPr lang="en-US" altLang="zh-CN" sz="2400" dirty="0">
                <a:latin typeface="+mj-lt"/>
                <a:ea typeface="黑体" pitchFamily="2" charset="-122"/>
              </a:rPr>
              <a:t>|</a:t>
            </a:r>
            <a:r>
              <a:rPr lang="zh-CN" altLang="en-US" sz="2400" dirty="0">
                <a:latin typeface="+mj-lt"/>
                <a:ea typeface="黑体" pitchFamily="2" charset="-122"/>
              </a:rPr>
              <a:t>条新边：</a:t>
            </a:r>
            <a:endParaRPr lang="en-US" altLang="zh-CN" sz="2400" dirty="0">
              <a:latin typeface="+mj-lt"/>
              <a:ea typeface="黑体" pitchFamily="2" charset="-122"/>
            </a:endParaRPr>
          </a:p>
          <a:p>
            <a:pPr marL="0" indent="0">
              <a:buNone/>
            </a:pPr>
            <a:r>
              <a:rPr lang="en-US" altLang="zh-CN" sz="2400" i="1" dirty="0">
                <a:solidFill>
                  <a:srgbClr val="C00000"/>
                </a:solidFill>
                <a:latin typeface="+mj-lt"/>
                <a:ea typeface="黑体" pitchFamily="2" charset="-122"/>
              </a:rPr>
              <a:t>    E’={(</a:t>
            </a:r>
            <a:r>
              <a:rPr lang="en-US" altLang="zh-CN" sz="2400" i="1" dirty="0" err="1">
                <a:solidFill>
                  <a:srgbClr val="C00000"/>
                </a:solidFill>
                <a:latin typeface="+mj-lt"/>
                <a:ea typeface="黑体" pitchFamily="2" charset="-122"/>
              </a:rPr>
              <a:t>s,u</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u∈L</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u,v</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u∈L,v∈R</a:t>
            </a:r>
            <a:r>
              <a:rPr lang="zh-CN" altLang="en-US" sz="2400" i="1" dirty="0">
                <a:solidFill>
                  <a:srgbClr val="C00000"/>
                </a:solidFill>
                <a:latin typeface="+mj-lt"/>
                <a:ea typeface="黑体" pitchFamily="2" charset="-122"/>
              </a:rPr>
              <a:t>且</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u,v</a:t>
            </a:r>
            <a:r>
              <a:rPr lang="en-US" altLang="zh-CN" sz="2400" i="1" dirty="0">
                <a:solidFill>
                  <a:srgbClr val="C00000"/>
                </a:solidFill>
                <a:latin typeface="+mj-lt"/>
                <a:ea typeface="黑体" pitchFamily="2" charset="-122"/>
              </a:rPr>
              <a:t>)∈E}∪{(</a:t>
            </a:r>
            <a:r>
              <a:rPr lang="en-US" altLang="zh-CN" sz="2400" i="1" dirty="0" err="1">
                <a:solidFill>
                  <a:srgbClr val="C00000"/>
                </a:solidFill>
                <a:latin typeface="+mj-lt"/>
                <a:ea typeface="黑体" pitchFamily="2" charset="-122"/>
              </a:rPr>
              <a:t>v,t</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v∈R</a:t>
            </a:r>
            <a:r>
              <a:rPr lang="en-US" altLang="zh-CN" sz="2400" i="1" dirty="0">
                <a:solidFill>
                  <a:srgbClr val="C00000"/>
                </a:solidFill>
                <a:latin typeface="+mj-lt"/>
                <a:ea typeface="黑体" pitchFamily="2" charset="-122"/>
              </a:rPr>
              <a:t>}</a:t>
            </a:r>
          </a:p>
          <a:p>
            <a:endParaRPr lang="en-US" altLang="zh-CN" sz="2400" dirty="0">
              <a:latin typeface="+mj-lt"/>
              <a:ea typeface="黑体" pitchFamily="2" charset="-122"/>
            </a:endParaRPr>
          </a:p>
          <a:p>
            <a:r>
              <a:rPr lang="zh-CN" altLang="en-US" sz="2400" dirty="0">
                <a:latin typeface="+mj-lt"/>
                <a:ea typeface="黑体" pitchFamily="2" charset="-122"/>
              </a:rPr>
              <a:t>对</a:t>
            </a:r>
            <a:r>
              <a:rPr lang="en-US" altLang="zh-CN" sz="2400" i="1" dirty="0">
                <a:latin typeface="+mj-lt"/>
                <a:ea typeface="黑体" pitchFamily="2" charset="-122"/>
              </a:rPr>
              <a:t>E’</a:t>
            </a:r>
            <a:r>
              <a:rPr lang="zh-CN" altLang="en-US" sz="2400" dirty="0">
                <a:latin typeface="+mj-lt"/>
                <a:ea typeface="黑体" pitchFamily="2" charset="-122"/>
              </a:rPr>
              <a:t>中的边赋予单位容量。因为</a:t>
            </a:r>
            <a:r>
              <a:rPr lang="en-US" altLang="zh-CN" sz="2400" i="1" dirty="0">
                <a:latin typeface="+mj-lt"/>
                <a:ea typeface="黑体" pitchFamily="2" charset="-122"/>
              </a:rPr>
              <a:t>V</a:t>
            </a:r>
            <a:r>
              <a:rPr lang="zh-CN" altLang="en-US" sz="2400" dirty="0">
                <a:latin typeface="+mj-lt"/>
                <a:ea typeface="黑体" pitchFamily="2" charset="-122"/>
              </a:rPr>
              <a:t>中的每个顶点至少有一条关联边，因此</a:t>
            </a:r>
            <a:r>
              <a:rPr lang="en-US" altLang="zh-CN" sz="2400" i="1" dirty="0">
                <a:latin typeface="+mj-lt"/>
                <a:ea typeface="黑体" pitchFamily="2" charset="-122"/>
              </a:rPr>
              <a:t>|E|≥|V|/2</a:t>
            </a:r>
            <a:r>
              <a:rPr lang="zh-CN" altLang="en-US" sz="2400" i="1" dirty="0">
                <a:latin typeface="+mj-lt"/>
                <a:ea typeface="黑体" pitchFamily="2" charset="-122"/>
              </a:rPr>
              <a:t>。</a:t>
            </a:r>
            <a:endParaRPr lang="en-US" altLang="zh-CN" sz="2400" i="1" dirty="0">
              <a:latin typeface="+mj-lt"/>
              <a:ea typeface="黑体" pitchFamily="2" charset="-122"/>
            </a:endParaRPr>
          </a:p>
          <a:p>
            <a:r>
              <a:rPr lang="en-US" altLang="zh-CN" sz="2400" i="1" dirty="0">
                <a:latin typeface="+mj-lt"/>
                <a:ea typeface="黑体" pitchFamily="2" charset="-122"/>
              </a:rPr>
              <a:t>|E|≤|E’|=|E|+|V|≤3|E|</a:t>
            </a:r>
            <a:r>
              <a:rPr lang="zh-CN" altLang="en-US" sz="2400" dirty="0">
                <a:latin typeface="+mj-lt"/>
                <a:ea typeface="黑体" pitchFamily="2" charset="-122"/>
              </a:rPr>
              <a:t>，即</a:t>
            </a:r>
            <a:r>
              <a:rPr lang="en-US" altLang="zh-CN" sz="2400" i="1" dirty="0">
                <a:latin typeface="+mj-lt"/>
                <a:ea typeface="黑体" pitchFamily="2" charset="-122"/>
              </a:rPr>
              <a:t>|E’|=</a:t>
            </a:r>
            <a:r>
              <a:rPr lang="el-GR" altLang="zh-CN" sz="2400" i="1" dirty="0">
                <a:latin typeface="+mj-lt"/>
                <a:ea typeface="黑体" pitchFamily="2" charset="-122"/>
              </a:rPr>
              <a:t>Θ</a:t>
            </a:r>
            <a:r>
              <a:rPr lang="en-US" altLang="zh-CN" sz="2400" i="1" dirty="0">
                <a:latin typeface="+mj-lt"/>
                <a:ea typeface="黑体" pitchFamily="2" charset="-122"/>
              </a:rPr>
              <a:t>(|E|)</a:t>
            </a:r>
            <a:endParaRPr lang="zh-CN" altLang="en-US" sz="2400" i="1" dirty="0">
              <a:latin typeface="+mj-lt"/>
              <a:ea typeface="黑体" pitchFamily="2" charset="-122"/>
            </a:endParaRPr>
          </a:p>
        </p:txBody>
      </p:sp>
    </p:spTree>
    <p:extLst>
      <p:ext uri="{BB962C8B-B14F-4D97-AF65-F5344CB8AC3E}">
        <p14:creationId xmlns:p14="http://schemas.microsoft.com/office/powerpoint/2010/main" val="277418576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solidFill>
                  <a:srgbClr val="C00000"/>
                </a:solidFill>
                <a:latin typeface="+mj-lt"/>
                <a:ea typeface="黑体" pitchFamily="2" charset="-122"/>
              </a:rPr>
              <a:t>引理</a:t>
            </a:r>
            <a:r>
              <a:rPr lang="en-US" altLang="zh-CN" sz="2400" dirty="0">
                <a:solidFill>
                  <a:srgbClr val="C00000"/>
                </a:solidFill>
                <a:latin typeface="+mj-lt"/>
                <a:ea typeface="黑体" pitchFamily="2" charset="-122"/>
              </a:rPr>
              <a:t>10.  </a:t>
            </a:r>
            <a:r>
              <a:rPr lang="zh-CN" altLang="en-US" sz="2400" dirty="0">
                <a:latin typeface="+mj-lt"/>
                <a:ea typeface="黑体" pitchFamily="2" charset="-122"/>
              </a:rPr>
              <a:t>二分图</a:t>
            </a:r>
            <a:r>
              <a:rPr lang="en-US" altLang="zh-CN" sz="2400" i="1" dirty="0">
                <a:latin typeface="+mj-lt"/>
                <a:ea typeface="黑体" pitchFamily="2" charset="-122"/>
              </a:rPr>
              <a:t>G</a:t>
            </a:r>
            <a:r>
              <a:rPr lang="en-US" altLang="zh-CN" sz="2400" dirty="0">
                <a:latin typeface="+mj-lt"/>
                <a:ea typeface="黑体" pitchFamily="2" charset="-122"/>
              </a:rPr>
              <a:t>=(</a:t>
            </a:r>
            <a:r>
              <a:rPr lang="en-US" altLang="zh-CN" sz="2400" i="1" dirty="0">
                <a:latin typeface="+mj-lt"/>
                <a:ea typeface="黑体" pitchFamily="2" charset="-122"/>
              </a:rPr>
              <a:t>V,E</a:t>
            </a:r>
            <a:r>
              <a:rPr lang="en-US" altLang="zh-CN" sz="2400" dirty="0">
                <a:latin typeface="+mj-lt"/>
                <a:ea typeface="黑体" pitchFamily="2" charset="-122"/>
              </a:rPr>
              <a:t>)</a:t>
            </a:r>
            <a:r>
              <a:rPr lang="zh-CN" altLang="en-US" sz="2400" dirty="0">
                <a:latin typeface="+mj-lt"/>
                <a:ea typeface="黑体" pitchFamily="2" charset="-122"/>
              </a:rPr>
              <a:t>，设</a:t>
            </a:r>
            <a:r>
              <a:rPr lang="en-US" altLang="zh-CN" sz="2400" i="1" dirty="0">
                <a:latin typeface="+mj-lt"/>
                <a:ea typeface="黑体" pitchFamily="2" charset="-122"/>
              </a:rPr>
              <a:t>V=L∪R</a:t>
            </a:r>
            <a:r>
              <a:rPr lang="zh-CN" altLang="en-US" sz="2400" dirty="0">
                <a:latin typeface="+mj-lt"/>
                <a:ea typeface="黑体" pitchFamily="2" charset="-122"/>
              </a:rPr>
              <a:t>，</a:t>
            </a:r>
            <a:r>
              <a:rPr lang="en-US" altLang="zh-CN" sz="2400" i="1" dirty="0">
                <a:latin typeface="+mj-lt"/>
                <a:ea typeface="黑体" pitchFamily="2" charset="-122"/>
              </a:rPr>
              <a:t>G’=</a:t>
            </a:r>
            <a:r>
              <a:rPr lang="en-US" altLang="zh-CN" sz="2400" dirty="0">
                <a:latin typeface="+mj-lt"/>
                <a:ea typeface="黑体" pitchFamily="2" charset="-122"/>
              </a:rPr>
              <a:t>(</a:t>
            </a:r>
            <a:r>
              <a:rPr lang="en-US" altLang="zh-CN" sz="2400" i="1" dirty="0">
                <a:latin typeface="+mj-lt"/>
                <a:ea typeface="黑体" pitchFamily="2" charset="-122"/>
              </a:rPr>
              <a:t>V’,E’</a:t>
            </a:r>
            <a:r>
              <a:rPr lang="en-US" altLang="zh-CN" sz="2400" dirty="0">
                <a:latin typeface="+mj-lt"/>
                <a:ea typeface="黑体" pitchFamily="2" charset="-122"/>
              </a:rPr>
              <a:t>)</a:t>
            </a:r>
            <a:r>
              <a:rPr lang="zh-CN" altLang="en-US" sz="2400" dirty="0">
                <a:latin typeface="+mj-lt"/>
                <a:ea typeface="黑体" pitchFamily="2" charset="-122"/>
              </a:rPr>
              <a:t>是它相应的流网络。如果</a:t>
            </a:r>
            <a:r>
              <a:rPr lang="en-US" altLang="zh-CN" sz="2400" i="1" dirty="0">
                <a:latin typeface="+mj-lt"/>
                <a:ea typeface="黑体" pitchFamily="2" charset="-122"/>
              </a:rPr>
              <a:t>M</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的匹配，则有</a:t>
            </a:r>
            <a:r>
              <a:rPr lang="en-US" altLang="zh-CN" sz="2400" i="1" dirty="0">
                <a:latin typeface="+mj-lt"/>
                <a:ea typeface="黑体" pitchFamily="2" charset="-122"/>
              </a:rPr>
              <a:t>G’</a:t>
            </a:r>
            <a:r>
              <a:rPr lang="zh-CN" altLang="en-US" sz="2400" dirty="0">
                <a:latin typeface="+mj-lt"/>
                <a:ea typeface="黑体" pitchFamily="2" charset="-122"/>
              </a:rPr>
              <a:t>中的整数值流</a:t>
            </a:r>
            <a:r>
              <a:rPr lang="en-US" altLang="zh-CN" sz="2400" i="1" dirty="0">
                <a:latin typeface="+mj-lt"/>
                <a:ea typeface="黑体" pitchFamily="2" charset="-122"/>
              </a:rPr>
              <a:t>f</a:t>
            </a:r>
            <a:r>
              <a:rPr lang="zh-CN" altLang="en-US" sz="2400" dirty="0">
                <a:latin typeface="+mj-lt"/>
                <a:ea typeface="黑体" pitchFamily="2" charset="-122"/>
              </a:rPr>
              <a:t>，且</a:t>
            </a:r>
            <a:r>
              <a:rPr lang="en-US" altLang="zh-CN" sz="2400" i="1" dirty="0">
                <a:latin typeface="+mj-lt"/>
                <a:ea typeface="黑体" pitchFamily="2" charset="-122"/>
              </a:rPr>
              <a:t>|f|=|M|</a:t>
            </a:r>
            <a:r>
              <a:rPr lang="zh-CN" altLang="en-US" sz="2400" dirty="0">
                <a:latin typeface="+mj-lt"/>
                <a:ea typeface="黑体" pitchFamily="2" charset="-122"/>
              </a:rPr>
              <a:t>。相反地，如果 </a:t>
            </a:r>
            <a:r>
              <a:rPr lang="en-US" altLang="zh-CN" sz="2400" i="1" dirty="0">
                <a:latin typeface="+mj-lt"/>
                <a:ea typeface="黑体" pitchFamily="2" charset="-122"/>
              </a:rPr>
              <a:t>f </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中的整数值流，则</a:t>
            </a:r>
            <a:r>
              <a:rPr lang="en-US" altLang="zh-CN" sz="2400" i="1" dirty="0">
                <a:latin typeface="+mj-lt"/>
                <a:ea typeface="黑体" pitchFamily="2" charset="-122"/>
              </a:rPr>
              <a:t>G</a:t>
            </a:r>
            <a:r>
              <a:rPr lang="zh-CN" altLang="en-US" sz="2400" dirty="0">
                <a:latin typeface="+mj-lt"/>
                <a:ea typeface="黑体" pitchFamily="2" charset="-122"/>
              </a:rPr>
              <a:t>存在一匹配</a:t>
            </a:r>
            <a:r>
              <a:rPr lang="en-US" altLang="zh-CN" sz="2400" i="1" dirty="0">
                <a:latin typeface="+mj-lt"/>
                <a:ea typeface="黑体" pitchFamily="2" charset="-122"/>
              </a:rPr>
              <a:t>M</a:t>
            </a:r>
            <a:r>
              <a:rPr lang="zh-CN" altLang="en-US" sz="2400" dirty="0">
                <a:latin typeface="+mj-lt"/>
                <a:ea typeface="黑体" pitchFamily="2" charset="-122"/>
              </a:rPr>
              <a:t>满足</a:t>
            </a:r>
            <a:r>
              <a:rPr lang="en-US" altLang="zh-CN" sz="2400" i="1" dirty="0">
                <a:latin typeface="+mj-lt"/>
                <a:ea typeface="黑体" pitchFamily="2" charset="-122"/>
              </a:rPr>
              <a:t>|M|=|f|</a:t>
            </a:r>
            <a:r>
              <a:rPr lang="zh-CN" altLang="en-US" sz="2400" dirty="0">
                <a:latin typeface="+mj-lt"/>
                <a:ea typeface="黑体" pitchFamily="2" charset="-122"/>
              </a:rPr>
              <a:t>。</a:t>
            </a:r>
          </a:p>
          <a:p>
            <a:pPr marL="0" indent="0">
              <a:buNone/>
            </a:pPr>
            <a:endParaRPr lang="zh-CN" altLang="en-US" sz="2400" i="1" dirty="0">
              <a:latin typeface="+mj-lt"/>
              <a:ea typeface="黑体" pitchFamily="2" charset="-122"/>
            </a:endParaRPr>
          </a:p>
        </p:txBody>
      </p:sp>
      <p:pic>
        <p:nvPicPr>
          <p:cNvPr id="4" name="Picture 2"/>
          <p:cNvPicPr>
            <a:picLocks noChangeAspect="1" noChangeArrowheads="1"/>
          </p:cNvPicPr>
          <p:nvPr/>
        </p:nvPicPr>
        <p:blipFill>
          <a:blip r:embed="rId3" cstate="print"/>
          <a:srcRect/>
          <a:stretch>
            <a:fillRect/>
          </a:stretch>
        </p:blipFill>
        <p:spPr bwMode="auto">
          <a:xfrm>
            <a:off x="2339752" y="3171392"/>
            <a:ext cx="4392488" cy="2619808"/>
          </a:xfrm>
          <a:prstGeom prst="rect">
            <a:avLst/>
          </a:prstGeom>
          <a:noFill/>
          <a:ln w="9525">
            <a:noFill/>
            <a:miter lim="800000"/>
            <a:headEnd/>
            <a:tailEnd/>
          </a:ln>
        </p:spPr>
      </p:pic>
    </p:spTree>
    <p:extLst>
      <p:ext uri="{BB962C8B-B14F-4D97-AF65-F5344CB8AC3E}">
        <p14:creationId xmlns:p14="http://schemas.microsoft.com/office/powerpoint/2010/main" val="3858384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18013</TotalTime>
  <Words>8602</Words>
  <Application>Microsoft Macintosh PowerPoint</Application>
  <PresentationFormat>On-screen Show (4:3)</PresentationFormat>
  <Paragraphs>1329</Paragraphs>
  <Slides>112</Slides>
  <Notes>96</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112</vt:i4>
      </vt:variant>
    </vt:vector>
  </HeadingPairs>
  <TitlesOfParts>
    <vt:vector size="125" baseType="lpstr">
      <vt:lpstr>MS UI Gothic</vt:lpstr>
      <vt:lpstr>黑体</vt:lpstr>
      <vt:lpstr>宋体</vt:lpstr>
      <vt:lpstr>Arial</vt:lpstr>
      <vt:lpstr>Arial Black</vt:lpstr>
      <vt:lpstr>Comic Sans MS</vt:lpstr>
      <vt:lpstr>Monotype Sorts</vt:lpstr>
      <vt:lpstr>Symbol</vt:lpstr>
      <vt:lpstr>Times New Roman</vt:lpstr>
      <vt:lpstr>Wingdings</vt:lpstr>
      <vt:lpstr>Default Design</vt:lpstr>
      <vt:lpstr>Equation</vt:lpstr>
      <vt:lpstr>公式</vt:lpstr>
      <vt:lpstr> 图论算法</vt:lpstr>
      <vt:lpstr>大纲</vt:lpstr>
      <vt:lpstr>什么是图?</vt:lpstr>
      <vt:lpstr>一个有向图G= (V, E),  其中V 为节点的集合，E为V中节点之间的边的集合。E中每条 边为V上一个二值关系: 一条从a出发连向b边e可以表示为一个有序的节点对 e = (a, b)。</vt:lpstr>
      <vt:lpstr>一个无向图 G = (V, E) , 其中V 为节点的集合，E为V中节点之间的边的集合。 E 中每条边e都可以无序的节点对。</vt:lpstr>
      <vt:lpstr>在一个无向图中, 节点的度指的是该节点连出去的边的条数.</vt:lpstr>
      <vt:lpstr>简单图</vt:lpstr>
      <vt:lpstr>加权图指的是每天边都有一个权值的图，通常有一个边加权函数 w: E  R</vt:lpstr>
      <vt:lpstr>路径</vt:lpstr>
      <vt:lpstr>s-t 连通性</vt:lpstr>
      <vt:lpstr>连通性</vt:lpstr>
      <vt:lpstr>连通分支</vt:lpstr>
      <vt:lpstr>对于一个有向或者无向图，如果任意两个节点之间都有边邻接（对于有向图需要两个方向的边），则称之为完全图</vt:lpstr>
      <vt:lpstr>一个二分图是一个无向图 G = (V,E) ，其中 V 可以划分为2 个集合 V1 和V2 ，且对于任意条边 (u, v) E，都有 u V1且v V2 ，或者v V1  且uV2.</vt:lpstr>
      <vt:lpstr>树</vt:lpstr>
      <vt:lpstr>树的性质</vt:lpstr>
      <vt:lpstr>图的实现: 邻接表</vt:lpstr>
      <vt:lpstr>图的实现: 邻接表</vt:lpstr>
      <vt:lpstr>邻接表的优缺点</vt:lpstr>
      <vt:lpstr>无向图</vt:lpstr>
      <vt:lpstr>有向图</vt:lpstr>
      <vt:lpstr>邻接矩阵的优缺点</vt:lpstr>
      <vt:lpstr>图的遍历</vt:lpstr>
      <vt:lpstr>广度优先搜索（BFS）</vt:lpstr>
      <vt:lpstr>BFS:算法描述</vt:lpstr>
      <vt:lpstr>BFS: 算法描述</vt:lpstr>
      <vt:lpstr>BFS举例</vt:lpstr>
      <vt:lpstr>BFS举例</vt:lpstr>
      <vt:lpstr>BFS的输出</vt:lpstr>
      <vt:lpstr> 深度优先搜索</vt:lpstr>
      <vt:lpstr>DFS算法分析</vt:lpstr>
      <vt:lpstr>DFS算法</vt:lpstr>
      <vt:lpstr>DFS-Visit(u)过程</vt:lpstr>
      <vt:lpstr>DFS算法举例(1)</vt:lpstr>
      <vt:lpstr>DFS算法举例(2)</vt:lpstr>
      <vt:lpstr>DFS算法举例(3)</vt:lpstr>
      <vt:lpstr>DFS算法举例(4)</vt:lpstr>
      <vt:lpstr>DFS森林 </vt:lpstr>
      <vt:lpstr>DFS算法分析</vt:lpstr>
      <vt:lpstr>DFS: 边的分类(1)</vt:lpstr>
      <vt:lpstr>DFS: 边的分类(2)</vt:lpstr>
      <vt:lpstr>DFS: 边的分类(2)</vt:lpstr>
      <vt:lpstr>DFS: 边的分类(2)</vt:lpstr>
      <vt:lpstr>DFS: 边的分类(3)</vt:lpstr>
      <vt:lpstr>DFS: 应用(1)</vt:lpstr>
      <vt:lpstr>DFS: 应用(2)</vt:lpstr>
      <vt:lpstr>DFS: 应用(2)</vt:lpstr>
      <vt:lpstr>DFS: 应用(2)</vt:lpstr>
      <vt:lpstr>拓扑排序</vt:lpstr>
      <vt:lpstr>举例</vt:lpstr>
      <vt:lpstr>举例: 另外一种拓扑排序</vt:lpstr>
      <vt:lpstr>拓扑排序：算法一</vt:lpstr>
      <vt:lpstr>入度为0的顶点</vt:lpstr>
      <vt:lpstr>拓扑排序：算法二</vt:lpstr>
      <vt:lpstr>强连通分支</vt:lpstr>
      <vt:lpstr>有向图的转置</vt:lpstr>
      <vt:lpstr>有向图转置举例</vt:lpstr>
      <vt:lpstr>强连通分支算法</vt:lpstr>
      <vt:lpstr>强连通分支算法: 举例(1)</vt:lpstr>
      <vt:lpstr>强连通分支算法: 举例(2)</vt:lpstr>
      <vt:lpstr>强连通分支算法: 举例(3)</vt:lpstr>
      <vt:lpstr>强连通分支算法原理解释（1）</vt:lpstr>
      <vt:lpstr>强连通分支算法原理解释（2）</vt:lpstr>
      <vt:lpstr>强连通分支算法原理解释（3）</vt:lpstr>
      <vt:lpstr>强连通分支算法原理解释（4）</vt:lpstr>
      <vt:lpstr>PowerPoint Presentation</vt:lpstr>
      <vt:lpstr>并查集 (1)</vt:lpstr>
      <vt:lpstr>并查集(2)</vt:lpstr>
      <vt:lpstr>并查集(5)</vt:lpstr>
      <vt:lpstr>并查集(6)</vt:lpstr>
      <vt:lpstr>并查集(3)</vt:lpstr>
      <vt:lpstr>并查集(4)</vt:lpstr>
      <vt:lpstr>流网络</vt:lpstr>
      <vt:lpstr>流网络</vt:lpstr>
      <vt:lpstr>流网络</vt:lpstr>
      <vt:lpstr>流网络</vt:lpstr>
      <vt:lpstr>流网络</vt:lpstr>
      <vt:lpstr>流网络</vt:lpstr>
      <vt:lpstr>流网络</vt:lpstr>
      <vt:lpstr>最大流问题</vt:lpstr>
      <vt:lpstr>Ford-Fulkerson方法</vt:lpstr>
      <vt:lpstr>Ford-Fulkerson方法</vt:lpstr>
      <vt:lpstr>Ford-Fulkerson方法</vt:lpstr>
      <vt:lpstr>Ford-Fulkerson方法</vt:lpstr>
      <vt:lpstr>Ford-Fulkerson方法</vt:lpstr>
      <vt:lpstr>PowerPoint Presentation</vt:lpstr>
      <vt:lpstr>Ford-Fulkerson方法</vt:lpstr>
      <vt:lpstr>Ford-Fulkerson方法</vt:lpstr>
      <vt:lpstr>PowerPoint Presentation</vt:lpstr>
      <vt:lpstr>PowerPoint Presentation</vt:lpstr>
      <vt:lpstr>PowerPoint Presentation</vt:lpstr>
      <vt:lpstr>PowerPoint Presentation</vt:lpstr>
      <vt:lpstr>PowerPoint Presentation</vt:lpstr>
      <vt:lpstr>Ford-Fulkerson方法</vt:lpstr>
      <vt:lpstr>Ford-Fulkerson方法</vt:lpstr>
      <vt:lpstr>Ford-Fulkerson方法</vt:lpstr>
      <vt:lpstr>Ford-Fulkerson方法</vt:lpstr>
      <vt:lpstr>Ford-Fulkerson方法</vt:lpstr>
      <vt:lpstr>Ford-Fulkerson方法</vt:lpstr>
      <vt:lpstr>Ford-Fulkerson方法</vt:lpstr>
      <vt:lpstr>基本的Ford-Fulkerson算法</vt:lpstr>
      <vt:lpstr>基本的Ford-Fulkerson算法分析</vt:lpstr>
      <vt:lpstr>Edmonds-Karp算法</vt:lpstr>
      <vt:lpstr>Edmonds-Karp算法</vt:lpstr>
      <vt:lpstr>PowerPoint Presentation</vt:lpstr>
      <vt:lpstr>练习：标注每次迭代的节点</vt:lpstr>
      <vt:lpstr>最大二分匹配</vt:lpstr>
      <vt:lpstr>最大二分匹配</vt:lpstr>
      <vt:lpstr>最大二分匹配</vt:lpstr>
      <vt:lpstr>最大二分匹配</vt:lpstr>
      <vt:lpstr>最大二分匹配</vt:lpstr>
      <vt:lpstr>最大二分匹配</vt:lpstr>
    </vt:vector>
  </TitlesOfParts>
  <Company>SUNY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SUNY Learning Network</dc:creator>
  <cp:lastModifiedBy>Microsoft Office User</cp:lastModifiedBy>
  <cp:revision>970</cp:revision>
  <dcterms:created xsi:type="dcterms:W3CDTF">1998-05-26T01:10:06Z</dcterms:created>
  <dcterms:modified xsi:type="dcterms:W3CDTF">2023-03-29T01:39:01Z</dcterms:modified>
</cp:coreProperties>
</file>