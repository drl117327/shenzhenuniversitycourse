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26" r:id="rId1"/>
    <p:sldMasterId id="2147483741" r:id="rId2"/>
  </p:sldMasterIdLst>
  <p:notesMasterIdLst>
    <p:notesMasterId r:id="rId42"/>
  </p:notesMasterIdLst>
  <p:handoutMasterIdLst>
    <p:handoutMasterId r:id="rId43"/>
  </p:handoutMasterIdLst>
  <p:sldIdLst>
    <p:sldId id="1018" r:id="rId3"/>
    <p:sldId id="841" r:id="rId4"/>
    <p:sldId id="1039" r:id="rId5"/>
    <p:sldId id="842" r:id="rId6"/>
    <p:sldId id="844" r:id="rId7"/>
    <p:sldId id="1014" r:id="rId8"/>
    <p:sldId id="1017" r:id="rId9"/>
    <p:sldId id="845" r:id="rId10"/>
    <p:sldId id="846" r:id="rId11"/>
    <p:sldId id="1019" r:id="rId12"/>
    <p:sldId id="849" r:id="rId13"/>
    <p:sldId id="970" r:id="rId14"/>
    <p:sldId id="872" r:id="rId15"/>
    <p:sldId id="874" r:id="rId16"/>
    <p:sldId id="878" r:id="rId17"/>
    <p:sldId id="879" r:id="rId18"/>
    <p:sldId id="881" r:id="rId19"/>
    <p:sldId id="882" r:id="rId20"/>
    <p:sldId id="1052" r:id="rId21"/>
    <p:sldId id="884" r:id="rId22"/>
    <p:sldId id="1025" r:id="rId23"/>
    <p:sldId id="886" r:id="rId24"/>
    <p:sldId id="1042" r:id="rId25"/>
    <p:sldId id="1043" r:id="rId26"/>
    <p:sldId id="1047" r:id="rId27"/>
    <p:sldId id="1048" r:id="rId28"/>
    <p:sldId id="977" r:id="rId29"/>
    <p:sldId id="978" r:id="rId30"/>
    <p:sldId id="1020" r:id="rId31"/>
    <p:sldId id="1021" r:id="rId32"/>
    <p:sldId id="1022" r:id="rId33"/>
    <p:sldId id="827" r:id="rId34"/>
    <p:sldId id="828" r:id="rId35"/>
    <p:sldId id="942" r:id="rId36"/>
    <p:sldId id="1010" r:id="rId37"/>
    <p:sldId id="983" r:id="rId38"/>
    <p:sldId id="1050" r:id="rId39"/>
    <p:sldId id="1051" r:id="rId40"/>
    <p:sldId id="1028" r:id="rId41"/>
  </p:sldIdLst>
  <p:sldSz cx="9144000" cy="6858000" type="screen4x3"/>
  <p:notesSz cx="6858000" cy="9144000"/>
  <p:defaultTextStyle>
    <a:defPPr>
      <a:defRPr lang="en-US"/>
    </a:defPPr>
    <a:lvl1pPr algn="l" rtl="0" eaLnBrk="0" fontAlgn="base" hangingPunct="0">
      <a:spcBef>
        <a:spcPct val="0"/>
      </a:spcBef>
      <a:spcAft>
        <a:spcPct val="0"/>
      </a:spcAft>
      <a:defRPr sz="2000" b="1"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000" b="1"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000" b="1"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000" b="1"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000" b="1" kern="1200">
        <a:solidFill>
          <a:schemeClr val="tx1"/>
        </a:solidFill>
        <a:latin typeface="Times New Roman" pitchFamily="18" charset="0"/>
        <a:ea typeface="+mn-ea"/>
        <a:cs typeface="+mn-cs"/>
      </a:defRPr>
    </a:lvl5pPr>
    <a:lvl6pPr marL="2286000" algn="l" defTabSz="914400" rtl="0" eaLnBrk="1" latinLnBrk="0" hangingPunct="1">
      <a:defRPr sz="2000" b="1" kern="1200">
        <a:solidFill>
          <a:schemeClr val="tx1"/>
        </a:solidFill>
        <a:latin typeface="Times New Roman" pitchFamily="18" charset="0"/>
        <a:ea typeface="+mn-ea"/>
        <a:cs typeface="+mn-cs"/>
      </a:defRPr>
    </a:lvl6pPr>
    <a:lvl7pPr marL="2743200" algn="l" defTabSz="914400" rtl="0" eaLnBrk="1" latinLnBrk="0" hangingPunct="1">
      <a:defRPr sz="2000" b="1" kern="1200">
        <a:solidFill>
          <a:schemeClr val="tx1"/>
        </a:solidFill>
        <a:latin typeface="Times New Roman" pitchFamily="18" charset="0"/>
        <a:ea typeface="+mn-ea"/>
        <a:cs typeface="+mn-cs"/>
      </a:defRPr>
    </a:lvl7pPr>
    <a:lvl8pPr marL="3200400" algn="l" defTabSz="914400" rtl="0" eaLnBrk="1" latinLnBrk="0" hangingPunct="1">
      <a:defRPr sz="2000" b="1" kern="1200">
        <a:solidFill>
          <a:schemeClr val="tx1"/>
        </a:solidFill>
        <a:latin typeface="Times New Roman" pitchFamily="18" charset="0"/>
        <a:ea typeface="+mn-ea"/>
        <a:cs typeface="+mn-cs"/>
      </a:defRPr>
    </a:lvl8pPr>
    <a:lvl9pPr marL="3657600" algn="l" defTabSz="914400" rtl="0" eaLnBrk="1" latinLnBrk="0" hangingPunct="1">
      <a:defRPr sz="2000" b="1"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0000CC"/>
    <a:srgbClr val="3333FF"/>
    <a:srgbClr val="FFFFFF"/>
    <a:srgbClr val="FF0000"/>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77" autoAdjust="0"/>
    <p:restoredTop sz="95400" autoAdjust="0"/>
  </p:normalViewPr>
  <p:slideViewPr>
    <p:cSldViewPr>
      <p:cViewPr varScale="1">
        <p:scale>
          <a:sx n="128" d="100"/>
          <a:sy n="128" d="100"/>
        </p:scale>
        <p:origin x="1632" y="1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0" d="100"/>
        <a:sy n="70" d="100"/>
      </p:scale>
      <p:origin x="0" y="888"/>
    </p:cViewPr>
  </p:sorterViewPr>
  <p:notesViewPr>
    <p:cSldViewPr>
      <p:cViewPr varScale="1">
        <p:scale>
          <a:sx n="43" d="100"/>
          <a:sy n="43" d="100"/>
        </p:scale>
        <p:origin x="-2379" y="-57"/>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handoutMaster" Target="handoutMasters/handoutMaster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1BD26A1-E474-4E40-AA6B-E3DA9064E8DB}" type="datetimeFigureOut">
              <a:rPr lang="zh-CN" altLang="en-US" smtClean="0"/>
              <a:pPr/>
              <a:t>2024/3/4</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4CC993E-3971-4A6E-AB96-D51CA3A2E21C}" type="slidenum">
              <a:rPr lang="zh-CN" altLang="en-US" smtClean="0"/>
              <a:pPr/>
              <a:t>‹#›</a:t>
            </a:fld>
            <a:endParaRPr lang="zh-CN" altLang="en-US"/>
          </a:p>
        </p:txBody>
      </p:sp>
    </p:spTree>
    <p:extLst>
      <p:ext uri="{BB962C8B-B14F-4D97-AF65-F5344CB8AC3E}">
        <p14:creationId xmlns:p14="http://schemas.microsoft.com/office/powerpoint/2010/main" val="1127950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09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340995"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1741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099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4099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34099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4C554E34-F0A9-43E7-A75E-6363291F165A}" type="slidenum">
              <a:rPr lang="en-US"/>
              <a:pPr>
                <a:defRPr/>
              </a:pPr>
              <a:t>‹#›</a:t>
            </a:fld>
            <a:endParaRPr lang="en-US"/>
          </a:p>
        </p:txBody>
      </p:sp>
    </p:spTree>
    <p:extLst>
      <p:ext uri="{BB962C8B-B14F-4D97-AF65-F5344CB8AC3E}">
        <p14:creationId xmlns:p14="http://schemas.microsoft.com/office/powerpoint/2010/main" val="1159265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p:cNvSpPr>
            <a:spLocks noGrp="1" noChangeArrowheads="1"/>
          </p:cNvSpPr>
          <p:nvPr>
            <p:ph type="ftr" sz="quarter" idx="4"/>
          </p:nvPr>
        </p:nvSpPr>
        <p:spPr>
          <a:noFill/>
          <a:ln>
            <a:miter lim="800000"/>
            <a:headEnd/>
            <a:tailEnd/>
          </a:ln>
        </p:spPr>
        <p:txBody>
          <a:bodyPr/>
          <a:lstStyle/>
          <a:p>
            <a:pPr eaLnBrk="1" hangingPunct="1"/>
            <a:r>
              <a:rPr lang="en-US" altLang="zh-CN">
                <a:latin typeface="Arial" charset="0"/>
              </a:rPr>
              <a:t>© School of Computer Science and Technology, SWUST </a:t>
            </a:r>
          </a:p>
        </p:txBody>
      </p:sp>
      <p:sp>
        <p:nvSpPr>
          <p:cNvPr id="22531" name="Rectangle 7"/>
          <p:cNvSpPr>
            <a:spLocks noGrp="1" noChangeArrowheads="1"/>
          </p:cNvSpPr>
          <p:nvPr>
            <p:ph type="sldNum" sz="quarter" idx="5"/>
          </p:nvPr>
        </p:nvSpPr>
        <p:spPr>
          <a:noFill/>
          <a:ln>
            <a:miter lim="800000"/>
            <a:headEnd/>
            <a:tailEnd/>
          </a:ln>
        </p:spPr>
        <p:txBody>
          <a:bodyPr/>
          <a:lstStyle/>
          <a:p>
            <a:pPr eaLnBrk="1" hangingPunct="1"/>
            <a:fld id="{C6707A4E-3D0A-48AC-AF10-B3BBC09F6379}" type="slidenum">
              <a:rPr lang="en-US" altLang="zh-CN" smtClean="0">
                <a:latin typeface="Arial" charset="0"/>
              </a:rPr>
              <a:pPr eaLnBrk="1" hangingPunct="1"/>
              <a:t>7</a:t>
            </a:fld>
            <a:endParaRPr lang="en-US" altLang="zh-CN">
              <a:latin typeface="Arial" charset="0"/>
            </a:endParaRPr>
          </a:p>
        </p:txBody>
      </p:sp>
      <p:sp>
        <p:nvSpPr>
          <p:cNvPr id="22532" name="Rectangle 2"/>
          <p:cNvSpPr>
            <a:spLocks noGrp="1" noRot="1" noChangeAspect="1" noChangeArrowheads="1" noTextEdit="1"/>
          </p:cNvSpPr>
          <p:nvPr>
            <p:ph type="sldImg"/>
          </p:nvPr>
        </p:nvSpPr>
        <p:spPr>
          <a:ln/>
        </p:spPr>
      </p:sp>
      <p:sp>
        <p:nvSpPr>
          <p:cNvPr id="22533" name="Rectangle 3"/>
          <p:cNvSpPr>
            <a:spLocks noGrp="1" noChangeArrowheads="1"/>
          </p:cNvSpPr>
          <p:nvPr>
            <p:ph type="body" idx="1"/>
          </p:nvPr>
        </p:nvSpPr>
        <p:spPr>
          <a:noFill/>
        </p:spPr>
        <p:txBody>
          <a:bodyPr/>
          <a:lstStyle/>
          <a:p>
            <a:pPr eaLnBrk="1" hangingPunct="1"/>
            <a:endParaRPr lang="zh-CN"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A9A2C271-88B3-4C9B-A56E-D398B75A0AD5}" type="slidenum">
              <a:rPr lang="en-US" altLang="zh-CN" smtClean="0"/>
              <a:pPr>
                <a:spcBef>
                  <a:spcPct val="0"/>
                </a:spcBef>
              </a:pPr>
              <a:t>8</a:t>
            </a:fld>
            <a:endParaRPr lang="en-US" altLang="zh-CN"/>
          </a:p>
        </p:txBody>
      </p:sp>
      <p:sp>
        <p:nvSpPr>
          <p:cNvPr id="26627" name="Rectangle 2"/>
          <p:cNvSpPr>
            <a:spLocks noGrp="1" noRot="1" noChangeAspect="1" noChangeArrowheads="1" noTextEdit="1"/>
          </p:cNvSpPr>
          <p:nvPr>
            <p:ph type="sldImg"/>
          </p:nvPr>
        </p:nvSpPr>
        <p:spPr>
          <a:ln/>
        </p:spPr>
      </p:sp>
      <p:sp>
        <p:nvSpPr>
          <p:cNvPr id="266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数据结构是入门课程</a:t>
            </a:r>
            <a:r>
              <a:rPr lang="en-US" altLang="zh-CN"/>
              <a:t>/</a:t>
            </a:r>
            <a:r>
              <a:rPr lang="zh-CN" altLang="en-US"/>
              <a:t>算法分析是高级课程</a:t>
            </a:r>
          </a:p>
          <a:p>
            <a:pPr eaLnBrk="1" hangingPunct="1"/>
            <a:r>
              <a:rPr lang="zh-CN" altLang="en-US"/>
              <a:t>数据结构解决具体的问题</a:t>
            </a:r>
            <a:r>
              <a:rPr lang="en-US" altLang="zh-CN"/>
              <a:t>/</a:t>
            </a:r>
            <a:r>
              <a:rPr lang="zh-CN" altLang="en-US"/>
              <a:t>算法分析考虑解决问题的一般方法</a:t>
            </a:r>
          </a:p>
          <a:p>
            <a:pPr eaLnBrk="1" hangingPunct="1"/>
            <a:endParaRPr lang="zh-CN" altLang="en-US"/>
          </a:p>
          <a:p>
            <a:pPr eaLnBrk="1" hangingPunct="1"/>
            <a:r>
              <a:rPr lang="zh-CN" altLang="en-US"/>
              <a:t>算法能解决的问题种类是有限的：如，不能找到使人生活愉快的算法，也不能找到一个使人富有和出名的算法。也不能找到一个算法使得考试得</a:t>
            </a:r>
            <a:r>
              <a:rPr lang="en-US" altLang="zh-CN"/>
              <a:t>100</a:t>
            </a:r>
            <a:r>
              <a:rPr lang="zh-CN" altLang="en-US"/>
              <a:t>分。</a:t>
            </a:r>
          </a:p>
        </p:txBody>
      </p:sp>
    </p:spTree>
    <p:extLst>
      <p:ext uri="{BB962C8B-B14F-4D97-AF65-F5344CB8AC3E}">
        <p14:creationId xmlns:p14="http://schemas.microsoft.com/office/powerpoint/2010/main" val="33978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CEB0217D-0E5B-4313-A676-3DF98DD14743}" type="slidenum">
              <a:rPr lang="en-US" altLang="zh-CN" smtClean="0"/>
              <a:pPr>
                <a:spcBef>
                  <a:spcPct val="0"/>
                </a:spcBef>
              </a:pPr>
              <a:t>9</a:t>
            </a:fld>
            <a:endParaRPr lang="en-US" altLang="zh-CN"/>
          </a:p>
        </p:txBody>
      </p:sp>
      <p:sp>
        <p:nvSpPr>
          <p:cNvPr id="28675" name="Rectangle 2"/>
          <p:cNvSpPr>
            <a:spLocks noGrp="1" noRot="1" noChangeAspect="1" noChangeArrowheads="1" noTextEdit="1"/>
          </p:cNvSpPr>
          <p:nvPr>
            <p:ph type="sldImg"/>
          </p:nvPr>
        </p:nvSpPr>
        <p:spPr>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多种定义方式</a:t>
            </a:r>
          </a:p>
        </p:txBody>
      </p:sp>
    </p:spTree>
    <p:extLst>
      <p:ext uri="{BB962C8B-B14F-4D97-AF65-F5344CB8AC3E}">
        <p14:creationId xmlns:p14="http://schemas.microsoft.com/office/powerpoint/2010/main" val="680702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ln w="12700">
            <a:miter lim="800000"/>
            <a:headEnd type="none" w="sm" len="sm"/>
            <a:tailEnd type="none" w="sm" len="sm"/>
          </a:ln>
        </p:spPr>
        <p:txBody>
          <a:bodyPr/>
          <a:lstStyle/>
          <a:p>
            <a:fld id="{F6FDE696-3ADB-4B7D-851B-2FF85C69375B}" type="slidenum">
              <a:rPr lang="en-US" altLang="zh-CN" smtClean="0"/>
              <a:pPr/>
              <a:t>10</a:t>
            </a:fld>
            <a:endParaRPr lang="en-US" altLang="zh-CN"/>
          </a:p>
        </p:txBody>
      </p:sp>
      <p:sp>
        <p:nvSpPr>
          <p:cNvPr id="21507" name="Rectangle 2"/>
          <p:cNvSpPr>
            <a:spLocks noGrp="1" noRot="1" noChangeAspect="1" noChangeArrowheads="1" noTextEdit="1"/>
          </p:cNvSpPr>
          <p:nvPr>
            <p:ph type="sldImg"/>
          </p:nvPr>
        </p:nvSpPr>
        <p:spPr>
          <a:xfrm>
            <a:off x="1149350" y="688975"/>
            <a:ext cx="4557713" cy="3419475"/>
          </a:xfrm>
          <a:noFill/>
          <a:ln w="12700" cap="flat">
            <a:solidFill>
              <a:schemeClr val="tx1"/>
            </a:solidFill>
          </a:ln>
        </p:spPr>
      </p:sp>
      <p:sp>
        <p:nvSpPr>
          <p:cNvPr id="21508" name="Rectangle 3"/>
          <p:cNvSpPr>
            <a:spLocks noGrp="1" noChangeArrowheads="1"/>
          </p:cNvSpPr>
          <p:nvPr>
            <p:ph type="body" idx="1"/>
          </p:nvPr>
        </p:nvSpPr>
        <p:spPr>
          <a:noFill/>
        </p:spPr>
        <p:txBody>
          <a:bodyPr lIns="92119" tIns="46841" rIns="92119" bIns="46841"/>
          <a:lstStyle/>
          <a:p>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7CC2BBCF-A776-405C-AB35-CF7CB975DC9A}" type="slidenum">
              <a:rPr lang="en-US" altLang="zh-CN" smtClean="0"/>
              <a:pPr>
                <a:spcBef>
                  <a:spcPct val="0"/>
                </a:spcBef>
              </a:pPr>
              <a:t>11</a:t>
            </a:fld>
            <a:endParaRPr lang="en-US" altLang="zh-CN"/>
          </a:p>
        </p:txBody>
      </p:sp>
      <p:sp>
        <p:nvSpPr>
          <p:cNvPr id="32771" name="Rectangle 2"/>
          <p:cNvSpPr>
            <a:spLocks noGrp="1" noRot="1" noChangeAspect="1" noChangeArrowheads="1" noTextEdit="1"/>
          </p:cNvSpPr>
          <p:nvPr>
            <p:ph type="sldImg"/>
          </p:nvPr>
        </p:nvSpPr>
        <p:spPr>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zh-CN"/>
              <a:t>1</a:t>
            </a:r>
            <a:r>
              <a:rPr lang="zh-CN" altLang="en-US"/>
              <a:t>、问题是否属于或者近似某些常见的问题，有则可借助现有算法求解，否则只能自己设计</a:t>
            </a:r>
          </a:p>
          <a:p>
            <a:pPr eaLnBrk="1" hangingPunct="1"/>
            <a:r>
              <a:rPr lang="en-US" altLang="zh-CN"/>
              <a:t>2</a:t>
            </a:r>
            <a:r>
              <a:rPr lang="zh-CN" altLang="en-US"/>
              <a:t>、计算设备的性能。</a:t>
            </a:r>
            <a:r>
              <a:rPr lang="en-US" altLang="zh-CN"/>
              <a:t>RAM</a:t>
            </a:r>
            <a:r>
              <a:rPr lang="zh-CN" altLang="en-US"/>
              <a:t>模型和并行算法不同</a:t>
            </a:r>
          </a:p>
          <a:p>
            <a:pPr eaLnBrk="1" hangingPunct="1"/>
            <a:r>
              <a:rPr lang="en-US" altLang="zh-CN"/>
              <a:t>3</a:t>
            </a:r>
            <a:r>
              <a:rPr lang="zh-CN" altLang="en-US"/>
              <a:t>、某些重要问题，如平方根，非线性方程组，求定积分无法求得精确解；某些问题复杂度太高，精确解的时间无法接受，如旅行商问题。近似解可能和精确解非常接近。</a:t>
            </a:r>
          </a:p>
          <a:p>
            <a:pPr eaLnBrk="1" hangingPunct="1"/>
            <a:r>
              <a:rPr lang="en-US" altLang="zh-CN"/>
              <a:t>4</a:t>
            </a:r>
            <a:r>
              <a:rPr lang="zh-CN" altLang="en-US"/>
              <a:t>、数据结构。。。。</a:t>
            </a:r>
          </a:p>
        </p:txBody>
      </p:sp>
    </p:spTree>
    <p:extLst>
      <p:ext uri="{BB962C8B-B14F-4D97-AF65-F5344CB8AC3E}">
        <p14:creationId xmlns:p14="http://schemas.microsoft.com/office/powerpoint/2010/main" val="24019221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a:spcBef>
                <a:spcPct val="0"/>
              </a:spcBef>
            </a:pPr>
            <a:fld id="{B295C84C-A49E-4E3E-8DCC-867ACFF32A09}" type="slidenum">
              <a:rPr lang="en-US" altLang="zh-CN" smtClean="0"/>
              <a:pPr>
                <a:spcBef>
                  <a:spcPct val="0"/>
                </a:spcBef>
              </a:pPr>
              <a:t>12</a:t>
            </a:fld>
            <a:endParaRPr lang="en-US" altLang="zh-CN"/>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r>
              <a:rPr lang="zh-CN" altLang="en-US"/>
              <a:t>最优性和问题有关，和算法无关：</a:t>
            </a:r>
          </a:p>
          <a:p>
            <a:pPr lvl="1" eaLnBrk="1" hangingPunct="1"/>
            <a:r>
              <a:rPr lang="zh-CN" altLang="en-US"/>
              <a:t>有时很容易，如查找或者排序；有时很难，如矩阵乘法</a:t>
            </a:r>
          </a:p>
          <a:p>
            <a:pPr lvl="1" eaLnBrk="1" hangingPunct="1"/>
            <a:endParaRPr lang="zh-CN" altLang="en-US"/>
          </a:p>
          <a:p>
            <a:pPr eaLnBrk="1" hangingPunct="1"/>
            <a:endParaRPr lang="en-US" altLang="zh-CN"/>
          </a:p>
        </p:txBody>
      </p:sp>
    </p:spTree>
    <p:extLst>
      <p:ext uri="{BB962C8B-B14F-4D97-AF65-F5344CB8AC3E}">
        <p14:creationId xmlns:p14="http://schemas.microsoft.com/office/powerpoint/2010/main" val="24236762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8EA0CD4-16DB-4EC8-A1C9-625DBE11E2C8}" type="slidenum">
              <a:rPr lang="en-US" smtClean="0"/>
              <a:pPr/>
              <a:t>13</a:t>
            </a:fld>
            <a:endParaRPr lang="en-US"/>
          </a:p>
        </p:txBody>
      </p:sp>
    </p:spTree>
    <p:extLst>
      <p:ext uri="{BB962C8B-B14F-4D97-AF65-F5344CB8AC3E}">
        <p14:creationId xmlns:p14="http://schemas.microsoft.com/office/powerpoint/2010/main" val="38685792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Tree>
    <p:extLst>
      <p:ext uri="{BB962C8B-B14F-4D97-AF65-F5344CB8AC3E}">
        <p14:creationId xmlns:p14="http://schemas.microsoft.com/office/powerpoint/2010/main" val="42491223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spcBef>
                <a:spcPts val="0"/>
              </a:spcBef>
            </a:pPr>
            <a:r>
              <a:rPr lang="en-US" sz="1200" b="0" dirty="0"/>
              <a:t>c ≥ 1 </a:t>
            </a:r>
            <a:r>
              <a:rPr lang="en-US" sz="1200" b="0" dirty="0">
                <a:sym typeface="Wingdings" pitchFamily="2" charset="2"/>
              </a:rPr>
              <a:t> </a:t>
            </a:r>
            <a:r>
              <a:rPr lang="en-US" sz="1200" b="0" dirty="0"/>
              <a:t>we can hold the value of n </a:t>
            </a:r>
            <a:r>
              <a:rPr lang="en-US" sz="1200" b="0" dirty="0">
                <a:sym typeface="Wingdings" pitchFamily="2" charset="2"/>
              </a:rPr>
              <a:t> </a:t>
            </a:r>
            <a:r>
              <a:rPr lang="en-US" sz="1200" b="0" dirty="0"/>
              <a:t>we can index the individual elements.</a:t>
            </a:r>
          </a:p>
          <a:p>
            <a:pPr>
              <a:spcBef>
                <a:spcPts val="0"/>
              </a:spcBef>
            </a:pPr>
            <a:r>
              <a:rPr lang="en-US" sz="1200" b="0" dirty="0"/>
              <a:t>c is a constant </a:t>
            </a:r>
            <a:r>
              <a:rPr lang="en-US" sz="1200" b="0" dirty="0">
                <a:sym typeface="Wingdings" pitchFamily="2" charset="2"/>
              </a:rPr>
              <a:t> </a:t>
            </a:r>
            <a:r>
              <a:rPr lang="en-US" sz="1200" b="0" dirty="0"/>
              <a:t>the word size cannot grow arbitrarily.</a:t>
            </a:r>
          </a:p>
          <a:p>
            <a:endParaRPr lang="en-US" dirty="0"/>
          </a:p>
        </p:txBody>
      </p:sp>
    </p:spTree>
    <p:extLst>
      <p:ext uri="{BB962C8B-B14F-4D97-AF65-F5344CB8AC3E}">
        <p14:creationId xmlns:p14="http://schemas.microsoft.com/office/powerpoint/2010/main" val="8710985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1120828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3393648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356733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dirty="0"/>
          </a:p>
        </p:txBody>
      </p:sp>
    </p:spTree>
    <p:extLst>
      <p:ext uri="{BB962C8B-B14F-4D97-AF65-F5344CB8AC3E}">
        <p14:creationId xmlns:p14="http://schemas.microsoft.com/office/powerpoint/2010/main" val="581246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Use “search” as</a:t>
            </a:r>
            <a:r>
              <a:rPr lang="en-US" baseline="0" dirty="0"/>
              <a:t> an example to explain “average case”.</a:t>
            </a:r>
            <a:endParaRPr lang="en-US" dirty="0"/>
          </a:p>
          <a:p>
            <a:r>
              <a:rPr lang="en-US" dirty="0"/>
              <a:t>Average</a:t>
            </a:r>
            <a:r>
              <a:rPr lang="en-US" baseline="0" dirty="0"/>
              <a:t> case: One may assume that all possible input instances have the same probability to occur. But in practice, different instances often have different probabilities. For example, students’ GPA values do not have uniform distribution among the possible values in [0, 4].</a:t>
            </a:r>
            <a:endParaRPr lang="en-US" dirty="0"/>
          </a:p>
        </p:txBody>
      </p:sp>
    </p:spTree>
    <p:extLst>
      <p:ext uri="{BB962C8B-B14F-4D97-AF65-F5344CB8AC3E}">
        <p14:creationId xmlns:p14="http://schemas.microsoft.com/office/powerpoint/2010/main" val="8408113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77C090C-070F-40D8-8BFA-06B7D2A7CD5F}" type="slidenum">
              <a:rPr lang="en-US" altLang="zh-CN"/>
              <a:pPr eaLnBrk="1" hangingPunct="1"/>
              <a:t>25</a:t>
            </a:fld>
            <a:endParaRPr lang="en-US" altLang="zh-CN"/>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2491597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b="0" dirty="0"/>
          </a:p>
        </p:txBody>
      </p:sp>
    </p:spTree>
    <p:extLst>
      <p:ext uri="{BB962C8B-B14F-4D97-AF65-F5344CB8AC3E}">
        <p14:creationId xmlns:p14="http://schemas.microsoft.com/office/powerpoint/2010/main" val="6588842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b="0" dirty="0"/>
          </a:p>
        </p:txBody>
      </p:sp>
    </p:spTree>
    <p:extLst>
      <p:ext uri="{BB962C8B-B14F-4D97-AF65-F5344CB8AC3E}">
        <p14:creationId xmlns:p14="http://schemas.microsoft.com/office/powerpoint/2010/main" val="20316242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b="0" dirty="0"/>
          </a:p>
        </p:txBody>
      </p:sp>
    </p:spTree>
    <p:extLst>
      <p:ext uri="{BB962C8B-B14F-4D97-AF65-F5344CB8AC3E}">
        <p14:creationId xmlns:p14="http://schemas.microsoft.com/office/powerpoint/2010/main" val="29637713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50938" y="692150"/>
            <a:ext cx="4556125" cy="34163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b="0" dirty="0"/>
          </a:p>
        </p:txBody>
      </p:sp>
    </p:spTree>
    <p:extLst>
      <p:ext uri="{BB962C8B-B14F-4D97-AF65-F5344CB8AC3E}">
        <p14:creationId xmlns:p14="http://schemas.microsoft.com/office/powerpoint/2010/main" val="27504552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1E42AE-A9F9-40F2-A7D8-326615524860}" type="slidenum">
              <a:rPr lang="en-US" smtClean="0"/>
              <a:pPr/>
              <a:t>32</a:t>
            </a:fld>
            <a:endParaRPr lang="en-US"/>
          </a:p>
        </p:txBody>
      </p:sp>
    </p:spTree>
    <p:extLst>
      <p:ext uri="{BB962C8B-B14F-4D97-AF65-F5344CB8AC3E}">
        <p14:creationId xmlns:p14="http://schemas.microsoft.com/office/powerpoint/2010/main" val="1537879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A1E42AE-A9F9-40F2-A7D8-326615524860}" type="slidenum">
              <a:rPr lang="en-US" smtClean="0"/>
              <a:pPr/>
              <a:t>33</a:t>
            </a:fld>
            <a:endParaRPr lang="en-US"/>
          </a:p>
        </p:txBody>
      </p:sp>
    </p:spTree>
    <p:extLst>
      <p:ext uri="{BB962C8B-B14F-4D97-AF65-F5344CB8AC3E}">
        <p14:creationId xmlns:p14="http://schemas.microsoft.com/office/powerpoint/2010/main" val="13458678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EAAFF02-366B-418B-A8F0-78EB3CB06DF4}" type="slidenum">
              <a:rPr lang="en-US" altLang="zh-CN"/>
              <a:pPr eaLnBrk="1" hangingPunct="1"/>
              <a:t>35</a:t>
            </a:fld>
            <a:endParaRPr lang="en-US" altLang="zh-CN"/>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latin typeface="Arial" panose="020B0604020202020204" pitchFamily="34" charset="0"/>
            </a:endParaRPr>
          </a:p>
        </p:txBody>
      </p:sp>
    </p:spTree>
    <p:extLst>
      <p:ext uri="{BB962C8B-B14F-4D97-AF65-F5344CB8AC3E}">
        <p14:creationId xmlns:p14="http://schemas.microsoft.com/office/powerpoint/2010/main" val="14150527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p:txBody>
          <a:bodyPr/>
          <a:lstStyle>
            <a:lvl1pPr algn="ctr" defTabSz="914485" eaLnBrk="0" hangingPunct="0">
              <a:defRPr sz="2300">
                <a:solidFill>
                  <a:schemeClr val="tx1"/>
                </a:solidFill>
                <a:latin typeface="Times New Roman" pitchFamily="18" charset="0"/>
              </a:defRPr>
            </a:lvl1pPr>
            <a:lvl2pPr marL="702756" indent="-270291" algn="ctr" defTabSz="914485" eaLnBrk="0" hangingPunct="0">
              <a:defRPr sz="2300">
                <a:solidFill>
                  <a:schemeClr val="tx1"/>
                </a:solidFill>
                <a:latin typeface="Times New Roman" pitchFamily="18" charset="0"/>
              </a:defRPr>
            </a:lvl2pPr>
            <a:lvl3pPr marL="1081164" indent="-216233" algn="ctr" defTabSz="914485" eaLnBrk="0" hangingPunct="0">
              <a:defRPr sz="2300">
                <a:solidFill>
                  <a:schemeClr val="tx1"/>
                </a:solidFill>
                <a:latin typeface="Times New Roman" pitchFamily="18" charset="0"/>
              </a:defRPr>
            </a:lvl3pPr>
            <a:lvl4pPr marL="1513629" indent="-216233" algn="ctr" defTabSz="914485" eaLnBrk="0" hangingPunct="0">
              <a:defRPr sz="2300">
                <a:solidFill>
                  <a:schemeClr val="tx1"/>
                </a:solidFill>
                <a:latin typeface="Times New Roman" pitchFamily="18" charset="0"/>
              </a:defRPr>
            </a:lvl4pPr>
            <a:lvl5pPr marL="1946095" indent="-216233" algn="ctr" defTabSz="914485" eaLnBrk="0" hangingPunct="0">
              <a:defRPr sz="2300">
                <a:solidFill>
                  <a:schemeClr val="tx1"/>
                </a:solidFill>
                <a:latin typeface="Times New Roman" pitchFamily="18" charset="0"/>
              </a:defRPr>
            </a:lvl5pPr>
            <a:lvl6pPr marL="2378560" indent="-216233" algn="ctr" defTabSz="914485" eaLnBrk="0" fontAlgn="base" hangingPunct="0">
              <a:spcBef>
                <a:spcPct val="0"/>
              </a:spcBef>
              <a:spcAft>
                <a:spcPct val="0"/>
              </a:spcAft>
              <a:defRPr sz="2300">
                <a:solidFill>
                  <a:schemeClr val="tx1"/>
                </a:solidFill>
                <a:latin typeface="Times New Roman" pitchFamily="18" charset="0"/>
              </a:defRPr>
            </a:lvl6pPr>
            <a:lvl7pPr marL="2811026" indent="-216233" algn="ctr" defTabSz="914485" eaLnBrk="0" fontAlgn="base" hangingPunct="0">
              <a:spcBef>
                <a:spcPct val="0"/>
              </a:spcBef>
              <a:spcAft>
                <a:spcPct val="0"/>
              </a:spcAft>
              <a:defRPr sz="2300">
                <a:solidFill>
                  <a:schemeClr val="tx1"/>
                </a:solidFill>
                <a:latin typeface="Times New Roman" pitchFamily="18" charset="0"/>
              </a:defRPr>
            </a:lvl7pPr>
            <a:lvl8pPr marL="3243491" indent="-216233" algn="ctr" defTabSz="914485" eaLnBrk="0" fontAlgn="base" hangingPunct="0">
              <a:spcBef>
                <a:spcPct val="0"/>
              </a:spcBef>
              <a:spcAft>
                <a:spcPct val="0"/>
              </a:spcAft>
              <a:defRPr sz="2300">
                <a:solidFill>
                  <a:schemeClr val="tx1"/>
                </a:solidFill>
                <a:latin typeface="Times New Roman" pitchFamily="18" charset="0"/>
              </a:defRPr>
            </a:lvl8pPr>
            <a:lvl9pPr marL="3675957" indent="-216233" algn="ctr" defTabSz="914485" eaLnBrk="0" fontAlgn="base" hangingPunct="0">
              <a:spcBef>
                <a:spcPct val="0"/>
              </a:spcBef>
              <a:spcAft>
                <a:spcPct val="0"/>
              </a:spcAft>
              <a:defRPr sz="2300">
                <a:solidFill>
                  <a:schemeClr val="tx1"/>
                </a:solidFill>
                <a:latin typeface="Times New Roman" pitchFamily="18" charset="0"/>
              </a:defRPr>
            </a:lvl9pPr>
          </a:lstStyle>
          <a:p>
            <a:pPr algn="r">
              <a:defRPr/>
            </a:pPr>
            <a:fld id="{500F600E-923D-4506-AC06-BF1D2217F182}" type="slidenum">
              <a:rPr lang="en-US" altLang="zh-CN" sz="1100" smtClean="0"/>
              <a:pPr algn="r">
                <a:defRPr/>
              </a:pPr>
              <a:t>39</a:t>
            </a:fld>
            <a:endParaRPr lang="en-US" altLang="zh-CN" sz="1100" dirty="0"/>
          </a:p>
        </p:txBody>
      </p:sp>
      <p:sp>
        <p:nvSpPr>
          <p:cNvPr id="84995" name="Rectangle 1026"/>
          <p:cNvSpPr>
            <a:spLocks noGrp="1" noRot="1" noChangeAspect="1" noChangeArrowheads="1" noTextEdit="1"/>
          </p:cNvSpPr>
          <p:nvPr>
            <p:ph type="sldImg"/>
          </p:nvPr>
        </p:nvSpPr>
        <p:spPr>
          <a:xfrm>
            <a:off x="1144588" y="652463"/>
            <a:ext cx="4570412" cy="3429000"/>
          </a:xfrm>
          <a:ln/>
        </p:spPr>
      </p:sp>
      <p:sp>
        <p:nvSpPr>
          <p:cNvPr id="84996" name="Rectangle 1027"/>
          <p:cNvSpPr>
            <a:spLocks noGrp="1" noChangeArrowheads="1"/>
          </p:cNvSpPr>
          <p:nvPr>
            <p:ph type="body" idx="1"/>
          </p:nvPr>
        </p:nvSpPr>
        <p:spPr>
          <a:noFill/>
        </p:spPr>
        <p:txBody>
          <a:bodyPr/>
          <a:lstStyle/>
          <a:p>
            <a:endParaRPr lang="en-US" altLang="zh-CN"/>
          </a:p>
          <a:p>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标题幻灯片">
    <p:spTree>
      <p:nvGrpSpPr>
        <p:cNvPr id="1" name=""/>
        <p:cNvGrpSpPr/>
        <p:nvPr/>
      </p:nvGrpSpPr>
      <p:grpSpPr>
        <a:xfrm>
          <a:off x="0" y="0"/>
          <a:ext cx="0" cy="0"/>
          <a:chOff x="0" y="0"/>
          <a:chExt cx="0" cy="0"/>
        </a:xfrm>
      </p:grpSpPr>
      <p:grpSp>
        <p:nvGrpSpPr>
          <p:cNvPr id="2" name="Group 2"/>
          <p:cNvGrpSpPr>
            <a:grpSpLocks/>
          </p:cNvGrpSpPr>
          <p:nvPr/>
        </p:nvGrpSpPr>
        <p:grpSpPr bwMode="auto">
          <a:xfrm>
            <a:off x="0" y="0"/>
            <a:ext cx="9144000" cy="6858000"/>
            <a:chOff x="0" y="0"/>
            <a:chExt cx="5760" cy="4320"/>
          </a:xfrm>
        </p:grpSpPr>
        <p:sp>
          <p:nvSpPr>
            <p:cNvPr id="3" name="Rectangle 3"/>
            <p:cNvSpPr>
              <a:spLocks noChangeArrowheads="1"/>
            </p:cNvSpPr>
            <p:nvPr/>
          </p:nvSpPr>
          <p:spPr bwMode="hidden">
            <a:xfrm>
              <a:off x="0" y="0"/>
              <a:ext cx="5760" cy="535"/>
            </a:xfrm>
            <a:prstGeom prst="rect">
              <a:avLst/>
            </a:prstGeom>
            <a:gradFill rotWithShape="0">
              <a:gsLst>
                <a:gs pos="0">
                  <a:schemeClr val="folHlink"/>
                </a:gs>
                <a:gs pos="100000">
                  <a:schemeClr val="bg1"/>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sp>
          <p:nvSpPr>
            <p:cNvPr id="4" name="Rectangle 4"/>
            <p:cNvSpPr>
              <a:spLocks noChangeArrowheads="1"/>
            </p:cNvSpPr>
            <p:nvPr/>
          </p:nvSpPr>
          <p:spPr bwMode="hidden">
            <a:xfrm>
              <a:off x="0" y="3147"/>
              <a:ext cx="5760" cy="1173"/>
            </a:xfrm>
            <a:prstGeom prst="rect">
              <a:avLst/>
            </a:prstGeom>
            <a:gradFill rotWithShape="0">
              <a:gsLst>
                <a:gs pos="0">
                  <a:schemeClr val="bg1"/>
                </a:gs>
                <a:gs pos="100000">
                  <a:schemeClr val="folHlink"/>
                </a:gs>
              </a:gsLst>
              <a:lin ang="5400000" scaled="1"/>
            </a:gradFill>
            <a:ln>
              <a:noFill/>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grpSp>
      <p:sp>
        <p:nvSpPr>
          <p:cNvPr id="5" name="Rectangle 10"/>
          <p:cNvSpPr>
            <a:spLocks noChangeArrowheads="1"/>
          </p:cNvSpPr>
          <p:nvPr/>
        </p:nvSpPr>
        <p:spPr bwMode="auto">
          <a:xfrm>
            <a:off x="463550" y="2700338"/>
            <a:ext cx="161925" cy="4157662"/>
          </a:xfrm>
          <a:prstGeom prst="rect">
            <a:avLst/>
          </a:prstGeom>
          <a:noFill/>
          <a:ln>
            <a:noFill/>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76200"/>
            <a:ext cx="8382000" cy="685800"/>
          </a:xfrm>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266825"/>
            <a:ext cx="4076700" cy="4905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838700" y="1266825"/>
            <a:ext cx="4076700" cy="4905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0"/>
            <a:ext cx="8229600" cy="9144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96100" y="152400"/>
            <a:ext cx="2095500" cy="6019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152400"/>
            <a:ext cx="6134100" cy="6019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标题幻灯片">
    <p:bg>
      <p:bgRef idx="1003">
        <a:schemeClr val="bg2"/>
      </p:bgRef>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173157"/>
            <a:ext cx="7772400" cy="1470025"/>
          </a:xfrm>
        </p:spPr>
        <p:txBody>
          <a:bodyPr anchor="b"/>
          <a:lstStyle>
            <a:lvl1pPr algn="l">
              <a:defRPr sz="4800"/>
            </a:lvl1pPr>
          </a:lstStyle>
          <a:p>
            <a:r>
              <a:rPr kumimoji="0" lang="zh-CN" altLang="en-US"/>
              <a:t>单击此处编辑母版标题样式</a:t>
            </a:r>
            <a:endParaRPr kumimoji="0" lang="en-US"/>
          </a:p>
        </p:txBody>
      </p:sp>
      <p:sp>
        <p:nvSpPr>
          <p:cNvPr id="3" name="副标题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CN" altLang="en-US"/>
              <a:t>单击此处编辑母版副标题样式</a:t>
            </a:r>
            <a:endParaRPr kumimoji="0" lang="en-US"/>
          </a:p>
        </p:txBody>
      </p:sp>
      <p:sp>
        <p:nvSpPr>
          <p:cNvPr id="4" name="日期占位符 3"/>
          <p:cNvSpPr>
            <a:spLocks noGrp="1"/>
          </p:cNvSpPr>
          <p:nvPr>
            <p:ph type="dt" sz="half" idx="10"/>
          </p:nvPr>
        </p:nvSpPr>
        <p:spPr>
          <a:xfrm>
            <a:off x="457200" y="6356350"/>
            <a:ext cx="2133600" cy="365125"/>
          </a:xfrm>
          <a:prstGeom prst="rect">
            <a:avLst/>
          </a:prstGeom>
        </p:spPr>
        <p:txBody>
          <a:bodyPr/>
          <a:lstStyle/>
          <a:p>
            <a:pPr>
              <a:defRPr/>
            </a:pPr>
            <a:endParaRPr lang="en-US"/>
          </a:p>
        </p:txBody>
      </p:sp>
      <p:sp>
        <p:nvSpPr>
          <p:cNvPr id="5" name="页脚占位符 4"/>
          <p:cNvSpPr>
            <a:spLocks noGrp="1"/>
          </p:cNvSpPr>
          <p:nvPr>
            <p:ph type="ftr" sz="quarter" idx="11"/>
          </p:nvPr>
        </p:nvSpPr>
        <p:spPr>
          <a:xfrm>
            <a:off x="3124200" y="6356350"/>
            <a:ext cx="2895600" cy="365125"/>
          </a:xfrm>
          <a:prstGeom prst="rect">
            <a:avLst/>
          </a:prstGeom>
        </p:spPr>
        <p:txBody>
          <a:bodyPr/>
          <a:lstStyle/>
          <a:p>
            <a:pPr>
              <a:defRPr/>
            </a:pPr>
            <a:endParaRPr lang="en-US"/>
          </a:p>
        </p:txBody>
      </p:sp>
      <p:sp>
        <p:nvSpPr>
          <p:cNvPr id="6" name="灯片编号占位符 5"/>
          <p:cNvSpPr>
            <a:spLocks noGrp="1"/>
          </p:cNvSpPr>
          <p:nvPr>
            <p:ph type="sldNum" sz="quarter" idx="12"/>
          </p:nvPr>
        </p:nvSpPr>
        <p:spPr>
          <a:xfrm>
            <a:off x="6553200" y="6356350"/>
            <a:ext cx="2133600" cy="365125"/>
          </a:xfrm>
          <a:prstGeom prst="rect">
            <a:avLst/>
          </a:prstGeom>
        </p:spPr>
        <p:txBody>
          <a:bodyPr/>
          <a:lstStyle/>
          <a:p>
            <a:pPr>
              <a:defRPr/>
            </a:pPr>
            <a:fld id="{FFD6B5BC-2097-459A-BEAF-07896CD9F0E7}" type="slidenum">
              <a:rPr lang="en-US" smtClean="0"/>
              <a:pPr>
                <a:defRPr/>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115888"/>
            <a:ext cx="7848600" cy="762000"/>
          </a:xfrm>
        </p:spPr>
        <p:txBody>
          <a:bodyPr/>
          <a:lstStyle/>
          <a:p>
            <a:r>
              <a:rPr lang="zh-CN" altLang="en-US"/>
              <a:t>单击此处编辑母版标题样式</a:t>
            </a:r>
          </a:p>
        </p:txBody>
      </p:sp>
      <p:sp>
        <p:nvSpPr>
          <p:cNvPr id="3" name="文本占位符 2"/>
          <p:cNvSpPr>
            <a:spLocks noGrp="1"/>
          </p:cNvSpPr>
          <p:nvPr>
            <p:ph type="body" sz="half" idx="1"/>
          </p:nvPr>
        </p:nvSpPr>
        <p:spPr>
          <a:xfrm>
            <a:off x="685800" y="1185863"/>
            <a:ext cx="3810000" cy="48355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185863"/>
            <a:ext cx="3810000" cy="234156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679825"/>
            <a:ext cx="3810000" cy="23415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30"/>
          <p:cNvSpPr>
            <a:spLocks noGrp="1" noChangeArrowheads="1"/>
          </p:cNvSpPr>
          <p:nvPr>
            <p:ph type="dt" sz="half" idx="10"/>
          </p:nvPr>
        </p:nvSpPr>
        <p:spPr>
          <a:xfrm>
            <a:off x="685800" y="6248400"/>
            <a:ext cx="1905000" cy="457200"/>
          </a:xfrm>
          <a:prstGeom prst="rect">
            <a:avLst/>
          </a:prstGeom>
        </p:spPr>
        <p:txBody>
          <a:bodyPr/>
          <a:lstStyle>
            <a:lvl1pPr eaLnBrk="0" hangingPunct="0">
              <a:defRPr/>
            </a:lvl1pPr>
          </a:lstStyle>
          <a:p>
            <a:pPr>
              <a:defRPr/>
            </a:pPr>
            <a:fld id="{002309F9-B896-4975-893F-9FA1EAEA8DD2}" type="datetime1">
              <a:rPr lang="zh-CN" altLang="en-US"/>
              <a:pPr>
                <a:defRPr/>
              </a:pPr>
              <a:t>2024/3/4</a:t>
            </a:fld>
            <a:endParaRPr lang="en-US" altLang="zh-CN"/>
          </a:p>
        </p:txBody>
      </p:sp>
      <p:sp>
        <p:nvSpPr>
          <p:cNvPr id="7" name="Rectangle 31"/>
          <p:cNvSpPr>
            <a:spLocks noGrp="1" noChangeArrowheads="1"/>
          </p:cNvSpPr>
          <p:nvPr>
            <p:ph type="ftr" sz="quarter" idx="11"/>
          </p:nvPr>
        </p:nvSpPr>
        <p:spPr>
          <a:xfrm>
            <a:off x="3124200" y="6248400"/>
            <a:ext cx="2895600" cy="457200"/>
          </a:xfrm>
          <a:prstGeom prst="rect">
            <a:avLst/>
          </a:prstGeom>
        </p:spPr>
        <p:txBody>
          <a:bodyPr/>
          <a:lstStyle>
            <a:lvl1pPr algn="l" eaLnBrk="0" hangingPunct="0">
              <a:defRPr/>
            </a:lvl1pPr>
          </a:lstStyle>
          <a:p>
            <a:pPr>
              <a:defRPr/>
            </a:pPr>
            <a:r>
              <a:rPr lang="zh-CN" altLang="en-US"/>
              <a:t>算法设计与分析</a:t>
            </a:r>
            <a:endParaRPr lang="en-US" altLang="zh-CN"/>
          </a:p>
        </p:txBody>
      </p:sp>
      <p:sp>
        <p:nvSpPr>
          <p:cNvPr id="8" name="Rectangle 32"/>
          <p:cNvSpPr>
            <a:spLocks noGrp="1" noChangeArrowheads="1"/>
          </p:cNvSpPr>
          <p:nvPr>
            <p:ph type="sldNum" sz="quarter" idx="12"/>
          </p:nvPr>
        </p:nvSpPr>
        <p:spPr>
          <a:xfrm>
            <a:off x="6553200" y="6248400"/>
            <a:ext cx="1905000" cy="457200"/>
          </a:xfrm>
          <a:prstGeom prst="rect">
            <a:avLst/>
          </a:prstGeom>
        </p:spPr>
        <p:txBody>
          <a:bodyPr/>
          <a:lstStyle>
            <a:lvl1pPr eaLnBrk="0" hangingPunct="0">
              <a:defRPr smtClean="0"/>
            </a:lvl1pPr>
          </a:lstStyle>
          <a:p>
            <a:pPr>
              <a:defRPr/>
            </a:pPr>
            <a:fld id="{84D0CFBF-E99B-4436-B75E-EEB20DB599AD}" type="slidenum">
              <a:rPr lang="en-US" altLang="zh-CN"/>
              <a:pPr>
                <a:defRPr/>
              </a:pPr>
              <a:t>‹#›</a:t>
            </a:fld>
            <a:endParaRPr lang="en-US" altLang="zh-CN"/>
          </a:p>
        </p:txBody>
      </p:sp>
    </p:spTree>
    <p:extLst>
      <p:ext uri="{BB962C8B-B14F-4D97-AF65-F5344CB8AC3E}">
        <p14:creationId xmlns:p14="http://schemas.microsoft.com/office/powerpoint/2010/main" val="32294746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dgm">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1150938" y="214313"/>
            <a:ext cx="7793037" cy="1462087"/>
          </a:xfrm>
        </p:spPr>
        <p:txBody>
          <a:bodyPr/>
          <a:lstStyle/>
          <a:p>
            <a:r>
              <a:rPr lang="zh-CN" altLang="en-US"/>
              <a:t>单击此处编辑母版标题样式</a:t>
            </a:r>
          </a:p>
        </p:txBody>
      </p:sp>
      <p:sp>
        <p:nvSpPr>
          <p:cNvPr id="3" name="SmartArt 占位符 2"/>
          <p:cNvSpPr>
            <a:spLocks noGrp="1"/>
          </p:cNvSpPr>
          <p:nvPr>
            <p:ph type="dgm" idx="1"/>
          </p:nvPr>
        </p:nvSpPr>
        <p:spPr>
          <a:xfrm>
            <a:off x="1182688" y="2017713"/>
            <a:ext cx="7772400" cy="4114800"/>
          </a:xfrm>
        </p:spPr>
        <p:txBody>
          <a:bodyPr/>
          <a:lstStyle/>
          <a:p>
            <a:pPr lvl="0"/>
            <a:endParaRPr lang="zh-CN" altLang="en-US" noProof="0"/>
          </a:p>
        </p:txBody>
      </p:sp>
      <p:sp>
        <p:nvSpPr>
          <p:cNvPr id="4" name="Rectangle 11"/>
          <p:cNvSpPr>
            <a:spLocks noGrp="1" noChangeArrowheads="1"/>
          </p:cNvSpPr>
          <p:nvPr>
            <p:ph type="dt" sz="half" idx="10"/>
          </p:nvPr>
        </p:nvSpPr>
        <p:spPr>
          <a:xfrm>
            <a:off x="685800" y="6248400"/>
            <a:ext cx="1905000" cy="457200"/>
          </a:xfrm>
          <a:prstGeom prst="rect">
            <a:avLst/>
          </a:prstGeom>
          <a:ln/>
        </p:spPr>
        <p:txBody>
          <a:bodyPr/>
          <a:lstStyle>
            <a:lvl1pPr>
              <a:defRPr/>
            </a:lvl1pPr>
          </a:lstStyle>
          <a:p>
            <a:pPr>
              <a:defRPr/>
            </a:pPr>
            <a:endParaRPr lang="en-US" altLang="zh-CN"/>
          </a:p>
        </p:txBody>
      </p:sp>
      <p:sp>
        <p:nvSpPr>
          <p:cNvPr id="5" name="Rectangle 12"/>
          <p:cNvSpPr>
            <a:spLocks noGrp="1" noChangeArrowheads="1"/>
          </p:cNvSpPr>
          <p:nvPr>
            <p:ph type="ftr" sz="quarter" idx="11"/>
          </p:nvPr>
        </p:nvSpPr>
        <p:spPr>
          <a:xfrm>
            <a:off x="3124200" y="6248400"/>
            <a:ext cx="2895600" cy="457200"/>
          </a:xfrm>
          <a:prstGeom prst="rect">
            <a:avLst/>
          </a:prstGeom>
          <a:ln/>
        </p:spPr>
        <p:txBody>
          <a:bodyPr/>
          <a:lstStyle>
            <a:lvl1pPr>
              <a:defRPr/>
            </a:lvl1pPr>
          </a:lstStyle>
          <a:p>
            <a:pPr>
              <a:defRPr/>
            </a:pPr>
            <a:endParaRPr lang="en-US" altLang="zh-CN"/>
          </a:p>
        </p:txBody>
      </p:sp>
      <p:sp>
        <p:nvSpPr>
          <p:cNvPr id="6" name="Rectangle 13"/>
          <p:cNvSpPr>
            <a:spLocks noGrp="1" noChangeArrowheads="1"/>
          </p:cNvSpPr>
          <p:nvPr>
            <p:ph type="sldNum" sz="quarter" idx="12"/>
          </p:nvPr>
        </p:nvSpPr>
        <p:spPr>
          <a:xfrm>
            <a:off x="6553200" y="6248400"/>
            <a:ext cx="1905000" cy="457200"/>
          </a:xfrm>
          <a:prstGeom prst="rect">
            <a:avLst/>
          </a:prstGeom>
          <a:ln/>
        </p:spPr>
        <p:txBody>
          <a:bodyPr/>
          <a:lstStyle>
            <a:lvl1pPr>
              <a:defRPr/>
            </a:lvl1pPr>
          </a:lstStyle>
          <a:p>
            <a:pPr>
              <a:defRPr/>
            </a:pPr>
            <a:fld id="{28E5C0C6-49FD-4F5C-808F-52B0EC87FF9C}" type="slidenum">
              <a:rPr lang="en-US" altLang="zh-CN"/>
              <a:pPr>
                <a:defRPr/>
              </a:pPr>
              <a:t>‹#›</a:t>
            </a:fld>
            <a:endParaRPr lang="en-US" altLang="zh-CN"/>
          </a:p>
        </p:txBody>
      </p:sp>
    </p:spTree>
    <p:extLst>
      <p:ext uri="{BB962C8B-B14F-4D97-AF65-F5344CB8AC3E}">
        <p14:creationId xmlns:p14="http://schemas.microsoft.com/office/powerpoint/2010/main" val="13700569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FD0D910A-8752-4127-BFD7-E368401D0E4E}" type="datetimeFigureOut">
              <a:rPr lang="zh-CN" altLang="en-US" smtClean="0"/>
              <a:pPr/>
              <a:t>2024/3/4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D8E7EC-1B0B-4459-B7CD-79C8FF29AF3D}" type="slidenum">
              <a:rPr lang="zh-CN" altLang="en-US" smtClean="0"/>
              <a:pPr/>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D0D910A-8752-4127-BFD7-E368401D0E4E}" type="datetimeFigureOut">
              <a:rPr lang="zh-CN" altLang="en-US" smtClean="0"/>
              <a:pPr/>
              <a:t>2024/3/4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D8E7EC-1B0B-4459-B7CD-79C8FF29AF3D}" type="slidenum">
              <a:rPr lang="zh-CN" altLang="en-US" smtClean="0"/>
              <a:pPr/>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FD0D910A-8752-4127-BFD7-E368401D0E4E}" type="datetimeFigureOut">
              <a:rPr lang="zh-CN" altLang="en-US" smtClean="0"/>
              <a:pPr/>
              <a:t>2024/3/4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D8E7EC-1B0B-4459-B7CD-79C8FF29AF3D}" type="slidenum">
              <a:rPr lang="zh-CN" altLang="en-US" smtClean="0"/>
              <a:pPr/>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FD0D910A-8752-4127-BFD7-E368401D0E4E}" type="datetimeFigureOut">
              <a:rPr lang="zh-CN" altLang="en-US" smtClean="0"/>
              <a:pPr/>
              <a:t>2024/3/4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D8E7EC-1B0B-4459-B7CD-79C8FF29AF3D}" type="slidenum">
              <a:rPr lang="zh-CN" altLang="en-US" smtClean="0"/>
              <a:pPr/>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FD0D910A-8752-4127-BFD7-E368401D0E4E}" type="datetimeFigureOut">
              <a:rPr lang="zh-CN" altLang="en-US" smtClean="0"/>
              <a:pPr/>
              <a:t>2024/3/4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CD8E7EC-1B0B-4459-B7CD-79C8FF29AF3D}" type="slidenum">
              <a:rPr lang="zh-CN" altLang="en-US" smtClean="0"/>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D0D910A-8752-4127-BFD7-E368401D0E4E}" type="datetimeFigureOut">
              <a:rPr lang="zh-CN" altLang="en-US" smtClean="0"/>
              <a:pPr/>
              <a:t>2024/3/4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CD8E7EC-1B0B-4459-B7CD-79C8FF29AF3D}" type="slidenum">
              <a:rPr lang="zh-CN" altLang="en-US" smtClean="0"/>
              <a:pPr/>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FD0D910A-8752-4127-BFD7-E368401D0E4E}" type="datetimeFigureOut">
              <a:rPr lang="zh-CN" altLang="en-US" smtClean="0"/>
              <a:pPr/>
              <a:t>2024/3/4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CD8E7EC-1B0B-4459-B7CD-79C8FF29AF3D}" type="slidenum">
              <a:rPr lang="zh-CN" altLang="en-US" smtClean="0"/>
              <a:pPr/>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D0D910A-8752-4127-BFD7-E368401D0E4E}" type="datetimeFigureOut">
              <a:rPr lang="zh-CN" altLang="en-US" smtClean="0"/>
              <a:pPr/>
              <a:t>2024/3/4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D8E7EC-1B0B-4459-B7CD-79C8FF29AF3D}" type="slidenum">
              <a:rPr lang="zh-CN" altLang="en-US" smtClean="0"/>
              <a:pPr/>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D0D910A-8752-4127-BFD7-E368401D0E4E}" type="datetimeFigureOut">
              <a:rPr lang="zh-CN" altLang="en-US" smtClean="0"/>
              <a:pPr/>
              <a:t>2024/3/4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D8E7EC-1B0B-4459-B7CD-79C8FF29AF3D}" type="slidenum">
              <a:rPr lang="zh-CN" altLang="en-US" smtClean="0"/>
              <a:pPr/>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D0D910A-8752-4127-BFD7-E368401D0E4E}" type="datetimeFigureOut">
              <a:rPr lang="zh-CN" altLang="en-US" smtClean="0"/>
              <a:pPr/>
              <a:t>2024/3/4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D8E7EC-1B0B-4459-B7CD-79C8FF29AF3D}" type="slidenum">
              <a:rPr lang="zh-CN" altLang="en-US" smtClean="0"/>
              <a:pPr/>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D0D910A-8752-4127-BFD7-E368401D0E4E}" type="datetimeFigureOut">
              <a:rPr lang="zh-CN" altLang="en-US" smtClean="0"/>
              <a:pPr/>
              <a:t>2024/3/4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D8E7EC-1B0B-4459-B7CD-79C8FF29AF3D}" type="slidenum">
              <a:rPr lang="zh-CN" altLang="en-US" smtClean="0"/>
              <a:pPr/>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FD0D910A-8752-4127-BFD7-E368401D0E4E}" type="datetimeFigureOut">
              <a:rPr lang="zh-CN" altLang="en-US" smtClean="0"/>
              <a:pPr/>
              <a:t>2024/3/4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CD8E7EC-1B0B-4459-B7CD-79C8FF29AF3D}"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theme" Target="../theme/theme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 3"/>
          <p:cNvGrpSpPr>
            <a:grpSpLocks/>
          </p:cNvGrpSpPr>
          <p:nvPr/>
        </p:nvGrpSpPr>
        <p:grpSpPr bwMode="auto">
          <a:xfrm>
            <a:off x="8329613" y="733425"/>
            <a:ext cx="720725" cy="531813"/>
            <a:chOff x="5247" y="462"/>
            <a:chExt cx="454" cy="335"/>
          </a:xfrm>
        </p:grpSpPr>
        <p:sp>
          <p:nvSpPr>
            <p:cNvPr id="1047" name="AutoShape 4"/>
            <p:cNvSpPr>
              <a:spLocks noChangeArrowheads="1"/>
            </p:cNvSpPr>
            <p:nvPr/>
          </p:nvSpPr>
          <p:spPr bwMode="auto">
            <a:xfrm rot="10800000" flipH="1">
              <a:off x="5564" y="462"/>
              <a:ext cx="137" cy="335"/>
            </a:xfrm>
            <a:prstGeom prst="parallelogram">
              <a:avLst>
                <a:gd name="adj" fmla="val 52954"/>
              </a:avLst>
            </a:prstGeom>
            <a:gradFill rotWithShape="0">
              <a:gsLst>
                <a:gs pos="0">
                  <a:schemeClr val="accent2"/>
                </a:gs>
                <a:gs pos="100000">
                  <a:schemeClr val="accent1"/>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sp>
          <p:nvSpPr>
            <p:cNvPr id="1048" name="AutoShape 5"/>
            <p:cNvSpPr>
              <a:spLocks noChangeArrowheads="1"/>
            </p:cNvSpPr>
            <p:nvPr/>
          </p:nvSpPr>
          <p:spPr bwMode="auto">
            <a:xfrm rot="10800000" flipH="1">
              <a:off x="5407" y="462"/>
              <a:ext cx="138" cy="335"/>
            </a:xfrm>
            <a:prstGeom prst="parallelogram">
              <a:avLst>
                <a:gd name="adj" fmla="val 52954"/>
              </a:avLst>
            </a:prstGeom>
            <a:gradFill rotWithShape="0">
              <a:gsLst>
                <a:gs pos="0">
                  <a:schemeClr val="accent2"/>
                </a:gs>
                <a:gs pos="100000">
                  <a:schemeClr val="accent1"/>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sp>
          <p:nvSpPr>
            <p:cNvPr id="1049" name="AutoShape 6"/>
            <p:cNvSpPr>
              <a:spLocks noChangeArrowheads="1"/>
            </p:cNvSpPr>
            <p:nvPr/>
          </p:nvSpPr>
          <p:spPr bwMode="auto">
            <a:xfrm rot="10800000" flipH="1">
              <a:off x="5247" y="462"/>
              <a:ext cx="138" cy="335"/>
            </a:xfrm>
            <a:prstGeom prst="parallelogram">
              <a:avLst>
                <a:gd name="adj" fmla="val 52954"/>
              </a:avLst>
            </a:prstGeom>
            <a:gradFill rotWithShape="0">
              <a:gsLst>
                <a:gs pos="0">
                  <a:schemeClr val="accent2"/>
                </a:gs>
                <a:gs pos="100000">
                  <a:schemeClr val="accent1"/>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grpSp>
      <p:grpSp>
        <p:nvGrpSpPr>
          <p:cNvPr id="3" name="Group 7"/>
          <p:cNvGrpSpPr>
            <a:grpSpLocks/>
          </p:cNvGrpSpPr>
          <p:nvPr/>
        </p:nvGrpSpPr>
        <p:grpSpPr bwMode="auto">
          <a:xfrm>
            <a:off x="77788" y="6040438"/>
            <a:ext cx="531812" cy="727075"/>
            <a:chOff x="49" y="3805"/>
            <a:chExt cx="335" cy="458"/>
          </a:xfrm>
        </p:grpSpPr>
        <p:sp>
          <p:nvSpPr>
            <p:cNvPr id="1044" name="AutoShape 8"/>
            <p:cNvSpPr>
              <a:spLocks noChangeArrowheads="1"/>
            </p:cNvSpPr>
            <p:nvPr/>
          </p:nvSpPr>
          <p:spPr bwMode="auto">
            <a:xfrm rot="5400000" flipH="1">
              <a:off x="148" y="3706"/>
              <a:ext cx="137" cy="335"/>
            </a:xfrm>
            <a:prstGeom prst="parallelogram">
              <a:avLst>
                <a:gd name="adj" fmla="val 52954"/>
              </a:avLst>
            </a:prstGeom>
            <a:gradFill rotWithShape="0">
              <a:gsLst>
                <a:gs pos="0">
                  <a:schemeClr val="accent1"/>
                </a:gs>
                <a:gs pos="100000">
                  <a:schemeClr val="accent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sp>
          <p:nvSpPr>
            <p:cNvPr id="1045" name="AutoShape 9"/>
            <p:cNvSpPr>
              <a:spLocks noChangeArrowheads="1"/>
            </p:cNvSpPr>
            <p:nvPr/>
          </p:nvSpPr>
          <p:spPr bwMode="auto">
            <a:xfrm rot="5400000" flipH="1">
              <a:off x="140" y="3871"/>
              <a:ext cx="138" cy="335"/>
            </a:xfrm>
            <a:prstGeom prst="parallelogram">
              <a:avLst>
                <a:gd name="adj" fmla="val 52954"/>
              </a:avLst>
            </a:prstGeom>
            <a:gradFill rotWithShape="0">
              <a:gsLst>
                <a:gs pos="0">
                  <a:schemeClr val="accent1"/>
                </a:gs>
                <a:gs pos="100000">
                  <a:schemeClr val="accent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sp>
          <p:nvSpPr>
            <p:cNvPr id="1046" name="AutoShape 10"/>
            <p:cNvSpPr>
              <a:spLocks noChangeArrowheads="1"/>
            </p:cNvSpPr>
            <p:nvPr/>
          </p:nvSpPr>
          <p:spPr bwMode="auto">
            <a:xfrm rot="5400000" flipH="1">
              <a:off x="140" y="4030"/>
              <a:ext cx="138" cy="335"/>
            </a:xfrm>
            <a:prstGeom prst="parallelogram">
              <a:avLst>
                <a:gd name="adj" fmla="val 52954"/>
              </a:avLst>
            </a:prstGeom>
            <a:gradFill rotWithShape="0">
              <a:gsLst>
                <a:gs pos="0">
                  <a:schemeClr val="accent1"/>
                </a:gs>
                <a:gs pos="100000">
                  <a:schemeClr val="accent2"/>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grpSp>
      <p:sp>
        <p:nvSpPr>
          <p:cNvPr id="3083" name="Rectangle 11"/>
          <p:cNvSpPr>
            <a:spLocks noGrp="1" noChangeArrowheads="1"/>
          </p:cNvSpPr>
          <p:nvPr>
            <p:ph type="body" idx="1"/>
          </p:nvPr>
        </p:nvSpPr>
        <p:spPr bwMode="auto">
          <a:xfrm>
            <a:off x="609600" y="1266825"/>
            <a:ext cx="8305800" cy="4905375"/>
          </a:xfrm>
          <a:prstGeom prst="rect">
            <a:avLst/>
          </a:prstGeom>
          <a:noFill/>
          <a:ln>
            <a:noFill/>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ltLang="zh-CN"/>
          </a:p>
        </p:txBody>
      </p:sp>
      <p:sp>
        <p:nvSpPr>
          <p:cNvPr id="3087" name="Rectangle 15"/>
          <p:cNvSpPr>
            <a:spLocks noChangeArrowheads="1"/>
          </p:cNvSpPr>
          <p:nvPr/>
        </p:nvSpPr>
        <p:spPr bwMode="auto">
          <a:xfrm>
            <a:off x="227013" y="0"/>
            <a:ext cx="228600" cy="6858000"/>
          </a:xfrm>
          <a:prstGeom prst="rect">
            <a:avLst/>
          </a:prstGeom>
          <a:gradFill rotWithShape="0">
            <a:gsLst>
              <a:gs pos="0">
                <a:schemeClr val="bg2"/>
              </a:gs>
              <a:gs pos="50000">
                <a:schemeClr val="folHlink"/>
              </a:gs>
              <a:gs pos="100000">
                <a:schemeClr val="bg2"/>
              </a:gs>
            </a:gsLst>
            <a:lin ang="0" scaled="1"/>
          </a:gradFill>
          <a:ln>
            <a:noFill/>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sp>
        <p:nvSpPr>
          <p:cNvPr id="3088" name="AutoShape 16"/>
          <p:cNvSpPr>
            <a:spLocks noChangeArrowheads="1"/>
          </p:cNvSpPr>
          <p:nvPr/>
        </p:nvSpPr>
        <p:spPr bwMode="auto">
          <a:xfrm flipH="1">
            <a:off x="304800" y="914400"/>
            <a:ext cx="8839200" cy="228600"/>
          </a:xfrm>
          <a:prstGeom prst="homePlate">
            <a:avLst>
              <a:gd name="adj" fmla="val 67846"/>
            </a:avLst>
          </a:prstGeom>
          <a:gradFill rotWithShape="0">
            <a:gsLst>
              <a:gs pos="0">
                <a:schemeClr val="bg2"/>
              </a:gs>
              <a:gs pos="50000">
                <a:schemeClr val="folHlink"/>
              </a:gs>
              <a:gs pos="100000">
                <a:schemeClr val="bg2"/>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sp>
        <p:nvSpPr>
          <p:cNvPr id="1031" name="Rectangle 17"/>
          <p:cNvSpPr>
            <a:spLocks noChangeArrowheads="1"/>
          </p:cNvSpPr>
          <p:nvPr/>
        </p:nvSpPr>
        <p:spPr bwMode="auto">
          <a:xfrm>
            <a:off x="1981200" y="2179638"/>
            <a:ext cx="190500" cy="4678362"/>
          </a:xfrm>
          <a:prstGeom prst="rect">
            <a:avLst/>
          </a:prstGeom>
          <a:noFill/>
          <a:ln>
            <a:noFill/>
          </a:ln>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grpSp>
        <p:nvGrpSpPr>
          <p:cNvPr id="4" name="Group 18"/>
          <p:cNvGrpSpPr>
            <a:grpSpLocks/>
          </p:cNvGrpSpPr>
          <p:nvPr/>
        </p:nvGrpSpPr>
        <p:grpSpPr bwMode="auto">
          <a:xfrm>
            <a:off x="77788" y="5903913"/>
            <a:ext cx="533400" cy="749300"/>
            <a:chOff x="49" y="3719"/>
            <a:chExt cx="336" cy="472"/>
          </a:xfrm>
        </p:grpSpPr>
        <p:sp>
          <p:nvSpPr>
            <p:cNvPr id="1041" name="AutoShape 19"/>
            <p:cNvSpPr>
              <a:spLocks noChangeArrowheads="1"/>
            </p:cNvSpPr>
            <p:nvPr/>
          </p:nvSpPr>
          <p:spPr bwMode="auto">
            <a:xfrm rot="-5400000">
              <a:off x="135" y="3630"/>
              <a:ext cx="150" cy="335"/>
            </a:xfrm>
            <a:prstGeom prst="parallelogram">
              <a:avLst>
                <a:gd name="adj" fmla="val 52954"/>
              </a:avLst>
            </a:prstGeom>
            <a:gradFill rotWithShape="0">
              <a:gsLst>
                <a:gs pos="0">
                  <a:schemeClr val="accent2"/>
                </a:gs>
                <a:gs pos="100000">
                  <a:schemeClr val="accent1"/>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sp>
          <p:nvSpPr>
            <p:cNvPr id="1042" name="AutoShape 20"/>
            <p:cNvSpPr>
              <a:spLocks noChangeArrowheads="1"/>
            </p:cNvSpPr>
            <p:nvPr/>
          </p:nvSpPr>
          <p:spPr bwMode="auto">
            <a:xfrm rot="-5400000">
              <a:off x="141" y="3786"/>
              <a:ext cx="151" cy="335"/>
            </a:xfrm>
            <a:prstGeom prst="parallelogram">
              <a:avLst>
                <a:gd name="adj" fmla="val 52954"/>
              </a:avLst>
            </a:prstGeom>
            <a:gradFill rotWithShape="0">
              <a:gsLst>
                <a:gs pos="0">
                  <a:schemeClr val="accent2"/>
                </a:gs>
                <a:gs pos="100000">
                  <a:schemeClr val="accent1"/>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sp>
          <p:nvSpPr>
            <p:cNvPr id="1043" name="AutoShape 21"/>
            <p:cNvSpPr>
              <a:spLocks noChangeArrowheads="1"/>
            </p:cNvSpPr>
            <p:nvPr/>
          </p:nvSpPr>
          <p:spPr bwMode="auto">
            <a:xfrm rot="-5400000">
              <a:off x="142" y="3948"/>
              <a:ext cx="150" cy="336"/>
            </a:xfrm>
            <a:prstGeom prst="parallelogram">
              <a:avLst>
                <a:gd name="adj" fmla="val 52954"/>
              </a:avLst>
            </a:prstGeom>
            <a:gradFill rotWithShape="0">
              <a:gsLst>
                <a:gs pos="0">
                  <a:schemeClr val="accent2"/>
                </a:gs>
                <a:gs pos="100000">
                  <a:schemeClr val="accent1"/>
                </a:gs>
              </a:gsLst>
              <a:lin ang="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grpSp>
      <p:sp>
        <p:nvSpPr>
          <p:cNvPr id="3094" name="Rectangle 22"/>
          <p:cNvSpPr>
            <a:spLocks noGrp="1" noChangeArrowheads="1"/>
          </p:cNvSpPr>
          <p:nvPr>
            <p:ph type="title"/>
          </p:nvPr>
        </p:nvSpPr>
        <p:spPr bwMode="auto">
          <a:xfrm>
            <a:off x="609600" y="152400"/>
            <a:ext cx="8382000" cy="685800"/>
          </a:xfrm>
          <a:prstGeom prst="rect">
            <a:avLst/>
          </a:prstGeom>
          <a:noFill/>
          <a:ln>
            <a:noFill/>
          </a:ln>
        </p:spPr>
        <p:txBody>
          <a:bodyPr vert="horz" wrap="square" lIns="91440" tIns="45720" rIns="91440" bIns="45720" numCol="1" anchor="b" anchorCtr="0" compatLnSpc="1">
            <a:prstTxWarp prst="textNoShape">
              <a:avLst/>
            </a:prstTxWarp>
          </a:bodyPr>
          <a:lstStyle/>
          <a:p>
            <a:pPr lvl="0"/>
            <a:r>
              <a:rPr lang="zh-CN" altLang="en-US"/>
              <a:t>单击此处编辑母版标题样式</a:t>
            </a:r>
            <a:endParaRPr lang="en-US" altLang="zh-CN"/>
          </a:p>
        </p:txBody>
      </p:sp>
      <p:grpSp>
        <p:nvGrpSpPr>
          <p:cNvPr id="5" name="Group 23"/>
          <p:cNvGrpSpPr>
            <a:grpSpLocks/>
          </p:cNvGrpSpPr>
          <p:nvPr/>
        </p:nvGrpSpPr>
        <p:grpSpPr bwMode="auto">
          <a:xfrm>
            <a:off x="8189913" y="731838"/>
            <a:ext cx="739775" cy="533400"/>
            <a:chOff x="5159" y="461"/>
            <a:chExt cx="466" cy="336"/>
          </a:xfrm>
        </p:grpSpPr>
        <p:sp>
          <p:nvSpPr>
            <p:cNvPr id="1038" name="AutoShape 24"/>
            <p:cNvSpPr>
              <a:spLocks noChangeArrowheads="1"/>
            </p:cNvSpPr>
            <p:nvPr/>
          </p:nvSpPr>
          <p:spPr bwMode="auto">
            <a:xfrm>
              <a:off x="5475" y="462"/>
              <a:ext cx="150" cy="335"/>
            </a:xfrm>
            <a:prstGeom prst="parallelogram">
              <a:avLst>
                <a:gd name="adj" fmla="val 52954"/>
              </a:avLst>
            </a:prstGeom>
            <a:gradFill rotWithShape="0">
              <a:gsLst>
                <a:gs pos="0">
                  <a:schemeClr val="accent1"/>
                </a:gs>
                <a:gs pos="100000">
                  <a:schemeClr val="accent2"/>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sp>
          <p:nvSpPr>
            <p:cNvPr id="1039" name="AutoShape 25"/>
            <p:cNvSpPr>
              <a:spLocks noChangeArrowheads="1"/>
            </p:cNvSpPr>
            <p:nvPr/>
          </p:nvSpPr>
          <p:spPr bwMode="auto">
            <a:xfrm>
              <a:off x="5318" y="462"/>
              <a:ext cx="151" cy="335"/>
            </a:xfrm>
            <a:prstGeom prst="parallelogram">
              <a:avLst>
                <a:gd name="adj" fmla="val 52954"/>
              </a:avLst>
            </a:prstGeom>
            <a:gradFill rotWithShape="0">
              <a:gsLst>
                <a:gs pos="0">
                  <a:schemeClr val="accent1"/>
                </a:gs>
                <a:gs pos="100000">
                  <a:schemeClr val="accent2"/>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sp>
          <p:nvSpPr>
            <p:cNvPr id="1040" name="AutoShape 26"/>
            <p:cNvSpPr>
              <a:spLocks noChangeArrowheads="1"/>
            </p:cNvSpPr>
            <p:nvPr/>
          </p:nvSpPr>
          <p:spPr bwMode="auto">
            <a:xfrm>
              <a:off x="5159" y="461"/>
              <a:ext cx="150" cy="336"/>
            </a:xfrm>
            <a:prstGeom prst="parallelogram">
              <a:avLst>
                <a:gd name="adj" fmla="val 52954"/>
              </a:avLst>
            </a:prstGeom>
            <a:gradFill rotWithShape="0">
              <a:gsLst>
                <a:gs pos="0">
                  <a:schemeClr val="accent1"/>
                </a:gs>
                <a:gs pos="100000">
                  <a:schemeClr val="accent2"/>
                </a:gs>
              </a:gsLst>
              <a:lin ang="5400000" scaled="1"/>
            </a:gradFill>
            <a:ln>
              <a:noFill/>
            </a:ln>
            <a:effectLst/>
          </p:spPr>
          <p:txBody>
            <a:bodyPr wrap="none" anchor="ct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algn="ctr" eaLnBrk="0" fontAlgn="base" hangingPunct="0">
                <a:spcBef>
                  <a:spcPct val="0"/>
                </a:spcBef>
                <a:spcAft>
                  <a:spcPct val="0"/>
                </a:spcAft>
                <a:defRPr sz="2400">
                  <a:solidFill>
                    <a:schemeClr val="tx1"/>
                  </a:solidFill>
                  <a:latin typeface="Times New Roman" pitchFamily="18" charset="0"/>
                </a:defRPr>
              </a:lvl6pPr>
              <a:lvl7pPr marL="2971800" indent="-228600" algn="ctr" eaLnBrk="0" fontAlgn="base" hangingPunct="0">
                <a:spcBef>
                  <a:spcPct val="0"/>
                </a:spcBef>
                <a:spcAft>
                  <a:spcPct val="0"/>
                </a:spcAft>
                <a:defRPr sz="2400">
                  <a:solidFill>
                    <a:schemeClr val="tx1"/>
                  </a:solidFill>
                  <a:latin typeface="Times New Roman" pitchFamily="18" charset="0"/>
                </a:defRPr>
              </a:lvl7pPr>
              <a:lvl8pPr marL="3429000" indent="-228600" algn="ctr" eaLnBrk="0" fontAlgn="base" hangingPunct="0">
                <a:spcBef>
                  <a:spcPct val="0"/>
                </a:spcBef>
                <a:spcAft>
                  <a:spcPct val="0"/>
                </a:spcAft>
                <a:defRPr sz="2400">
                  <a:solidFill>
                    <a:schemeClr val="tx1"/>
                  </a:solidFill>
                  <a:latin typeface="Times New Roman" pitchFamily="18" charset="0"/>
                </a:defRPr>
              </a:lvl8pPr>
              <a:lvl9pPr marL="3886200" indent="-228600" algn="ctr" eaLnBrk="0" fontAlgn="base" hangingPunct="0">
                <a:spcBef>
                  <a:spcPct val="0"/>
                </a:spcBef>
                <a:spcAft>
                  <a:spcPct val="0"/>
                </a:spcAft>
                <a:defRPr sz="2400">
                  <a:solidFill>
                    <a:schemeClr val="tx1"/>
                  </a:solidFill>
                  <a:latin typeface="Times New Roman" pitchFamily="18" charset="0"/>
                </a:defRPr>
              </a:lvl9pPr>
            </a:lstStyle>
            <a:p>
              <a:pPr>
                <a:defRPr/>
              </a:pPr>
              <a:endParaRPr lang="zh-CN" altLang="en-US">
                <a:ea typeface="宋体" charset="-122"/>
              </a:endParaRPr>
            </a:p>
          </p:txBody>
        </p:sp>
      </p:grpSp>
      <p:sp>
        <p:nvSpPr>
          <p:cNvPr id="24" name="Line 7"/>
          <p:cNvSpPr>
            <a:spLocks noChangeShapeType="1"/>
          </p:cNvSpPr>
          <p:nvPr userDrawn="1"/>
        </p:nvSpPr>
        <p:spPr bwMode="auto">
          <a:xfrm>
            <a:off x="533400" y="1295400"/>
            <a:ext cx="8229600" cy="0"/>
          </a:xfrm>
          <a:prstGeom prst="line">
            <a:avLst/>
          </a:prstGeom>
          <a:noFill/>
          <a:ln w="57150" cmpd="thinThick">
            <a:solidFill>
              <a:srgbClr val="CC33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dk2" tx1="lt1" bg2="dk1" tx2="lt2" accent1="accent1" accent2="accent2" accent3="accent3" accent4="accent4" accent5="accent5" accent6="accent6" hlink="hlink" folHlink="folHlink"/>
  <p:sldLayoutIdLst>
    <p:sldLayoutId id="2147483727" r:id="rId1"/>
    <p:sldLayoutId id="2147483728" r:id="rId2"/>
    <p:sldLayoutId id="2147483729" r:id="rId3"/>
    <p:sldLayoutId id="2147483730" r:id="rId4"/>
    <p:sldLayoutId id="2147483731" r:id="rId5"/>
    <p:sldLayoutId id="2147483732" r:id="rId6"/>
    <p:sldLayoutId id="2147483733" r:id="rId7"/>
    <p:sldLayoutId id="2147483734" r:id="rId8"/>
    <p:sldLayoutId id="2147483735" r:id="rId9"/>
    <p:sldLayoutId id="2147483736" r:id="rId10"/>
    <p:sldLayoutId id="2147483737" r:id="rId11"/>
    <p:sldLayoutId id="2147483738" r:id="rId12"/>
    <p:sldLayoutId id="2147483739" r:id="rId13"/>
    <p:sldLayoutId id="2147483740" r:id="rId14"/>
  </p:sldLayoutIdLs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0"/>
                                  </p:stCondLst>
                                  <p:childTnLst>
                                    <p:set>
                                      <p:cBhvr>
                                        <p:cTn id="6" dur="1" fill="hold">
                                          <p:stCondLst>
                                            <p:cond delay="0"/>
                                          </p:stCondLst>
                                        </p:cTn>
                                        <p:tgtEl>
                                          <p:spTgt spid="3094">
                                            <p:txEl>
                                              <p:pRg st="0" end="0"/>
                                            </p:txEl>
                                          </p:spTgt>
                                        </p:tgtEl>
                                        <p:attrNameLst>
                                          <p:attrName>style.visibility</p:attrName>
                                        </p:attrNameLst>
                                      </p:cBhvr>
                                      <p:to>
                                        <p:strVal val="visible"/>
                                      </p:to>
                                    </p:set>
                                    <p:animEffect transition="in" filter="dissolve">
                                      <p:cBhvr>
                                        <p:cTn id="7" dur="500"/>
                                        <p:tgtEl>
                                          <p:spTgt spid="309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083">
                                            <p:txEl>
                                              <p:pRg st="0" end="0"/>
                                            </p:txEl>
                                          </p:spTgt>
                                        </p:tgtEl>
                                        <p:attrNameLst>
                                          <p:attrName>style.visibility</p:attrName>
                                        </p:attrNameLst>
                                      </p:cBhvr>
                                      <p:to>
                                        <p:strVal val="visible"/>
                                      </p:to>
                                    </p:set>
                                    <p:animEffect transition="in" filter="wipe(up)">
                                      <p:cBhvr>
                                        <p:cTn id="12" dur="500"/>
                                        <p:tgtEl>
                                          <p:spTgt spid="308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3083">
                                            <p:txEl>
                                              <p:pRg st="1" end="1"/>
                                            </p:txEl>
                                          </p:spTgt>
                                        </p:tgtEl>
                                        <p:attrNameLst>
                                          <p:attrName>style.visibility</p:attrName>
                                        </p:attrNameLst>
                                      </p:cBhvr>
                                      <p:to>
                                        <p:strVal val="visible"/>
                                      </p:to>
                                    </p:set>
                                    <p:animEffect transition="in" filter="wipe(up)">
                                      <p:cBhvr>
                                        <p:cTn id="17" dur="500"/>
                                        <p:tgtEl>
                                          <p:spTgt spid="3083">
                                            <p:txEl>
                                              <p:pRg st="1" end="1"/>
                                            </p:txEl>
                                          </p:spTgt>
                                        </p:tgtEl>
                                      </p:cBhvr>
                                    </p:animEffect>
                                  </p:childTnLst>
                                  <p:subTnLst>
                                    <p:animClr clrSpc="rgb" dir="cw">
                                      <p:cBhvr override="childStyle">
                                        <p:cTn dur="1" fill="hold" display="0" masterRel="nextClick" afterEffect="1"/>
                                        <p:tgtEl>
                                          <p:spTgt spid="3083">
                                            <p:txEl>
                                              <p:pRg st="1" end="1"/>
                                            </p:txEl>
                                          </p:spTgt>
                                        </p:tgtEl>
                                        <p:attrNameLst>
                                          <p:attrName>ppt_c</p:attrName>
                                        </p:attrNameLst>
                                      </p:cBhvr>
                                      <p:to>
                                        <a:schemeClr val="tx1"/>
                                      </p:to>
                                    </p:animClr>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3083">
                                            <p:txEl>
                                              <p:pRg st="2" end="2"/>
                                            </p:txEl>
                                          </p:spTgt>
                                        </p:tgtEl>
                                        <p:attrNameLst>
                                          <p:attrName>style.visibility</p:attrName>
                                        </p:attrNameLst>
                                      </p:cBhvr>
                                      <p:to>
                                        <p:strVal val="visible"/>
                                      </p:to>
                                    </p:set>
                                    <p:animEffect transition="in" filter="wipe(up)">
                                      <p:cBhvr>
                                        <p:cTn id="22" dur="500"/>
                                        <p:tgtEl>
                                          <p:spTgt spid="3083">
                                            <p:txEl>
                                              <p:pRg st="2" end="2"/>
                                            </p:txEl>
                                          </p:spTgt>
                                        </p:tgtEl>
                                      </p:cBhvr>
                                    </p:animEffect>
                                  </p:childTnLst>
                                  <p:subTnLst>
                                    <p:animClr clrSpc="rgb" dir="cw">
                                      <p:cBhvr override="childStyle">
                                        <p:cTn dur="1" fill="hold" display="0" masterRel="nextClick" afterEffect="1"/>
                                        <p:tgtEl>
                                          <p:spTgt spid="3083">
                                            <p:txEl>
                                              <p:pRg st="2" end="2"/>
                                            </p:txEl>
                                          </p:spTgt>
                                        </p:tgtEl>
                                        <p:attrNameLst>
                                          <p:attrName>ppt_c</p:attrName>
                                        </p:attrNameLst>
                                      </p:cBhvr>
                                      <p:to>
                                        <a:schemeClr val="tx1"/>
                                      </p:to>
                                    </p:animClr>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3083">
                                            <p:txEl>
                                              <p:pRg st="3" end="3"/>
                                            </p:txEl>
                                          </p:spTgt>
                                        </p:tgtEl>
                                        <p:attrNameLst>
                                          <p:attrName>style.visibility</p:attrName>
                                        </p:attrNameLst>
                                      </p:cBhvr>
                                      <p:to>
                                        <p:strVal val="visible"/>
                                      </p:to>
                                    </p:set>
                                    <p:animEffect transition="in" filter="wipe(up)">
                                      <p:cBhvr>
                                        <p:cTn id="27" dur="500"/>
                                        <p:tgtEl>
                                          <p:spTgt spid="3083">
                                            <p:txEl>
                                              <p:pRg st="3" end="3"/>
                                            </p:txEl>
                                          </p:spTgt>
                                        </p:tgtEl>
                                      </p:cBhvr>
                                    </p:animEffect>
                                  </p:childTnLst>
                                  <p:subTnLst>
                                    <p:animClr clrSpc="rgb" dir="cw">
                                      <p:cBhvr override="childStyle">
                                        <p:cTn dur="1" fill="hold" display="0" masterRel="nextClick" afterEffect="1"/>
                                        <p:tgtEl>
                                          <p:spTgt spid="3083">
                                            <p:txEl>
                                              <p:pRg st="3" end="3"/>
                                            </p:txEl>
                                          </p:spTgt>
                                        </p:tgtEl>
                                        <p:attrNameLst>
                                          <p:attrName>ppt_c</p:attrName>
                                        </p:attrNameLst>
                                      </p:cBhvr>
                                      <p:to>
                                        <a:schemeClr val="tx1"/>
                                      </p:to>
                                    </p:animClr>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3083">
                                            <p:txEl>
                                              <p:pRg st="4" end="4"/>
                                            </p:txEl>
                                          </p:spTgt>
                                        </p:tgtEl>
                                        <p:attrNameLst>
                                          <p:attrName>style.visibility</p:attrName>
                                        </p:attrNameLst>
                                      </p:cBhvr>
                                      <p:to>
                                        <p:strVal val="visible"/>
                                      </p:to>
                                    </p:set>
                                    <p:animEffect transition="in" filter="wipe(up)">
                                      <p:cBhvr>
                                        <p:cTn id="32" dur="500"/>
                                        <p:tgtEl>
                                          <p:spTgt spid="3083">
                                            <p:txEl>
                                              <p:pRg st="4" end="4"/>
                                            </p:txEl>
                                          </p:spTgt>
                                        </p:tgtEl>
                                      </p:cBhvr>
                                    </p:animEffect>
                                  </p:childTnLst>
                                  <p:subTnLst>
                                    <p:animClr clrSpc="rgb" dir="cw">
                                      <p:cBhvr override="childStyle">
                                        <p:cTn dur="1" fill="hold" display="0" masterRel="nextClick" afterEffect="1"/>
                                        <p:tgtEl>
                                          <p:spTgt spid="3083">
                                            <p:txEl>
                                              <p:pRg st="4" end="4"/>
                                            </p:txEl>
                                          </p:spTgt>
                                        </p:tgtEl>
                                        <p:attrNameLst>
                                          <p:attrName>ppt_c</p:attrName>
                                        </p:attrNameLst>
                                      </p:cBhvr>
                                      <p:to>
                                        <a:schemeClr val="tx1"/>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3" grpId="0" build="p" bldLvl="4" autoUpdateAnimBg="0">
        <p:tmplLst>
          <p:tmpl lvl="1">
            <p:tnLst>
              <p:par>
                <p:cTn presetID="22" presetClass="entr" presetSubtype="1" fill="hold" nodeType="clickEffect">
                  <p:stCondLst>
                    <p:cond delay="0"/>
                  </p:stCondLst>
                  <p:childTnLst>
                    <p:set>
                      <p:cBhvr>
                        <p:cTn dur="1" fill="hold">
                          <p:stCondLst>
                            <p:cond delay="0"/>
                          </p:stCondLst>
                        </p:cTn>
                        <p:tgtEl>
                          <p:spTgt spid="3083"/>
                        </p:tgtEl>
                        <p:attrNameLst>
                          <p:attrName>style.visibility</p:attrName>
                        </p:attrNameLst>
                      </p:cBhvr>
                      <p:to>
                        <p:strVal val="visible"/>
                      </p:to>
                    </p:set>
                    <p:animEffect transition="in" filter="wipe(up)">
                      <p:cBhvr>
                        <p:cTn dur="500"/>
                        <p:tgtEl>
                          <p:spTgt spid="3083"/>
                        </p:tgtEl>
                      </p:cBhvr>
                    </p:animEffect>
                  </p:childTnLst>
                </p:cTn>
              </p:par>
            </p:tnLst>
          </p:tmpl>
          <p:tmpl lvl="2">
            <p:tnLst>
              <p:par>
                <p:cTn presetID="22" presetClass="entr" presetSubtype="1" fill="hold" nodeType="clickEffect">
                  <p:stCondLst>
                    <p:cond delay="0"/>
                  </p:stCondLst>
                  <p:childTnLst>
                    <p:set>
                      <p:cBhvr>
                        <p:cTn dur="1" fill="hold">
                          <p:stCondLst>
                            <p:cond delay="0"/>
                          </p:stCondLst>
                        </p:cTn>
                        <p:tgtEl>
                          <p:spTgt spid="3083"/>
                        </p:tgtEl>
                        <p:attrNameLst>
                          <p:attrName>style.visibility</p:attrName>
                        </p:attrNameLst>
                      </p:cBhvr>
                      <p:to>
                        <p:strVal val="visible"/>
                      </p:to>
                    </p:set>
                    <p:animEffect transition="in" filter="wipe(up)">
                      <p:cBhvr>
                        <p:cTn dur="500"/>
                        <p:tgtEl>
                          <p:spTgt spid="3083"/>
                        </p:tgtEl>
                      </p:cBhvr>
                    </p:animEffect>
                  </p:childTnLst>
                  <p:subTnLst>
                    <p:animClr clrSpc="rgb" dir="cw">
                      <p:cBhvr override="childStyle">
                        <p:cTn dur="1" fill="hold" display="0" masterRel="nextClick" afterEffect="1"/>
                        <p:tgtEl>
                          <p:spTgt spid="3083"/>
                        </p:tgtEl>
                        <p:attrNameLst>
                          <p:attrName>ppt_c</p:attrName>
                        </p:attrNameLst>
                      </p:cBhvr>
                      <p:to>
                        <a:schemeClr val="tx1"/>
                      </p:to>
                    </p:animClr>
                  </p:subTnLst>
                </p:cTn>
              </p:par>
            </p:tnLst>
          </p:tmpl>
          <p:tmpl lvl="3">
            <p:tnLst>
              <p:par>
                <p:cTn presetID="22" presetClass="entr" presetSubtype="1" fill="hold" nodeType="clickEffect">
                  <p:stCondLst>
                    <p:cond delay="0"/>
                  </p:stCondLst>
                  <p:childTnLst>
                    <p:set>
                      <p:cBhvr>
                        <p:cTn dur="1" fill="hold">
                          <p:stCondLst>
                            <p:cond delay="0"/>
                          </p:stCondLst>
                        </p:cTn>
                        <p:tgtEl>
                          <p:spTgt spid="3083"/>
                        </p:tgtEl>
                        <p:attrNameLst>
                          <p:attrName>style.visibility</p:attrName>
                        </p:attrNameLst>
                      </p:cBhvr>
                      <p:to>
                        <p:strVal val="visible"/>
                      </p:to>
                    </p:set>
                    <p:animEffect transition="in" filter="wipe(up)">
                      <p:cBhvr>
                        <p:cTn dur="500"/>
                        <p:tgtEl>
                          <p:spTgt spid="3083"/>
                        </p:tgtEl>
                      </p:cBhvr>
                    </p:animEffect>
                  </p:childTnLst>
                  <p:subTnLst>
                    <p:animClr clrSpc="rgb" dir="cw">
                      <p:cBhvr override="childStyle">
                        <p:cTn dur="1" fill="hold" display="0" masterRel="nextClick" afterEffect="1"/>
                        <p:tgtEl>
                          <p:spTgt spid="3083"/>
                        </p:tgtEl>
                        <p:attrNameLst>
                          <p:attrName>ppt_c</p:attrName>
                        </p:attrNameLst>
                      </p:cBhvr>
                      <p:to>
                        <a:schemeClr val="tx1"/>
                      </p:to>
                    </p:animClr>
                  </p:subTnLst>
                </p:cTn>
              </p:par>
            </p:tnLst>
          </p:tmpl>
          <p:tmpl lvl="4">
            <p:tnLst>
              <p:par>
                <p:cTn presetID="22" presetClass="entr" presetSubtype="1" fill="hold" nodeType="clickEffect">
                  <p:stCondLst>
                    <p:cond delay="0"/>
                  </p:stCondLst>
                  <p:childTnLst>
                    <p:set>
                      <p:cBhvr>
                        <p:cTn dur="1" fill="hold">
                          <p:stCondLst>
                            <p:cond delay="0"/>
                          </p:stCondLst>
                        </p:cTn>
                        <p:tgtEl>
                          <p:spTgt spid="3083"/>
                        </p:tgtEl>
                        <p:attrNameLst>
                          <p:attrName>style.visibility</p:attrName>
                        </p:attrNameLst>
                      </p:cBhvr>
                      <p:to>
                        <p:strVal val="visible"/>
                      </p:to>
                    </p:set>
                    <p:animEffect transition="in" filter="wipe(up)">
                      <p:cBhvr>
                        <p:cTn dur="500"/>
                        <p:tgtEl>
                          <p:spTgt spid="3083"/>
                        </p:tgtEl>
                      </p:cBhvr>
                    </p:animEffect>
                  </p:childTnLst>
                  <p:subTnLst>
                    <p:animClr clrSpc="rgb" dir="cw">
                      <p:cBhvr override="childStyle">
                        <p:cTn dur="1" fill="hold" display="0" masterRel="nextClick" afterEffect="1"/>
                        <p:tgtEl>
                          <p:spTgt spid="3083"/>
                        </p:tgtEl>
                        <p:attrNameLst>
                          <p:attrName>ppt_c</p:attrName>
                        </p:attrNameLst>
                      </p:cBhvr>
                      <p:to>
                        <a:schemeClr val="tx1"/>
                      </p:to>
                    </p:animClr>
                  </p:subTnLst>
                </p:cTn>
              </p:par>
            </p:tnLst>
          </p:tmpl>
          <p:tmpl lvl="5">
            <p:tnLst>
              <p:par>
                <p:cTn presetID="22" presetClass="entr" presetSubtype="1" fill="hold" nodeType="clickEffect">
                  <p:stCondLst>
                    <p:cond delay="0"/>
                  </p:stCondLst>
                  <p:childTnLst>
                    <p:set>
                      <p:cBhvr>
                        <p:cTn dur="1" fill="hold">
                          <p:stCondLst>
                            <p:cond delay="0"/>
                          </p:stCondLst>
                        </p:cTn>
                        <p:tgtEl>
                          <p:spTgt spid="3083"/>
                        </p:tgtEl>
                        <p:attrNameLst>
                          <p:attrName>style.visibility</p:attrName>
                        </p:attrNameLst>
                      </p:cBhvr>
                      <p:to>
                        <p:strVal val="visible"/>
                      </p:to>
                    </p:set>
                    <p:animEffect transition="in" filter="wipe(up)">
                      <p:cBhvr>
                        <p:cTn dur="500"/>
                        <p:tgtEl>
                          <p:spTgt spid="3083"/>
                        </p:tgtEl>
                      </p:cBhvr>
                    </p:animEffect>
                  </p:childTnLst>
                  <p:subTnLst>
                    <p:animClr clrSpc="rgb" dir="cw">
                      <p:cBhvr override="childStyle">
                        <p:cTn dur="1" fill="hold" display="0" masterRel="nextClick" afterEffect="1"/>
                        <p:tgtEl>
                          <p:spTgt spid="3083"/>
                        </p:tgtEl>
                        <p:attrNameLst>
                          <p:attrName>ppt_c</p:attrName>
                        </p:attrNameLst>
                      </p:cBhvr>
                      <p:to>
                        <a:schemeClr val="tx1"/>
                      </p:to>
                    </p:animClr>
                  </p:subTnLst>
                </p:cTn>
              </p:par>
            </p:tnLst>
          </p:tmpl>
        </p:tmplLst>
      </p:bldP>
      <p:bldP spid="3094" grpId="0" build="p" autoUpdateAnimBg="0" advAuto="0"/>
    </p:bldLst>
  </p:timing>
  <p:txStyles>
    <p:titleStyle>
      <a:lvl1pPr algn="l" rtl="0" eaLnBrk="1" fontAlgn="base" hangingPunct="1">
        <a:spcBef>
          <a:spcPct val="0"/>
        </a:spcBef>
        <a:spcAft>
          <a:spcPct val="0"/>
        </a:spcAft>
        <a:defRPr kumimoji="1" sz="3600" b="1">
          <a:solidFill>
            <a:schemeClr val="tx2"/>
          </a:solidFill>
          <a:effectLst>
            <a:outerShdw blurRad="38100" dist="38100" dir="2700000" algn="tl">
              <a:srgbClr val="000000"/>
            </a:outerShdw>
          </a:effectLst>
          <a:latin typeface="+mj-lt"/>
          <a:ea typeface="+mj-ea"/>
          <a:cs typeface="+mj-cs"/>
        </a:defRPr>
      </a:lvl1pPr>
      <a:lvl2pPr algn="l" rtl="0" eaLnBrk="1" fontAlgn="base" hangingPunct="1">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2pPr>
      <a:lvl3pPr algn="l" rtl="0" eaLnBrk="1" fontAlgn="base" hangingPunct="1">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3pPr>
      <a:lvl4pPr algn="l" rtl="0" eaLnBrk="1" fontAlgn="base" hangingPunct="1">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4pPr>
      <a:lvl5pPr algn="l" rtl="0" eaLnBrk="1" fontAlgn="base" hangingPunct="1">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5pPr>
      <a:lvl6pPr marL="457200" algn="l" rtl="0" eaLnBrk="1" fontAlgn="base" hangingPunct="1">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6pPr>
      <a:lvl7pPr marL="914400" algn="l" rtl="0" eaLnBrk="1" fontAlgn="base" hangingPunct="1">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7pPr>
      <a:lvl8pPr marL="1371600" algn="l" rtl="0" eaLnBrk="1" fontAlgn="base" hangingPunct="1">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8pPr>
      <a:lvl9pPr marL="1828800" algn="l" rtl="0" eaLnBrk="1" fontAlgn="base" hangingPunct="1">
        <a:spcBef>
          <a:spcPct val="0"/>
        </a:spcBef>
        <a:spcAft>
          <a:spcPct val="0"/>
        </a:spcAft>
        <a:defRPr kumimoji="1" sz="3600" b="1">
          <a:solidFill>
            <a:schemeClr val="tx2"/>
          </a:solidFill>
          <a:effectLst>
            <a:outerShdw blurRad="38100" dist="38100" dir="2700000" algn="tl">
              <a:srgbClr val="000000"/>
            </a:outerShdw>
          </a:effectLst>
          <a:latin typeface="Times New Roman" pitchFamily="18" charset="0"/>
        </a:defRPr>
      </a:lvl9pPr>
    </p:titleStyle>
    <p:bodyStyle>
      <a:lvl1pPr marL="342900" indent="-342900" algn="l" rtl="0" eaLnBrk="1" fontAlgn="base" hangingPunct="1">
        <a:spcBef>
          <a:spcPct val="20000"/>
        </a:spcBef>
        <a:spcAft>
          <a:spcPct val="0"/>
        </a:spcAft>
        <a:buClr>
          <a:srgbClr val="A50021"/>
        </a:buClr>
        <a:buSzPct val="75000"/>
        <a:buFont typeface="Monotype Sorts" pitchFamily="2" charset="2"/>
        <a:buChar char="b"/>
        <a:defRPr kumimoji="1" sz="2400" b="1">
          <a:solidFill>
            <a:srgbClr val="FFFF99"/>
          </a:solidFill>
          <a:effectLst>
            <a:outerShdw blurRad="38100" dist="38100" dir="2700000" algn="tl">
              <a:srgbClr val="000000"/>
            </a:outerShdw>
          </a:effectLst>
          <a:latin typeface="+mn-lt"/>
          <a:ea typeface="+mn-ea"/>
          <a:cs typeface="+mn-cs"/>
        </a:defRPr>
      </a:lvl1pPr>
      <a:lvl2pPr marL="742950" indent="-285750" algn="l" rtl="0" eaLnBrk="1" fontAlgn="base" hangingPunct="1">
        <a:spcBef>
          <a:spcPct val="20000"/>
        </a:spcBef>
        <a:spcAft>
          <a:spcPct val="0"/>
        </a:spcAft>
        <a:buClr>
          <a:srgbClr val="A50021"/>
        </a:buClr>
        <a:buChar char="•"/>
        <a:defRPr kumimoji="1" sz="2000" b="1">
          <a:solidFill>
            <a:srgbClr val="FFFF99"/>
          </a:solidFill>
          <a:effectLst>
            <a:outerShdw blurRad="38100" dist="38100" dir="2700000" algn="tl">
              <a:srgbClr val="000000"/>
            </a:outerShdw>
          </a:effectLst>
          <a:latin typeface="+mn-lt"/>
        </a:defRPr>
      </a:lvl2pPr>
      <a:lvl3pPr marL="1143000" indent="-228600" algn="l" rtl="0" eaLnBrk="1" fontAlgn="base" hangingPunct="1">
        <a:spcBef>
          <a:spcPct val="20000"/>
        </a:spcBef>
        <a:spcAft>
          <a:spcPct val="0"/>
        </a:spcAft>
        <a:buClr>
          <a:srgbClr val="A50021"/>
        </a:buClr>
        <a:buChar char="–"/>
        <a:defRPr kumimoji="1" b="1">
          <a:solidFill>
            <a:srgbClr val="FFFF99"/>
          </a:solidFill>
          <a:effectLst>
            <a:outerShdw blurRad="38100" dist="38100" dir="2700000" algn="tl">
              <a:srgbClr val="000000"/>
            </a:outerShdw>
          </a:effectLst>
          <a:latin typeface="+mn-lt"/>
        </a:defRPr>
      </a:lvl3pPr>
      <a:lvl4pPr marL="1600200" indent="-228600" algn="l" rtl="0" eaLnBrk="1" fontAlgn="base" hangingPunct="1">
        <a:spcBef>
          <a:spcPct val="20000"/>
        </a:spcBef>
        <a:spcAft>
          <a:spcPct val="0"/>
        </a:spcAft>
        <a:buClr>
          <a:srgbClr val="A50021"/>
        </a:buClr>
        <a:buChar char="–"/>
        <a:defRPr kumimoji="1" b="1">
          <a:solidFill>
            <a:srgbClr val="FFFF99"/>
          </a:solidFill>
          <a:effectLst>
            <a:outerShdw blurRad="38100" dist="38100" dir="2700000" algn="tl">
              <a:srgbClr val="000000"/>
            </a:outerShdw>
          </a:effectLst>
          <a:latin typeface="+mn-lt"/>
        </a:defRPr>
      </a:lvl4pPr>
      <a:lvl5pPr marL="2057400" indent="-228600" algn="l" rtl="0" eaLnBrk="1" fontAlgn="base" hangingPunct="1">
        <a:spcBef>
          <a:spcPct val="20000"/>
        </a:spcBef>
        <a:spcAft>
          <a:spcPct val="0"/>
        </a:spcAft>
        <a:buClr>
          <a:srgbClr val="A50021"/>
        </a:buClr>
        <a:buChar char="»"/>
        <a:defRPr kumimoji="1" b="1">
          <a:solidFill>
            <a:srgbClr val="FFFF99"/>
          </a:solidFill>
          <a:effectLst>
            <a:outerShdw blurRad="38100" dist="38100" dir="2700000" algn="tl">
              <a:srgbClr val="000000"/>
            </a:outerShdw>
          </a:effectLst>
          <a:latin typeface="+mn-lt"/>
        </a:defRPr>
      </a:lvl5pPr>
      <a:lvl6pPr marL="2514600" indent="-228600" algn="l" rtl="0" eaLnBrk="1" fontAlgn="base" hangingPunct="1">
        <a:spcBef>
          <a:spcPct val="20000"/>
        </a:spcBef>
        <a:spcAft>
          <a:spcPct val="0"/>
        </a:spcAft>
        <a:buClr>
          <a:srgbClr val="A50021"/>
        </a:buClr>
        <a:buChar char="»"/>
        <a:defRPr kumimoji="1" b="1">
          <a:solidFill>
            <a:srgbClr val="FFFF99"/>
          </a:solidFill>
          <a:effectLst>
            <a:outerShdw blurRad="38100" dist="38100" dir="2700000" algn="tl">
              <a:srgbClr val="000000"/>
            </a:outerShdw>
          </a:effectLst>
          <a:latin typeface="+mn-lt"/>
        </a:defRPr>
      </a:lvl6pPr>
      <a:lvl7pPr marL="2971800" indent="-228600" algn="l" rtl="0" eaLnBrk="1" fontAlgn="base" hangingPunct="1">
        <a:spcBef>
          <a:spcPct val="20000"/>
        </a:spcBef>
        <a:spcAft>
          <a:spcPct val="0"/>
        </a:spcAft>
        <a:buClr>
          <a:srgbClr val="A50021"/>
        </a:buClr>
        <a:buChar char="»"/>
        <a:defRPr kumimoji="1" b="1">
          <a:solidFill>
            <a:srgbClr val="FFFF99"/>
          </a:solidFill>
          <a:effectLst>
            <a:outerShdw blurRad="38100" dist="38100" dir="2700000" algn="tl">
              <a:srgbClr val="000000"/>
            </a:outerShdw>
          </a:effectLst>
          <a:latin typeface="+mn-lt"/>
        </a:defRPr>
      </a:lvl7pPr>
      <a:lvl8pPr marL="3429000" indent="-228600" algn="l" rtl="0" eaLnBrk="1" fontAlgn="base" hangingPunct="1">
        <a:spcBef>
          <a:spcPct val="20000"/>
        </a:spcBef>
        <a:spcAft>
          <a:spcPct val="0"/>
        </a:spcAft>
        <a:buClr>
          <a:srgbClr val="A50021"/>
        </a:buClr>
        <a:buChar char="»"/>
        <a:defRPr kumimoji="1" b="1">
          <a:solidFill>
            <a:srgbClr val="FFFF99"/>
          </a:solidFill>
          <a:effectLst>
            <a:outerShdw blurRad="38100" dist="38100" dir="2700000" algn="tl">
              <a:srgbClr val="000000"/>
            </a:outerShdw>
          </a:effectLst>
          <a:latin typeface="+mn-lt"/>
        </a:defRPr>
      </a:lvl8pPr>
      <a:lvl9pPr marL="3886200" indent="-228600" algn="l" rtl="0" eaLnBrk="1" fontAlgn="base" hangingPunct="1">
        <a:spcBef>
          <a:spcPct val="20000"/>
        </a:spcBef>
        <a:spcAft>
          <a:spcPct val="0"/>
        </a:spcAft>
        <a:buClr>
          <a:srgbClr val="A50021"/>
        </a:buClr>
        <a:buChar char="»"/>
        <a:defRPr kumimoji="1" b="1">
          <a:solidFill>
            <a:srgbClr val="FFFF99"/>
          </a:solidFill>
          <a:effectLst>
            <a:outerShdw blurRad="38100" dist="38100" dir="2700000" algn="tl">
              <a:srgbClr val="000000"/>
            </a:outerShdw>
          </a:effectLst>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0D910A-8752-4127-BFD7-E368401D0E4E}" type="datetimeFigureOut">
              <a:rPr lang="zh-CN" altLang="en-US" smtClean="0"/>
              <a:pPr/>
              <a:t>2024/3/4</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D8E7EC-1B0B-4459-B7CD-79C8FF29AF3D}"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bin"/><Relationship Id="rId7"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7.wmf"/><Relationship Id="rId5" Type="http://schemas.openxmlformats.org/officeDocument/2006/relationships/oleObject" Target="../embeddings/oleObject2.bin"/><Relationship Id="rId4" Type="http://schemas.openxmlformats.org/officeDocument/2006/relationships/image" Target="../media/image6.wmf"/></Relationships>
</file>

<file path=ppt/slides/_rels/slide19.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4.bin"/><Relationship Id="rId4" Type="http://schemas.openxmlformats.org/officeDocument/2006/relationships/image" Target="../media/image9.wmf"/></Relationships>
</file>

<file path=ppt/slides/_rels/slide20.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6.bin"/><Relationship Id="rId7" Type="http://schemas.openxmlformats.org/officeDocument/2006/relationships/oleObject" Target="../embeddings/oleObject8.bin"/><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3.wmf"/><Relationship Id="rId5" Type="http://schemas.openxmlformats.org/officeDocument/2006/relationships/oleObject" Target="../embeddings/oleObject7.bin"/><Relationship Id="rId4" Type="http://schemas.openxmlformats.org/officeDocument/2006/relationships/image" Target="../media/image12.wmf"/></Relationships>
</file>

<file path=ppt/slides/_rels/slide21.x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oleObject" Target="../embeddings/oleObject9.bin"/><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0.bin"/><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oleObject" Target="../embeddings/oleObject11.bin"/><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oleObject" Target="../embeddings/oleObject12.bin"/><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算法设计与分析</a:t>
            </a:r>
          </a:p>
        </p:txBody>
      </p:sp>
      <p:sp>
        <p:nvSpPr>
          <p:cNvPr id="3" name="副标题 2"/>
          <p:cNvSpPr>
            <a:spLocks noGrp="1"/>
          </p:cNvSpPr>
          <p:nvPr>
            <p:ph type="subTitle" idx="1"/>
          </p:nvPr>
        </p:nvSpPr>
        <p:spPr>
          <a:xfrm>
            <a:off x="762000" y="3581400"/>
            <a:ext cx="6670366" cy="1752600"/>
          </a:xfrm>
        </p:spPr>
        <p:txBody>
          <a:bodyPr/>
          <a:lstStyle/>
          <a:p>
            <a:pPr algn="r"/>
            <a:r>
              <a:rPr lang="zh-CN" altLang="en-US" dirty="0">
                <a:latin typeface="Arial Unicode MS" pitchFamily="34" charset="-122"/>
                <a:ea typeface="Arial Unicode MS" pitchFamily="34" charset="-122"/>
                <a:cs typeface="Arial Unicode MS" pitchFamily="34" charset="-122"/>
              </a:rPr>
              <a:t>深圳大学计算机与软件学院</a:t>
            </a:r>
            <a:endParaRPr lang="en-US" altLang="zh-CN" dirty="0">
              <a:latin typeface="Arial Unicode MS" pitchFamily="34" charset="-122"/>
              <a:ea typeface="Arial Unicode MS" pitchFamily="34" charset="-122"/>
              <a:cs typeface="Arial Unicode MS" pitchFamily="34" charset="-122"/>
            </a:endParaRPr>
          </a:p>
          <a:p>
            <a:pPr algn="r"/>
            <a:r>
              <a:rPr lang="zh-CN" altLang="en-US" dirty="0">
                <a:latin typeface="Arial Unicode MS" pitchFamily="34" charset="-122"/>
                <a:ea typeface="Arial Unicode MS" pitchFamily="34" charset="-122"/>
                <a:cs typeface="Arial Unicode MS" pitchFamily="34" charset="-122"/>
              </a:rPr>
              <a:t>算法设计与分析课程组</a:t>
            </a:r>
            <a:endParaRPr lang="en-US" altLang="zh-CN" dirty="0">
              <a:latin typeface="Arial Unicode MS" pitchFamily="34" charset="-122"/>
              <a:ea typeface="Arial Unicode MS" pitchFamily="34" charset="-122"/>
              <a:cs typeface="Arial Unicode MS" pitchFamily="34" charset="-122"/>
            </a:endParaRPr>
          </a:p>
          <a:p>
            <a:endParaRPr lang="zh-CN" altLang="en-US" dirty="0"/>
          </a:p>
        </p:txBody>
      </p:sp>
    </p:spTree>
    <p:extLst>
      <p:ext uri="{BB962C8B-B14F-4D97-AF65-F5344CB8AC3E}">
        <p14:creationId xmlns:p14="http://schemas.microsoft.com/office/powerpoint/2010/main" val="15337638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533400" y="76200"/>
            <a:ext cx="7772400" cy="762000"/>
          </a:xfrm>
        </p:spPr>
        <p:txBody>
          <a:bodyPr/>
          <a:lstStyle/>
          <a:p>
            <a:pPr eaLnBrk="1" hangingPunct="1"/>
            <a:r>
              <a:rPr lang="zh-CN" altLang="en-US" dirty="0"/>
              <a:t>基本情况</a:t>
            </a:r>
          </a:p>
        </p:txBody>
      </p:sp>
      <p:sp>
        <p:nvSpPr>
          <p:cNvPr id="21507" name="Rectangle 3"/>
          <p:cNvSpPr>
            <a:spLocks noGrp="1" noChangeArrowheads="1"/>
          </p:cNvSpPr>
          <p:nvPr>
            <p:ph idx="1"/>
          </p:nvPr>
        </p:nvSpPr>
        <p:spPr>
          <a:xfrm>
            <a:off x="685800" y="1371600"/>
            <a:ext cx="8153400" cy="5181600"/>
          </a:xfrm>
          <a:prstGeom prst="rect">
            <a:avLst/>
          </a:prstGeom>
        </p:spPr>
        <p:txBody>
          <a:bodyPr>
            <a:normAutofit/>
          </a:bodyPr>
          <a:lstStyle/>
          <a:p>
            <a:pPr eaLnBrk="1" hangingPunct="1"/>
            <a:r>
              <a:rPr lang="zh-CN" altLang="en-US" sz="3200" dirty="0"/>
              <a:t>性质：专业核心课（必修）</a:t>
            </a:r>
          </a:p>
          <a:p>
            <a:pPr eaLnBrk="1" hangingPunct="1"/>
            <a:r>
              <a:rPr lang="zh-CN" altLang="en-US" sz="3200" dirty="0"/>
              <a:t>学时：</a:t>
            </a:r>
            <a:r>
              <a:rPr lang="en-US" altLang="zh-CN" sz="3200" dirty="0"/>
              <a:t>72</a:t>
            </a:r>
            <a:r>
              <a:rPr lang="zh-CN" altLang="en-US" sz="3200" dirty="0"/>
              <a:t>（</a:t>
            </a:r>
            <a:r>
              <a:rPr lang="en-US" altLang="zh-CN" sz="3200" dirty="0"/>
              <a:t>2-2</a:t>
            </a:r>
            <a:r>
              <a:rPr lang="zh-CN" altLang="en-US" sz="3200" dirty="0"/>
              <a:t>）</a:t>
            </a:r>
            <a:endParaRPr lang="en-US" altLang="zh-CN" sz="3200" dirty="0"/>
          </a:p>
          <a:p>
            <a:pPr eaLnBrk="1" hangingPunct="1"/>
            <a:r>
              <a:rPr lang="zh-CN" altLang="en-US" sz="3200" dirty="0"/>
              <a:t>考核方法：</a:t>
            </a:r>
          </a:p>
          <a:p>
            <a:pPr lvl="1" eaLnBrk="1" hangingPunct="1"/>
            <a:r>
              <a:rPr lang="zh-CN" altLang="en-US" sz="3200" dirty="0"/>
              <a:t>平时成绩</a:t>
            </a:r>
            <a:r>
              <a:rPr lang="en-US" altLang="zh-CN" sz="3200" dirty="0"/>
              <a:t>70</a:t>
            </a:r>
            <a:r>
              <a:rPr lang="zh-CN" altLang="en-US" sz="3200" dirty="0"/>
              <a:t>分</a:t>
            </a:r>
          </a:p>
          <a:p>
            <a:pPr lvl="2" eaLnBrk="1" hangingPunct="1"/>
            <a:r>
              <a:rPr lang="zh-CN" altLang="en-US" sz="3200" dirty="0"/>
              <a:t>六次实验作业（演示</a:t>
            </a:r>
            <a:r>
              <a:rPr lang="en-US" altLang="zh-CN" sz="3200" dirty="0"/>
              <a:t>+PPT+</a:t>
            </a:r>
            <a:r>
              <a:rPr lang="zh-CN" altLang="en-US" sz="3200" dirty="0"/>
              <a:t>实验报告，每次</a:t>
            </a:r>
            <a:r>
              <a:rPr lang="en-US" altLang="zh-CN" sz="3200" dirty="0"/>
              <a:t>10</a:t>
            </a:r>
            <a:r>
              <a:rPr lang="zh-CN" altLang="en-US" sz="3200" dirty="0"/>
              <a:t>分）</a:t>
            </a:r>
            <a:endParaRPr lang="en-US" altLang="zh-CN" sz="3200" dirty="0"/>
          </a:p>
          <a:p>
            <a:pPr lvl="2" eaLnBrk="1" hangingPunct="1"/>
            <a:r>
              <a:rPr lang="zh-CN" altLang="en-US" sz="3200" dirty="0"/>
              <a:t>随堂测验（</a:t>
            </a:r>
            <a:r>
              <a:rPr lang="en-US" altLang="zh-CN" sz="3200" dirty="0"/>
              <a:t>10</a:t>
            </a:r>
            <a:r>
              <a:rPr lang="zh-CN" altLang="en-US" sz="3200" dirty="0"/>
              <a:t>分）</a:t>
            </a:r>
          </a:p>
          <a:p>
            <a:pPr lvl="1" eaLnBrk="1" hangingPunct="1"/>
            <a:r>
              <a:rPr lang="zh-CN" altLang="en-US" sz="3200" dirty="0"/>
              <a:t>期末考试</a:t>
            </a:r>
            <a:r>
              <a:rPr lang="en-US" altLang="zh-CN" sz="3200" dirty="0"/>
              <a:t>30</a:t>
            </a:r>
            <a:r>
              <a:rPr lang="zh-CN" altLang="en-US" sz="3200" dirty="0"/>
              <a:t>分</a:t>
            </a:r>
          </a:p>
        </p:txBody>
      </p:sp>
    </p:spTree>
    <p:extLst>
      <p:ext uri="{BB962C8B-B14F-4D97-AF65-F5344CB8AC3E}">
        <p14:creationId xmlns:p14="http://schemas.microsoft.com/office/powerpoint/2010/main" val="5918425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3400" y="0"/>
            <a:ext cx="7924800" cy="884238"/>
          </a:xfrm>
        </p:spPr>
        <p:txBody>
          <a:bodyPr/>
          <a:lstStyle/>
          <a:p>
            <a:r>
              <a:rPr lang="zh-CN" altLang="en-US" dirty="0"/>
              <a:t>关于实验课的说明</a:t>
            </a:r>
          </a:p>
        </p:txBody>
      </p:sp>
      <p:sp>
        <p:nvSpPr>
          <p:cNvPr id="3" name="内容占位符 2"/>
          <p:cNvSpPr>
            <a:spLocks noGrp="1"/>
          </p:cNvSpPr>
          <p:nvPr>
            <p:ph idx="1"/>
          </p:nvPr>
        </p:nvSpPr>
        <p:spPr>
          <a:xfrm>
            <a:off x="457200" y="1219200"/>
            <a:ext cx="8458200" cy="5562600"/>
          </a:xfrm>
          <a:prstGeom prst="rect">
            <a:avLst/>
          </a:prstGeom>
        </p:spPr>
        <p:txBody>
          <a:bodyPr/>
          <a:lstStyle/>
          <a:p>
            <a:r>
              <a:rPr lang="zh-CN" altLang="en-US" sz="2400" dirty="0"/>
              <a:t>实验评分：代码演示</a:t>
            </a:r>
            <a:r>
              <a:rPr lang="en-US" altLang="zh-CN" sz="2400" dirty="0"/>
              <a:t>+PPT</a:t>
            </a:r>
            <a:r>
              <a:rPr lang="zh-CN" altLang="en-US" sz="2400" dirty="0"/>
              <a:t>讲解</a:t>
            </a:r>
            <a:r>
              <a:rPr lang="en-US" altLang="zh-CN" sz="2400" dirty="0"/>
              <a:t>+</a:t>
            </a:r>
            <a:r>
              <a:rPr lang="zh-CN" altLang="en-US" sz="2400" dirty="0"/>
              <a:t>实验报告，代码演示界面要求清晰明了，开发语言不限；</a:t>
            </a:r>
            <a:r>
              <a:rPr lang="en-US" altLang="zh-CN" sz="2400" dirty="0"/>
              <a:t>PPT</a:t>
            </a:r>
            <a:r>
              <a:rPr lang="zh-CN" altLang="en-US" sz="2400" dirty="0"/>
              <a:t>要求内容充实（算法思想介绍，效率分析，结论等），美观大方，讲解清晰，回答问题正确</a:t>
            </a:r>
            <a:endParaRPr lang="en-US" altLang="zh-CN" sz="2400" dirty="0"/>
          </a:p>
          <a:p>
            <a:r>
              <a:rPr lang="zh-CN" altLang="en-US" sz="2400" dirty="0"/>
              <a:t>每个实验占总评成绩中的</a:t>
            </a:r>
            <a:r>
              <a:rPr lang="en-US" altLang="zh-CN" sz="2400" dirty="0"/>
              <a:t>10</a:t>
            </a:r>
            <a:r>
              <a:rPr lang="zh-CN" altLang="en-US" sz="2400" dirty="0"/>
              <a:t>分，该评分包含代码演示</a:t>
            </a:r>
            <a:r>
              <a:rPr lang="en-US" altLang="zh-CN" sz="2400" dirty="0"/>
              <a:t>+PPT</a:t>
            </a:r>
            <a:r>
              <a:rPr lang="zh-CN" altLang="en-US" sz="2400" dirty="0"/>
              <a:t>讲解</a:t>
            </a:r>
            <a:r>
              <a:rPr lang="en-US" altLang="zh-CN" sz="2400" dirty="0"/>
              <a:t>+</a:t>
            </a:r>
            <a:r>
              <a:rPr lang="zh-CN" altLang="en-US" sz="2400" dirty="0"/>
              <a:t>实验报告；</a:t>
            </a:r>
            <a:endParaRPr lang="en-US" altLang="zh-CN" sz="2400" dirty="0"/>
          </a:p>
          <a:p>
            <a:r>
              <a:rPr lang="zh-CN" altLang="en-US" sz="2400" dirty="0"/>
              <a:t>第一周实验课暂停，第二周开始；每个实验有两次实验课的时间给老师演示和讲解，超出两周时间一律以迟交评分（特殊情况除外）。</a:t>
            </a:r>
            <a:endParaRPr lang="en-US" altLang="zh-CN" sz="2400" dirty="0"/>
          </a:p>
          <a:p>
            <a:r>
              <a:rPr lang="zh-CN" altLang="en-US" sz="2400" dirty="0"/>
              <a:t>严谨</a:t>
            </a:r>
            <a:r>
              <a:rPr lang="zh-CN" altLang="en-US" sz="2800" dirty="0">
                <a:solidFill>
                  <a:srgbClr val="C00000"/>
                </a:solidFill>
              </a:rPr>
              <a:t>任何形式</a:t>
            </a:r>
            <a:r>
              <a:rPr lang="zh-CN" altLang="en-US" sz="2400" dirty="0"/>
              <a:t>的抄袭，包括代码、</a:t>
            </a:r>
            <a:r>
              <a:rPr lang="en-US" altLang="zh-CN" sz="2400" dirty="0"/>
              <a:t>PPT</a:t>
            </a:r>
            <a:r>
              <a:rPr lang="zh-CN" altLang="en-US" sz="2400" dirty="0"/>
              <a:t>、实验报告，大量的相同文字内容及相同图片，如有需要，请给出引用的参考文献。</a:t>
            </a:r>
            <a:endParaRPr lang="en-US" altLang="zh-CN" sz="2400" dirty="0"/>
          </a:p>
          <a:p>
            <a:r>
              <a:rPr lang="zh-CN" altLang="en-US" sz="2400" dirty="0"/>
              <a:t>教师检查只关注算法部分内容，有关程序设计的代码问题一概不回答（问代码者后果自负）。</a:t>
            </a:r>
            <a:endParaRPr lang="en-US" altLang="zh-CN" sz="2400" dirty="0"/>
          </a:p>
          <a:p>
            <a:endParaRPr lang="en-US" altLang="zh-CN" dirty="0"/>
          </a:p>
          <a:p>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3" name="Rectangle 2"/>
          <p:cNvSpPr>
            <a:spLocks noGrp="1" noChangeArrowheads="1"/>
          </p:cNvSpPr>
          <p:nvPr>
            <p:ph type="title"/>
          </p:nvPr>
        </p:nvSpPr>
        <p:spPr>
          <a:xfrm>
            <a:off x="609600" y="152400"/>
            <a:ext cx="7848600" cy="762000"/>
          </a:xfrm>
        </p:spPr>
        <p:txBody>
          <a:bodyPr/>
          <a:lstStyle/>
          <a:p>
            <a:pPr eaLnBrk="1" hangingPunct="1"/>
            <a:r>
              <a:rPr lang="zh-CN" altLang="en-US" sz="3600" dirty="0">
                <a:latin typeface="Times New Roman" panose="02020603050405020304" pitchFamily="18" charset="0"/>
              </a:rPr>
              <a:t>教材</a:t>
            </a:r>
            <a:endParaRPr lang="zh-CN" altLang="zh-CN" sz="3600" dirty="0">
              <a:latin typeface="Times New Roman" panose="02020603050405020304" pitchFamily="18" charset="0"/>
            </a:endParaRPr>
          </a:p>
        </p:txBody>
      </p:sp>
      <p:sp>
        <p:nvSpPr>
          <p:cNvPr id="22534" name="Rectangle 3"/>
          <p:cNvSpPr>
            <a:spLocks noGrp="1" noChangeArrowheads="1"/>
          </p:cNvSpPr>
          <p:nvPr>
            <p:ph type="body" sz="half" idx="1"/>
          </p:nvPr>
        </p:nvSpPr>
        <p:spPr>
          <a:xfrm>
            <a:off x="533400" y="1490417"/>
            <a:ext cx="5410200" cy="4105275"/>
          </a:xfrm>
        </p:spPr>
        <p:txBody>
          <a:bodyPr/>
          <a:lstStyle/>
          <a:p>
            <a:pPr marL="457200" indent="-457200" eaLnBrk="1" hangingPunct="1"/>
            <a:r>
              <a:rPr lang="zh-CN" altLang="zh-CN" sz="2800" dirty="0">
                <a:solidFill>
                  <a:schemeClr val="tx1"/>
                </a:solidFill>
              </a:rPr>
              <a:t>书名：算法导论</a:t>
            </a:r>
            <a:r>
              <a:rPr lang="zh-CN" altLang="en-US" sz="2800" dirty="0">
                <a:solidFill>
                  <a:schemeClr val="tx1"/>
                </a:solidFill>
              </a:rPr>
              <a:t>（第三版）</a:t>
            </a:r>
            <a:r>
              <a:rPr lang="zh-CN" altLang="zh-CN" sz="2800" dirty="0">
                <a:solidFill>
                  <a:schemeClr val="tx1"/>
                </a:solidFill>
              </a:rPr>
              <a:t> </a:t>
            </a:r>
          </a:p>
          <a:p>
            <a:pPr marL="457200" indent="-457200" eaLnBrk="1" hangingPunct="1"/>
            <a:r>
              <a:rPr lang="zh-CN" altLang="zh-CN" sz="2800" dirty="0">
                <a:solidFill>
                  <a:schemeClr val="tx1"/>
                </a:solidFill>
              </a:rPr>
              <a:t>著者：</a:t>
            </a:r>
            <a:r>
              <a:rPr lang="en-US" altLang="zh-CN" sz="2800" dirty="0">
                <a:solidFill>
                  <a:schemeClr val="tx1"/>
                </a:solidFill>
                <a:latin typeface="Comic Sans MS" panose="030F0702030302020204" pitchFamily="66" charset="0"/>
              </a:rPr>
              <a:t>Thomas H. </a:t>
            </a:r>
            <a:r>
              <a:rPr lang="en-US" altLang="zh-CN" sz="2800" dirty="0" err="1">
                <a:solidFill>
                  <a:schemeClr val="tx1"/>
                </a:solidFill>
                <a:latin typeface="Comic Sans MS" panose="030F0702030302020204" pitchFamily="66" charset="0"/>
              </a:rPr>
              <a:t>Cormen</a:t>
            </a:r>
            <a:r>
              <a:rPr lang="en-US" altLang="zh-CN" sz="2800" dirty="0">
                <a:solidFill>
                  <a:schemeClr val="tx1"/>
                </a:solidFill>
                <a:latin typeface="Comic Sans MS" panose="030F0702030302020204" pitchFamily="66" charset="0"/>
              </a:rPr>
              <a:t>, Charles E. </a:t>
            </a:r>
            <a:r>
              <a:rPr lang="en-US" altLang="zh-CN" sz="2800" dirty="0" err="1">
                <a:solidFill>
                  <a:schemeClr val="tx1"/>
                </a:solidFill>
                <a:latin typeface="Comic Sans MS" panose="030F0702030302020204" pitchFamily="66" charset="0"/>
              </a:rPr>
              <a:t>Leiserson</a:t>
            </a:r>
            <a:r>
              <a:rPr lang="en-US" altLang="zh-CN" sz="2800" dirty="0">
                <a:solidFill>
                  <a:schemeClr val="tx1"/>
                </a:solidFill>
                <a:latin typeface="Comic Sans MS" panose="030F0702030302020204" pitchFamily="66" charset="0"/>
              </a:rPr>
              <a:t>, and Ronald L. </a:t>
            </a:r>
            <a:r>
              <a:rPr lang="en-US" altLang="zh-CN" sz="2800" dirty="0" err="1">
                <a:solidFill>
                  <a:schemeClr val="tx1"/>
                </a:solidFill>
                <a:latin typeface="Comic Sans MS" panose="030F0702030302020204" pitchFamily="66" charset="0"/>
              </a:rPr>
              <a:t>Rivest</a:t>
            </a:r>
            <a:endParaRPr lang="en-US" altLang="zh-CN" sz="2800" dirty="0">
              <a:solidFill>
                <a:schemeClr val="tx1"/>
              </a:solidFill>
              <a:latin typeface="Comic Sans MS" panose="030F0702030302020204" pitchFamily="66" charset="0"/>
            </a:endParaRPr>
          </a:p>
          <a:p>
            <a:pPr marL="457200" indent="-457200" eaLnBrk="1" hangingPunct="1"/>
            <a:r>
              <a:rPr lang="zh-CN" altLang="en-US" dirty="0">
                <a:solidFill>
                  <a:schemeClr val="tx1"/>
                </a:solidFill>
              </a:rPr>
              <a:t>译者：殷建平、徐云等</a:t>
            </a:r>
            <a:endParaRPr lang="en-US" altLang="zh-CN" sz="2800" dirty="0">
              <a:solidFill>
                <a:schemeClr val="tx1"/>
              </a:solidFill>
              <a:latin typeface="Comic Sans MS" panose="030F0702030302020204" pitchFamily="66" charset="0"/>
            </a:endParaRPr>
          </a:p>
          <a:p>
            <a:pPr marL="457200" indent="-457200" eaLnBrk="1" hangingPunct="1"/>
            <a:r>
              <a:rPr lang="zh-CN" altLang="zh-CN" sz="2800" dirty="0">
                <a:solidFill>
                  <a:schemeClr val="tx1"/>
                </a:solidFill>
              </a:rPr>
              <a:t>出版社：</a:t>
            </a:r>
            <a:r>
              <a:rPr lang="zh-CN" altLang="en-US" sz="2800" dirty="0">
                <a:solidFill>
                  <a:schemeClr val="tx1"/>
                </a:solidFill>
              </a:rPr>
              <a:t>机械工业</a:t>
            </a:r>
            <a:r>
              <a:rPr lang="zh-CN" altLang="zh-CN" sz="2800" dirty="0">
                <a:solidFill>
                  <a:schemeClr val="tx1"/>
                </a:solidFill>
              </a:rPr>
              <a:t>出版社</a:t>
            </a:r>
          </a:p>
          <a:p>
            <a:pPr marL="457200" indent="-457200" eaLnBrk="1" hangingPunct="1"/>
            <a:r>
              <a:rPr lang="zh-CN" altLang="zh-CN" sz="2800" dirty="0">
                <a:solidFill>
                  <a:schemeClr val="tx1"/>
                </a:solidFill>
              </a:rPr>
              <a:t>出版日期：</a:t>
            </a:r>
            <a:r>
              <a:rPr lang="en-US" altLang="zh-CN" sz="2800" dirty="0">
                <a:solidFill>
                  <a:schemeClr val="tx1"/>
                </a:solidFill>
              </a:rPr>
              <a:t>2013-01</a:t>
            </a:r>
          </a:p>
        </p:txBody>
      </p:sp>
      <p:pic>
        <p:nvPicPr>
          <p:cNvPr id="22535" name="Picture 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67400" y="1981200"/>
            <a:ext cx="2879725" cy="3951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24353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09600" y="152400"/>
            <a:ext cx="7772400" cy="762000"/>
          </a:xfrm>
        </p:spPr>
        <p:txBody>
          <a:bodyPr/>
          <a:lstStyle/>
          <a:p>
            <a:pPr eaLnBrk="1" hangingPunct="1"/>
            <a:r>
              <a:rPr lang="zh-CN" altLang="en-US" dirty="0"/>
              <a:t>主要内容</a:t>
            </a:r>
          </a:p>
        </p:txBody>
      </p:sp>
      <p:graphicFrame>
        <p:nvGraphicFramePr>
          <p:cNvPr id="5" name="Table 2"/>
          <p:cNvGraphicFramePr>
            <a:graphicFrameLocks noGrp="1"/>
          </p:cNvGraphicFramePr>
          <p:nvPr>
            <p:extLst>
              <p:ext uri="{D42A27DB-BD31-4B8C-83A1-F6EECF244321}">
                <p14:modId xmlns:p14="http://schemas.microsoft.com/office/powerpoint/2010/main" val="3643266590"/>
              </p:ext>
            </p:extLst>
          </p:nvPr>
        </p:nvGraphicFramePr>
        <p:xfrm>
          <a:off x="533400" y="1371600"/>
          <a:ext cx="8229601" cy="4940262"/>
        </p:xfrm>
        <a:graphic>
          <a:graphicData uri="http://schemas.openxmlformats.org/drawingml/2006/table">
            <a:tbl>
              <a:tblPr>
                <a:tableStyleId>{5C22544A-7EE6-4342-B048-85BDC9FD1C3A}</a:tableStyleId>
              </a:tblPr>
              <a:tblGrid>
                <a:gridCol w="762001">
                  <a:extLst>
                    <a:ext uri="{9D8B030D-6E8A-4147-A177-3AD203B41FA5}">
                      <a16:colId xmlns:a16="http://schemas.microsoft.com/office/drawing/2014/main" val="20000"/>
                    </a:ext>
                  </a:extLst>
                </a:gridCol>
                <a:gridCol w="4053189">
                  <a:extLst>
                    <a:ext uri="{9D8B030D-6E8A-4147-A177-3AD203B41FA5}">
                      <a16:colId xmlns:a16="http://schemas.microsoft.com/office/drawing/2014/main" val="20001"/>
                    </a:ext>
                  </a:extLst>
                </a:gridCol>
                <a:gridCol w="3414411">
                  <a:extLst>
                    <a:ext uri="{9D8B030D-6E8A-4147-A177-3AD203B41FA5}">
                      <a16:colId xmlns:a16="http://schemas.microsoft.com/office/drawing/2014/main" val="20002"/>
                    </a:ext>
                  </a:extLst>
                </a:gridCol>
              </a:tblGrid>
              <a:tr h="369627">
                <a:tc>
                  <a:txBody>
                    <a:bodyPr/>
                    <a:lstStyle/>
                    <a:p>
                      <a:pPr marL="0" marR="0" algn="ctr"/>
                      <a:r>
                        <a:rPr lang="zh-CN" altLang="en-US" sz="1800" b="1" dirty="0">
                          <a:solidFill>
                            <a:schemeClr val="bg1"/>
                          </a:solidFill>
                          <a:effectLst/>
                          <a:latin typeface="Times New Roman"/>
                          <a:ea typeface="Times New Roman"/>
                        </a:rPr>
                        <a:t>序号</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a:solidFill>
                            <a:schemeClr val="bg1"/>
                          </a:solidFill>
                          <a:effectLst/>
                          <a:latin typeface="+mn-lt"/>
                          <a:ea typeface="+mn-ea"/>
                        </a:rPr>
                        <a:t>课程内容</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a:solidFill>
                            <a:schemeClr val="bg1"/>
                          </a:solidFill>
                          <a:effectLst/>
                          <a:latin typeface="Times New Roman"/>
                          <a:ea typeface="Times New Roman"/>
                        </a:rPr>
                        <a:t>对应课本章节</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0"/>
                  </a:ext>
                </a:extLst>
              </a:tr>
              <a:tr h="304800">
                <a:tc>
                  <a:txBody>
                    <a:bodyPr/>
                    <a:lstStyle/>
                    <a:p>
                      <a:pPr marL="0" marR="0" algn="ctr"/>
                      <a:r>
                        <a:rPr lang="en-US" sz="1800" b="1">
                          <a:solidFill>
                            <a:schemeClr val="bg1"/>
                          </a:solidFill>
                          <a:effectLst/>
                        </a:rPr>
                        <a:t>1</a:t>
                      </a:r>
                      <a:endParaRPr lang="en-US" sz="1800" b="1">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a:solidFill>
                            <a:schemeClr val="bg1"/>
                          </a:solidFill>
                          <a:effectLst/>
                          <a:latin typeface="Times New Roman"/>
                          <a:ea typeface="Times New Roman"/>
                        </a:rPr>
                        <a:t>算法复杂度分析</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a:solidFill>
                            <a:schemeClr val="bg1"/>
                          </a:solidFill>
                          <a:effectLst/>
                        </a:rPr>
                        <a:t>第</a:t>
                      </a:r>
                      <a:r>
                        <a:rPr lang="en-US" sz="1800" b="1" dirty="0">
                          <a:solidFill>
                            <a:schemeClr val="bg1"/>
                          </a:solidFill>
                          <a:effectLst/>
                        </a:rPr>
                        <a:t>1</a:t>
                      </a:r>
                      <a:r>
                        <a:rPr lang="zh-CN" altLang="en-US" sz="1800" b="1" dirty="0">
                          <a:solidFill>
                            <a:schemeClr val="bg1"/>
                          </a:solidFill>
                          <a:effectLst/>
                        </a:rPr>
                        <a:t>、</a:t>
                      </a:r>
                      <a:r>
                        <a:rPr lang="en-US" sz="1800" b="1" dirty="0">
                          <a:solidFill>
                            <a:schemeClr val="bg1"/>
                          </a:solidFill>
                          <a:effectLst/>
                        </a:rPr>
                        <a:t>2</a:t>
                      </a:r>
                      <a:r>
                        <a:rPr lang="zh-CN" altLang="en-US" sz="1800" b="1" dirty="0">
                          <a:solidFill>
                            <a:schemeClr val="bg1"/>
                          </a:solidFill>
                          <a:effectLst/>
                        </a:rPr>
                        <a:t>、</a:t>
                      </a:r>
                      <a:r>
                        <a:rPr lang="en-US" sz="1800" b="1" dirty="0">
                          <a:solidFill>
                            <a:schemeClr val="bg1"/>
                          </a:solidFill>
                          <a:effectLst/>
                        </a:rPr>
                        <a:t>3</a:t>
                      </a:r>
                      <a:r>
                        <a:rPr lang="zh-CN" altLang="en-US" sz="1800" b="1" dirty="0">
                          <a:solidFill>
                            <a:schemeClr val="bg1"/>
                          </a:solidFill>
                          <a:effectLst/>
                        </a:rPr>
                        <a:t>章</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1"/>
                  </a:ext>
                </a:extLst>
              </a:tr>
              <a:tr h="381000">
                <a:tc>
                  <a:txBody>
                    <a:bodyPr/>
                    <a:lstStyle/>
                    <a:p>
                      <a:pPr marL="0" marR="0" algn="ctr"/>
                      <a:r>
                        <a:rPr lang="en-US" sz="1800" b="1">
                          <a:solidFill>
                            <a:schemeClr val="bg1"/>
                          </a:solidFill>
                          <a:effectLst/>
                        </a:rPr>
                        <a:t>2</a:t>
                      </a:r>
                      <a:endParaRPr lang="en-US" sz="1800" b="1">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a:solidFill>
                            <a:schemeClr val="bg1"/>
                          </a:solidFill>
                          <a:effectLst/>
                          <a:latin typeface="Times New Roman"/>
                          <a:ea typeface="Times New Roman"/>
                        </a:rPr>
                        <a:t>递归、分治策略</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a:solidFill>
                            <a:schemeClr val="bg1"/>
                          </a:solidFill>
                          <a:effectLst/>
                        </a:rPr>
                        <a:t>第</a:t>
                      </a:r>
                      <a:r>
                        <a:rPr lang="en-US" sz="1800" b="1" dirty="0">
                          <a:solidFill>
                            <a:schemeClr val="bg1"/>
                          </a:solidFill>
                          <a:effectLst/>
                        </a:rPr>
                        <a:t>4</a:t>
                      </a:r>
                      <a:r>
                        <a:rPr lang="zh-CN" altLang="en-US" sz="1800" b="1" dirty="0">
                          <a:solidFill>
                            <a:schemeClr val="bg1"/>
                          </a:solidFill>
                          <a:effectLst/>
                        </a:rPr>
                        <a:t>章</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2"/>
                  </a:ext>
                </a:extLst>
              </a:tr>
              <a:tr h="413982">
                <a:tc>
                  <a:txBody>
                    <a:bodyPr/>
                    <a:lstStyle/>
                    <a:p>
                      <a:pPr marL="0" marR="0" algn="ctr"/>
                      <a:r>
                        <a:rPr lang="en-US" sz="1800" b="1" dirty="0">
                          <a:solidFill>
                            <a:schemeClr val="bg1"/>
                          </a:solidFill>
                          <a:effectLst/>
                          <a:latin typeface="Times New Roman"/>
                          <a:ea typeface="Times New Roman"/>
                        </a:rPr>
                        <a:t>3</a:t>
                      </a:r>
                    </a:p>
                  </a:txBody>
                  <a:tcPr marL="68580" marR="68580" marT="68580" marB="68580">
                    <a:solidFill>
                      <a:schemeClr val="accent6">
                        <a:lumMod val="20000"/>
                        <a:lumOff val="80000"/>
                      </a:schemeClr>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sz="1800" b="1" dirty="0">
                          <a:solidFill>
                            <a:schemeClr val="bg1"/>
                          </a:solidFill>
                          <a:effectLst/>
                          <a:latin typeface="+mn-lt"/>
                          <a:ea typeface="Times New Roman"/>
                        </a:rPr>
                        <a:t>堆、堆排序、二叉搜索树</a:t>
                      </a:r>
                      <a:endParaRPr lang="en-US" sz="1800" b="1" dirty="0">
                        <a:solidFill>
                          <a:schemeClr val="bg1"/>
                        </a:solidFill>
                        <a:effectLst/>
                        <a:latin typeface="+mn-lt"/>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baseline="0" dirty="0">
                          <a:solidFill>
                            <a:schemeClr val="bg1"/>
                          </a:solidFill>
                          <a:effectLst/>
                          <a:latin typeface="Times New Roman"/>
                          <a:ea typeface="Times New Roman"/>
                        </a:rPr>
                        <a:t>第</a:t>
                      </a:r>
                      <a:r>
                        <a:rPr lang="en-US" sz="1800" b="1" baseline="0" dirty="0">
                          <a:solidFill>
                            <a:schemeClr val="bg1"/>
                          </a:solidFill>
                          <a:effectLst/>
                          <a:latin typeface="Times New Roman"/>
                          <a:ea typeface="Times New Roman"/>
                        </a:rPr>
                        <a:t>6</a:t>
                      </a:r>
                      <a:r>
                        <a:rPr lang="zh-CN" altLang="en-US" sz="1800" b="1" baseline="0" dirty="0">
                          <a:solidFill>
                            <a:schemeClr val="bg1"/>
                          </a:solidFill>
                          <a:effectLst/>
                          <a:latin typeface="Times New Roman"/>
                          <a:ea typeface="Times New Roman"/>
                        </a:rPr>
                        <a:t>、</a:t>
                      </a:r>
                      <a:r>
                        <a:rPr lang="en-US" sz="1800" b="1" baseline="0" dirty="0">
                          <a:solidFill>
                            <a:schemeClr val="bg1"/>
                          </a:solidFill>
                          <a:effectLst/>
                          <a:latin typeface="Times New Roman"/>
                          <a:ea typeface="Times New Roman"/>
                        </a:rPr>
                        <a:t>12</a:t>
                      </a:r>
                      <a:r>
                        <a:rPr lang="zh-CN" altLang="en-US" sz="1800" b="1" baseline="0" dirty="0">
                          <a:solidFill>
                            <a:schemeClr val="bg1"/>
                          </a:solidFill>
                          <a:effectLst/>
                          <a:latin typeface="Times New Roman"/>
                          <a:ea typeface="Times New Roman"/>
                        </a:rPr>
                        <a:t>章</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3"/>
                  </a:ext>
                </a:extLst>
              </a:tr>
              <a:tr h="369627">
                <a:tc>
                  <a:txBody>
                    <a:bodyPr/>
                    <a:lstStyle/>
                    <a:p>
                      <a:pPr marL="0" marR="0" algn="ctr"/>
                      <a:r>
                        <a:rPr lang="en-US" sz="1800" b="1" dirty="0">
                          <a:solidFill>
                            <a:schemeClr val="bg1"/>
                          </a:solidFill>
                          <a:effectLst/>
                          <a:latin typeface="+mn-lt"/>
                          <a:ea typeface="+mn-ea"/>
                        </a:rPr>
                        <a:t>4</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a:solidFill>
                            <a:schemeClr val="bg1"/>
                          </a:solidFill>
                          <a:effectLst/>
                          <a:latin typeface="+mn-lt"/>
                          <a:ea typeface="+mn-ea"/>
                        </a:rPr>
                        <a:t>排序算法</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a:solidFill>
                            <a:schemeClr val="bg1"/>
                          </a:solidFill>
                          <a:effectLst/>
                        </a:rPr>
                        <a:t>第</a:t>
                      </a:r>
                      <a:r>
                        <a:rPr lang="en-US" sz="1800" b="1" dirty="0">
                          <a:solidFill>
                            <a:schemeClr val="bg1"/>
                          </a:solidFill>
                          <a:effectLst/>
                        </a:rPr>
                        <a:t>7</a:t>
                      </a:r>
                      <a:r>
                        <a:rPr lang="zh-CN" altLang="en-US" sz="1800" b="1" dirty="0">
                          <a:solidFill>
                            <a:schemeClr val="bg1"/>
                          </a:solidFill>
                          <a:effectLst/>
                        </a:rPr>
                        <a:t>、</a:t>
                      </a:r>
                      <a:r>
                        <a:rPr lang="en-US" sz="1800" b="1" dirty="0">
                          <a:solidFill>
                            <a:schemeClr val="bg1"/>
                          </a:solidFill>
                          <a:effectLst/>
                        </a:rPr>
                        <a:t>8</a:t>
                      </a:r>
                      <a:r>
                        <a:rPr lang="zh-CN" altLang="en-US" sz="1800" b="1" dirty="0">
                          <a:solidFill>
                            <a:schemeClr val="bg1"/>
                          </a:solidFill>
                          <a:effectLst/>
                        </a:rPr>
                        <a:t>章</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4"/>
                  </a:ext>
                </a:extLst>
              </a:tr>
              <a:tr h="369627">
                <a:tc>
                  <a:txBody>
                    <a:bodyPr/>
                    <a:lstStyle/>
                    <a:p>
                      <a:pPr marL="0" marR="0" algn="ctr"/>
                      <a:r>
                        <a:rPr lang="en-US" sz="1800" b="1" dirty="0">
                          <a:solidFill>
                            <a:schemeClr val="bg1"/>
                          </a:solidFill>
                          <a:effectLst/>
                          <a:latin typeface="+mn-lt"/>
                          <a:ea typeface="+mn-ea"/>
                        </a:rPr>
                        <a:t>5</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a:solidFill>
                            <a:schemeClr val="bg1"/>
                          </a:solidFill>
                          <a:effectLst/>
                          <a:latin typeface="Times New Roman"/>
                          <a:ea typeface="Times New Roman"/>
                        </a:rPr>
                        <a:t>哈希（散列） 表（不讲）</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a:solidFill>
                            <a:schemeClr val="bg1"/>
                          </a:solidFill>
                          <a:effectLst/>
                          <a:latin typeface="Times New Roman"/>
                          <a:ea typeface="Times New Roman"/>
                        </a:rPr>
                        <a:t>第</a:t>
                      </a:r>
                      <a:r>
                        <a:rPr lang="en-US" sz="1800" b="1" dirty="0">
                          <a:solidFill>
                            <a:schemeClr val="bg1"/>
                          </a:solidFill>
                          <a:effectLst/>
                          <a:latin typeface="Times New Roman"/>
                          <a:ea typeface="Times New Roman"/>
                        </a:rPr>
                        <a:t>11</a:t>
                      </a:r>
                      <a:r>
                        <a:rPr lang="zh-CN" altLang="en-US" sz="1800" b="1" dirty="0">
                          <a:solidFill>
                            <a:schemeClr val="bg1"/>
                          </a:solidFill>
                          <a:effectLst/>
                          <a:latin typeface="Times New Roman"/>
                          <a:ea typeface="Times New Roman"/>
                        </a:rPr>
                        <a:t>章</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5"/>
                  </a:ext>
                </a:extLst>
              </a:tr>
              <a:tr h="369627">
                <a:tc>
                  <a:txBody>
                    <a:bodyPr/>
                    <a:lstStyle/>
                    <a:p>
                      <a:pPr marL="0" marR="0" algn="ctr"/>
                      <a:r>
                        <a:rPr lang="en-US" sz="1800" b="1" dirty="0">
                          <a:solidFill>
                            <a:schemeClr val="bg1"/>
                          </a:solidFill>
                          <a:effectLst/>
                          <a:latin typeface="+mn-lt"/>
                          <a:ea typeface="+mn-ea"/>
                        </a:rPr>
                        <a:t>6</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a:solidFill>
                            <a:schemeClr val="bg1"/>
                          </a:solidFill>
                          <a:effectLst/>
                          <a:latin typeface="Times New Roman"/>
                          <a:ea typeface="Times New Roman"/>
                        </a:rPr>
                        <a:t>回溯法</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a:solidFill>
                            <a:schemeClr val="bg1"/>
                          </a:solidFill>
                          <a:effectLst/>
                          <a:latin typeface="Times New Roman"/>
                          <a:ea typeface="Times New Roman"/>
                        </a:rPr>
                        <a:t>课本中没有对应</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6"/>
                  </a:ext>
                </a:extLst>
              </a:tr>
              <a:tr h="369627">
                <a:tc>
                  <a:txBody>
                    <a:bodyPr/>
                    <a:lstStyle/>
                    <a:p>
                      <a:pPr marL="0" marR="0" algn="ctr"/>
                      <a:r>
                        <a:rPr lang="en-US" sz="1800" b="1" dirty="0">
                          <a:solidFill>
                            <a:schemeClr val="bg1"/>
                          </a:solidFill>
                          <a:effectLst/>
                          <a:latin typeface="+mn-lt"/>
                          <a:ea typeface="+mn-ea"/>
                        </a:rPr>
                        <a:t>7</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a:solidFill>
                            <a:schemeClr val="bg1"/>
                          </a:solidFill>
                          <a:effectLst/>
                          <a:latin typeface="Times New Roman"/>
                          <a:ea typeface="Times New Roman"/>
                        </a:rPr>
                        <a:t>动态规划</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a:solidFill>
                            <a:schemeClr val="bg1"/>
                          </a:solidFill>
                          <a:effectLst/>
                        </a:rPr>
                        <a:t>第</a:t>
                      </a:r>
                      <a:r>
                        <a:rPr lang="en-US" sz="1800" b="1" dirty="0">
                          <a:solidFill>
                            <a:schemeClr val="bg1"/>
                          </a:solidFill>
                          <a:effectLst/>
                        </a:rPr>
                        <a:t>15</a:t>
                      </a:r>
                      <a:r>
                        <a:rPr lang="zh-CN" altLang="en-US" sz="1800" b="1" dirty="0">
                          <a:solidFill>
                            <a:schemeClr val="bg1"/>
                          </a:solidFill>
                          <a:effectLst/>
                        </a:rPr>
                        <a:t>章</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7"/>
                  </a:ext>
                </a:extLst>
              </a:tr>
              <a:tr h="369627">
                <a:tc>
                  <a:txBody>
                    <a:bodyPr/>
                    <a:lstStyle/>
                    <a:p>
                      <a:pPr marL="0" marR="0" algn="ctr"/>
                      <a:r>
                        <a:rPr lang="en-US" sz="1800" b="1" dirty="0">
                          <a:solidFill>
                            <a:schemeClr val="bg1"/>
                          </a:solidFill>
                          <a:effectLst/>
                          <a:latin typeface="+mn-lt"/>
                          <a:ea typeface="+mn-ea"/>
                        </a:rPr>
                        <a:t>8</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a:solidFill>
                            <a:schemeClr val="bg1"/>
                          </a:solidFill>
                          <a:effectLst/>
                          <a:latin typeface="Times New Roman"/>
                          <a:ea typeface="Times New Roman"/>
                        </a:rPr>
                        <a:t>贪心算法</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a:solidFill>
                            <a:schemeClr val="bg1"/>
                          </a:solidFill>
                          <a:effectLst/>
                        </a:rPr>
                        <a:t>第</a:t>
                      </a:r>
                      <a:r>
                        <a:rPr lang="en-US" sz="1800" b="1" dirty="0">
                          <a:solidFill>
                            <a:schemeClr val="bg1"/>
                          </a:solidFill>
                          <a:effectLst/>
                        </a:rPr>
                        <a:t>16</a:t>
                      </a:r>
                      <a:r>
                        <a:rPr lang="zh-CN" altLang="en-US" sz="1800" b="1" dirty="0">
                          <a:solidFill>
                            <a:schemeClr val="bg1"/>
                          </a:solidFill>
                          <a:effectLst/>
                        </a:rPr>
                        <a:t>章</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8"/>
                  </a:ext>
                </a:extLst>
              </a:tr>
              <a:tr h="369627">
                <a:tc>
                  <a:txBody>
                    <a:bodyPr/>
                    <a:lstStyle/>
                    <a:p>
                      <a:pPr marL="0" marR="0" algn="ctr"/>
                      <a:r>
                        <a:rPr lang="en-US" sz="1800" b="1" dirty="0">
                          <a:solidFill>
                            <a:schemeClr val="bg1"/>
                          </a:solidFill>
                          <a:effectLst/>
                        </a:rPr>
                        <a:t>9</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a:solidFill>
                            <a:schemeClr val="bg1"/>
                          </a:solidFill>
                          <a:effectLst/>
                          <a:latin typeface="Times New Roman"/>
                          <a:ea typeface="Times New Roman"/>
                        </a:rPr>
                        <a:t>摊还分析</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a:solidFill>
                            <a:schemeClr val="bg1"/>
                          </a:solidFill>
                          <a:effectLst/>
                        </a:rPr>
                        <a:t>第</a:t>
                      </a:r>
                      <a:r>
                        <a:rPr lang="en-US" sz="1800" b="1" dirty="0">
                          <a:solidFill>
                            <a:schemeClr val="bg1"/>
                          </a:solidFill>
                          <a:effectLst/>
                        </a:rPr>
                        <a:t>17</a:t>
                      </a:r>
                      <a:r>
                        <a:rPr lang="zh-CN" altLang="en-US" sz="1800" b="1" dirty="0">
                          <a:solidFill>
                            <a:schemeClr val="bg1"/>
                          </a:solidFill>
                          <a:effectLst/>
                        </a:rPr>
                        <a:t>章</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09"/>
                  </a:ext>
                </a:extLst>
              </a:tr>
              <a:tr h="369627">
                <a:tc>
                  <a:txBody>
                    <a:bodyPr/>
                    <a:lstStyle/>
                    <a:p>
                      <a:pPr marL="0" marR="0" algn="ctr"/>
                      <a:r>
                        <a:rPr lang="en-US" sz="1800" b="1">
                          <a:solidFill>
                            <a:schemeClr val="bg1"/>
                          </a:solidFill>
                          <a:effectLst/>
                        </a:rPr>
                        <a:t>10</a:t>
                      </a:r>
                      <a:endParaRPr lang="en-US" sz="1800" b="1">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r>
                        <a:rPr lang="zh-CN" altLang="en-US" sz="1800" b="1" dirty="0">
                          <a:solidFill>
                            <a:schemeClr val="bg1"/>
                          </a:solidFill>
                          <a:effectLst/>
                          <a:latin typeface="Times New Roman"/>
                          <a:ea typeface="Times New Roman"/>
                        </a:rPr>
                        <a:t>图 </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dirty="0">
                          <a:solidFill>
                            <a:schemeClr val="bg1"/>
                          </a:solidFill>
                          <a:effectLst/>
                        </a:rPr>
                        <a:t>第</a:t>
                      </a:r>
                      <a:r>
                        <a:rPr lang="en-US" sz="1800" b="1" dirty="0">
                          <a:solidFill>
                            <a:schemeClr val="bg1"/>
                          </a:solidFill>
                          <a:effectLst/>
                        </a:rPr>
                        <a:t>22-2</a:t>
                      </a:r>
                      <a:r>
                        <a:rPr lang="en-US" altLang="zh-CN" sz="1800" b="1" dirty="0">
                          <a:solidFill>
                            <a:schemeClr val="bg1"/>
                          </a:solidFill>
                          <a:effectLst/>
                        </a:rPr>
                        <a:t>6</a:t>
                      </a:r>
                      <a:r>
                        <a:rPr lang="zh-CN" altLang="en-US" sz="1800" b="1" dirty="0">
                          <a:solidFill>
                            <a:schemeClr val="bg1"/>
                          </a:solidFill>
                          <a:effectLst/>
                        </a:rPr>
                        <a:t>章</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10"/>
                  </a:ext>
                </a:extLst>
              </a:tr>
              <a:tr h="369627">
                <a:tc>
                  <a:txBody>
                    <a:bodyPr/>
                    <a:lstStyle/>
                    <a:p>
                      <a:pPr marL="0" marR="0" algn="ctr"/>
                      <a:r>
                        <a:rPr lang="en-US" sz="1800" b="1" dirty="0">
                          <a:solidFill>
                            <a:schemeClr val="bg1"/>
                          </a:solidFill>
                          <a:effectLst/>
                          <a:latin typeface="Times New Roman"/>
                          <a:ea typeface="Times New Roman"/>
                        </a:rPr>
                        <a:t>11</a:t>
                      </a:r>
                    </a:p>
                  </a:txBody>
                  <a:tcPr marL="68580" marR="68580" marT="68580" marB="68580">
                    <a:solidFill>
                      <a:schemeClr val="accent6">
                        <a:lumMod val="20000"/>
                        <a:lumOff val="80000"/>
                      </a:schemeClr>
                    </a:solidFill>
                  </a:tcPr>
                </a:tc>
                <a:tc>
                  <a:txBody>
                    <a:bodyPr/>
                    <a:lstStyle/>
                    <a:p>
                      <a:pPr marL="0" marR="0"/>
                      <a:r>
                        <a:rPr lang="en-US" sz="1800" b="1" dirty="0">
                          <a:solidFill>
                            <a:schemeClr val="bg1"/>
                          </a:solidFill>
                          <a:effectLst/>
                          <a:latin typeface="Times New Roman"/>
                          <a:ea typeface="Times New Roman"/>
                        </a:rPr>
                        <a:t>NP</a:t>
                      </a:r>
                      <a:r>
                        <a:rPr lang="zh-CN" altLang="en-US" sz="1800" b="1" dirty="0">
                          <a:solidFill>
                            <a:schemeClr val="bg1"/>
                          </a:solidFill>
                          <a:effectLst/>
                          <a:latin typeface="Times New Roman"/>
                          <a:ea typeface="Times New Roman"/>
                        </a:rPr>
                        <a:t>理论</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tc>
                  <a:txBody>
                    <a:bodyPr/>
                    <a:lstStyle/>
                    <a:p>
                      <a:pPr marL="0" marR="0" algn="ctr"/>
                      <a:r>
                        <a:rPr lang="zh-CN" altLang="en-US" sz="1800" b="1" baseline="0" dirty="0">
                          <a:solidFill>
                            <a:schemeClr val="bg1"/>
                          </a:solidFill>
                          <a:effectLst/>
                          <a:latin typeface="Times New Roman"/>
                          <a:ea typeface="Times New Roman"/>
                        </a:rPr>
                        <a:t>第</a:t>
                      </a:r>
                      <a:r>
                        <a:rPr lang="en-US" sz="1800" b="1" baseline="0" dirty="0">
                          <a:solidFill>
                            <a:schemeClr val="bg1"/>
                          </a:solidFill>
                          <a:effectLst/>
                          <a:latin typeface="Times New Roman"/>
                          <a:ea typeface="Times New Roman"/>
                        </a:rPr>
                        <a:t>34</a:t>
                      </a:r>
                      <a:r>
                        <a:rPr lang="zh-CN" altLang="en-US" sz="1800" b="1" baseline="0" dirty="0">
                          <a:solidFill>
                            <a:schemeClr val="bg1"/>
                          </a:solidFill>
                          <a:effectLst/>
                          <a:latin typeface="Times New Roman"/>
                          <a:ea typeface="Times New Roman"/>
                        </a:rPr>
                        <a:t>章</a:t>
                      </a:r>
                      <a:endParaRPr lang="en-US" sz="1800" b="1" dirty="0">
                        <a:solidFill>
                          <a:schemeClr val="bg1"/>
                        </a:solidFill>
                        <a:effectLst/>
                        <a:latin typeface="Times New Roman"/>
                        <a:ea typeface="Times New Roman"/>
                      </a:endParaRPr>
                    </a:p>
                  </a:txBody>
                  <a:tcPr marL="68580" marR="68580" marT="68580" marB="68580">
                    <a:solidFill>
                      <a:schemeClr val="accent6">
                        <a:lumMod val="20000"/>
                        <a:lumOff val="80000"/>
                      </a:schemeClr>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2916974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流程图: 可选过程 4"/>
          <p:cNvSpPr/>
          <p:nvPr/>
        </p:nvSpPr>
        <p:spPr bwMode="auto">
          <a:xfrm>
            <a:off x="1066800" y="4495800"/>
            <a:ext cx="6629400" cy="381000"/>
          </a:xfrm>
          <a:prstGeom prst="flowChartAlternateProcess">
            <a:avLst/>
          </a:prstGeom>
          <a:solidFill>
            <a:schemeClr val="accent6">
              <a:lumMod val="20000"/>
              <a:lumOff val="80000"/>
            </a:schemeClr>
          </a:solidFill>
          <a:ln w="12700" cap="flat" cmpd="sng" algn="ctr">
            <a:solidFill>
              <a:srgbClr val="FF0000"/>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imes New Roman" pitchFamily="18" charset="0"/>
            </a:endParaRPr>
          </a:p>
        </p:txBody>
      </p:sp>
      <p:sp>
        <p:nvSpPr>
          <p:cNvPr id="2" name="标题 1"/>
          <p:cNvSpPr>
            <a:spLocks noGrp="1"/>
          </p:cNvSpPr>
          <p:nvPr>
            <p:ph type="title"/>
          </p:nvPr>
        </p:nvSpPr>
        <p:spPr>
          <a:xfrm>
            <a:off x="533400" y="76200"/>
            <a:ext cx="7772400" cy="762000"/>
          </a:xfrm>
        </p:spPr>
        <p:txBody>
          <a:bodyPr/>
          <a:lstStyle/>
          <a:p>
            <a:pPr>
              <a:defRPr/>
            </a:pPr>
            <a:r>
              <a:rPr lang="zh-CN" altLang="en-US" dirty="0">
                <a:ea typeface="宋体" pitchFamily="2" charset="-122"/>
              </a:rPr>
              <a:t>问题与算法的关系</a:t>
            </a:r>
          </a:p>
        </p:txBody>
      </p:sp>
      <p:sp>
        <p:nvSpPr>
          <p:cNvPr id="3" name="内容占位符 2"/>
          <p:cNvSpPr>
            <a:spLocks noGrp="1"/>
          </p:cNvSpPr>
          <p:nvPr>
            <p:ph idx="1"/>
          </p:nvPr>
        </p:nvSpPr>
        <p:spPr>
          <a:xfrm>
            <a:off x="533400" y="1447800"/>
            <a:ext cx="8229600" cy="5105400"/>
          </a:xfrm>
          <a:prstGeom prst="rect">
            <a:avLst/>
          </a:prstGeom>
        </p:spPr>
        <p:txBody>
          <a:bodyPr>
            <a:normAutofit/>
          </a:bodyPr>
          <a:lstStyle/>
          <a:p>
            <a:pPr>
              <a:defRPr/>
            </a:pPr>
            <a:r>
              <a:rPr lang="zh-CN" altLang="en-US" dirty="0">
                <a:ea typeface="宋体" pitchFamily="2" charset="-122"/>
              </a:rPr>
              <a:t>对于一个实际问题，我需要设计一个算法进行求解</a:t>
            </a:r>
            <a:r>
              <a:rPr lang="en-US" altLang="zh-CN" dirty="0">
                <a:ea typeface="宋体" pitchFamily="2" charset="-122"/>
              </a:rPr>
              <a:t>——</a:t>
            </a:r>
            <a:r>
              <a:rPr lang="zh-CN" altLang="en-US" dirty="0">
                <a:solidFill>
                  <a:srgbClr val="FF0000"/>
                </a:solidFill>
                <a:ea typeface="宋体" pitchFamily="2" charset="-122"/>
              </a:rPr>
              <a:t>问题</a:t>
            </a:r>
            <a:endParaRPr lang="en-US" altLang="zh-CN" b="1" dirty="0">
              <a:solidFill>
                <a:srgbClr val="FF0000"/>
              </a:solidFill>
              <a:ea typeface="宋体" pitchFamily="2" charset="-122"/>
            </a:endParaRPr>
          </a:p>
          <a:p>
            <a:pPr>
              <a:defRPr/>
            </a:pPr>
            <a:r>
              <a:rPr lang="zh-CN" altLang="en-US" dirty="0">
                <a:ea typeface="宋体" pitchFamily="2" charset="-122"/>
              </a:rPr>
              <a:t>我是如何设计这个算法的？</a:t>
            </a:r>
            <a:r>
              <a:rPr lang="en-US" altLang="zh-CN" dirty="0">
                <a:ea typeface="宋体" pitchFamily="2" charset="-122"/>
              </a:rPr>
              <a:t>——</a:t>
            </a:r>
            <a:r>
              <a:rPr lang="zh-CN" altLang="en-US" b="1" dirty="0">
                <a:solidFill>
                  <a:srgbClr val="FF0000"/>
                </a:solidFill>
                <a:ea typeface="宋体" pitchFamily="2" charset="-122"/>
              </a:rPr>
              <a:t>算法</a:t>
            </a:r>
            <a:r>
              <a:rPr lang="zh-CN" altLang="en-US" dirty="0">
                <a:solidFill>
                  <a:srgbClr val="FF0000"/>
                </a:solidFill>
                <a:ea typeface="宋体" pitchFamily="2" charset="-122"/>
              </a:rPr>
              <a:t>设计</a:t>
            </a:r>
            <a:endParaRPr lang="en-US" altLang="zh-CN" b="1" dirty="0">
              <a:solidFill>
                <a:srgbClr val="FF0000"/>
              </a:solidFill>
              <a:ea typeface="宋体" pitchFamily="2" charset="-122"/>
            </a:endParaRPr>
          </a:p>
          <a:p>
            <a:pPr>
              <a:defRPr/>
            </a:pPr>
            <a:r>
              <a:rPr lang="zh-CN" altLang="en-US" dirty="0">
                <a:ea typeface="宋体" pitchFamily="2" charset="-122"/>
              </a:rPr>
              <a:t>我的这个算法效率如何？</a:t>
            </a:r>
            <a:r>
              <a:rPr lang="en-US" altLang="zh-CN" dirty="0">
                <a:ea typeface="宋体" pitchFamily="2" charset="-122"/>
              </a:rPr>
              <a:t>——</a:t>
            </a:r>
            <a:r>
              <a:rPr lang="zh-CN" altLang="en-US" b="1" dirty="0">
                <a:solidFill>
                  <a:srgbClr val="FF0000"/>
                </a:solidFill>
                <a:ea typeface="宋体" pitchFamily="2" charset="-122"/>
              </a:rPr>
              <a:t>算法分析</a:t>
            </a:r>
            <a:endParaRPr lang="en-US" altLang="zh-CN" b="1" dirty="0">
              <a:solidFill>
                <a:srgbClr val="FF0000"/>
              </a:solidFill>
              <a:ea typeface="宋体" pitchFamily="2" charset="-122"/>
            </a:endParaRPr>
          </a:p>
          <a:p>
            <a:pPr>
              <a:defRPr/>
            </a:pPr>
            <a:endParaRPr lang="en-US" altLang="zh-CN" dirty="0">
              <a:ea typeface="宋体" pitchFamily="2" charset="-122"/>
            </a:endParaRPr>
          </a:p>
          <a:p>
            <a:pPr>
              <a:defRPr/>
            </a:pPr>
            <a:r>
              <a:rPr lang="zh-CN" altLang="en-US" dirty="0">
                <a:ea typeface="宋体" pitchFamily="2" charset="-122"/>
              </a:rPr>
              <a:t>本课程希望你掌握：</a:t>
            </a:r>
            <a:endParaRPr lang="en-US" altLang="zh-CN" dirty="0">
              <a:ea typeface="宋体" pitchFamily="2" charset="-122"/>
            </a:endParaRPr>
          </a:p>
          <a:p>
            <a:pPr marL="514350" indent="-514350">
              <a:buFont typeface="Wingdings" pitchFamily="2" charset="2"/>
              <a:buChar char="u"/>
              <a:defRPr/>
            </a:pPr>
            <a:r>
              <a:rPr lang="zh-CN" altLang="en-US" dirty="0">
                <a:ea typeface="宋体" pitchFamily="2" charset="-122"/>
              </a:rPr>
              <a:t>一个问题如何利用现有算法求解？</a:t>
            </a:r>
            <a:endParaRPr lang="en-US" altLang="zh-CN" dirty="0">
              <a:ea typeface="宋体" pitchFamily="2" charset="-122"/>
            </a:endParaRPr>
          </a:p>
          <a:p>
            <a:pPr marL="514350" indent="-514350">
              <a:buFont typeface="Wingdings" pitchFamily="2" charset="2"/>
              <a:buChar char="u"/>
              <a:defRPr/>
            </a:pPr>
            <a:r>
              <a:rPr lang="zh-CN" altLang="en-US" dirty="0">
                <a:ea typeface="宋体" pitchFamily="2" charset="-122"/>
              </a:rPr>
              <a:t>如何利用已有算法的思想创造新算法求解问题？</a:t>
            </a:r>
            <a:endParaRPr lang="en-US" altLang="zh-CN" dirty="0">
              <a:ea typeface="宋体" pitchFamily="2" charset="-122"/>
            </a:endParaRPr>
          </a:p>
          <a:p>
            <a:pPr marL="514350" indent="-514350">
              <a:buFont typeface="Wingdings" pitchFamily="2" charset="2"/>
              <a:buChar char="u"/>
              <a:defRPr/>
            </a:pPr>
            <a:r>
              <a:rPr lang="zh-CN" altLang="en-US" dirty="0">
                <a:ea typeface="宋体" pitchFamily="2" charset="-122"/>
              </a:rPr>
              <a:t>对设计好的算法如何评价性能？</a:t>
            </a:r>
          </a:p>
        </p:txBody>
      </p:sp>
      <p:sp>
        <p:nvSpPr>
          <p:cNvPr id="7172" name="灯片编号占位符 3"/>
          <p:cNvSpPr>
            <a:spLocks noGrp="1"/>
          </p:cNvSpPr>
          <p:nvPr>
            <p:ph type="sldNum" sz="quarter" idx="4294967295"/>
          </p:nvPr>
        </p:nvSpPr>
        <p:spPr>
          <a:xfrm>
            <a:off x="7239000" y="6426200"/>
            <a:ext cx="1905000" cy="304800"/>
          </a:xfrm>
          <a:prstGeom prst="rect">
            <a:avLst/>
          </a:prstGeom>
          <a:noFill/>
          <a:ln>
            <a:miter lim="800000"/>
            <a:headEnd/>
            <a:tailEnd/>
          </a:ln>
        </p:spPr>
        <p:txBody>
          <a:bodyPr/>
          <a:lstStyle/>
          <a:p>
            <a:r>
              <a:rPr lang="en-US" altLang="zh-CN">
                <a:ea typeface="宋体" charset="-122"/>
              </a:rPr>
              <a:t>1-</a:t>
            </a:r>
            <a:fld id="{64CD86D9-5DA9-4631-A65A-8BD2884DFAAA}" type="slidenum">
              <a:rPr lang="en-US" altLang="zh-CN" smtClean="0">
                <a:ea typeface="宋体" charset="-122"/>
              </a:rPr>
              <a:pPr/>
              <a:t>6</a:t>
            </a:fld>
            <a:endParaRPr lang="en-US" altLang="zh-CN">
              <a:ea typeface="宋体" charset="-122"/>
            </a:endParaRPr>
          </a:p>
        </p:txBody>
      </p:sp>
      <p:sp>
        <p:nvSpPr>
          <p:cNvPr id="6" name="椭圆形标注 5"/>
          <p:cNvSpPr/>
          <p:nvPr/>
        </p:nvSpPr>
        <p:spPr bwMode="auto">
          <a:xfrm>
            <a:off x="7239000" y="3352800"/>
            <a:ext cx="1143000" cy="990600"/>
          </a:xfrm>
          <a:prstGeom prst="wedgeEllipseCallout">
            <a:avLst/>
          </a:prstGeom>
          <a:solidFill>
            <a:schemeClr val="accent1"/>
          </a:solidFill>
          <a:ln w="12700" cap="flat" cmpd="sng" algn="ctr">
            <a:solidFill>
              <a:srgbClr val="FF0000"/>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bg2"/>
                </a:solidFill>
                <a:effectLst/>
                <a:latin typeface="华文琥珀" pitchFamily="2" charset="-122"/>
                <a:ea typeface="华文琥珀" pitchFamily="2" charset="-122"/>
              </a:rPr>
              <a:t>高层次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457200" y="152400"/>
            <a:ext cx="8229600" cy="725488"/>
          </a:xfrm>
        </p:spPr>
        <p:txBody>
          <a:bodyPr>
            <a:normAutofit/>
          </a:bodyPr>
          <a:lstStyle/>
          <a:p>
            <a:pPr eaLnBrk="1" hangingPunct="1">
              <a:defRPr/>
            </a:pPr>
            <a:r>
              <a:rPr lang="zh-CN" altLang="en-US" dirty="0">
                <a:ea typeface="宋体" pitchFamily="2" charset="-122"/>
              </a:rPr>
              <a:t>为什么要学习算法？</a:t>
            </a:r>
          </a:p>
        </p:txBody>
      </p:sp>
      <p:sp>
        <p:nvSpPr>
          <p:cNvPr id="13318" name="Rectangle 3"/>
          <p:cNvSpPr>
            <a:spLocks noGrp="1" noChangeArrowheads="1"/>
          </p:cNvSpPr>
          <p:nvPr>
            <p:ph idx="1"/>
          </p:nvPr>
        </p:nvSpPr>
        <p:spPr>
          <a:xfrm>
            <a:off x="468313" y="1412875"/>
            <a:ext cx="8229600" cy="4752975"/>
          </a:xfrm>
          <a:prstGeom prst="rect">
            <a:avLst/>
          </a:prstGeom>
        </p:spPr>
        <p:txBody>
          <a:bodyPr>
            <a:normAutofit/>
          </a:bodyPr>
          <a:lstStyle/>
          <a:p>
            <a:pPr eaLnBrk="1" hangingPunct="1">
              <a:defRPr/>
            </a:pPr>
            <a:r>
              <a:rPr lang="zh-CN" altLang="en-US" sz="2400" dirty="0">
                <a:latin typeface="隶书" pitchFamily="49" charset="-122"/>
                <a:ea typeface="隶书" pitchFamily="49" charset="-122"/>
              </a:rPr>
              <a:t>受过良好训练的计算机专业的学生应该知道怎样处理算法：如何构造算法、操作算法、理解算法及分析算法</a:t>
            </a:r>
            <a:endParaRPr lang="en-US" altLang="zh-CN" sz="2400" dirty="0">
              <a:latin typeface="隶书" pitchFamily="49" charset="-122"/>
              <a:ea typeface="隶书" pitchFamily="49" charset="-122"/>
            </a:endParaRPr>
          </a:p>
          <a:p>
            <a:pPr marL="0" indent="0" eaLnBrk="1" hangingPunct="1">
              <a:buNone/>
              <a:defRPr/>
            </a:pPr>
            <a:r>
              <a:rPr lang="en-US" altLang="zh-CN" sz="2400" dirty="0">
                <a:latin typeface="隶书" pitchFamily="49" charset="-122"/>
                <a:ea typeface="隶书" pitchFamily="49" charset="-122"/>
              </a:rPr>
              <a:t>  ———</a:t>
            </a:r>
            <a:r>
              <a:rPr lang="zh-CN" altLang="en-US" sz="2400" dirty="0">
                <a:latin typeface="隶书" pitchFamily="49" charset="-122"/>
                <a:ea typeface="隶书" pitchFamily="49" charset="-122"/>
              </a:rPr>
              <a:t>算法是计算机科学的基石；</a:t>
            </a:r>
            <a:endParaRPr lang="en-US" altLang="zh-CN" sz="2400" dirty="0">
              <a:latin typeface="隶书" pitchFamily="49" charset="-122"/>
              <a:ea typeface="隶书" pitchFamily="49" charset="-122"/>
            </a:endParaRPr>
          </a:p>
          <a:p>
            <a:pPr eaLnBrk="1" hangingPunct="1">
              <a:defRPr/>
            </a:pPr>
            <a:r>
              <a:rPr lang="zh-CN" altLang="en-US" sz="2400" dirty="0">
                <a:latin typeface="隶书" pitchFamily="49" charset="-122"/>
                <a:ea typeface="隶书" pitchFamily="49" charset="-122"/>
              </a:rPr>
              <a:t>程序</a:t>
            </a:r>
            <a:r>
              <a:rPr lang="en-US" altLang="zh-CN" sz="2400" dirty="0">
                <a:latin typeface="隶书" pitchFamily="49" charset="-122"/>
                <a:ea typeface="隶书" pitchFamily="49" charset="-122"/>
              </a:rPr>
              <a:t>=</a:t>
            </a:r>
            <a:r>
              <a:rPr lang="zh-CN" altLang="en-US" sz="2400" dirty="0">
                <a:latin typeface="隶书" pitchFamily="49" charset="-122"/>
                <a:ea typeface="隶书" pitchFamily="49" charset="-122"/>
              </a:rPr>
              <a:t>数据结构</a:t>
            </a:r>
            <a:r>
              <a:rPr lang="en-US" altLang="zh-CN" sz="2400" dirty="0">
                <a:latin typeface="隶书" pitchFamily="49" charset="-122"/>
                <a:ea typeface="隶书" pitchFamily="49" charset="-122"/>
              </a:rPr>
              <a:t>+</a:t>
            </a:r>
            <a:r>
              <a:rPr lang="zh-CN" altLang="en-US" sz="2400" dirty="0">
                <a:latin typeface="隶书" pitchFamily="49" charset="-122"/>
                <a:ea typeface="隶书" pitchFamily="49" charset="-122"/>
              </a:rPr>
              <a:t>算法</a:t>
            </a:r>
            <a:r>
              <a:rPr lang="en-US" altLang="zh-CN" sz="2400" dirty="0">
                <a:latin typeface="隶书" pitchFamily="49" charset="-122"/>
                <a:ea typeface="隶书" pitchFamily="49" charset="-122"/>
              </a:rPr>
              <a:t>——</a:t>
            </a:r>
            <a:r>
              <a:rPr lang="zh-CN" altLang="en-US" sz="2400" dirty="0">
                <a:latin typeface="隶书" pitchFamily="49" charset="-122"/>
                <a:ea typeface="隶书" pitchFamily="49" charset="-122"/>
              </a:rPr>
              <a:t>算法是解决实际问题的手段</a:t>
            </a:r>
          </a:p>
          <a:p>
            <a:pPr eaLnBrk="1" hangingPunct="1">
              <a:defRPr/>
            </a:pPr>
            <a:r>
              <a:rPr lang="zh-CN" altLang="en-US" sz="2400" dirty="0">
                <a:ea typeface="宋体" pitchFamily="2" charset="-122"/>
              </a:rPr>
              <a:t>将知识表示为算法，把知识教授给计算机；</a:t>
            </a:r>
          </a:p>
        </p:txBody>
      </p:sp>
      <p:sp>
        <p:nvSpPr>
          <p:cNvPr id="10242" name="灯片编号占位符 5"/>
          <p:cNvSpPr>
            <a:spLocks noGrp="1"/>
          </p:cNvSpPr>
          <p:nvPr>
            <p:ph type="sldNum" sz="quarter" idx="4294967295"/>
          </p:nvPr>
        </p:nvSpPr>
        <p:spPr>
          <a:xfrm>
            <a:off x="8672513" y="6356350"/>
            <a:ext cx="471487" cy="457200"/>
          </a:xfrm>
          <a:prstGeom prst="rect">
            <a:avLst/>
          </a:prstGeom>
          <a:noFill/>
          <a:ln>
            <a:miter lim="800000"/>
            <a:headEnd/>
            <a:tailEnd/>
          </a:ln>
        </p:spPr>
        <p:txBody>
          <a:bodyPr/>
          <a:lstStyle/>
          <a:p>
            <a:pPr algn="l" eaLnBrk="1" hangingPunct="1"/>
            <a:fld id="{C03F1D45-C650-4B57-B417-1A26BB1AC73F}" type="slidenum">
              <a:rPr lang="en-US" altLang="zh-CN" smtClean="0">
                <a:latin typeface="Arial" charset="0"/>
                <a:ea typeface="宋体" charset="-122"/>
              </a:rPr>
              <a:pPr algn="l" eaLnBrk="1" hangingPunct="1"/>
              <a:t>7</a:t>
            </a:fld>
            <a:endParaRPr lang="en-US" altLang="zh-CN">
              <a:latin typeface="Arial" charset="0"/>
              <a:ea typeface="宋体" charset="-122"/>
            </a:endParaRPr>
          </a:p>
        </p:txBody>
      </p:sp>
      <p:sp>
        <p:nvSpPr>
          <p:cNvPr id="13319" name="Text Box 4"/>
          <p:cNvSpPr txBox="1">
            <a:spLocks noChangeArrowheads="1"/>
          </p:cNvSpPr>
          <p:nvPr/>
        </p:nvSpPr>
        <p:spPr bwMode="auto">
          <a:xfrm>
            <a:off x="685800" y="5181600"/>
            <a:ext cx="7962033" cy="954107"/>
          </a:xfrm>
          <a:prstGeom prst="rect">
            <a:avLst/>
          </a:prstGeom>
          <a:noFill/>
          <a:ln w="9525">
            <a:noFill/>
            <a:miter lim="800000"/>
            <a:headEnd/>
            <a:tailEnd/>
          </a:ln>
        </p:spPr>
        <p:txBody>
          <a:bodyPr wrap="square">
            <a:spAutoFit/>
          </a:bodyPr>
          <a:lstStyle/>
          <a:p>
            <a:pPr eaLnBrk="1" hangingPunct="1"/>
            <a:r>
              <a:rPr lang="zh-CN" altLang="en-US" sz="2800" dirty="0">
                <a:solidFill>
                  <a:srgbClr val="FFC000"/>
                </a:solidFill>
                <a:latin typeface="Arial" charset="0"/>
                <a:ea typeface="隶书" pitchFamily="49" charset="-122"/>
              </a:rPr>
              <a:t>一个人只有把知识教给“计算机”，才能“真正”掌握它。</a:t>
            </a:r>
          </a:p>
        </p:txBody>
      </p:sp>
      <p:sp>
        <p:nvSpPr>
          <p:cNvPr id="13323" name="Rectangle 11"/>
          <p:cNvSpPr>
            <a:spLocks noChangeArrowheads="1"/>
          </p:cNvSpPr>
          <p:nvPr/>
        </p:nvSpPr>
        <p:spPr bwMode="auto">
          <a:xfrm>
            <a:off x="4114800" y="4495800"/>
            <a:ext cx="4113213" cy="519113"/>
          </a:xfrm>
          <a:prstGeom prst="rect">
            <a:avLst/>
          </a:prstGeom>
          <a:solidFill>
            <a:schemeClr val="accent6">
              <a:lumMod val="75000"/>
            </a:schemeClr>
          </a:solidFill>
          <a:ln w="9525">
            <a:noFill/>
            <a:miter lim="800000"/>
            <a:headEnd/>
            <a:tailEnd/>
          </a:ln>
        </p:spPr>
        <p:txBody>
          <a:bodyPr wrap="none">
            <a:spAutoFit/>
          </a:bodyPr>
          <a:lstStyle/>
          <a:p>
            <a:pPr eaLnBrk="1" hangingPunct="1"/>
            <a:r>
              <a:rPr lang="zh-CN" altLang="en-US" sz="2800" b="1" dirty="0">
                <a:solidFill>
                  <a:srgbClr val="FFFF00"/>
                </a:solidFill>
                <a:latin typeface="Arial" charset="0"/>
                <a:ea typeface="黑体" pitchFamily="49" charset="-122"/>
              </a:rPr>
              <a:t>授人以鱼，不如授人以渔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23"/>
                                        </p:tgtEl>
                                        <p:attrNameLst>
                                          <p:attrName>style.visibility</p:attrName>
                                        </p:attrNameLst>
                                      </p:cBhvr>
                                      <p:to>
                                        <p:strVal val="visible"/>
                                      </p:to>
                                    </p:set>
                                    <p:anim calcmode="lin" valueType="num">
                                      <p:cBhvr additive="base">
                                        <p:cTn id="7" dur="500" fill="hold"/>
                                        <p:tgtEl>
                                          <p:spTgt spid="13323"/>
                                        </p:tgtEl>
                                        <p:attrNameLst>
                                          <p:attrName>ppt_x</p:attrName>
                                        </p:attrNameLst>
                                      </p:cBhvr>
                                      <p:tavLst>
                                        <p:tav tm="0">
                                          <p:val>
                                            <p:strVal val="#ppt_x"/>
                                          </p:val>
                                        </p:tav>
                                        <p:tav tm="100000">
                                          <p:val>
                                            <p:strVal val="#ppt_x"/>
                                          </p:val>
                                        </p:tav>
                                      </p:tavLst>
                                    </p:anim>
                                    <p:anim calcmode="lin" valueType="num">
                                      <p:cBhvr additive="base">
                                        <p:cTn id="8" dur="500" fill="hold"/>
                                        <p:tgtEl>
                                          <p:spTgt spid="1332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319"/>
                                        </p:tgtEl>
                                        <p:attrNameLst>
                                          <p:attrName>style.visibility</p:attrName>
                                        </p:attrNameLst>
                                      </p:cBhvr>
                                      <p:to>
                                        <p:strVal val="visible"/>
                                      </p:to>
                                    </p:set>
                                    <p:anim calcmode="lin" valueType="num">
                                      <p:cBhvr additive="base">
                                        <p:cTn id="13" dur="500" fill="hold"/>
                                        <p:tgtEl>
                                          <p:spTgt spid="13319"/>
                                        </p:tgtEl>
                                        <p:attrNameLst>
                                          <p:attrName>ppt_x</p:attrName>
                                        </p:attrNameLst>
                                      </p:cBhvr>
                                      <p:tavLst>
                                        <p:tav tm="0">
                                          <p:val>
                                            <p:strVal val="#ppt_x"/>
                                          </p:val>
                                        </p:tav>
                                        <p:tav tm="100000">
                                          <p:val>
                                            <p:strVal val="#ppt_x"/>
                                          </p:val>
                                        </p:tav>
                                      </p:tavLst>
                                    </p:anim>
                                    <p:anim calcmode="lin" valueType="num">
                                      <p:cBhvr additive="base">
                                        <p:cTn id="14" dur="500" fill="hold"/>
                                        <p:tgtEl>
                                          <p:spTgt spid="133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9" grpId="0"/>
      <p:bldP spid="13323" grpId="0" animBg="1"/>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533400" y="152400"/>
            <a:ext cx="8610600" cy="762000"/>
          </a:xfrm>
        </p:spPr>
        <p:txBody>
          <a:bodyPr/>
          <a:lstStyle/>
          <a:p>
            <a:pPr eaLnBrk="1" hangingPunct="1"/>
            <a:r>
              <a:rPr lang="zh-CN" altLang="en-US" dirty="0"/>
              <a:t>第一章 算法复杂度分析</a:t>
            </a:r>
          </a:p>
        </p:txBody>
      </p:sp>
      <p:sp>
        <p:nvSpPr>
          <p:cNvPr id="25603" name="Rectangle 3"/>
          <p:cNvSpPr>
            <a:spLocks noGrp="1" noChangeArrowheads="1"/>
          </p:cNvSpPr>
          <p:nvPr>
            <p:ph idx="1"/>
          </p:nvPr>
        </p:nvSpPr>
        <p:spPr/>
        <p:txBody>
          <a:bodyPr/>
          <a:lstStyle/>
          <a:p>
            <a:pPr marL="0" indent="0" eaLnBrk="1" hangingPunct="1">
              <a:buNone/>
            </a:pPr>
            <a:r>
              <a:rPr lang="en-US" altLang="zh-CN" sz="3200" dirty="0"/>
              <a:t>1.1 </a:t>
            </a:r>
            <a:r>
              <a:rPr lang="zh-CN" altLang="en-US" sz="3200" dirty="0"/>
              <a:t>算法基本概念</a:t>
            </a:r>
            <a:endParaRPr lang="en-US" altLang="zh-CN" sz="3200" dirty="0"/>
          </a:p>
          <a:p>
            <a:pPr marL="0" indent="0" eaLnBrk="1" hangingPunct="1">
              <a:buNone/>
            </a:pPr>
            <a:r>
              <a:rPr lang="en-US" altLang="zh-CN" sz="3200" dirty="0"/>
              <a:t>1.2 </a:t>
            </a:r>
            <a:r>
              <a:rPr lang="zh-CN" altLang="en-US" sz="3200" dirty="0"/>
              <a:t>插入算法分析举例</a:t>
            </a:r>
            <a:endParaRPr lang="en-US" altLang="zh-CN" sz="3200" dirty="0"/>
          </a:p>
          <a:p>
            <a:pPr marL="0" indent="0" eaLnBrk="1" hangingPunct="1">
              <a:buNone/>
            </a:pPr>
            <a:r>
              <a:rPr lang="en-US" altLang="zh-CN" sz="3200" dirty="0"/>
              <a:t>1.3 </a:t>
            </a:r>
            <a:r>
              <a:rPr lang="zh-CN" altLang="en-US" sz="3200" dirty="0"/>
              <a:t>复杂度分析</a:t>
            </a:r>
            <a:endParaRPr lang="en-US" altLang="zh-CN" sz="3200" dirty="0"/>
          </a:p>
          <a:p>
            <a:pPr lvl="1" eaLnBrk="1" hangingPunct="1"/>
            <a:r>
              <a:rPr lang="zh-CN" altLang="en-US" sz="2800" dirty="0"/>
              <a:t>渐近记号</a:t>
            </a:r>
          </a:p>
          <a:p>
            <a:pPr lvl="1" eaLnBrk="1" hangingPunct="1"/>
            <a:r>
              <a:rPr lang="zh-CN" altLang="en-US" sz="2800" dirty="0"/>
              <a:t>常用函数</a:t>
            </a:r>
          </a:p>
          <a:p>
            <a:pPr eaLnBrk="1" hangingPunct="1"/>
            <a:endParaRPr lang="zh-CN" altLang="en-US" dirty="0"/>
          </a:p>
        </p:txBody>
      </p:sp>
    </p:spTree>
    <p:extLst>
      <p:ext uri="{BB962C8B-B14F-4D97-AF65-F5344CB8AC3E}">
        <p14:creationId xmlns:p14="http://schemas.microsoft.com/office/powerpoint/2010/main" val="20726744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533400" y="0"/>
            <a:ext cx="7772400" cy="838200"/>
          </a:xfrm>
        </p:spPr>
        <p:txBody>
          <a:bodyPr/>
          <a:lstStyle/>
          <a:p>
            <a:pPr eaLnBrk="1" hangingPunct="1"/>
            <a:r>
              <a:rPr lang="en-US" altLang="zh-CN" dirty="0"/>
              <a:t>1.1 </a:t>
            </a:r>
            <a:r>
              <a:rPr lang="zh-CN" altLang="en-US" dirty="0"/>
              <a:t>算法基本概念 </a:t>
            </a:r>
            <a:r>
              <a:rPr lang="en-US" altLang="zh-CN" sz="3600" dirty="0">
                <a:latin typeface="Arial" panose="020B0604020202020204" pitchFamily="34" charset="0"/>
              </a:rPr>
              <a:t>—</a:t>
            </a:r>
            <a:r>
              <a:rPr lang="zh-CN" altLang="en-US" sz="3600" dirty="0"/>
              <a:t>什么是算法？</a:t>
            </a:r>
          </a:p>
        </p:txBody>
      </p:sp>
      <p:sp>
        <p:nvSpPr>
          <p:cNvPr id="27651" name="Rectangle 3"/>
          <p:cNvSpPr>
            <a:spLocks noGrp="1" noChangeArrowheads="1"/>
          </p:cNvSpPr>
          <p:nvPr>
            <p:ph idx="1"/>
          </p:nvPr>
        </p:nvSpPr>
        <p:spPr>
          <a:xfrm>
            <a:off x="457200" y="1447800"/>
            <a:ext cx="8458200" cy="5181600"/>
          </a:xfrm>
          <a:prstGeom prst="rect">
            <a:avLst/>
          </a:prstGeom>
        </p:spPr>
        <p:txBody>
          <a:bodyPr>
            <a:normAutofit/>
          </a:bodyPr>
          <a:lstStyle/>
          <a:p>
            <a:pPr eaLnBrk="1" hangingPunct="1"/>
            <a:r>
              <a:rPr lang="zh-CN" altLang="en-US" sz="2400" dirty="0"/>
              <a:t>算法的形式定义可以看作是任何一个良定义（有穷</a:t>
            </a:r>
            <a:r>
              <a:rPr lang="en-US" altLang="zh-CN" sz="2400" dirty="0"/>
              <a:t>/</a:t>
            </a:r>
            <a:r>
              <a:rPr lang="zh-CN" altLang="en-US" sz="2400" dirty="0"/>
              <a:t>确定</a:t>
            </a:r>
            <a:r>
              <a:rPr lang="en-US" altLang="zh-CN" sz="2400" dirty="0"/>
              <a:t>/</a:t>
            </a:r>
            <a:r>
              <a:rPr lang="zh-CN" altLang="en-US" sz="2400" dirty="0"/>
              <a:t>可行）的计算过程，以一个或一些值作为输入，产生出一个或一组值作为输出（问题陈述）。</a:t>
            </a:r>
          </a:p>
        </p:txBody>
      </p:sp>
      <p:grpSp>
        <p:nvGrpSpPr>
          <p:cNvPr id="15" name="组合 14"/>
          <p:cNvGrpSpPr/>
          <p:nvPr/>
        </p:nvGrpSpPr>
        <p:grpSpPr>
          <a:xfrm>
            <a:off x="914400" y="3124200"/>
            <a:ext cx="7294563" cy="2709863"/>
            <a:chOff x="914400" y="3124200"/>
            <a:chExt cx="7294563" cy="2709863"/>
          </a:xfrm>
        </p:grpSpPr>
        <p:sp>
          <p:nvSpPr>
            <p:cNvPr id="27652" name="Line 4"/>
            <p:cNvSpPr>
              <a:spLocks noChangeShapeType="1"/>
            </p:cNvSpPr>
            <p:nvPr/>
          </p:nvSpPr>
          <p:spPr bwMode="auto">
            <a:xfrm>
              <a:off x="4572000" y="3505200"/>
              <a:ext cx="0" cy="609600"/>
            </a:xfrm>
            <a:prstGeom prst="line">
              <a:avLst/>
            </a:prstGeom>
            <a:noFill/>
            <a:ln w="635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27653" name="Group 5"/>
            <p:cNvGrpSpPr>
              <a:grpSpLocks/>
            </p:cNvGrpSpPr>
            <p:nvPr/>
          </p:nvGrpSpPr>
          <p:grpSpPr bwMode="auto">
            <a:xfrm>
              <a:off x="914400" y="3124200"/>
              <a:ext cx="7294563" cy="2709863"/>
              <a:chOff x="576" y="2825"/>
              <a:chExt cx="4595" cy="1467"/>
            </a:xfrm>
          </p:grpSpPr>
          <p:sp>
            <p:nvSpPr>
              <p:cNvPr id="27654" name="Rectangle 6"/>
              <p:cNvSpPr>
                <a:spLocks noChangeArrowheads="1"/>
              </p:cNvSpPr>
              <p:nvPr/>
            </p:nvSpPr>
            <p:spPr bwMode="auto">
              <a:xfrm>
                <a:off x="2070" y="3812"/>
                <a:ext cx="1728" cy="480"/>
              </a:xfrm>
              <a:prstGeom prst="rect">
                <a:avLst/>
              </a:prstGeom>
              <a:solidFill>
                <a:schemeClr val="accent1"/>
              </a:solidFill>
              <a:ln w="12700">
                <a:solidFill>
                  <a:srgbClr val="FF0000"/>
                </a:solidFill>
                <a:miter lim="800000"/>
                <a:headEnd type="none" w="sm" len="sm"/>
                <a:tailEnd type="none" w="sm" len="sm"/>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a:spcBef>
                    <a:spcPct val="0"/>
                  </a:spcBef>
                  <a:buClrTx/>
                  <a:buSzTx/>
                  <a:buFontTx/>
                  <a:buNone/>
                </a:pPr>
                <a:r>
                  <a:rPr lang="en-US" altLang="zh-CN" sz="2400">
                    <a:solidFill>
                      <a:schemeClr val="bg2"/>
                    </a:solidFill>
                    <a:latin typeface="Arial" panose="020B0604020202020204" pitchFamily="34" charset="0"/>
                    <a:ea typeface="宋体" panose="02010600030101010101" pitchFamily="2" charset="-122"/>
                  </a:rPr>
                  <a:t>“computer” </a:t>
                </a:r>
              </a:p>
            </p:txBody>
          </p:sp>
          <p:sp>
            <p:nvSpPr>
              <p:cNvPr id="27656" name="Text Box 8"/>
              <p:cNvSpPr txBox="1">
                <a:spLocks noChangeArrowheads="1"/>
              </p:cNvSpPr>
              <p:nvPr/>
            </p:nvSpPr>
            <p:spPr bwMode="auto">
              <a:xfrm>
                <a:off x="2366" y="2825"/>
                <a:ext cx="9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a:spcBef>
                    <a:spcPct val="0"/>
                  </a:spcBef>
                  <a:buClrTx/>
                  <a:buSzTx/>
                  <a:buFontTx/>
                  <a:buNone/>
                </a:pPr>
                <a:r>
                  <a:rPr lang="en-US" altLang="zh-CN" sz="2400" dirty="0">
                    <a:latin typeface="Arial" panose="020B0604020202020204" pitchFamily="34" charset="0"/>
                    <a:ea typeface="宋体" panose="02010600030101010101" pitchFamily="2" charset="-122"/>
                  </a:rPr>
                  <a:t> problem</a:t>
                </a:r>
              </a:p>
            </p:txBody>
          </p:sp>
          <p:sp>
            <p:nvSpPr>
              <p:cNvPr id="27657" name="Text Box 9"/>
              <p:cNvSpPr txBox="1">
                <a:spLocks noChangeArrowheads="1"/>
              </p:cNvSpPr>
              <p:nvPr/>
            </p:nvSpPr>
            <p:spPr bwMode="auto">
              <a:xfrm>
                <a:off x="2448" y="3279"/>
                <a:ext cx="99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a:spcBef>
                    <a:spcPct val="0"/>
                  </a:spcBef>
                  <a:buClrTx/>
                  <a:buSzTx/>
                  <a:buFontTx/>
                  <a:buNone/>
                </a:pPr>
                <a:r>
                  <a:rPr lang="en-US" altLang="zh-CN" sz="2400" dirty="0">
                    <a:latin typeface="Arial" panose="020B0604020202020204" pitchFamily="34" charset="0"/>
                    <a:ea typeface="宋体" panose="02010600030101010101" pitchFamily="2" charset="-122"/>
                  </a:rPr>
                  <a:t>algorithm</a:t>
                </a:r>
              </a:p>
            </p:txBody>
          </p:sp>
          <p:sp>
            <p:nvSpPr>
              <p:cNvPr id="27658" name="Text Box 10"/>
              <p:cNvSpPr txBox="1">
                <a:spLocks noChangeArrowheads="1"/>
              </p:cNvSpPr>
              <p:nvPr/>
            </p:nvSpPr>
            <p:spPr bwMode="auto">
              <a:xfrm>
                <a:off x="576" y="3908"/>
                <a:ext cx="7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a:spcBef>
                    <a:spcPct val="0"/>
                  </a:spcBef>
                  <a:buClrTx/>
                  <a:buSzTx/>
                  <a:buFontTx/>
                  <a:buNone/>
                </a:pPr>
                <a:r>
                  <a:rPr lang="en-US" altLang="zh-CN" sz="2400">
                    <a:latin typeface="Arial" panose="020B0604020202020204" pitchFamily="34" charset="0"/>
                    <a:ea typeface="宋体" panose="02010600030101010101" pitchFamily="2" charset="-122"/>
                  </a:rPr>
                  <a:t>input</a:t>
                </a:r>
              </a:p>
            </p:txBody>
          </p:sp>
          <p:sp>
            <p:nvSpPr>
              <p:cNvPr id="27659" name="Text Box 11"/>
              <p:cNvSpPr txBox="1">
                <a:spLocks noChangeArrowheads="1"/>
              </p:cNvSpPr>
              <p:nvPr/>
            </p:nvSpPr>
            <p:spPr bwMode="auto">
              <a:xfrm>
                <a:off x="4416" y="3908"/>
                <a:ext cx="7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a:spcBef>
                    <a:spcPct val="0"/>
                  </a:spcBef>
                  <a:buClrTx/>
                  <a:buSzTx/>
                  <a:buFontTx/>
                  <a:buNone/>
                </a:pPr>
                <a:r>
                  <a:rPr lang="en-US" altLang="zh-CN" sz="2400">
                    <a:latin typeface="Arial" panose="020B0604020202020204" pitchFamily="34" charset="0"/>
                    <a:ea typeface="宋体" panose="02010600030101010101" pitchFamily="2" charset="-122"/>
                  </a:rPr>
                  <a:t>output</a:t>
                </a:r>
              </a:p>
            </p:txBody>
          </p:sp>
          <p:sp>
            <p:nvSpPr>
              <p:cNvPr id="27660" name="Line 12"/>
              <p:cNvSpPr>
                <a:spLocks noChangeShapeType="1"/>
              </p:cNvSpPr>
              <p:nvPr/>
            </p:nvSpPr>
            <p:spPr bwMode="auto">
              <a:xfrm>
                <a:off x="1296" y="4063"/>
                <a:ext cx="768" cy="0"/>
              </a:xfrm>
              <a:prstGeom prst="line">
                <a:avLst/>
              </a:prstGeom>
              <a:noFill/>
              <a:ln w="635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661" name="Line 13"/>
              <p:cNvSpPr>
                <a:spLocks noChangeShapeType="1"/>
              </p:cNvSpPr>
              <p:nvPr/>
            </p:nvSpPr>
            <p:spPr bwMode="auto">
              <a:xfrm>
                <a:off x="3792" y="4063"/>
                <a:ext cx="576" cy="4"/>
              </a:xfrm>
              <a:prstGeom prst="line">
                <a:avLst/>
              </a:prstGeom>
              <a:noFill/>
              <a:ln w="635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14" name="Line 4"/>
            <p:cNvSpPr>
              <a:spLocks noChangeShapeType="1"/>
            </p:cNvSpPr>
            <p:nvPr/>
          </p:nvSpPr>
          <p:spPr bwMode="auto">
            <a:xfrm>
              <a:off x="4572000" y="4343400"/>
              <a:ext cx="0" cy="609600"/>
            </a:xfrm>
            <a:prstGeom prst="line">
              <a:avLst/>
            </a:prstGeom>
            <a:noFill/>
            <a:ln w="63500">
              <a:solidFill>
                <a:srgbClr val="FF0000"/>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Tree>
    <p:extLst>
      <p:ext uri="{BB962C8B-B14F-4D97-AF65-F5344CB8AC3E}">
        <p14:creationId xmlns:p14="http://schemas.microsoft.com/office/powerpoint/2010/main" val="3840816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6" name="Rectangle 2"/>
          <p:cNvSpPr>
            <a:spLocks noGrp="1" noChangeArrowheads="1"/>
          </p:cNvSpPr>
          <p:nvPr>
            <p:ph type="title"/>
          </p:nvPr>
        </p:nvSpPr>
        <p:spPr>
          <a:xfrm>
            <a:off x="685800" y="0"/>
            <a:ext cx="7772400" cy="990600"/>
          </a:xfrm>
        </p:spPr>
        <p:txBody>
          <a:bodyPr lIns="92075" tIns="46038" rIns="92075" bIns="46038" anchor="ctr"/>
          <a:lstStyle/>
          <a:p>
            <a:pPr algn="l">
              <a:defRPr/>
            </a:pPr>
            <a:r>
              <a:rPr lang="en-US" altLang="zh-CN" dirty="0"/>
              <a:t>1.1 </a:t>
            </a:r>
            <a:r>
              <a:rPr lang="zh-CN" altLang="en-US" dirty="0"/>
              <a:t>算法基本概念 </a:t>
            </a:r>
            <a:r>
              <a:rPr lang="en-US" altLang="zh-CN" sz="3600" dirty="0">
                <a:latin typeface="Arial" panose="020B0604020202020204" pitchFamily="34" charset="0"/>
              </a:rPr>
              <a:t>—</a:t>
            </a:r>
            <a:r>
              <a:rPr lang="zh-CN" altLang="en-US" dirty="0">
                <a:ea typeface="宋体" pitchFamily="2" charset="-122"/>
              </a:rPr>
              <a:t>算法</a:t>
            </a:r>
            <a:endParaRPr lang="en-US" altLang="zh-CN" dirty="0">
              <a:ea typeface="宋体" pitchFamily="2" charset="-122"/>
            </a:endParaRPr>
          </a:p>
        </p:txBody>
      </p:sp>
      <p:sp>
        <p:nvSpPr>
          <p:cNvPr id="9218" name="灯片编号占位符 4"/>
          <p:cNvSpPr>
            <a:spLocks noGrp="1"/>
          </p:cNvSpPr>
          <p:nvPr>
            <p:ph type="sldNum" sz="quarter" idx="4294967295"/>
          </p:nvPr>
        </p:nvSpPr>
        <p:spPr>
          <a:xfrm>
            <a:off x="7239000" y="6426200"/>
            <a:ext cx="1905000" cy="304800"/>
          </a:xfrm>
          <a:prstGeom prst="rect">
            <a:avLst/>
          </a:prstGeom>
          <a:noFill/>
          <a:ln>
            <a:miter lim="800000"/>
            <a:headEnd/>
            <a:tailEnd/>
          </a:ln>
        </p:spPr>
        <p:txBody>
          <a:bodyPr/>
          <a:lstStyle/>
          <a:p>
            <a:r>
              <a:rPr lang="en-US" altLang="zh-CN">
                <a:ea typeface="宋体" charset="-122"/>
              </a:rPr>
              <a:t>1-</a:t>
            </a:r>
            <a:fld id="{3B67706E-DB41-4336-B876-B6462FE63BEC}" type="slidenum">
              <a:rPr lang="en-US" altLang="zh-CN" smtClean="0">
                <a:ea typeface="宋体" charset="-122"/>
              </a:rPr>
              <a:pPr/>
              <a:t>10</a:t>
            </a:fld>
            <a:endParaRPr lang="en-US" altLang="zh-CN">
              <a:ea typeface="宋体" charset="-122"/>
            </a:endParaRPr>
          </a:p>
        </p:txBody>
      </p:sp>
      <p:sp>
        <p:nvSpPr>
          <p:cNvPr id="9220" name="Rectangle 4"/>
          <p:cNvSpPr>
            <a:spLocks noChangeArrowheads="1"/>
          </p:cNvSpPr>
          <p:nvPr/>
        </p:nvSpPr>
        <p:spPr bwMode="auto">
          <a:xfrm>
            <a:off x="8723313" y="6218238"/>
            <a:ext cx="184150" cy="473075"/>
          </a:xfrm>
          <a:prstGeom prst="rect">
            <a:avLst/>
          </a:prstGeom>
          <a:noFill/>
          <a:ln w="12700">
            <a:noFill/>
            <a:miter lim="800000"/>
            <a:headEnd type="none" w="sm" len="sm"/>
            <a:tailEnd type="none" w="sm" len="sm"/>
          </a:ln>
        </p:spPr>
        <p:txBody>
          <a:bodyPr wrap="none" anchor="ctr">
            <a:spAutoFit/>
          </a:bodyPr>
          <a:lstStyle/>
          <a:p>
            <a:endParaRPr lang="zh-CN" altLang="zh-CN">
              <a:ea typeface="宋体" charset="-122"/>
            </a:endParaRPr>
          </a:p>
        </p:txBody>
      </p:sp>
      <p:sp>
        <p:nvSpPr>
          <p:cNvPr id="8" name="Rectangle 3"/>
          <p:cNvSpPr txBox="1">
            <a:spLocks noChangeArrowheads="1"/>
          </p:cNvSpPr>
          <p:nvPr/>
        </p:nvSpPr>
        <p:spPr bwMode="auto">
          <a:xfrm>
            <a:off x="457200" y="1524000"/>
            <a:ext cx="8229600" cy="4530725"/>
          </a:xfrm>
          <a:prstGeom prst="rect">
            <a:avLst/>
          </a:prstGeom>
          <a:noFill/>
          <a:ln>
            <a:noFill/>
          </a:ln>
        </p:spPr>
        <p:txBody>
          <a:bodyPr/>
          <a:lstStyle>
            <a:lvl1pPr marL="342900" indent="-342900" algn="l">
              <a:spcBef>
                <a:spcPct val="20000"/>
              </a:spcBef>
              <a:buClr>
                <a:srgbClr val="A50021"/>
              </a:buClr>
              <a:buSzPct val="75000"/>
              <a:buFont typeface="Monotype Sorts" pitchFamily="2" charset="2"/>
              <a:buChar char="b"/>
              <a:defRPr kumimoji="1" sz="2400" b="1">
                <a:solidFill>
                  <a:srgbClr val="FFFF99"/>
                </a:solidFill>
                <a:latin typeface="Times New Roman" pitchFamily="18" charset="0"/>
              </a:defRPr>
            </a:lvl1pPr>
            <a:lvl2pPr marL="742950" indent="-285750" algn="l">
              <a:spcBef>
                <a:spcPct val="20000"/>
              </a:spcBef>
              <a:buClr>
                <a:srgbClr val="A50021"/>
              </a:buClr>
              <a:buChar char="•"/>
              <a:defRPr kumimoji="1" sz="2000" b="1">
                <a:solidFill>
                  <a:srgbClr val="FFFF99"/>
                </a:solidFill>
                <a:latin typeface="Times New Roman" pitchFamily="18" charset="0"/>
              </a:defRPr>
            </a:lvl2pPr>
            <a:lvl3pPr marL="1143000" indent="-228600" algn="l">
              <a:spcBef>
                <a:spcPct val="20000"/>
              </a:spcBef>
              <a:buClr>
                <a:srgbClr val="A50021"/>
              </a:buClr>
              <a:buChar char="–"/>
              <a:defRPr kumimoji="1" b="1">
                <a:solidFill>
                  <a:srgbClr val="FFFF99"/>
                </a:solidFill>
                <a:latin typeface="Times New Roman" pitchFamily="18" charset="0"/>
              </a:defRPr>
            </a:lvl3pPr>
            <a:lvl4pPr marL="1600200" indent="-228600" algn="l">
              <a:spcBef>
                <a:spcPct val="20000"/>
              </a:spcBef>
              <a:buClr>
                <a:srgbClr val="A50021"/>
              </a:buClr>
              <a:buChar char="–"/>
              <a:defRPr kumimoji="1" b="1">
                <a:solidFill>
                  <a:srgbClr val="FFFF99"/>
                </a:solidFill>
                <a:latin typeface="Times New Roman" pitchFamily="18" charset="0"/>
              </a:defRPr>
            </a:lvl4pPr>
            <a:lvl5pPr marL="2057400" indent="-228600" algn="l">
              <a:spcBef>
                <a:spcPct val="20000"/>
              </a:spcBef>
              <a:buClr>
                <a:srgbClr val="A50021"/>
              </a:buClr>
              <a:buChar char="»"/>
              <a:defRPr kumimoji="1" b="1">
                <a:solidFill>
                  <a:srgbClr val="FFFF99"/>
                </a:solidFill>
                <a:latin typeface="Times New Roman" pitchFamily="18" charset="0"/>
              </a:defRPr>
            </a:lvl5pPr>
            <a:lvl6pPr marL="25146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6pPr>
            <a:lvl7pPr marL="29718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7pPr>
            <a:lvl8pPr marL="34290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8pPr>
            <a:lvl9pPr marL="3886200" indent="-228600" eaLnBrk="0" fontAlgn="base" hangingPunct="0">
              <a:spcBef>
                <a:spcPct val="20000"/>
              </a:spcBef>
              <a:spcAft>
                <a:spcPct val="0"/>
              </a:spcAft>
              <a:buClr>
                <a:srgbClr val="A50021"/>
              </a:buClr>
              <a:buChar char="»"/>
              <a:defRPr kumimoji="1" b="1">
                <a:solidFill>
                  <a:srgbClr val="FFFF99"/>
                </a:solidFill>
                <a:latin typeface="Times New Roman" pitchFamily="18" charset="0"/>
              </a:defRPr>
            </a:lvl9pPr>
          </a:lstStyle>
          <a:p>
            <a:pPr>
              <a:lnSpc>
                <a:spcPct val="150000"/>
              </a:lnSpc>
              <a:defRPr/>
            </a:pPr>
            <a:r>
              <a:rPr lang="zh-CN" altLang="en-US" sz="2800" dirty="0">
                <a:solidFill>
                  <a:schemeClr val="tx1"/>
                </a:solidFill>
                <a:ea typeface="宋体" pitchFamily="2" charset="-122"/>
              </a:rPr>
              <a:t>算法是若干指令的有穷序列，满足性质</a:t>
            </a:r>
            <a:r>
              <a:rPr lang="zh-CN" altLang="en-US" sz="2000" dirty="0">
                <a:solidFill>
                  <a:schemeClr val="tx1"/>
                </a:solidFill>
                <a:ea typeface="宋体" pitchFamily="2" charset="-122"/>
              </a:rPr>
              <a:t>：</a:t>
            </a:r>
          </a:p>
          <a:p>
            <a:pPr lvl="1">
              <a:lnSpc>
                <a:spcPct val="150000"/>
              </a:lnSpc>
              <a:defRPr/>
            </a:pPr>
            <a:r>
              <a:rPr lang="zh-CN" altLang="en-US" sz="2400" dirty="0">
                <a:solidFill>
                  <a:srgbClr val="FF0000"/>
                </a:solidFill>
                <a:ea typeface="宋体" pitchFamily="2" charset="-122"/>
              </a:rPr>
              <a:t>输入</a:t>
            </a:r>
            <a:r>
              <a:rPr lang="zh-CN" altLang="en-US" sz="2400" dirty="0">
                <a:solidFill>
                  <a:schemeClr val="tx1"/>
                </a:solidFill>
                <a:ea typeface="宋体" pitchFamily="2" charset="-122"/>
              </a:rPr>
              <a:t>：有外部提供的量作为算法的输入。</a:t>
            </a:r>
          </a:p>
          <a:p>
            <a:pPr lvl="1">
              <a:lnSpc>
                <a:spcPct val="150000"/>
              </a:lnSpc>
              <a:defRPr/>
            </a:pPr>
            <a:r>
              <a:rPr lang="zh-CN" altLang="en-US" sz="2400" dirty="0">
                <a:solidFill>
                  <a:srgbClr val="FF0000"/>
                </a:solidFill>
                <a:ea typeface="宋体" pitchFamily="2" charset="-122"/>
              </a:rPr>
              <a:t>输出</a:t>
            </a:r>
            <a:r>
              <a:rPr lang="zh-CN" altLang="en-US" sz="2400" dirty="0">
                <a:solidFill>
                  <a:schemeClr val="tx1"/>
                </a:solidFill>
                <a:ea typeface="宋体" pitchFamily="2" charset="-122"/>
              </a:rPr>
              <a:t>：算法产生至少一个量作为输出。</a:t>
            </a:r>
          </a:p>
          <a:p>
            <a:pPr lvl="1">
              <a:lnSpc>
                <a:spcPct val="150000"/>
              </a:lnSpc>
              <a:defRPr/>
            </a:pPr>
            <a:r>
              <a:rPr lang="zh-CN" altLang="en-US" sz="2400" dirty="0">
                <a:solidFill>
                  <a:srgbClr val="FF0000"/>
                </a:solidFill>
                <a:ea typeface="宋体" pitchFamily="2" charset="-122"/>
              </a:rPr>
              <a:t>确定性</a:t>
            </a:r>
            <a:r>
              <a:rPr lang="zh-CN" altLang="en-US" sz="2400" dirty="0">
                <a:solidFill>
                  <a:schemeClr val="tx1"/>
                </a:solidFill>
                <a:ea typeface="宋体" pitchFamily="2" charset="-122"/>
              </a:rPr>
              <a:t>：组成算法的每条指令是清晰，无歧义的。</a:t>
            </a:r>
          </a:p>
          <a:p>
            <a:pPr lvl="1">
              <a:lnSpc>
                <a:spcPct val="150000"/>
              </a:lnSpc>
              <a:defRPr/>
            </a:pPr>
            <a:r>
              <a:rPr lang="zh-CN" altLang="en-US" sz="2400" dirty="0">
                <a:solidFill>
                  <a:srgbClr val="FF0000"/>
                </a:solidFill>
                <a:ea typeface="宋体" pitchFamily="2" charset="-122"/>
              </a:rPr>
              <a:t>有限性</a:t>
            </a:r>
            <a:r>
              <a:rPr lang="zh-CN" altLang="en-US" sz="2400" dirty="0">
                <a:solidFill>
                  <a:schemeClr val="tx1"/>
                </a:solidFill>
                <a:ea typeface="宋体" pitchFamily="2" charset="-122"/>
              </a:rPr>
              <a:t>：算法中每条指令的执行次数是有限的，执行每条指令的时间也是有限的。</a:t>
            </a:r>
          </a:p>
          <a:p>
            <a:pPr lvl="1">
              <a:lnSpc>
                <a:spcPct val="150000"/>
              </a:lnSpc>
              <a:defRPr/>
            </a:pPr>
            <a:r>
              <a:rPr lang="zh-CN" altLang="en-US" sz="2400" dirty="0">
                <a:solidFill>
                  <a:srgbClr val="FF0000"/>
                </a:solidFill>
                <a:ea typeface="宋体" pitchFamily="2" charset="-122"/>
              </a:rPr>
              <a:t>可行性</a:t>
            </a:r>
            <a:r>
              <a:rPr lang="en-US" altLang="zh-CN" sz="2400" dirty="0">
                <a:solidFill>
                  <a:schemeClr val="tx1"/>
                </a:solidFill>
                <a:ea typeface="宋体" pitchFamily="2" charset="-122"/>
              </a:rPr>
              <a:t>: </a:t>
            </a:r>
            <a:r>
              <a:rPr lang="zh-CN" altLang="en-US" sz="2400" dirty="0">
                <a:solidFill>
                  <a:schemeClr val="tx1"/>
                </a:solidFill>
                <a:ea typeface="宋体" pitchFamily="2" charset="-122"/>
              </a:rPr>
              <a:t>算法是能够有效解决问题的</a:t>
            </a:r>
          </a:p>
        </p:txBody>
      </p:sp>
    </p:spTree>
    <p:extLst>
      <p:ext uri="{BB962C8B-B14F-4D97-AF65-F5344CB8AC3E}">
        <p14:creationId xmlns:p14="http://schemas.microsoft.com/office/powerpoint/2010/main" val="38038941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down)">
                                      <p:cBhvr>
                                        <p:cTn id="7" dur="500"/>
                                        <p:tgtEl>
                                          <p:spTgt spid="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down)">
                                      <p:cBhvr>
                                        <p:cTn id="12" dur="500"/>
                                        <p:tgtEl>
                                          <p:spTgt spid="8">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down)">
                                      <p:cBhvr>
                                        <p:cTn id="17" dur="500"/>
                                        <p:tgtEl>
                                          <p:spTgt spid="8">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down)">
                                      <p:cBhvr>
                                        <p:cTn id="22" dur="500"/>
                                        <p:tgtEl>
                                          <p:spTgt spid="8">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down)">
                                      <p:cBhvr>
                                        <p:cTn id="27" dur="500"/>
                                        <p:tgtEl>
                                          <p:spTgt spid="8">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4"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wipe(down)">
                                      <p:cBhvr>
                                        <p:cTn id="3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31" name="Rectangle 2"/>
          <p:cNvSpPr>
            <a:spLocks noGrp="1" noChangeArrowheads="1"/>
          </p:cNvSpPr>
          <p:nvPr>
            <p:ph type="title"/>
          </p:nvPr>
        </p:nvSpPr>
        <p:spPr>
          <a:xfrm>
            <a:off x="457200" y="0"/>
            <a:ext cx="8229600" cy="785150"/>
          </a:xfrm>
        </p:spPr>
        <p:txBody>
          <a:bodyPr/>
          <a:lstStyle/>
          <a:p>
            <a:pPr eaLnBrk="1" hangingPunct="1"/>
            <a:r>
              <a:rPr lang="en-US" altLang="zh-CN" dirty="0"/>
              <a:t>1.1 </a:t>
            </a:r>
            <a:r>
              <a:rPr lang="zh-CN" altLang="en-US" dirty="0"/>
              <a:t>算法基本概念</a:t>
            </a:r>
            <a:r>
              <a:rPr lang="en-US" altLang="zh-CN" sz="3600" dirty="0">
                <a:latin typeface="Arial" panose="020B0604020202020204" pitchFamily="34" charset="0"/>
              </a:rPr>
              <a:t>—</a:t>
            </a:r>
            <a:r>
              <a:rPr lang="zh-CN" altLang="en-US" sz="3600" dirty="0"/>
              <a:t>问题求解过程</a:t>
            </a:r>
          </a:p>
        </p:txBody>
      </p:sp>
      <p:grpSp>
        <p:nvGrpSpPr>
          <p:cNvPr id="7" name="组合 6"/>
          <p:cNvGrpSpPr/>
          <p:nvPr/>
        </p:nvGrpSpPr>
        <p:grpSpPr>
          <a:xfrm>
            <a:off x="2209800" y="1524000"/>
            <a:ext cx="4032250" cy="4754562"/>
            <a:chOff x="2024063" y="1916113"/>
            <a:chExt cx="4032250" cy="4754562"/>
          </a:xfrm>
        </p:grpSpPr>
        <p:sp>
          <p:nvSpPr>
            <p:cNvPr id="3" name="Rectangle 14"/>
            <p:cNvSpPr>
              <a:spLocks noChangeArrowheads="1"/>
            </p:cNvSpPr>
            <p:nvPr/>
          </p:nvSpPr>
          <p:spPr bwMode="auto">
            <a:xfrm>
              <a:off x="3248025" y="4797353"/>
              <a:ext cx="1800225" cy="433315"/>
            </a:xfrm>
            <a:prstGeom prst="rect">
              <a:avLst/>
            </a:prstGeom>
            <a:solidFill>
              <a:schemeClr val="bg1"/>
            </a:solidFill>
            <a:ln w="25400">
              <a:solidFill>
                <a:schemeClr val="accent4">
                  <a:lumMod val="95000"/>
                  <a:lumOff val="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dirty="0">
                  <a:ln>
                    <a:noFill/>
                  </a:ln>
                  <a:solidFill>
                    <a:schemeClr val="tx1"/>
                  </a:solidFill>
                  <a:effectLst/>
                  <a:latin typeface="Tahoma" panose="020B0604030504040204" pitchFamily="34" charset="0"/>
                  <a:ea typeface="华文新魏" panose="02010800040101010101" pitchFamily="2" charset="-122"/>
                </a:rPr>
                <a:t>证明正确性</a:t>
              </a:r>
            </a:p>
          </p:txBody>
        </p:sp>
        <p:sp>
          <p:nvSpPr>
            <p:cNvPr id="4" name="Rectangle 15"/>
            <p:cNvSpPr>
              <a:spLocks noChangeArrowheads="1"/>
            </p:cNvSpPr>
            <p:nvPr/>
          </p:nvSpPr>
          <p:spPr bwMode="auto">
            <a:xfrm>
              <a:off x="3248025" y="5517357"/>
              <a:ext cx="1800225" cy="433315"/>
            </a:xfrm>
            <a:prstGeom prst="rect">
              <a:avLst/>
            </a:prstGeom>
            <a:solidFill>
              <a:schemeClr val="bg1"/>
            </a:solidFill>
            <a:ln w="25400">
              <a:solidFill>
                <a:schemeClr val="accent4">
                  <a:lumMod val="95000"/>
                  <a:lumOff val="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ahoma" panose="020B0604030504040204" pitchFamily="34" charset="0"/>
                  <a:ea typeface="华文新魏" panose="02010800040101010101" pitchFamily="2" charset="-122"/>
                </a:rPr>
                <a:t>分析算法</a:t>
              </a:r>
            </a:p>
          </p:txBody>
        </p:sp>
        <p:sp>
          <p:nvSpPr>
            <p:cNvPr id="5" name="Rectangle 16"/>
            <p:cNvSpPr>
              <a:spLocks noChangeArrowheads="1"/>
            </p:cNvSpPr>
            <p:nvPr/>
          </p:nvSpPr>
          <p:spPr bwMode="auto">
            <a:xfrm>
              <a:off x="3248025" y="6237360"/>
              <a:ext cx="1800225" cy="433315"/>
            </a:xfrm>
            <a:prstGeom prst="rect">
              <a:avLst/>
            </a:prstGeom>
            <a:solidFill>
              <a:schemeClr val="bg1"/>
            </a:solidFill>
            <a:ln w="25400">
              <a:solidFill>
                <a:schemeClr val="accent4">
                  <a:lumMod val="95000"/>
                  <a:lumOff val="5000"/>
                </a:schemeClr>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ahoma" panose="020B0604030504040204" pitchFamily="34" charset="0"/>
                  <a:ea typeface="华文新魏" panose="02010800040101010101" pitchFamily="2" charset="-122"/>
                </a:rPr>
                <a:t>设计程序</a:t>
              </a:r>
            </a:p>
          </p:txBody>
        </p:sp>
        <p:sp>
          <p:nvSpPr>
            <p:cNvPr id="1032" name="Oval 17"/>
            <p:cNvSpPr>
              <a:spLocks noChangeArrowheads="1"/>
            </p:cNvSpPr>
            <p:nvPr/>
          </p:nvSpPr>
          <p:spPr bwMode="auto">
            <a:xfrm>
              <a:off x="3105150" y="1916113"/>
              <a:ext cx="2016125" cy="431800"/>
            </a:xfrm>
            <a:prstGeom prst="ellipse">
              <a:avLst/>
            </a:prstGeom>
            <a:solidFill>
              <a:schemeClr val="bg1"/>
            </a:solidFill>
            <a:ln w="25400">
              <a:solidFill>
                <a:schemeClr val="accent4">
                  <a:lumMod val="95000"/>
                  <a:lumOff val="5000"/>
                </a:schemeClr>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eaLnBrk="1" hangingPunct="1">
                <a:spcBef>
                  <a:spcPct val="0"/>
                </a:spcBef>
                <a:buClrTx/>
                <a:buSzTx/>
                <a:buFontTx/>
                <a:buNone/>
              </a:pPr>
              <a:r>
                <a:rPr kumimoji="1" lang="zh-CN" altLang="en-US" sz="2000">
                  <a:latin typeface="Arial" panose="020B0604020202020204" pitchFamily="34" charset="0"/>
                </a:rPr>
                <a:t>理解问题</a:t>
              </a:r>
            </a:p>
          </p:txBody>
        </p:sp>
        <p:sp>
          <p:nvSpPr>
            <p:cNvPr id="1033" name="Oval 18"/>
            <p:cNvSpPr>
              <a:spLocks noChangeArrowheads="1"/>
            </p:cNvSpPr>
            <p:nvPr/>
          </p:nvSpPr>
          <p:spPr bwMode="auto">
            <a:xfrm>
              <a:off x="2528888" y="2565400"/>
              <a:ext cx="3095625" cy="1223963"/>
            </a:xfrm>
            <a:prstGeom prst="ellipse">
              <a:avLst/>
            </a:prstGeom>
            <a:solidFill>
              <a:schemeClr val="bg1"/>
            </a:solidFill>
            <a:ln w="25400">
              <a:solidFill>
                <a:schemeClr val="accent4">
                  <a:lumMod val="95000"/>
                  <a:lumOff val="5000"/>
                </a:schemeClr>
              </a:solidFill>
              <a:round/>
              <a:headEnd/>
              <a:tailEnd/>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eaLnBrk="1" hangingPunct="1">
                <a:spcBef>
                  <a:spcPct val="0"/>
                </a:spcBef>
                <a:buClrTx/>
                <a:buSzTx/>
                <a:buFontTx/>
                <a:buNone/>
              </a:pPr>
              <a:r>
                <a:rPr kumimoji="1" lang="zh-CN" altLang="en-US" sz="2000" dirty="0">
                  <a:latin typeface="Arial" panose="020B0604020202020204" pitchFamily="34" charset="0"/>
                </a:rPr>
                <a:t>精确解或近似解</a:t>
              </a:r>
            </a:p>
            <a:p>
              <a:pPr algn="ctr" eaLnBrk="1" hangingPunct="1">
                <a:spcBef>
                  <a:spcPct val="0"/>
                </a:spcBef>
                <a:buClrTx/>
                <a:buSzTx/>
                <a:buFontTx/>
                <a:buNone/>
              </a:pPr>
              <a:r>
                <a:rPr kumimoji="1" lang="zh-CN" altLang="en-US" sz="2000" dirty="0">
                  <a:latin typeface="Arial" panose="020B0604020202020204" pitchFamily="34" charset="0"/>
                </a:rPr>
                <a:t>选择数据结构</a:t>
              </a:r>
            </a:p>
            <a:p>
              <a:pPr algn="ctr" eaLnBrk="1" hangingPunct="1">
                <a:spcBef>
                  <a:spcPct val="0"/>
                </a:spcBef>
                <a:buClrTx/>
                <a:buSzTx/>
                <a:buFontTx/>
                <a:buNone/>
              </a:pPr>
              <a:r>
                <a:rPr kumimoji="1" lang="zh-CN" altLang="en-US" sz="2000" dirty="0">
                  <a:latin typeface="Arial" panose="020B0604020202020204" pitchFamily="34" charset="0"/>
                </a:rPr>
                <a:t>算法设计策略</a:t>
              </a:r>
            </a:p>
          </p:txBody>
        </p:sp>
        <p:sp>
          <p:nvSpPr>
            <p:cNvPr id="1034" name="Rectangle 19"/>
            <p:cNvSpPr>
              <a:spLocks noChangeArrowheads="1"/>
            </p:cNvSpPr>
            <p:nvPr/>
          </p:nvSpPr>
          <p:spPr bwMode="auto">
            <a:xfrm>
              <a:off x="3248025" y="4076700"/>
              <a:ext cx="1800225" cy="433388"/>
            </a:xfrm>
            <a:prstGeom prst="rect">
              <a:avLst/>
            </a:prstGeom>
            <a:solidFill>
              <a:schemeClr val="bg1"/>
            </a:solidFill>
            <a:ln w="25400">
              <a:solidFill>
                <a:schemeClr val="accent4">
                  <a:lumMod val="95000"/>
                  <a:lumOff val="5000"/>
                </a:schemeClr>
              </a:solidFill>
              <a:miter lim="800000"/>
              <a:headEnd/>
              <a:tailEnd/>
            </a:ln>
          </p:spPr>
          <p:txBody>
            <a:bodyPr wrap="none" anchor="ct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eaLnBrk="1" hangingPunct="1">
                <a:spcBef>
                  <a:spcPct val="0"/>
                </a:spcBef>
                <a:buClrTx/>
                <a:buSzTx/>
                <a:buFontTx/>
                <a:buNone/>
              </a:pPr>
              <a:r>
                <a:rPr kumimoji="1" lang="zh-CN" altLang="en-US" sz="2000">
                  <a:latin typeface="Arial" panose="020B0604020202020204" pitchFamily="34" charset="0"/>
                </a:rPr>
                <a:t>设计算法</a:t>
              </a:r>
            </a:p>
          </p:txBody>
        </p:sp>
        <p:sp>
          <p:nvSpPr>
            <p:cNvPr id="1035" name="Line 20"/>
            <p:cNvSpPr>
              <a:spLocks noChangeShapeType="1"/>
            </p:cNvSpPr>
            <p:nvPr/>
          </p:nvSpPr>
          <p:spPr bwMode="auto">
            <a:xfrm>
              <a:off x="4113213" y="2349500"/>
              <a:ext cx="0" cy="21590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none"/>
            <a:lstStyle/>
            <a:p>
              <a:endParaRPr lang="zh-CN" altLang="en-US"/>
            </a:p>
          </p:txBody>
        </p:sp>
        <p:sp>
          <p:nvSpPr>
            <p:cNvPr id="1036" name="Line 21"/>
            <p:cNvSpPr>
              <a:spLocks noChangeShapeType="1"/>
            </p:cNvSpPr>
            <p:nvPr/>
          </p:nvSpPr>
          <p:spPr bwMode="auto">
            <a:xfrm>
              <a:off x="4113213" y="4508500"/>
              <a:ext cx="0" cy="288925"/>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none"/>
            <a:lstStyle/>
            <a:p>
              <a:endParaRPr lang="zh-CN" altLang="en-US"/>
            </a:p>
          </p:txBody>
        </p:sp>
        <p:sp>
          <p:nvSpPr>
            <p:cNvPr id="1037" name="Line 22"/>
            <p:cNvSpPr>
              <a:spLocks noChangeShapeType="1"/>
            </p:cNvSpPr>
            <p:nvPr/>
          </p:nvSpPr>
          <p:spPr bwMode="auto">
            <a:xfrm>
              <a:off x="4113213" y="3789363"/>
              <a:ext cx="0" cy="287337"/>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none"/>
            <a:lstStyle/>
            <a:p>
              <a:endParaRPr lang="zh-CN" altLang="en-US"/>
            </a:p>
          </p:txBody>
        </p:sp>
        <p:sp>
          <p:nvSpPr>
            <p:cNvPr id="1038" name="Line 23"/>
            <p:cNvSpPr>
              <a:spLocks noChangeShapeType="1"/>
            </p:cNvSpPr>
            <p:nvPr/>
          </p:nvSpPr>
          <p:spPr bwMode="auto">
            <a:xfrm>
              <a:off x="4113213" y="5229225"/>
              <a:ext cx="0" cy="287338"/>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none"/>
            <a:lstStyle/>
            <a:p>
              <a:endParaRPr lang="zh-CN" altLang="en-US"/>
            </a:p>
          </p:txBody>
        </p:sp>
        <p:sp>
          <p:nvSpPr>
            <p:cNvPr id="1039" name="Line 24"/>
            <p:cNvSpPr>
              <a:spLocks noChangeShapeType="1"/>
            </p:cNvSpPr>
            <p:nvPr/>
          </p:nvSpPr>
          <p:spPr bwMode="auto">
            <a:xfrm>
              <a:off x="4113213" y="5949950"/>
              <a:ext cx="0" cy="287338"/>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none"/>
            <a:lstStyle/>
            <a:p>
              <a:endParaRPr lang="zh-CN" altLang="en-US"/>
            </a:p>
          </p:txBody>
        </p:sp>
        <p:sp>
          <p:nvSpPr>
            <p:cNvPr id="1040" name="Line 25"/>
            <p:cNvSpPr>
              <a:spLocks noChangeShapeType="1"/>
            </p:cNvSpPr>
            <p:nvPr/>
          </p:nvSpPr>
          <p:spPr bwMode="auto">
            <a:xfrm flipH="1">
              <a:off x="2024063" y="3213100"/>
              <a:ext cx="504825" cy="0"/>
            </a:xfrm>
            <a:prstGeom prst="line">
              <a:avLst/>
            </a:prstGeom>
            <a:noFill/>
            <a:ln w="28575">
              <a:solidFill>
                <a:schemeClr val="tx1"/>
              </a:solidFill>
              <a:round/>
              <a:headEnd type="triangle" w="med" len="med"/>
              <a:tailEnd type="triangle" w="lg" len="lg"/>
            </a:ln>
            <a:extLst>
              <a:ext uri="{909E8E84-426E-40DD-AFC4-6F175D3DCCD1}">
                <a14:hiddenFill xmlns:a14="http://schemas.microsoft.com/office/drawing/2010/main">
                  <a:noFill/>
                </a14:hiddenFill>
              </a:ext>
            </a:extLst>
          </p:spPr>
          <p:txBody>
            <a:bodyPr wrap="none"/>
            <a:lstStyle/>
            <a:p>
              <a:endParaRPr lang="zh-CN" altLang="en-US"/>
            </a:p>
          </p:txBody>
        </p:sp>
        <p:sp>
          <p:nvSpPr>
            <p:cNvPr id="1041" name="Line 26"/>
            <p:cNvSpPr>
              <a:spLocks noChangeShapeType="1"/>
            </p:cNvSpPr>
            <p:nvPr/>
          </p:nvSpPr>
          <p:spPr bwMode="auto">
            <a:xfrm>
              <a:off x="5624513" y="3197225"/>
              <a:ext cx="431800" cy="0"/>
            </a:xfrm>
            <a:prstGeom prst="line">
              <a:avLst/>
            </a:prstGeom>
            <a:noFill/>
            <a:ln w="28575">
              <a:solidFill>
                <a:schemeClr val="tx1"/>
              </a:solidFill>
              <a:round/>
              <a:headEnd type="triangle" w="med" len="med"/>
              <a:tailEnd type="triangle" w="lg" len="lg"/>
            </a:ln>
            <a:extLst>
              <a:ext uri="{909E8E84-426E-40DD-AFC4-6F175D3DCCD1}">
                <a14:hiddenFill xmlns:a14="http://schemas.microsoft.com/office/drawing/2010/main">
                  <a:noFill/>
                </a14:hiddenFill>
              </a:ext>
            </a:extLst>
          </p:spPr>
          <p:txBody>
            <a:bodyPr wrap="none"/>
            <a:lstStyle/>
            <a:p>
              <a:endParaRPr lang="zh-CN" altLang="en-US"/>
            </a:p>
          </p:txBody>
        </p:sp>
        <p:sp>
          <p:nvSpPr>
            <p:cNvPr id="1042" name="Line 27"/>
            <p:cNvSpPr>
              <a:spLocks noChangeShapeType="1"/>
            </p:cNvSpPr>
            <p:nvPr/>
          </p:nvSpPr>
          <p:spPr bwMode="auto">
            <a:xfrm>
              <a:off x="2024063" y="3213100"/>
              <a:ext cx="0" cy="10080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3" name="Line 28"/>
            <p:cNvSpPr>
              <a:spLocks noChangeShapeType="1"/>
            </p:cNvSpPr>
            <p:nvPr/>
          </p:nvSpPr>
          <p:spPr bwMode="auto">
            <a:xfrm>
              <a:off x="2024063" y="4221163"/>
              <a:ext cx="122396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4" name="Line 29"/>
            <p:cNvSpPr>
              <a:spLocks noChangeShapeType="1"/>
            </p:cNvSpPr>
            <p:nvPr/>
          </p:nvSpPr>
          <p:spPr bwMode="auto">
            <a:xfrm>
              <a:off x="6056313" y="3140075"/>
              <a:ext cx="0" cy="10810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5" name="Line 30"/>
            <p:cNvSpPr>
              <a:spLocks noChangeShapeType="1"/>
            </p:cNvSpPr>
            <p:nvPr/>
          </p:nvSpPr>
          <p:spPr bwMode="auto">
            <a:xfrm flipH="1">
              <a:off x="5048250" y="4221163"/>
              <a:ext cx="10080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6" name="Line 31"/>
            <p:cNvSpPr>
              <a:spLocks noChangeShapeType="1"/>
            </p:cNvSpPr>
            <p:nvPr/>
          </p:nvSpPr>
          <p:spPr bwMode="auto">
            <a:xfrm>
              <a:off x="5048250" y="5732463"/>
              <a:ext cx="5048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1047" name="Line 32"/>
            <p:cNvSpPr>
              <a:spLocks noChangeShapeType="1"/>
            </p:cNvSpPr>
            <p:nvPr/>
          </p:nvSpPr>
          <p:spPr bwMode="auto">
            <a:xfrm flipV="1">
              <a:off x="5553075" y="4202113"/>
              <a:ext cx="0" cy="1511300"/>
            </a:xfrm>
            <a:prstGeom prst="line">
              <a:avLst/>
            </a:prstGeom>
            <a:noFill/>
            <a:ln w="28575">
              <a:solidFill>
                <a:schemeClr val="tx1"/>
              </a:solidFill>
              <a:round/>
              <a:headEnd/>
              <a:tailEnd type="triangle" w="lg" len="lg"/>
            </a:ln>
            <a:extLst>
              <a:ext uri="{909E8E84-426E-40DD-AFC4-6F175D3DCCD1}">
                <a14:hiddenFill xmlns:a14="http://schemas.microsoft.com/office/drawing/2010/main">
                  <a:noFill/>
                </a14:hiddenFill>
              </a:ext>
            </a:extLst>
          </p:spPr>
          <p:txBody>
            <a:bodyPr wrap="none"/>
            <a:lstStyle/>
            <a:p>
              <a:endParaRPr lang="zh-CN" altLang="en-US"/>
            </a:p>
          </p:txBody>
        </p:sp>
        <p:sp>
          <p:nvSpPr>
            <p:cNvPr id="1048" name="Line 33"/>
            <p:cNvSpPr>
              <a:spLocks noChangeShapeType="1"/>
            </p:cNvSpPr>
            <p:nvPr/>
          </p:nvSpPr>
          <p:spPr bwMode="auto">
            <a:xfrm>
              <a:off x="2528888" y="4221163"/>
              <a:ext cx="0" cy="792162"/>
            </a:xfrm>
            <a:prstGeom prst="line">
              <a:avLst/>
            </a:prstGeom>
            <a:noFill/>
            <a:ln w="28575">
              <a:solidFill>
                <a:schemeClr val="tx1"/>
              </a:solidFill>
              <a:round/>
              <a:headEnd type="triangle" w="med" len="med"/>
              <a:tailEnd type="triangle" w="lg" len="lg"/>
            </a:ln>
            <a:extLst>
              <a:ext uri="{909E8E84-426E-40DD-AFC4-6F175D3DCCD1}">
                <a14:hiddenFill xmlns:a14="http://schemas.microsoft.com/office/drawing/2010/main">
                  <a:noFill/>
                </a14:hiddenFill>
              </a:ext>
            </a:extLst>
          </p:spPr>
          <p:txBody>
            <a:bodyPr wrap="none"/>
            <a:lstStyle/>
            <a:p>
              <a:endParaRPr lang="zh-CN" altLang="en-US"/>
            </a:p>
          </p:txBody>
        </p:sp>
        <p:sp>
          <p:nvSpPr>
            <p:cNvPr id="1049" name="Line 34"/>
            <p:cNvSpPr>
              <a:spLocks noChangeShapeType="1"/>
            </p:cNvSpPr>
            <p:nvPr/>
          </p:nvSpPr>
          <p:spPr bwMode="auto">
            <a:xfrm>
              <a:off x="2528888" y="5013325"/>
              <a:ext cx="71913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spTree>
    <p:extLst>
      <p:ext uri="{BB962C8B-B14F-4D97-AF65-F5344CB8AC3E}">
        <p14:creationId xmlns:p14="http://schemas.microsoft.com/office/powerpoint/2010/main" val="837124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533400" y="0"/>
            <a:ext cx="8458200" cy="762000"/>
          </a:xfrm>
        </p:spPr>
        <p:txBody>
          <a:bodyPr/>
          <a:lstStyle/>
          <a:p>
            <a:r>
              <a:rPr lang="en-US" altLang="zh-CN" dirty="0"/>
              <a:t>1.1 </a:t>
            </a:r>
            <a:r>
              <a:rPr lang="zh-CN" altLang="en-US" dirty="0"/>
              <a:t>算法基本概念</a:t>
            </a:r>
            <a:r>
              <a:rPr lang="en-US" altLang="zh-CN" dirty="0"/>
              <a:t>—</a:t>
            </a:r>
            <a:r>
              <a:rPr lang="zh-CN" altLang="en-US" dirty="0"/>
              <a:t>算法分析 </a:t>
            </a:r>
            <a:r>
              <a:rPr lang="en-US" altLang="zh-CN" dirty="0"/>
              <a:t>(1)</a:t>
            </a:r>
            <a:r>
              <a:rPr lang="zh-CN" altLang="en-US" dirty="0"/>
              <a:t> </a:t>
            </a:r>
          </a:p>
        </p:txBody>
      </p:sp>
      <p:sp>
        <p:nvSpPr>
          <p:cNvPr id="44035" name="Rectangle 3"/>
          <p:cNvSpPr>
            <a:spLocks noGrp="1" noChangeArrowheads="1"/>
          </p:cNvSpPr>
          <p:nvPr>
            <p:ph idx="1"/>
          </p:nvPr>
        </p:nvSpPr>
        <p:spPr>
          <a:xfrm>
            <a:off x="609600" y="1447800"/>
            <a:ext cx="8305800" cy="5029200"/>
          </a:xfrm>
          <a:prstGeom prst="rect">
            <a:avLst/>
          </a:prstGeom>
        </p:spPr>
        <p:txBody>
          <a:bodyPr/>
          <a:lstStyle/>
          <a:p>
            <a:pPr eaLnBrk="1" hangingPunct="1">
              <a:lnSpc>
                <a:spcPct val="120000"/>
              </a:lnSpc>
              <a:spcBef>
                <a:spcPts val="600"/>
              </a:spcBef>
            </a:pPr>
            <a:r>
              <a:rPr lang="zh-CN" altLang="en-US" sz="2400" b="1" dirty="0">
                <a:latin typeface="宋体" panose="02010600030101010101" pitchFamily="2" charset="-122"/>
                <a:ea typeface="宋体" panose="02010600030101010101" pitchFamily="2" charset="-122"/>
              </a:rPr>
              <a:t>判断算法“好”与”不好”</a:t>
            </a:r>
            <a:r>
              <a:rPr lang="en-US" altLang="zh-CN" sz="2400" b="1" dirty="0">
                <a:latin typeface="宋体" panose="02010600030101010101" pitchFamily="2" charset="-122"/>
                <a:ea typeface="宋体" panose="02010600030101010101" pitchFamily="2" charset="-122"/>
              </a:rPr>
              <a:t>?</a:t>
            </a:r>
          </a:p>
          <a:p>
            <a:pPr lvl="1" eaLnBrk="1" hangingPunct="1">
              <a:lnSpc>
                <a:spcPct val="120000"/>
              </a:lnSpc>
              <a:spcBef>
                <a:spcPts val="600"/>
              </a:spcBef>
            </a:pPr>
            <a:r>
              <a:rPr lang="zh-CN" altLang="en-US" sz="2000" b="1" dirty="0">
                <a:latin typeface="宋体" panose="02010600030101010101" pitchFamily="2" charset="-122"/>
                <a:ea typeface="宋体" panose="02010600030101010101" pitchFamily="2" charset="-122"/>
              </a:rPr>
              <a:t>正确性</a:t>
            </a:r>
          </a:p>
          <a:p>
            <a:pPr lvl="1" eaLnBrk="1" hangingPunct="1">
              <a:lnSpc>
                <a:spcPct val="120000"/>
              </a:lnSpc>
              <a:spcBef>
                <a:spcPts val="600"/>
              </a:spcBef>
            </a:pPr>
            <a:r>
              <a:rPr lang="zh-CN" altLang="en-US" sz="2000" b="1" dirty="0">
                <a:latin typeface="宋体" panose="02010600030101010101" pitchFamily="2" charset="-122"/>
                <a:ea typeface="宋体" panose="02010600030101010101" pitchFamily="2" charset="-122"/>
              </a:rPr>
              <a:t>时间效率</a:t>
            </a:r>
          </a:p>
          <a:p>
            <a:pPr lvl="1" eaLnBrk="1" hangingPunct="1">
              <a:lnSpc>
                <a:spcPct val="120000"/>
              </a:lnSpc>
              <a:spcBef>
                <a:spcPts val="600"/>
              </a:spcBef>
            </a:pPr>
            <a:r>
              <a:rPr lang="zh-CN" altLang="en-US" sz="2000" b="1" dirty="0">
                <a:latin typeface="宋体" panose="02010600030101010101" pitchFamily="2" charset="-122"/>
                <a:ea typeface="宋体" panose="02010600030101010101" pitchFamily="2" charset="-122"/>
              </a:rPr>
              <a:t>空间效率</a:t>
            </a:r>
          </a:p>
          <a:p>
            <a:pPr eaLnBrk="1" hangingPunct="1">
              <a:lnSpc>
                <a:spcPct val="120000"/>
              </a:lnSpc>
              <a:spcBef>
                <a:spcPts val="600"/>
              </a:spcBef>
            </a:pPr>
            <a:r>
              <a:rPr lang="zh-CN" altLang="en-US" sz="2400" b="1" dirty="0">
                <a:solidFill>
                  <a:srgbClr val="CC3300"/>
                </a:solidFill>
                <a:latin typeface="宋体" panose="02010600030101010101" pitchFamily="2" charset="-122"/>
                <a:ea typeface="宋体" panose="02010600030101010101" pitchFamily="2" charset="-122"/>
              </a:rPr>
              <a:t>算法分析</a:t>
            </a:r>
            <a:r>
              <a:rPr lang="zh-CN" altLang="en-US" sz="2400" b="1" dirty="0">
                <a:latin typeface="宋体" panose="02010600030101010101" pitchFamily="2" charset="-122"/>
                <a:ea typeface="宋体" panose="02010600030101010101" pitchFamily="2" charset="-122"/>
              </a:rPr>
              <a:t>是指对算法所需的时间和空间等资源进行预测</a:t>
            </a:r>
            <a:endParaRPr lang="en-US" altLang="zh-CN" sz="2400" b="1" dirty="0">
              <a:latin typeface="宋体" panose="02010600030101010101" pitchFamily="2" charset="-122"/>
              <a:ea typeface="宋体" panose="02010600030101010101" pitchFamily="2" charset="-122"/>
            </a:endParaRPr>
          </a:p>
          <a:p>
            <a:pPr eaLnBrk="1" hangingPunct="1">
              <a:lnSpc>
                <a:spcPct val="120000"/>
              </a:lnSpc>
              <a:spcBef>
                <a:spcPts val="600"/>
              </a:spcBef>
            </a:pPr>
            <a:r>
              <a:rPr lang="zh-CN" altLang="en-US" sz="2400" b="1" dirty="0">
                <a:latin typeface="宋体" panose="02010600030101010101" pitchFamily="2" charset="-122"/>
                <a:ea typeface="宋体" panose="02010600030101010101" pitchFamily="2" charset="-122"/>
              </a:rPr>
              <a:t>途径</a:t>
            </a:r>
          </a:p>
          <a:p>
            <a:pPr lvl="1" eaLnBrk="1" hangingPunct="1">
              <a:lnSpc>
                <a:spcPct val="120000"/>
              </a:lnSpc>
              <a:spcBef>
                <a:spcPts val="600"/>
              </a:spcBef>
            </a:pPr>
            <a:r>
              <a:rPr lang="zh-CN" altLang="en-US" sz="2000" b="1" dirty="0">
                <a:latin typeface="宋体" panose="02010600030101010101" pitchFamily="2" charset="-122"/>
                <a:ea typeface="宋体" panose="02010600030101010101" pitchFamily="2" charset="-122"/>
              </a:rPr>
              <a:t>理论</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数学上的分析</a:t>
            </a:r>
          </a:p>
          <a:p>
            <a:pPr lvl="1" eaLnBrk="1" hangingPunct="1">
              <a:lnSpc>
                <a:spcPct val="120000"/>
              </a:lnSpc>
              <a:spcBef>
                <a:spcPts val="600"/>
              </a:spcBef>
            </a:pPr>
            <a:r>
              <a:rPr lang="zh-CN" altLang="en-US" sz="2000" b="1" dirty="0">
                <a:latin typeface="宋体" panose="02010600030101010101" pitchFamily="2" charset="-122"/>
                <a:ea typeface="宋体" panose="02010600030101010101" pitchFamily="2" charset="-122"/>
              </a:rPr>
              <a:t>经验</a:t>
            </a:r>
            <a:r>
              <a:rPr lang="en-US" altLang="zh-CN" sz="2000" b="1" dirty="0">
                <a:latin typeface="宋体" panose="02010600030101010101" pitchFamily="2" charset="-122"/>
                <a:ea typeface="宋体" panose="02010600030101010101" pitchFamily="2" charset="-122"/>
              </a:rPr>
              <a:t>/</a:t>
            </a:r>
            <a:r>
              <a:rPr lang="zh-CN" altLang="en-US" sz="2000" b="1" dirty="0">
                <a:latin typeface="宋体" panose="02010600030101010101" pitchFamily="2" charset="-122"/>
                <a:ea typeface="宋体" panose="02010600030101010101" pitchFamily="2" charset="-122"/>
              </a:rPr>
              <a:t>计算机上的执行情况</a:t>
            </a:r>
            <a:endParaRPr lang="en-US" altLang="zh-CN" sz="20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593191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381000" y="0"/>
            <a:ext cx="7772400" cy="914400"/>
          </a:xfrm>
        </p:spPr>
        <p:txBody>
          <a:bodyPr/>
          <a:lstStyle/>
          <a:p>
            <a:r>
              <a:rPr lang="en-US" altLang="zh-CN" dirty="0"/>
              <a:t>1.2 </a:t>
            </a:r>
            <a:r>
              <a:rPr lang="zh-CN" altLang="en-US" dirty="0"/>
              <a:t>插入排序 </a:t>
            </a:r>
            <a:r>
              <a:rPr lang="en-US" b="1" dirty="0">
                <a:solidFill>
                  <a:srgbClr val="0000CC"/>
                </a:solidFill>
              </a:rPr>
              <a:t>(1)</a:t>
            </a:r>
            <a:endParaRPr lang="en-US" dirty="0"/>
          </a:p>
        </p:txBody>
      </p:sp>
      <p:sp>
        <p:nvSpPr>
          <p:cNvPr id="10251" name="Text Box 11"/>
          <p:cNvSpPr txBox="1">
            <a:spLocks noChangeArrowheads="1"/>
          </p:cNvSpPr>
          <p:nvPr/>
        </p:nvSpPr>
        <p:spPr bwMode="auto">
          <a:xfrm>
            <a:off x="457200" y="2531208"/>
            <a:ext cx="4929555"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zh-CN" altLang="en-US" sz="2200" dirty="0">
                <a:solidFill>
                  <a:srgbClr val="C00000"/>
                </a:solidFill>
                <a:latin typeface="黑体" panose="02010609060101010101" pitchFamily="49" charset="-122"/>
                <a:ea typeface="黑体" panose="02010609060101010101" pitchFamily="49" charset="-122"/>
              </a:rPr>
              <a:t>输入</a:t>
            </a:r>
            <a:r>
              <a:rPr lang="en-US" sz="2200" dirty="0">
                <a:solidFill>
                  <a:srgbClr val="C00000"/>
                </a:solidFill>
                <a:latin typeface="黑体" panose="02010609060101010101" pitchFamily="49" charset="-122"/>
                <a:ea typeface="黑体" panose="02010609060101010101" pitchFamily="49" charset="-122"/>
              </a:rPr>
              <a:t>: </a:t>
            </a:r>
            <a:r>
              <a:rPr lang="en-US" sz="2200" i="1" dirty="0"/>
              <a:t>n</a:t>
            </a:r>
            <a:r>
              <a:rPr lang="zh-CN" altLang="en-US" sz="2200" dirty="0"/>
              <a:t>个数的一个序列</a:t>
            </a:r>
            <a:r>
              <a:rPr lang="en-US" sz="2200" dirty="0"/>
              <a:t> </a:t>
            </a:r>
            <a:r>
              <a:rPr lang="en-US" sz="2200" dirty="0">
                <a:solidFill>
                  <a:schemeClr val="tx2"/>
                </a:solidFill>
                <a:latin typeface="Symbol" pitchFamily="18" charset="2"/>
              </a:rPr>
              <a:t>á</a:t>
            </a:r>
            <a:r>
              <a:rPr lang="en-US" sz="2200" i="1" dirty="0">
                <a:solidFill>
                  <a:schemeClr val="tx2"/>
                </a:solidFill>
              </a:rPr>
              <a:t>a</a:t>
            </a:r>
            <a:r>
              <a:rPr lang="en-US" sz="2200" baseline="-25000" dirty="0">
                <a:solidFill>
                  <a:schemeClr val="tx2"/>
                </a:solidFill>
              </a:rPr>
              <a:t>1</a:t>
            </a:r>
            <a:r>
              <a:rPr lang="en-US" sz="2200" dirty="0">
                <a:solidFill>
                  <a:schemeClr val="tx2"/>
                </a:solidFill>
              </a:rPr>
              <a:t>, </a:t>
            </a:r>
            <a:r>
              <a:rPr lang="en-US" sz="2200" i="1" dirty="0">
                <a:solidFill>
                  <a:schemeClr val="tx2"/>
                </a:solidFill>
              </a:rPr>
              <a:t>a</a:t>
            </a:r>
            <a:r>
              <a:rPr lang="en-US" sz="2200" baseline="-25000" dirty="0">
                <a:solidFill>
                  <a:schemeClr val="tx2"/>
                </a:solidFill>
              </a:rPr>
              <a:t>2</a:t>
            </a:r>
            <a:r>
              <a:rPr lang="en-US" sz="2200" dirty="0">
                <a:solidFill>
                  <a:schemeClr val="tx2"/>
                </a:solidFill>
              </a:rPr>
              <a:t>, …, </a:t>
            </a:r>
            <a:r>
              <a:rPr lang="en-US" sz="2200" i="1" dirty="0" err="1">
                <a:solidFill>
                  <a:schemeClr val="tx2"/>
                </a:solidFill>
              </a:rPr>
              <a:t>a</a:t>
            </a:r>
            <a:r>
              <a:rPr lang="en-US" sz="2200" i="1" baseline="-25000" dirty="0" err="1">
                <a:solidFill>
                  <a:schemeClr val="tx2"/>
                </a:solidFill>
              </a:rPr>
              <a:t>n</a:t>
            </a:r>
            <a:r>
              <a:rPr lang="en-US" sz="2200" dirty="0" err="1">
                <a:solidFill>
                  <a:schemeClr val="tx2"/>
                </a:solidFill>
                <a:latin typeface="Symbol" pitchFamily="18" charset="2"/>
              </a:rPr>
              <a:t>ñ</a:t>
            </a:r>
            <a:r>
              <a:rPr lang="en-US" sz="2200" dirty="0"/>
              <a:t>.</a:t>
            </a:r>
          </a:p>
        </p:txBody>
      </p:sp>
      <p:sp>
        <p:nvSpPr>
          <p:cNvPr id="10276" name="Text Box 36"/>
          <p:cNvSpPr txBox="1">
            <a:spLocks noChangeArrowheads="1"/>
          </p:cNvSpPr>
          <p:nvPr/>
        </p:nvSpPr>
        <p:spPr bwMode="auto">
          <a:xfrm>
            <a:off x="457200" y="3006602"/>
            <a:ext cx="8305800" cy="4985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20000"/>
              </a:lnSpc>
              <a:spcAft>
                <a:spcPts val="1200"/>
              </a:spcAft>
            </a:pPr>
            <a:r>
              <a:rPr lang="zh-CN" altLang="en-US" sz="2200" b="1" dirty="0">
                <a:solidFill>
                  <a:srgbClr val="C00000"/>
                </a:solidFill>
                <a:latin typeface="黑体" panose="02010609060101010101" pitchFamily="49" charset="-122"/>
                <a:ea typeface="黑体" panose="02010609060101010101" pitchFamily="49" charset="-122"/>
              </a:rPr>
              <a:t>输出</a:t>
            </a:r>
            <a:r>
              <a:rPr lang="en-US" sz="2200" b="1" dirty="0">
                <a:solidFill>
                  <a:srgbClr val="C00000"/>
                </a:solidFill>
                <a:latin typeface="黑体" panose="02010609060101010101" pitchFamily="49" charset="-122"/>
                <a:ea typeface="黑体" panose="02010609060101010101" pitchFamily="49" charset="-122"/>
              </a:rPr>
              <a:t>:</a:t>
            </a:r>
            <a:r>
              <a:rPr lang="en-US" sz="2200" dirty="0">
                <a:latin typeface="黑体" panose="02010609060101010101" pitchFamily="49" charset="-122"/>
                <a:ea typeface="黑体" panose="02010609060101010101" pitchFamily="49" charset="-122"/>
              </a:rPr>
              <a:t> </a:t>
            </a:r>
            <a:r>
              <a:rPr lang="zh-CN" altLang="en-US" sz="2200" dirty="0"/>
              <a:t>输入序列的一个排列</a:t>
            </a:r>
            <a:r>
              <a:rPr lang="en-US" sz="2200" dirty="0">
                <a:solidFill>
                  <a:schemeClr val="tx2"/>
                </a:solidFill>
                <a:latin typeface="Symbol" pitchFamily="18" charset="2"/>
              </a:rPr>
              <a:t>á</a:t>
            </a:r>
            <a:r>
              <a:rPr lang="en-US" sz="2200" i="1" dirty="0">
                <a:solidFill>
                  <a:schemeClr val="tx2"/>
                </a:solidFill>
              </a:rPr>
              <a:t>a</a:t>
            </a:r>
            <a:r>
              <a:rPr lang="en-US" altLang="zh-CN" sz="2200" i="1" dirty="0">
                <a:solidFill>
                  <a:schemeClr val="tx2"/>
                </a:solidFill>
                <a:cs typeface="Times New Roman" pitchFamily="18" charset="0"/>
              </a:rPr>
              <a:t>'</a:t>
            </a:r>
            <a:r>
              <a:rPr lang="en-US" sz="2200" baseline="-25000" dirty="0">
                <a:solidFill>
                  <a:schemeClr val="tx2"/>
                </a:solidFill>
              </a:rPr>
              <a:t>1</a:t>
            </a:r>
            <a:r>
              <a:rPr lang="en-US" sz="2200" i="1" dirty="0">
                <a:solidFill>
                  <a:schemeClr val="tx2"/>
                </a:solidFill>
              </a:rPr>
              <a:t>, a</a:t>
            </a:r>
            <a:r>
              <a:rPr lang="en-US" altLang="zh-CN" sz="2200" i="1" dirty="0">
                <a:solidFill>
                  <a:schemeClr val="tx2"/>
                </a:solidFill>
                <a:cs typeface="Times New Roman" pitchFamily="18" charset="0"/>
              </a:rPr>
              <a:t>'</a:t>
            </a:r>
            <a:r>
              <a:rPr lang="en-US" sz="2200" baseline="-25000" dirty="0">
                <a:solidFill>
                  <a:schemeClr val="tx2"/>
                </a:solidFill>
              </a:rPr>
              <a:t>2</a:t>
            </a:r>
            <a:r>
              <a:rPr lang="en-US" sz="2200" i="1" dirty="0">
                <a:solidFill>
                  <a:schemeClr val="tx2"/>
                </a:solidFill>
              </a:rPr>
              <a:t>, </a:t>
            </a:r>
            <a:r>
              <a:rPr lang="en-US" sz="2200" dirty="0">
                <a:solidFill>
                  <a:schemeClr val="tx2"/>
                </a:solidFill>
              </a:rPr>
              <a:t>…</a:t>
            </a:r>
            <a:r>
              <a:rPr lang="en-US" sz="2200" i="1" dirty="0">
                <a:solidFill>
                  <a:schemeClr val="tx2"/>
                </a:solidFill>
              </a:rPr>
              <a:t>, </a:t>
            </a:r>
            <a:r>
              <a:rPr lang="en-US" sz="2200" i="1" dirty="0" err="1">
                <a:solidFill>
                  <a:schemeClr val="tx2"/>
                </a:solidFill>
              </a:rPr>
              <a:t>a</a:t>
            </a:r>
            <a:r>
              <a:rPr lang="en-US" altLang="zh-CN" sz="2200" i="1" dirty="0" err="1">
                <a:solidFill>
                  <a:schemeClr val="tx2"/>
                </a:solidFill>
                <a:cs typeface="Times New Roman" pitchFamily="18" charset="0"/>
              </a:rPr>
              <a:t>'</a:t>
            </a:r>
            <a:r>
              <a:rPr lang="en-US" sz="2200" i="1" baseline="-25000" dirty="0" err="1">
                <a:solidFill>
                  <a:schemeClr val="tx2"/>
                </a:solidFill>
              </a:rPr>
              <a:t>n</a:t>
            </a:r>
            <a:r>
              <a:rPr lang="en-US" sz="2200" dirty="0" err="1">
                <a:solidFill>
                  <a:schemeClr val="tx2"/>
                </a:solidFill>
                <a:latin typeface="Symbol" pitchFamily="18" charset="2"/>
              </a:rPr>
              <a:t>ñ</a:t>
            </a:r>
            <a:r>
              <a:rPr lang="zh-CN" altLang="en-US" sz="2200" dirty="0"/>
              <a:t>，满足</a:t>
            </a:r>
            <a:r>
              <a:rPr lang="en-US" sz="2200" i="1" dirty="0">
                <a:solidFill>
                  <a:schemeClr val="tx2"/>
                </a:solidFill>
              </a:rPr>
              <a:t>a</a:t>
            </a:r>
            <a:r>
              <a:rPr lang="en-US" sz="2200" i="1" dirty="0">
                <a:solidFill>
                  <a:schemeClr val="tx2"/>
                </a:solidFill>
                <a:cs typeface="Times New Roman" pitchFamily="18" charset="0"/>
              </a:rPr>
              <a:t>'</a:t>
            </a:r>
            <a:r>
              <a:rPr lang="en-US" sz="2200" baseline="-25000" dirty="0">
                <a:solidFill>
                  <a:schemeClr val="tx2"/>
                </a:solidFill>
              </a:rPr>
              <a:t>1</a:t>
            </a:r>
            <a:r>
              <a:rPr lang="en-US" sz="2200" i="1" dirty="0">
                <a:solidFill>
                  <a:schemeClr val="tx2"/>
                </a:solidFill>
              </a:rPr>
              <a:t> </a:t>
            </a:r>
            <a:r>
              <a:rPr lang="en-US" sz="2200" dirty="0">
                <a:solidFill>
                  <a:schemeClr val="tx2"/>
                </a:solidFill>
                <a:latin typeface="Symbol" pitchFamily="18" charset="2"/>
              </a:rPr>
              <a:t>£</a:t>
            </a:r>
            <a:r>
              <a:rPr lang="en-US" sz="2200" i="1" dirty="0">
                <a:solidFill>
                  <a:schemeClr val="tx2"/>
                </a:solidFill>
              </a:rPr>
              <a:t> a</a:t>
            </a:r>
            <a:r>
              <a:rPr lang="en-US" sz="2200" i="1" dirty="0">
                <a:solidFill>
                  <a:schemeClr val="tx2"/>
                </a:solidFill>
                <a:cs typeface="Times New Roman" pitchFamily="18" charset="0"/>
              </a:rPr>
              <a:t>'</a:t>
            </a:r>
            <a:r>
              <a:rPr lang="en-US" sz="2200" baseline="-25000" dirty="0">
                <a:solidFill>
                  <a:schemeClr val="tx2"/>
                </a:solidFill>
              </a:rPr>
              <a:t>2</a:t>
            </a:r>
            <a:r>
              <a:rPr lang="en-US" sz="2200" i="1" dirty="0">
                <a:solidFill>
                  <a:schemeClr val="tx2"/>
                </a:solidFill>
              </a:rPr>
              <a:t> </a:t>
            </a:r>
            <a:r>
              <a:rPr lang="en-US" sz="2200" dirty="0">
                <a:solidFill>
                  <a:schemeClr val="tx2"/>
                </a:solidFill>
                <a:latin typeface="Symbol" pitchFamily="18" charset="2"/>
              </a:rPr>
              <a:t>£ </a:t>
            </a:r>
            <a:r>
              <a:rPr lang="en-US" sz="2200" baseline="20000" dirty="0">
                <a:solidFill>
                  <a:schemeClr val="tx2"/>
                </a:solidFill>
              </a:rPr>
              <a:t>…</a:t>
            </a:r>
            <a:r>
              <a:rPr lang="en-US" sz="2200" dirty="0">
                <a:solidFill>
                  <a:schemeClr val="tx2"/>
                </a:solidFill>
              </a:rPr>
              <a:t> </a:t>
            </a:r>
            <a:r>
              <a:rPr lang="en-US" sz="2200" dirty="0">
                <a:solidFill>
                  <a:schemeClr val="tx2"/>
                </a:solidFill>
                <a:latin typeface="Symbol" pitchFamily="18" charset="2"/>
              </a:rPr>
              <a:t>£</a:t>
            </a:r>
            <a:r>
              <a:rPr lang="en-US" sz="2200" i="1" dirty="0">
                <a:solidFill>
                  <a:schemeClr val="tx2"/>
                </a:solidFill>
              </a:rPr>
              <a:t> </a:t>
            </a:r>
            <a:r>
              <a:rPr lang="en-US" sz="2200" i="1" dirty="0" err="1">
                <a:solidFill>
                  <a:schemeClr val="tx2"/>
                </a:solidFill>
              </a:rPr>
              <a:t>a</a:t>
            </a:r>
            <a:r>
              <a:rPr lang="en-US" sz="2200" i="1" dirty="0" err="1">
                <a:solidFill>
                  <a:schemeClr val="tx2"/>
                </a:solidFill>
                <a:cs typeface="Times New Roman" pitchFamily="18" charset="0"/>
              </a:rPr>
              <a:t>'</a:t>
            </a:r>
            <a:r>
              <a:rPr lang="en-US" sz="2200" i="1" baseline="-25000" dirty="0" err="1">
                <a:solidFill>
                  <a:schemeClr val="tx2"/>
                </a:solidFill>
              </a:rPr>
              <a:t>n</a:t>
            </a:r>
            <a:endParaRPr lang="en-US" sz="2200" dirty="0"/>
          </a:p>
        </p:txBody>
      </p:sp>
      <p:sp>
        <p:nvSpPr>
          <p:cNvPr id="2" name="TextBox 1"/>
          <p:cNvSpPr txBox="1"/>
          <p:nvPr/>
        </p:nvSpPr>
        <p:spPr>
          <a:xfrm>
            <a:off x="457200" y="2025036"/>
            <a:ext cx="1422184" cy="461665"/>
          </a:xfrm>
          <a:prstGeom prst="rect">
            <a:avLst/>
          </a:prstGeom>
          <a:noFill/>
        </p:spPr>
        <p:txBody>
          <a:bodyPr wrap="none" rtlCol="0">
            <a:spAutoFit/>
          </a:bodyPr>
          <a:lstStyle/>
          <a:p>
            <a:r>
              <a:rPr lang="zh-CN" altLang="en-US" sz="2400" dirty="0"/>
              <a:t>排序问题</a:t>
            </a:r>
            <a:endParaRPr lang="en-US" sz="2400" dirty="0"/>
          </a:p>
        </p:txBody>
      </p:sp>
      <p:pic>
        <p:nvPicPr>
          <p:cNvPr id="9" name="Picture 5" descr="3_a"/>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65685" y="909339"/>
            <a:ext cx="2390290" cy="21159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69277" y="4114800"/>
            <a:ext cx="8774723" cy="20868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814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25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27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 calcmode="lin" valueType="num">
                                      <p:cBhvr additive="base">
                                        <p:cTn id="20" dur="500" fill="hold"/>
                                        <p:tgtEl>
                                          <p:spTgt spid="10"/>
                                        </p:tgtEl>
                                        <p:attrNameLst>
                                          <p:attrName>ppt_x</p:attrName>
                                        </p:attrNameLst>
                                      </p:cBhvr>
                                      <p:tavLst>
                                        <p:tav tm="0">
                                          <p:val>
                                            <p:strVal val="#ppt_x"/>
                                          </p:val>
                                        </p:tav>
                                        <p:tav tm="100000">
                                          <p:val>
                                            <p:strVal val="#ppt_x"/>
                                          </p:val>
                                        </p:tav>
                                      </p:tavLst>
                                    </p:anim>
                                    <p:anim calcmode="lin" valueType="num">
                                      <p:cBhvr additive="base">
                                        <p:cTn id="2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51" grpId="0"/>
      <p:bldP spid="10276" grpId="0"/>
      <p:bldP spid="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457200" y="0"/>
            <a:ext cx="7772400" cy="838200"/>
          </a:xfrm>
        </p:spPr>
        <p:txBody>
          <a:bodyPr/>
          <a:lstStyle/>
          <a:p>
            <a:r>
              <a:rPr lang="en-US" altLang="zh-CN" sz="3600" dirty="0"/>
              <a:t>1.2 </a:t>
            </a:r>
            <a:r>
              <a:rPr lang="zh-CN" altLang="en-US" sz="3600" dirty="0"/>
              <a:t>插入排序 </a:t>
            </a:r>
            <a:r>
              <a:rPr lang="en-US" altLang="zh-CN" sz="3600" dirty="0"/>
              <a:t>(2)</a:t>
            </a:r>
            <a:endParaRPr lang="en-US" sz="3600" b="1" dirty="0">
              <a:solidFill>
                <a:srgbClr val="0000CC"/>
              </a:solidFill>
            </a:endParaRPr>
          </a:p>
        </p:txBody>
      </p:sp>
      <p:sp>
        <p:nvSpPr>
          <p:cNvPr id="7171" name="Rectangle 3"/>
          <p:cNvSpPr>
            <a:spLocks noGrp="1" noChangeArrowheads="1"/>
          </p:cNvSpPr>
          <p:nvPr>
            <p:ph type="body" idx="4294967295"/>
          </p:nvPr>
        </p:nvSpPr>
        <p:spPr>
          <a:xfrm>
            <a:off x="838200" y="1295400"/>
            <a:ext cx="8305800" cy="4953000"/>
          </a:xfrm>
        </p:spPr>
        <p:txBody>
          <a:bodyPr/>
          <a:lstStyle/>
          <a:p>
            <a:pPr marL="0" indent="0">
              <a:spcAft>
                <a:spcPts val="1200"/>
              </a:spcAft>
              <a:buNone/>
            </a:pPr>
            <a:r>
              <a:rPr lang="zh-CN" altLang="en-US" sz="2400" b="1" dirty="0"/>
              <a:t>算法伪代码</a:t>
            </a:r>
            <a:endParaRPr lang="en-US" sz="2400" b="1" dirty="0"/>
          </a:p>
          <a:p>
            <a:pPr marL="0" indent="0">
              <a:spcAft>
                <a:spcPts val="1200"/>
              </a:spcAft>
              <a:buNone/>
            </a:pPr>
            <a:endParaRPr lang="en-US" sz="2400" b="1" dirty="0"/>
          </a:p>
          <a:p>
            <a:pPr marL="0" indent="0">
              <a:spcAft>
                <a:spcPts val="1200"/>
              </a:spcAft>
              <a:buNone/>
            </a:pPr>
            <a:endParaRPr lang="en-US" sz="2400" b="1" dirty="0"/>
          </a:p>
          <a:p>
            <a:pPr marL="0" indent="0">
              <a:spcAft>
                <a:spcPts val="1200"/>
              </a:spcAft>
              <a:buNone/>
            </a:pPr>
            <a:endParaRPr lang="en-US" sz="2400" b="1" dirty="0"/>
          </a:p>
          <a:p>
            <a:pPr marL="0" indent="0">
              <a:spcAft>
                <a:spcPts val="1200"/>
              </a:spcAft>
              <a:buNone/>
            </a:pPr>
            <a:endParaRPr lang="en-US" sz="2400" b="1" dirty="0"/>
          </a:p>
          <a:p>
            <a:pPr marL="0" indent="0">
              <a:spcAft>
                <a:spcPts val="1200"/>
              </a:spcAft>
              <a:buNone/>
            </a:pPr>
            <a:endParaRPr lang="en-US" sz="2400" b="1" dirty="0"/>
          </a:p>
          <a:p>
            <a:pPr marL="0" indent="0">
              <a:spcAft>
                <a:spcPts val="1200"/>
              </a:spcAft>
              <a:buNone/>
            </a:pPr>
            <a:endParaRPr lang="en-US" sz="2400" b="1" dirty="0"/>
          </a:p>
        </p:txBody>
      </p:sp>
      <p:pic>
        <p:nvPicPr>
          <p:cNvPr id="4098"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3251" t="35262" r="36108" b="31215"/>
          <a:stretch/>
        </p:blipFill>
        <p:spPr bwMode="auto">
          <a:xfrm>
            <a:off x="990600" y="2133600"/>
            <a:ext cx="7353214"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9916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457200" y="0"/>
            <a:ext cx="7772400" cy="762000"/>
          </a:xfrm>
        </p:spPr>
        <p:txBody>
          <a:bodyPr/>
          <a:lstStyle/>
          <a:p>
            <a:r>
              <a:rPr lang="en-US" altLang="zh-CN" sz="3600" dirty="0"/>
              <a:t>1.2 </a:t>
            </a:r>
            <a:r>
              <a:rPr lang="zh-CN" altLang="en-US" sz="3600" dirty="0"/>
              <a:t>分析插入排序算法 </a:t>
            </a:r>
            <a:r>
              <a:rPr lang="en-US" sz="3600" b="1" dirty="0">
                <a:solidFill>
                  <a:srgbClr val="0000CC"/>
                </a:solidFill>
              </a:rPr>
              <a:t>(1)</a:t>
            </a:r>
          </a:p>
        </p:txBody>
      </p:sp>
      <p:sp>
        <p:nvSpPr>
          <p:cNvPr id="7171" name="Rectangle 3"/>
          <p:cNvSpPr>
            <a:spLocks noGrp="1" noChangeArrowheads="1"/>
          </p:cNvSpPr>
          <p:nvPr>
            <p:ph type="body" idx="4294967295"/>
          </p:nvPr>
        </p:nvSpPr>
        <p:spPr>
          <a:xfrm>
            <a:off x="533400" y="1371600"/>
            <a:ext cx="8610600" cy="5334000"/>
          </a:xfrm>
        </p:spPr>
        <p:txBody>
          <a:bodyPr/>
          <a:lstStyle/>
          <a:p>
            <a:pPr marL="0" indent="0">
              <a:lnSpc>
                <a:spcPct val="125000"/>
              </a:lnSpc>
              <a:spcBef>
                <a:spcPts val="600"/>
              </a:spcBef>
              <a:buNone/>
            </a:pPr>
            <a:r>
              <a:rPr lang="zh-CN" altLang="en-US" sz="2400" b="1" dirty="0"/>
              <a:t> 算法分析假定的机器模型：</a:t>
            </a:r>
            <a:endParaRPr lang="en-US" altLang="zh-CN" sz="2400" b="1" dirty="0"/>
          </a:p>
          <a:p>
            <a:pPr marL="0" indent="0">
              <a:lnSpc>
                <a:spcPct val="125000"/>
              </a:lnSpc>
              <a:spcBef>
                <a:spcPts val="600"/>
              </a:spcBef>
              <a:buNone/>
            </a:pPr>
            <a:r>
              <a:rPr lang="zh-CN" altLang="en-US" sz="2400" b="1" dirty="0">
                <a:solidFill>
                  <a:srgbClr val="3333FF"/>
                </a:solidFill>
                <a:latin typeface="黑体" panose="02010609060101010101" pitchFamily="49" charset="-122"/>
                <a:ea typeface="黑体" panose="02010609060101010101" pitchFamily="49" charset="-122"/>
              </a:rPr>
              <a:t>随机访问模型</a:t>
            </a:r>
            <a:r>
              <a:rPr lang="en-US" altLang="zh-CN" sz="2400" b="1" dirty="0"/>
              <a:t>(</a:t>
            </a:r>
            <a:r>
              <a:rPr lang="en-US" sz="2400" b="1" dirty="0"/>
              <a:t>Random-Access Machine,</a:t>
            </a:r>
            <a:r>
              <a:rPr lang="en-US" sz="2400" b="1" dirty="0">
                <a:solidFill>
                  <a:srgbClr val="C00000"/>
                </a:solidFill>
              </a:rPr>
              <a:t> </a:t>
            </a:r>
            <a:r>
              <a:rPr lang="en-US" sz="2400" b="1" dirty="0">
                <a:solidFill>
                  <a:srgbClr val="3333FF"/>
                </a:solidFill>
                <a:latin typeface="Arial" panose="020B0604020202020204" pitchFamily="34" charset="0"/>
                <a:cs typeface="Arial" panose="020B0604020202020204" pitchFamily="34" charset="0"/>
              </a:rPr>
              <a:t>RAM</a:t>
            </a:r>
            <a:r>
              <a:rPr lang="en-US" sz="2400" b="1" dirty="0"/>
              <a:t>)</a:t>
            </a:r>
          </a:p>
          <a:p>
            <a:pPr>
              <a:lnSpc>
                <a:spcPct val="125000"/>
              </a:lnSpc>
              <a:spcBef>
                <a:spcPts val="600"/>
              </a:spcBef>
            </a:pPr>
            <a:r>
              <a:rPr lang="zh-CN" altLang="en-US" sz="2200" b="1" dirty="0"/>
              <a:t>指令一条接一条执行，没有并发操作。</a:t>
            </a:r>
            <a:endParaRPr lang="en-US" sz="2200" b="1" dirty="0"/>
          </a:p>
          <a:p>
            <a:pPr>
              <a:lnSpc>
                <a:spcPct val="125000"/>
              </a:lnSpc>
              <a:spcBef>
                <a:spcPts val="600"/>
              </a:spcBef>
            </a:pPr>
            <a:r>
              <a:rPr lang="zh-CN" altLang="en-US" sz="2200" b="1" dirty="0"/>
              <a:t>简单起见，假设每条指令所需时间均为</a:t>
            </a:r>
            <a:r>
              <a:rPr lang="zh-CN" altLang="en-US" sz="2200" b="1" dirty="0">
                <a:solidFill>
                  <a:srgbClr val="FF0000"/>
                </a:solidFill>
              </a:rPr>
              <a:t>常量</a:t>
            </a:r>
            <a:r>
              <a:rPr lang="zh-CN" altLang="en-US" sz="2200" b="1" dirty="0"/>
              <a:t>。</a:t>
            </a:r>
            <a:endParaRPr lang="en-US" sz="2200" b="1" dirty="0"/>
          </a:p>
          <a:p>
            <a:pPr lvl="1">
              <a:lnSpc>
                <a:spcPct val="125000"/>
              </a:lnSpc>
              <a:spcBef>
                <a:spcPts val="600"/>
              </a:spcBef>
            </a:pPr>
            <a:r>
              <a:rPr lang="zh-CN" altLang="en-US" sz="2000" b="1" dirty="0"/>
              <a:t>算术指令：加法、减法、乘法、除法、取余，向下取整、向上取整</a:t>
            </a:r>
            <a:r>
              <a:rPr lang="en-US" sz="2000" b="1" dirty="0"/>
              <a:t> </a:t>
            </a:r>
          </a:p>
          <a:p>
            <a:pPr lvl="1">
              <a:lnSpc>
                <a:spcPct val="125000"/>
              </a:lnSpc>
              <a:spcBef>
                <a:spcPts val="600"/>
              </a:spcBef>
            </a:pPr>
            <a:r>
              <a:rPr lang="zh-CN" altLang="en-US" sz="2000" b="1" dirty="0"/>
              <a:t>数据移动指令：装入、存储、复制</a:t>
            </a:r>
            <a:endParaRPr lang="en-US" altLang="zh-CN" sz="2000" b="1" dirty="0"/>
          </a:p>
          <a:p>
            <a:pPr lvl="1">
              <a:lnSpc>
                <a:spcPct val="125000"/>
              </a:lnSpc>
              <a:spcBef>
                <a:spcPts val="600"/>
              </a:spcBef>
            </a:pPr>
            <a:r>
              <a:rPr lang="zh-CN" altLang="en-US" sz="2000" b="1" dirty="0"/>
              <a:t>控制指令：条件与无条件转移、子程序调用与返回。</a:t>
            </a:r>
            <a:endParaRPr lang="en-US" sz="2000" b="1" dirty="0"/>
          </a:p>
          <a:p>
            <a:pPr>
              <a:lnSpc>
                <a:spcPct val="125000"/>
              </a:lnSpc>
              <a:spcBef>
                <a:spcPts val="600"/>
              </a:spcBef>
            </a:pPr>
            <a:r>
              <a:rPr lang="en-US" sz="2200" b="1" dirty="0"/>
              <a:t>RAM</a:t>
            </a:r>
            <a:r>
              <a:rPr lang="zh-CN" altLang="en-US" sz="2200" b="1" dirty="0"/>
              <a:t>模型中的数据类型有整数型和浮点实数型。</a:t>
            </a:r>
            <a:endParaRPr lang="en-US" sz="2200" b="1" dirty="0"/>
          </a:p>
          <a:p>
            <a:pPr>
              <a:lnSpc>
                <a:spcPct val="125000"/>
              </a:lnSpc>
              <a:spcBef>
                <a:spcPts val="600"/>
              </a:spcBef>
            </a:pPr>
            <a:r>
              <a:rPr lang="zh-CN" altLang="en-US" sz="2400" b="1" dirty="0"/>
              <a:t>不考虑内存层次的影响。</a:t>
            </a:r>
            <a:endParaRPr lang="en-US" sz="2400" b="1" dirty="0"/>
          </a:p>
        </p:txBody>
      </p:sp>
      <p:sp>
        <p:nvSpPr>
          <p:cNvPr id="4" name="流程图: 可选过程 3"/>
          <p:cNvSpPr/>
          <p:nvPr/>
        </p:nvSpPr>
        <p:spPr bwMode="auto">
          <a:xfrm>
            <a:off x="914400" y="5334000"/>
            <a:ext cx="3429000" cy="533400"/>
          </a:xfrm>
          <a:prstGeom prst="flowChartAlternateProcess">
            <a:avLst/>
          </a:prstGeom>
          <a:noFill/>
          <a:ln w="38100" cap="flat" cmpd="sng" algn="ctr">
            <a:solidFill>
              <a:srgbClr val="C00000"/>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405416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381000" y="0"/>
            <a:ext cx="6629400" cy="838200"/>
          </a:xfrm>
        </p:spPr>
        <p:txBody>
          <a:bodyPr/>
          <a:lstStyle/>
          <a:p>
            <a:r>
              <a:rPr lang="en-US" altLang="zh-CN" sz="3600" dirty="0">
                <a:solidFill>
                  <a:schemeClr val="tx1"/>
                </a:solidFill>
              </a:rPr>
              <a:t>1.2 </a:t>
            </a:r>
            <a:r>
              <a:rPr lang="zh-CN" altLang="en-US" sz="3600" dirty="0">
                <a:solidFill>
                  <a:schemeClr val="tx1"/>
                </a:solidFill>
              </a:rPr>
              <a:t>分析插入排序算法 </a:t>
            </a:r>
            <a:r>
              <a:rPr lang="en-US" altLang="zh-CN" sz="3600" dirty="0">
                <a:solidFill>
                  <a:schemeClr val="tx1"/>
                </a:solidFill>
              </a:rPr>
              <a:t>(2)</a:t>
            </a:r>
            <a:endParaRPr lang="en-US" sz="3600" b="1" dirty="0">
              <a:solidFill>
                <a:schemeClr val="tx1"/>
              </a:solidFill>
            </a:endParaRPr>
          </a:p>
        </p:txBody>
      </p:sp>
      <p:sp>
        <p:nvSpPr>
          <p:cNvPr id="7171" name="Rectangle 3"/>
          <p:cNvSpPr>
            <a:spLocks noGrp="1" noChangeArrowheads="1"/>
          </p:cNvSpPr>
          <p:nvPr>
            <p:ph type="body" idx="4294967295"/>
          </p:nvPr>
        </p:nvSpPr>
        <p:spPr>
          <a:xfrm>
            <a:off x="457200" y="1371600"/>
            <a:ext cx="8686800" cy="5257800"/>
          </a:xfrm>
        </p:spPr>
        <p:txBody>
          <a:bodyPr/>
          <a:lstStyle/>
          <a:p>
            <a:pPr>
              <a:lnSpc>
                <a:spcPct val="125000"/>
              </a:lnSpc>
              <a:spcBef>
                <a:spcPts val="600"/>
              </a:spcBef>
            </a:pPr>
            <a:r>
              <a:rPr lang="zh-CN" altLang="en-US" sz="2400" b="1" dirty="0"/>
              <a:t>一个算法的运行时间是指在特定输入时所执行的</a:t>
            </a:r>
            <a:r>
              <a:rPr lang="zh-CN" altLang="en-US" sz="2400" b="1" dirty="0">
                <a:solidFill>
                  <a:srgbClr val="0000CC"/>
                </a:solidFill>
                <a:latin typeface="黑体" panose="02010609060101010101" pitchFamily="49" charset="-122"/>
                <a:ea typeface="黑体" panose="02010609060101010101" pitchFamily="49" charset="-122"/>
              </a:rPr>
              <a:t>步数</a:t>
            </a:r>
            <a:r>
              <a:rPr lang="zh-CN" altLang="en-US" sz="2400" b="1" dirty="0"/>
              <a:t>或</a:t>
            </a:r>
            <a:r>
              <a:rPr lang="zh-CN" altLang="en-US" sz="2400" b="1" dirty="0">
                <a:solidFill>
                  <a:srgbClr val="0000CC"/>
                </a:solidFill>
                <a:latin typeface="黑体" panose="02010609060101010101" pitchFamily="49" charset="-122"/>
                <a:ea typeface="黑体" panose="02010609060101010101" pitchFamily="49" charset="-122"/>
              </a:rPr>
              <a:t>基本操作</a:t>
            </a:r>
            <a:r>
              <a:rPr lang="zh-CN" altLang="en-US" sz="2400" b="1" dirty="0"/>
              <a:t>数。</a:t>
            </a:r>
            <a:endParaRPr lang="en-US" altLang="zh-CN" sz="2400" b="1" dirty="0"/>
          </a:p>
          <a:p>
            <a:pPr marL="685800" lvl="1">
              <a:lnSpc>
                <a:spcPct val="125000"/>
              </a:lnSpc>
              <a:spcBef>
                <a:spcPts val="600"/>
              </a:spcBef>
              <a:defRPr/>
            </a:pPr>
            <a:r>
              <a:rPr lang="zh-CN" altLang="en-US" sz="2200" b="1" dirty="0">
                <a:latin typeface="宋体" panose="02010600030101010101" pitchFamily="2" charset="-122"/>
                <a:ea typeface="宋体" panose="02010600030101010101" pitchFamily="2" charset="-122"/>
              </a:rPr>
              <a:t>“步”：</a:t>
            </a:r>
            <a:r>
              <a:rPr lang="zh-CN" altLang="en-US" sz="2200" b="1" dirty="0"/>
              <a:t>机器执行的指令。</a:t>
            </a:r>
            <a:endParaRPr lang="en-US" altLang="zh-CN" sz="2200" b="1" dirty="0"/>
          </a:p>
          <a:p>
            <a:pPr marL="685800" lvl="1">
              <a:lnSpc>
                <a:spcPct val="125000"/>
              </a:lnSpc>
              <a:spcBef>
                <a:spcPts val="600"/>
              </a:spcBef>
              <a:defRPr/>
            </a:pPr>
            <a:r>
              <a:rPr lang="zh-CN" altLang="en-US" sz="2200" b="1" dirty="0"/>
              <a:t>基本操作：</a:t>
            </a:r>
            <a:r>
              <a:rPr lang="en-US" altLang="zh-CN" sz="2200" b="1" dirty="0"/>
              <a:t> </a:t>
            </a:r>
            <a:r>
              <a:rPr lang="zh-CN" altLang="en-US" sz="2200" b="1" dirty="0"/>
              <a:t>对算法运行时间影响最大的操作，通常是算法最内层循环中最费时的操作。</a:t>
            </a:r>
            <a:endParaRPr lang="en-US" altLang="zh-CN" sz="2200" b="1" dirty="0"/>
          </a:p>
          <a:p>
            <a:pPr marL="685800" lvl="1">
              <a:lnSpc>
                <a:spcPct val="125000"/>
              </a:lnSpc>
              <a:spcBef>
                <a:spcPts val="600"/>
              </a:spcBef>
              <a:defRPr/>
            </a:pPr>
            <a:endParaRPr lang="en-US" altLang="zh-CN" sz="2200" b="1" dirty="0"/>
          </a:p>
        </p:txBody>
      </p:sp>
    </p:spTree>
    <p:extLst>
      <p:ext uri="{BB962C8B-B14F-4D97-AF65-F5344CB8AC3E}">
        <p14:creationId xmlns:p14="http://schemas.microsoft.com/office/powerpoint/2010/main" val="3242908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304800" y="76200"/>
            <a:ext cx="7772400" cy="838200"/>
          </a:xfrm>
        </p:spPr>
        <p:txBody>
          <a:bodyPr/>
          <a:lstStyle/>
          <a:p>
            <a:pPr algn="l"/>
            <a:r>
              <a:rPr lang="en-US" altLang="zh-CN" sz="3600" b="1" dirty="0">
                <a:solidFill>
                  <a:schemeClr val="tx1"/>
                </a:solidFill>
              </a:rPr>
              <a:t>1.2 </a:t>
            </a:r>
            <a:r>
              <a:rPr lang="zh-CN" altLang="en-US" sz="3600" b="1" dirty="0">
                <a:solidFill>
                  <a:schemeClr val="tx1"/>
                </a:solidFill>
              </a:rPr>
              <a:t>分析插入排序算法</a:t>
            </a:r>
            <a:r>
              <a:rPr lang="en-US" sz="3600" b="1" dirty="0">
                <a:solidFill>
                  <a:schemeClr val="tx1"/>
                </a:solidFill>
              </a:rPr>
              <a:t> (</a:t>
            </a:r>
            <a:r>
              <a:rPr lang="en-US" altLang="zh-CN" sz="3600" b="1" dirty="0">
                <a:solidFill>
                  <a:schemeClr val="tx1"/>
                </a:solidFill>
              </a:rPr>
              <a:t>3</a:t>
            </a:r>
            <a:r>
              <a:rPr lang="en-US" sz="3600" b="1" dirty="0">
                <a:solidFill>
                  <a:schemeClr val="tx1"/>
                </a:solidFill>
              </a:rPr>
              <a:t>)</a:t>
            </a:r>
          </a:p>
        </p:txBody>
      </p:sp>
      <p:sp>
        <p:nvSpPr>
          <p:cNvPr id="7171" name="Rectangle 3"/>
          <p:cNvSpPr>
            <a:spLocks noGrp="1" noChangeArrowheads="1"/>
          </p:cNvSpPr>
          <p:nvPr>
            <p:ph type="body" idx="4294967295"/>
          </p:nvPr>
        </p:nvSpPr>
        <p:spPr>
          <a:xfrm>
            <a:off x="533400" y="4572000"/>
            <a:ext cx="8610600" cy="2133600"/>
          </a:xfrm>
        </p:spPr>
        <p:txBody>
          <a:bodyPr/>
          <a:lstStyle/>
          <a:p>
            <a:pPr>
              <a:lnSpc>
                <a:spcPct val="125000"/>
              </a:lnSpc>
              <a:spcBef>
                <a:spcPts val="600"/>
              </a:spcBef>
            </a:pPr>
            <a:r>
              <a:rPr lang="zh-CN" altLang="en-US" sz="2000" b="1" dirty="0"/>
              <a:t>假定每次执行第</a:t>
            </a:r>
            <a:r>
              <a:rPr lang="en-US" altLang="zh-CN" sz="2000" b="1" i="1" dirty="0" err="1"/>
              <a:t>i</a:t>
            </a:r>
            <a:r>
              <a:rPr lang="zh-CN" altLang="en-US" sz="2000" b="1" dirty="0"/>
              <a:t>行所花的时间都是常量</a:t>
            </a:r>
            <a:r>
              <a:rPr lang="en-US" altLang="zh-CN" sz="2000" b="1" i="1" dirty="0"/>
              <a:t>c</a:t>
            </a:r>
            <a:r>
              <a:rPr lang="en-US" altLang="zh-CN" sz="2000" b="1" i="1" baseline="-25000" dirty="0"/>
              <a:t>i</a:t>
            </a:r>
            <a:r>
              <a:rPr lang="zh-CN" altLang="en-US" sz="2000" b="1" dirty="0"/>
              <a:t>；</a:t>
            </a:r>
            <a:endParaRPr lang="en-US" altLang="zh-CN" sz="2000" b="1" dirty="0"/>
          </a:p>
          <a:p>
            <a:pPr>
              <a:lnSpc>
                <a:spcPct val="125000"/>
              </a:lnSpc>
              <a:spcBef>
                <a:spcPts val="600"/>
              </a:spcBef>
            </a:pPr>
            <a:r>
              <a:rPr lang="zh-CN" altLang="en-US" sz="2000" b="1" dirty="0"/>
              <a:t>对</a:t>
            </a:r>
            <a:r>
              <a:rPr lang="en-US" sz="2000" b="1" dirty="0"/>
              <a:t> </a:t>
            </a:r>
            <a:r>
              <a:rPr lang="en-US" sz="2000" b="1" i="1" dirty="0"/>
              <a:t>j</a:t>
            </a:r>
            <a:r>
              <a:rPr lang="en-US" sz="2000" b="1" dirty="0"/>
              <a:t> = 2, 3, … </a:t>
            </a:r>
            <a:r>
              <a:rPr lang="en-US" sz="2000" b="1" i="1" dirty="0"/>
              <a:t>n</a:t>
            </a:r>
            <a:r>
              <a:rPr lang="en-US" sz="2000" b="1" dirty="0"/>
              <a:t>, </a:t>
            </a:r>
            <a:r>
              <a:rPr lang="zh-CN" altLang="en-US" sz="2000" b="1" dirty="0"/>
              <a:t>假设</a:t>
            </a:r>
            <a:r>
              <a:rPr lang="en-US" sz="2000" b="1" i="1" dirty="0" err="1">
                <a:solidFill>
                  <a:srgbClr val="FF0000"/>
                </a:solidFill>
              </a:rPr>
              <a:t>t</a:t>
            </a:r>
            <a:r>
              <a:rPr lang="en-US" sz="2000" b="1" i="1" baseline="-25000" dirty="0" err="1">
                <a:solidFill>
                  <a:srgbClr val="FF0000"/>
                </a:solidFill>
              </a:rPr>
              <a:t>j</a:t>
            </a:r>
            <a:r>
              <a:rPr lang="zh-CN" altLang="en-US" sz="2000" b="1" dirty="0">
                <a:solidFill>
                  <a:srgbClr val="FF0000"/>
                </a:solidFill>
              </a:rPr>
              <a:t>表示对那个值</a:t>
            </a:r>
            <a:r>
              <a:rPr lang="en-US" altLang="zh-CN" sz="2000" b="1" i="1" dirty="0">
                <a:solidFill>
                  <a:srgbClr val="FF0000"/>
                </a:solidFill>
              </a:rPr>
              <a:t>j</a:t>
            </a:r>
            <a:r>
              <a:rPr lang="zh-CN" altLang="en-US" sz="2000" b="1" dirty="0">
                <a:solidFill>
                  <a:srgbClr val="FF0000"/>
                </a:solidFill>
              </a:rPr>
              <a:t>执行</a:t>
            </a:r>
            <a:r>
              <a:rPr lang="en-US" altLang="zh-CN" sz="2000" b="1" i="1" dirty="0">
                <a:solidFill>
                  <a:srgbClr val="FF0000"/>
                </a:solidFill>
              </a:rPr>
              <a:t>while</a:t>
            </a:r>
            <a:r>
              <a:rPr lang="zh-CN" altLang="en-US" sz="2000" b="1" dirty="0">
                <a:solidFill>
                  <a:srgbClr val="FF0000"/>
                </a:solidFill>
              </a:rPr>
              <a:t>循环</a:t>
            </a:r>
            <a:r>
              <a:rPr lang="zh-CN" altLang="en-US" sz="2000" b="1" dirty="0">
                <a:solidFill>
                  <a:schemeClr val="accent6">
                    <a:lumMod val="50000"/>
                  </a:schemeClr>
                </a:solidFill>
              </a:rPr>
              <a:t>测试</a:t>
            </a:r>
            <a:r>
              <a:rPr lang="zh-CN" altLang="en-US" sz="2000" b="1" dirty="0">
                <a:solidFill>
                  <a:srgbClr val="FF0000"/>
                </a:solidFill>
              </a:rPr>
              <a:t>的次数</a:t>
            </a:r>
            <a:r>
              <a:rPr lang="zh-CN" altLang="en-US" sz="2000" b="1" dirty="0"/>
              <a:t>。</a:t>
            </a:r>
            <a:endParaRPr lang="en-US" altLang="zh-CN" sz="2000" b="1" dirty="0"/>
          </a:p>
          <a:p>
            <a:pPr>
              <a:lnSpc>
                <a:spcPct val="125000"/>
              </a:lnSpc>
              <a:spcBef>
                <a:spcPts val="600"/>
              </a:spcBef>
            </a:pPr>
            <a:r>
              <a:rPr lang="zh-CN" altLang="en-US" sz="2000" b="1" dirty="0"/>
              <a:t>当一个</a:t>
            </a:r>
            <a:r>
              <a:rPr lang="en-US" altLang="zh-CN" sz="2000" b="1" i="1" dirty="0"/>
              <a:t>for</a:t>
            </a:r>
            <a:r>
              <a:rPr lang="zh-CN" altLang="en-US" sz="2000" b="1" dirty="0"/>
              <a:t>或</a:t>
            </a:r>
            <a:r>
              <a:rPr lang="en-US" altLang="zh-CN" sz="2000" b="1" i="1" dirty="0"/>
              <a:t>while</a:t>
            </a:r>
            <a:r>
              <a:rPr lang="zh-CN" altLang="en-US" sz="2000" b="1" dirty="0"/>
              <a:t>循环按通常的方式（由于循环头中的测试）退出时，执行测试的次数比执行循环体的次数多</a:t>
            </a:r>
            <a:r>
              <a:rPr lang="en-US" altLang="zh-CN" sz="2000" b="1" dirty="0"/>
              <a:t>1</a:t>
            </a:r>
            <a:r>
              <a:rPr lang="zh-CN" altLang="en-US" sz="2000" b="1" dirty="0"/>
              <a:t>。</a:t>
            </a:r>
            <a:endParaRPr lang="en-US" sz="2000" b="1" dirty="0"/>
          </a:p>
        </p:txBody>
      </p:sp>
      <p:pic>
        <p:nvPicPr>
          <p:cNvPr id="1026"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5168" t="38846" r="21899" b="25898"/>
          <a:stretch/>
        </p:blipFill>
        <p:spPr bwMode="auto">
          <a:xfrm>
            <a:off x="457200" y="1295400"/>
            <a:ext cx="8363985" cy="313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70343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457200" y="76200"/>
            <a:ext cx="7772400" cy="838200"/>
          </a:xfrm>
        </p:spPr>
        <p:txBody>
          <a:bodyPr/>
          <a:lstStyle/>
          <a:p>
            <a:r>
              <a:rPr lang="en-US" altLang="zh-CN" sz="3600" dirty="0"/>
              <a:t>1.2 </a:t>
            </a:r>
            <a:r>
              <a:rPr lang="zh-CN" altLang="en-US" sz="3600" dirty="0"/>
              <a:t>分析插入排序算法</a:t>
            </a:r>
            <a:r>
              <a:rPr lang="en-US" altLang="zh-CN" sz="3600" dirty="0"/>
              <a:t> (4)</a:t>
            </a:r>
            <a:endParaRPr lang="en-US" sz="3600" b="1" dirty="0">
              <a:solidFill>
                <a:srgbClr val="0000CC"/>
              </a:solidFill>
            </a:endParaRPr>
          </a:p>
        </p:txBody>
      </p:sp>
      <p:sp>
        <p:nvSpPr>
          <p:cNvPr id="7171" name="Rectangle 3"/>
          <p:cNvSpPr>
            <a:spLocks noGrp="1" noChangeArrowheads="1"/>
          </p:cNvSpPr>
          <p:nvPr>
            <p:ph type="body" idx="4294967295"/>
          </p:nvPr>
        </p:nvSpPr>
        <p:spPr>
          <a:xfrm>
            <a:off x="228600" y="1371600"/>
            <a:ext cx="8610600" cy="2057400"/>
          </a:xfrm>
        </p:spPr>
        <p:txBody>
          <a:bodyPr/>
          <a:lstStyle/>
          <a:p>
            <a:r>
              <a:rPr lang="zh-CN" altLang="en-US" sz="2400" b="1" dirty="0"/>
              <a:t>插入排序的运行时间</a:t>
            </a:r>
            <a:r>
              <a:rPr lang="en-US" sz="2400" b="1" dirty="0"/>
              <a:t>:</a:t>
            </a:r>
          </a:p>
          <a:p>
            <a:pPr marL="0" indent="0">
              <a:buNone/>
            </a:pPr>
            <a:r>
              <a:rPr lang="en-US" sz="2400" b="1" dirty="0"/>
              <a:t>     </a:t>
            </a:r>
          </a:p>
          <a:p>
            <a:endParaRPr lang="en-US" sz="2400" b="1" dirty="0"/>
          </a:p>
          <a:p>
            <a:pPr marL="0" indent="0">
              <a:buNone/>
            </a:pPr>
            <a:endParaRPr lang="en-US" sz="2400" b="1" dirty="0"/>
          </a:p>
          <a:p>
            <a:pPr marL="457200" lvl="1" indent="0">
              <a:spcBef>
                <a:spcPts val="1800"/>
              </a:spcBef>
              <a:buNone/>
            </a:pPr>
            <a:endParaRPr lang="en-US" altLang="zh-CN" sz="2200" b="1" dirty="0"/>
          </a:p>
        </p:txBody>
      </p:sp>
      <p:graphicFrame>
        <p:nvGraphicFramePr>
          <p:cNvPr id="4" name="Object 3"/>
          <p:cNvGraphicFramePr>
            <a:graphicFrameLocks noChangeAspect="1"/>
          </p:cNvGraphicFramePr>
          <p:nvPr>
            <p:extLst>
              <p:ext uri="{D42A27DB-BD31-4B8C-83A1-F6EECF244321}">
                <p14:modId xmlns:p14="http://schemas.microsoft.com/office/powerpoint/2010/main" val="4139248323"/>
              </p:ext>
            </p:extLst>
          </p:nvPr>
        </p:nvGraphicFramePr>
        <p:xfrm>
          <a:off x="947384" y="1860307"/>
          <a:ext cx="6761163" cy="1011237"/>
        </p:xfrm>
        <a:graphic>
          <a:graphicData uri="http://schemas.openxmlformats.org/presentationml/2006/ole">
            <mc:AlternateContent xmlns:mc="http://schemas.openxmlformats.org/markup-compatibility/2006">
              <mc:Choice xmlns:v="urn:schemas-microsoft-com:vml" Requires="v">
                <p:oleObj name="Equation" r:id="rId3" imgW="2971800" imgH="444500" progId="Equation.3">
                  <p:embed/>
                </p:oleObj>
              </mc:Choice>
              <mc:Fallback>
                <p:oleObj name="Equation" r:id="rId3" imgW="2971800" imgH="444500" progId="Equation.3">
                  <p:embed/>
                  <p:pic>
                    <p:nvPicPr>
                      <p:cNvPr id="0" name="Picture 260"/>
                      <p:cNvPicPr>
                        <a:picLocks noChangeAspect="1" noChangeArrowheads="1"/>
                      </p:cNvPicPr>
                      <p:nvPr/>
                    </p:nvPicPr>
                    <p:blipFill>
                      <a:blip r:embed="rId4">
                        <a:grayscl/>
                        <a:biLevel thresh="50000"/>
                        <a:extLst>
                          <a:ext uri="{28A0092B-C50C-407E-A947-70E740481C1C}">
                            <a14:useLocalDpi xmlns:a14="http://schemas.microsoft.com/office/drawing/2010/main" val="0"/>
                          </a:ext>
                        </a:extLst>
                      </a:blip>
                      <a:srcRect/>
                      <a:stretch>
                        <a:fillRect/>
                      </a:stretch>
                    </p:blipFill>
                    <p:spPr bwMode="auto">
                      <a:xfrm>
                        <a:off x="947384" y="1860307"/>
                        <a:ext cx="6761163" cy="1011237"/>
                      </a:xfrm>
                      <a:prstGeom prst="rect">
                        <a:avLst/>
                      </a:prstGeom>
                      <a:solidFill>
                        <a:schemeClr val="tx1"/>
                      </a:solidFill>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3313860249"/>
              </p:ext>
            </p:extLst>
          </p:nvPr>
        </p:nvGraphicFramePr>
        <p:xfrm>
          <a:off x="947384" y="2570163"/>
          <a:ext cx="7080250" cy="1011237"/>
        </p:xfrm>
        <a:graphic>
          <a:graphicData uri="http://schemas.openxmlformats.org/presentationml/2006/ole">
            <mc:AlternateContent xmlns:mc="http://schemas.openxmlformats.org/markup-compatibility/2006">
              <mc:Choice xmlns:v="urn:schemas-microsoft-com:vml" Requires="v">
                <p:oleObj name="Equation" r:id="rId5" imgW="3111500" imgH="444500" progId="Equation.DSMT4">
                  <p:embed/>
                </p:oleObj>
              </mc:Choice>
              <mc:Fallback>
                <p:oleObj name="Equation" r:id="rId5" imgW="3111500" imgH="444500" progId="Equation.DSMT4">
                  <p:embed/>
                  <p:pic>
                    <p:nvPicPr>
                      <p:cNvPr id="0" name="Picture 26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7384" y="2570163"/>
                        <a:ext cx="7080250" cy="1011237"/>
                      </a:xfrm>
                      <a:prstGeom prst="rect">
                        <a:avLst/>
                      </a:prstGeom>
                      <a:solidFill>
                        <a:schemeClr val="tx1"/>
                      </a:solidFill>
                    </p:spPr>
                  </p:pic>
                </p:oleObj>
              </mc:Fallback>
            </mc:AlternateContent>
          </a:graphicData>
        </a:graphic>
      </p:graphicFrame>
      <p:pic>
        <p:nvPicPr>
          <p:cNvPr id="25844" name="Picture 244"/>
          <p:cNvPicPr>
            <a:picLocks noChangeAspect="1" noChangeArrowheads="1"/>
          </p:cNvPicPr>
          <p:nvPr/>
        </p:nvPicPr>
        <p:blipFill>
          <a:blip r:embed="rId7" cstate="print"/>
          <a:srcRect/>
          <a:stretch>
            <a:fillRect/>
          </a:stretch>
        </p:blipFill>
        <p:spPr bwMode="auto">
          <a:xfrm>
            <a:off x="6351006" y="3657600"/>
            <a:ext cx="2228850" cy="3152775"/>
          </a:xfrm>
          <a:prstGeom prst="rect">
            <a:avLst/>
          </a:prstGeom>
          <a:noFill/>
          <a:ln w="9525">
            <a:noFill/>
            <a:miter lim="800000"/>
            <a:headEnd/>
            <a:tailEnd/>
          </a:ln>
        </p:spPr>
      </p:pic>
      <p:sp>
        <p:nvSpPr>
          <p:cNvPr id="7" name="矩形 6"/>
          <p:cNvSpPr/>
          <p:nvPr/>
        </p:nvSpPr>
        <p:spPr>
          <a:xfrm>
            <a:off x="152400" y="3657600"/>
            <a:ext cx="5486400" cy="2492990"/>
          </a:xfrm>
          <a:prstGeom prst="rect">
            <a:avLst/>
          </a:prstGeom>
        </p:spPr>
        <p:txBody>
          <a:bodyPr wrap="square">
            <a:spAutoFit/>
          </a:bodyPr>
          <a:lstStyle/>
          <a:p>
            <a:pPr lvl="1">
              <a:spcBef>
                <a:spcPts val="1800"/>
              </a:spcBef>
            </a:pPr>
            <a:r>
              <a:rPr lang="zh-CN" altLang="en-US" sz="2200" dirty="0"/>
              <a:t>运行时间取决于两个因素：</a:t>
            </a:r>
            <a:endParaRPr lang="en-US" altLang="zh-CN" sz="2200" dirty="0"/>
          </a:p>
          <a:p>
            <a:pPr lvl="1">
              <a:spcBef>
                <a:spcPts val="1800"/>
              </a:spcBef>
            </a:pPr>
            <a:r>
              <a:rPr lang="en-US" altLang="zh-CN" sz="2200" dirty="0"/>
              <a:t>1</a:t>
            </a:r>
            <a:r>
              <a:rPr lang="zh-CN" altLang="en-US" sz="2200" dirty="0"/>
              <a:t>）</a:t>
            </a:r>
            <a:r>
              <a:rPr lang="zh-CN" altLang="en-US" dirty="0"/>
              <a:t>问题的输入规模</a:t>
            </a:r>
            <a:r>
              <a:rPr lang="en-US" altLang="zh-CN" i="1" dirty="0"/>
              <a:t>n</a:t>
            </a:r>
            <a:r>
              <a:rPr lang="zh-CN" altLang="en-US" dirty="0"/>
              <a:t>；</a:t>
            </a:r>
            <a:endParaRPr lang="en-US" altLang="zh-CN" dirty="0"/>
          </a:p>
          <a:p>
            <a:pPr lvl="1">
              <a:spcBef>
                <a:spcPts val="1800"/>
              </a:spcBef>
            </a:pPr>
            <a:r>
              <a:rPr lang="en-US" altLang="zh-CN" dirty="0"/>
              <a:t>2</a:t>
            </a:r>
            <a:r>
              <a:rPr lang="zh-CN" altLang="en-US" dirty="0"/>
              <a:t>）</a:t>
            </a:r>
            <a:r>
              <a:rPr lang="en-US" altLang="zh-CN" sz="2200" i="1" dirty="0" err="1"/>
              <a:t>t</a:t>
            </a:r>
            <a:r>
              <a:rPr lang="en-US" altLang="zh-CN" sz="2200" i="1" baseline="-25000" dirty="0" err="1"/>
              <a:t>j</a:t>
            </a:r>
            <a:r>
              <a:rPr lang="en-US" altLang="zh-CN" sz="2200" dirty="0"/>
              <a:t> </a:t>
            </a:r>
            <a:r>
              <a:rPr lang="zh-CN" altLang="en-US" sz="2200" dirty="0"/>
              <a:t>的值，</a:t>
            </a:r>
            <a:r>
              <a:rPr lang="zh-CN" altLang="en-US" dirty="0"/>
              <a:t>即使规模相同的两个不同输入，其运行时间也可能差别很大，</a:t>
            </a:r>
            <a:r>
              <a:rPr lang="zh-CN" altLang="en-US" dirty="0">
                <a:solidFill>
                  <a:srgbClr val="C00000"/>
                </a:solidFill>
              </a:rPr>
              <a:t>例如：当插入排序在处理已排序好的</a:t>
            </a:r>
            <a:r>
              <a:rPr lang="en-US" altLang="zh-CN" i="1" dirty="0">
                <a:solidFill>
                  <a:srgbClr val="C00000"/>
                </a:solidFill>
              </a:rPr>
              <a:t>n</a:t>
            </a:r>
            <a:r>
              <a:rPr lang="zh-CN" altLang="en-US" dirty="0">
                <a:solidFill>
                  <a:srgbClr val="C00000"/>
                </a:solidFill>
              </a:rPr>
              <a:t>个元素数组和逆序排列的</a:t>
            </a:r>
            <a:r>
              <a:rPr lang="en-US" altLang="zh-CN" i="1" dirty="0">
                <a:solidFill>
                  <a:srgbClr val="C00000"/>
                </a:solidFill>
              </a:rPr>
              <a:t>n</a:t>
            </a:r>
            <a:r>
              <a:rPr lang="zh-CN" altLang="en-US" dirty="0">
                <a:solidFill>
                  <a:srgbClr val="C00000"/>
                </a:solidFill>
              </a:rPr>
              <a:t>个元素数组时。</a:t>
            </a:r>
            <a:endParaRPr lang="en-US" altLang="zh-CN" sz="2200" dirty="0"/>
          </a:p>
        </p:txBody>
      </p:sp>
    </p:spTree>
    <p:extLst>
      <p:ext uri="{BB962C8B-B14F-4D97-AF65-F5344CB8AC3E}">
        <p14:creationId xmlns:p14="http://schemas.microsoft.com/office/powerpoint/2010/main" val="602486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1000"/>
                                        <p:tgtEl>
                                          <p:spTgt spid="7"/>
                                        </p:tgtEl>
                                      </p:cBhvr>
                                    </p:animEffect>
                                    <p:anim calcmode="lin" valueType="num">
                                      <p:cBhvr>
                                        <p:cTn id="16" dur="1000" fill="hold"/>
                                        <p:tgtEl>
                                          <p:spTgt spid="7"/>
                                        </p:tgtEl>
                                        <p:attrNameLst>
                                          <p:attrName>ppt_x</p:attrName>
                                        </p:attrNameLst>
                                      </p:cBhvr>
                                      <p:tavLst>
                                        <p:tav tm="0">
                                          <p:val>
                                            <p:strVal val="#ppt_x"/>
                                          </p:val>
                                        </p:tav>
                                        <p:tav tm="100000">
                                          <p:val>
                                            <p:strVal val="#ppt_x"/>
                                          </p:val>
                                        </p:tav>
                                      </p:tavLst>
                                    </p:anim>
                                    <p:anim calcmode="lin" valueType="num">
                                      <p:cBhvr>
                                        <p:cTn id="1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1.2 </a:t>
            </a:r>
            <a:r>
              <a:rPr lang="zh-CN" altLang="en-US" dirty="0"/>
              <a:t>分析插入排序算法</a:t>
            </a:r>
            <a:r>
              <a:rPr lang="en-US" altLang="zh-CN" dirty="0"/>
              <a:t> (5)</a:t>
            </a:r>
            <a:endParaRPr lang="zh-CN" altLang="en-US" dirty="0"/>
          </a:p>
        </p:txBody>
      </p:sp>
      <mc:AlternateContent xmlns:mc="http://schemas.openxmlformats.org/markup-compatibility/2006" xmlns:a14="http://schemas.microsoft.com/office/drawing/2010/main">
        <mc:Choice Requires="a14">
          <p:sp>
            <p:nvSpPr>
              <p:cNvPr id="4" name="Rectangle 3"/>
              <p:cNvSpPr txBox="1">
                <a:spLocks noChangeArrowheads="1"/>
              </p:cNvSpPr>
              <p:nvPr/>
            </p:nvSpPr>
            <p:spPr bwMode="auto">
              <a:xfrm>
                <a:off x="437047" y="1752600"/>
                <a:ext cx="8634274" cy="265849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marL="0" indent="0">
                  <a:buFont typeface="Wingdings" pitchFamily="2" charset="2"/>
                  <a:buNone/>
                </a:pPr>
                <a:r>
                  <a:rPr lang="zh-CN" altLang="en-US" sz="2400" b="1" kern="0" dirty="0">
                    <a:solidFill>
                      <a:srgbClr val="3333FF"/>
                    </a:solidFill>
                    <a:latin typeface="黑体" panose="02010609060101010101" pitchFamily="49" charset="-122"/>
                    <a:ea typeface="黑体" panose="02010609060101010101" pitchFamily="49" charset="-122"/>
                  </a:rPr>
                  <a:t>最好情况</a:t>
                </a:r>
                <a:r>
                  <a:rPr lang="en-US" sz="2400" b="1" kern="0" dirty="0">
                    <a:solidFill>
                      <a:srgbClr val="3333FF"/>
                    </a:solidFill>
                    <a:latin typeface="黑体" panose="02010609060101010101" pitchFamily="49" charset="-122"/>
                    <a:ea typeface="黑体" panose="02010609060101010101" pitchFamily="49" charset="-122"/>
                  </a:rPr>
                  <a:t>:</a:t>
                </a:r>
              </a:p>
              <a:p>
                <a:r>
                  <a:rPr lang="zh-CN" altLang="en-US" sz="2400" b="1" kern="0" dirty="0"/>
                  <a:t>当</a:t>
                </a:r>
                <a:r>
                  <a:rPr lang="en-US" altLang="zh-CN" sz="2400" b="1" i="1" kern="0" dirty="0" err="1"/>
                  <a:t>i</a:t>
                </a:r>
                <a:r>
                  <a:rPr lang="en-US" altLang="zh-CN" sz="2400" b="1" kern="0" dirty="0"/>
                  <a:t> = </a:t>
                </a:r>
                <a:r>
                  <a:rPr lang="en-US" altLang="zh-CN" sz="2400" b="1" i="1" kern="0" dirty="0"/>
                  <a:t>j</a:t>
                </a:r>
                <a:r>
                  <a:rPr lang="en-US" altLang="zh-CN" sz="2400" b="1" kern="0" dirty="0"/>
                  <a:t> – 1</a:t>
                </a:r>
                <a:r>
                  <a:rPr lang="zh-CN" altLang="en-US" sz="2400" b="1" kern="0" dirty="0"/>
                  <a:t>时，</a:t>
                </a:r>
                <a:r>
                  <a:rPr lang="en-US" sz="2400" b="1" i="1" kern="0" dirty="0"/>
                  <a:t>A</a:t>
                </a:r>
                <a:r>
                  <a:rPr lang="en-US" sz="2400" b="1" kern="0" dirty="0"/>
                  <a:t>[</a:t>
                </a:r>
                <a:r>
                  <a:rPr lang="en-US" sz="2400" b="1" i="1" kern="0" dirty="0" err="1"/>
                  <a:t>i</a:t>
                </a:r>
                <a:r>
                  <a:rPr lang="en-US" sz="2400" b="1" kern="0" dirty="0"/>
                  <a:t>] ≤ </a:t>
                </a:r>
                <a:r>
                  <a:rPr lang="en-US" sz="2400" b="1" i="1" kern="0" dirty="0"/>
                  <a:t>ke</a:t>
                </a:r>
                <a:r>
                  <a:rPr lang="en-US" sz="2400" b="1" kern="0" dirty="0"/>
                  <a:t>y</a:t>
                </a:r>
                <a:r>
                  <a:rPr lang="zh-CN" altLang="en-US" sz="2400" b="1" i="1" kern="0" dirty="0"/>
                  <a:t>；</a:t>
                </a:r>
                <a:r>
                  <a:rPr lang="zh-CN" altLang="en-US" sz="2400" b="1" kern="0" dirty="0"/>
                  <a:t>所有的</a:t>
                </a:r>
                <a:r>
                  <a:rPr lang="en-US" sz="2400" b="1" kern="0" dirty="0"/>
                  <a:t> </a:t>
                </a:r>
                <a:r>
                  <a:rPr lang="en-US" sz="2400" b="1" i="1" kern="0" dirty="0" err="1"/>
                  <a:t>t</a:t>
                </a:r>
                <a:r>
                  <a:rPr lang="en-US" sz="2400" b="1" i="1" kern="0" baseline="-25000" dirty="0" err="1"/>
                  <a:t>j</a:t>
                </a:r>
                <a:r>
                  <a:rPr lang="zh-CN" altLang="en-US" sz="2400" b="1" kern="0" dirty="0"/>
                  <a:t>均为</a:t>
                </a:r>
                <a:r>
                  <a:rPr lang="en-US" sz="2400" b="1" kern="0" dirty="0"/>
                  <a:t>1.</a:t>
                </a:r>
              </a:p>
              <a:p>
                <a:r>
                  <a:rPr lang="zh-CN" altLang="en-US" sz="2400" b="1" kern="0" dirty="0"/>
                  <a:t>运行时间</a:t>
                </a:r>
                <a:endParaRPr lang="en-US" altLang="zh-CN" sz="2400" b="1" kern="0" dirty="0"/>
              </a:p>
              <a:p>
                <a:endParaRPr lang="en-US" sz="2400" kern="0" dirty="0"/>
              </a:p>
              <a:p>
                <a:endParaRPr lang="en-US" sz="2400" b="1" kern="0" dirty="0"/>
              </a:p>
              <a:p>
                <a:endParaRPr lang="en-US" sz="2400" b="1" kern="0" dirty="0"/>
              </a:p>
              <a:p>
                <a:endParaRPr lang="en-US" sz="2400" b="1" kern="0" dirty="0"/>
              </a:p>
              <a:p>
                <a:pPr>
                  <a:spcAft>
                    <a:spcPts val="600"/>
                  </a:spcAft>
                </a:pPr>
                <a:r>
                  <a:rPr lang="en-US" sz="2400" b="1" i="1" kern="0" dirty="0"/>
                  <a:t>T</a:t>
                </a:r>
                <a:r>
                  <a:rPr lang="en-US" sz="2400" b="1" kern="0" dirty="0"/>
                  <a:t>(</a:t>
                </a:r>
                <a:r>
                  <a:rPr lang="en-US" sz="2400" b="1" i="1" kern="0" dirty="0"/>
                  <a:t>n</a:t>
                </a:r>
                <a:r>
                  <a:rPr lang="en-US" sz="2400" b="1" kern="0" dirty="0"/>
                  <a:t>)</a:t>
                </a:r>
                <a:r>
                  <a:rPr lang="zh-CN" altLang="en-US" sz="2400" b="1" kern="0" dirty="0"/>
                  <a:t>可表示为</a:t>
                </a:r>
                <a14:m>
                  <m:oMath xmlns:m="http://schemas.openxmlformats.org/officeDocument/2006/math">
                    <m:r>
                      <a:rPr lang="en-US" sz="2400" b="1" i="1" kern="0" smtClean="0">
                        <a:latin typeface="Cambria Math"/>
                      </a:rPr>
                      <m:t>𝒂𝒏</m:t>
                    </m:r>
                    <m:r>
                      <a:rPr lang="en-US" sz="2400" b="1" i="1" kern="0" smtClean="0">
                        <a:latin typeface="Cambria Math"/>
                      </a:rPr>
                      <m:t>+</m:t>
                    </m:r>
                    <m:r>
                      <a:rPr lang="en-US" sz="2400" b="1" i="1" kern="0" smtClean="0">
                        <a:latin typeface="Cambria Math"/>
                      </a:rPr>
                      <m:t>𝒃</m:t>
                    </m:r>
                  </m:oMath>
                </a14:m>
                <a:r>
                  <a:rPr lang="en-US" sz="2400" b="1" kern="0" dirty="0"/>
                  <a:t> </a:t>
                </a:r>
                <a:r>
                  <a:rPr lang="zh-CN" altLang="en-US" sz="2400" b="1" kern="0" dirty="0"/>
                  <a:t>，其中常量</a:t>
                </a:r>
                <a:r>
                  <a:rPr lang="en-US" sz="2400" b="1" i="1" kern="0" dirty="0"/>
                  <a:t>a</a:t>
                </a:r>
                <a:r>
                  <a:rPr lang="zh-CN" altLang="en-US" sz="2400" b="1" kern="0" dirty="0"/>
                  <a:t>和</a:t>
                </a:r>
                <a:r>
                  <a:rPr lang="en-US" sz="2400" b="1" i="1" kern="0" dirty="0"/>
                  <a:t>b</a:t>
                </a:r>
                <a:r>
                  <a:rPr lang="en-US" sz="2400" b="1" kern="0" dirty="0"/>
                  <a:t> </a:t>
                </a:r>
                <a:r>
                  <a:rPr lang="zh-CN" altLang="en-US" sz="2400" b="1" kern="0" dirty="0"/>
                  <a:t>依赖于语句代价</a:t>
                </a:r>
                <a:r>
                  <a:rPr lang="en-US" sz="2400" b="1" i="1" kern="0" dirty="0"/>
                  <a:t>c</a:t>
                </a:r>
                <a:r>
                  <a:rPr lang="en-US" sz="2400" b="1" i="1" kern="0" baseline="-25000" dirty="0"/>
                  <a:t>i</a:t>
                </a:r>
                <a:endParaRPr lang="en-US" sz="2400" b="1" kern="0" dirty="0"/>
              </a:p>
            </p:txBody>
          </p:sp>
        </mc:Choice>
        <mc:Fallback xmlns="">
          <p:sp>
            <p:nvSpPr>
              <p:cNvPr id="4" name="Rectangle 3"/>
              <p:cNvSpPr txBox="1">
                <a:spLocks noRot="1" noChangeAspect="1" noMove="1" noResize="1" noEditPoints="1" noAdjustHandles="1" noChangeArrowheads="1" noChangeShapeType="1" noTextEdit="1"/>
              </p:cNvSpPr>
              <p:nvPr/>
            </p:nvSpPr>
            <p:spPr bwMode="auto">
              <a:xfrm>
                <a:off x="437047" y="1752600"/>
                <a:ext cx="8634274" cy="2658492"/>
              </a:xfrm>
              <a:prstGeom prst="rect">
                <a:avLst/>
              </a:prstGeom>
              <a:blipFill>
                <a:blip r:embed="rId2"/>
                <a:stretch>
                  <a:fillRect l="-1175" t="-2381" b="-3809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CN">
                    <a:noFill/>
                  </a:rPr>
                  <a:t> </a:t>
                </a:r>
              </a:p>
            </p:txBody>
          </p:sp>
        </mc:Fallback>
      </mc:AlternateContent>
      <p:graphicFrame>
        <p:nvGraphicFramePr>
          <p:cNvPr id="5" name="Object 3"/>
          <p:cNvGraphicFramePr>
            <a:graphicFrameLocks noChangeAspect="1"/>
          </p:cNvGraphicFramePr>
          <p:nvPr>
            <p:extLst>
              <p:ext uri="{D42A27DB-BD31-4B8C-83A1-F6EECF244321}">
                <p14:modId xmlns:p14="http://schemas.microsoft.com/office/powerpoint/2010/main" val="1198295872"/>
              </p:ext>
            </p:extLst>
          </p:nvPr>
        </p:nvGraphicFramePr>
        <p:xfrm>
          <a:off x="571500" y="5283200"/>
          <a:ext cx="8469313" cy="1041400"/>
        </p:xfrm>
        <a:graphic>
          <a:graphicData uri="http://schemas.openxmlformats.org/presentationml/2006/ole">
            <mc:AlternateContent xmlns:mc="http://schemas.openxmlformats.org/markup-compatibility/2006">
              <mc:Choice xmlns:v="urn:schemas-microsoft-com:vml" Requires="v">
                <p:oleObj name="Equation" r:id="rId3" imgW="3720960" imgH="457200" progId="Equation.DSMT4">
                  <p:embed/>
                </p:oleObj>
              </mc:Choice>
              <mc:Fallback>
                <p:oleObj name="Equation" r:id="rId3" imgW="3720960" imgH="457200" progId="Equation.DSMT4">
                  <p:embed/>
                  <p:pic>
                    <p:nvPicPr>
                      <p:cNvPr id="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1500" y="5283200"/>
                        <a:ext cx="8469313" cy="1041400"/>
                      </a:xfrm>
                      <a:prstGeom prst="rect">
                        <a:avLst/>
                      </a:prstGeom>
                      <a:solidFill>
                        <a:schemeClr val="tx1"/>
                      </a:solidFill>
                    </p:spPr>
                  </p:pic>
                </p:oleObj>
              </mc:Fallback>
            </mc:AlternateContent>
          </a:graphicData>
        </a:graphic>
      </p:graphicFrame>
      <p:sp>
        <p:nvSpPr>
          <p:cNvPr id="6" name="TextBox 1"/>
          <p:cNvSpPr txBox="1"/>
          <p:nvPr/>
        </p:nvSpPr>
        <p:spPr>
          <a:xfrm>
            <a:off x="2047055" y="1752599"/>
            <a:ext cx="2040943" cy="461665"/>
          </a:xfrm>
          <a:prstGeom prst="rect">
            <a:avLst/>
          </a:prstGeom>
          <a:noFill/>
        </p:spPr>
        <p:txBody>
          <a:bodyPr wrap="none" rtlCol="0">
            <a:spAutoFit/>
          </a:bodyPr>
          <a:lstStyle/>
          <a:p>
            <a:r>
              <a:rPr lang="zh-CN" altLang="en-US" sz="2400" dirty="0">
                <a:solidFill>
                  <a:srgbClr val="3333FF"/>
                </a:solidFill>
                <a:latin typeface="黑体" panose="02010609060101010101" pitchFamily="49" charset="-122"/>
                <a:ea typeface="黑体" panose="02010609060101010101" pitchFamily="49" charset="-122"/>
              </a:rPr>
              <a:t>数组已排好序</a:t>
            </a:r>
            <a:endParaRPr lang="en-US" sz="2400" dirty="0">
              <a:solidFill>
                <a:srgbClr val="3333FF"/>
              </a:solidFill>
              <a:latin typeface="黑体" panose="02010609060101010101" pitchFamily="49" charset="-122"/>
              <a:ea typeface="黑体" panose="02010609060101010101" pitchFamily="49" charset="-122"/>
            </a:endParaRPr>
          </a:p>
        </p:txBody>
      </p:sp>
      <p:graphicFrame>
        <p:nvGraphicFramePr>
          <p:cNvPr id="186378" name="Object 10"/>
          <p:cNvGraphicFramePr>
            <a:graphicFrameLocks noChangeAspect="1"/>
          </p:cNvGraphicFramePr>
          <p:nvPr/>
        </p:nvGraphicFramePr>
        <p:xfrm>
          <a:off x="609600" y="3124200"/>
          <a:ext cx="6756400" cy="1003300"/>
        </p:xfrm>
        <a:graphic>
          <a:graphicData uri="http://schemas.openxmlformats.org/presentationml/2006/ole">
            <mc:AlternateContent xmlns:mc="http://schemas.openxmlformats.org/markup-compatibility/2006">
              <mc:Choice xmlns:v="urn:schemas-microsoft-com:vml" Requires="v">
                <p:oleObj name="Equation" r:id="rId5" imgW="2971800" imgH="444500" progId="Equation.3">
                  <p:embed/>
                </p:oleObj>
              </mc:Choice>
              <mc:Fallback>
                <p:oleObj name="Equation" r:id="rId5" imgW="2971800" imgH="444500" progId="Equation.3">
                  <p:embed/>
                  <p:pic>
                    <p:nvPicPr>
                      <p:cNvPr id="186378"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3124200"/>
                        <a:ext cx="6756400" cy="1003300"/>
                      </a:xfrm>
                      <a:prstGeom prst="rect">
                        <a:avLst/>
                      </a:prstGeom>
                      <a:solidFill>
                        <a:schemeClr val="tx1"/>
                      </a:solidFill>
                    </p:spPr>
                  </p:pic>
                </p:oleObj>
              </mc:Fallback>
            </mc:AlternateContent>
          </a:graphicData>
        </a:graphic>
      </p:graphicFrame>
      <p:graphicFrame>
        <p:nvGraphicFramePr>
          <p:cNvPr id="186379" name="Object 11"/>
          <p:cNvGraphicFramePr>
            <a:graphicFrameLocks noChangeAspect="1"/>
          </p:cNvGraphicFramePr>
          <p:nvPr/>
        </p:nvGraphicFramePr>
        <p:xfrm>
          <a:off x="609600" y="3886200"/>
          <a:ext cx="7073900" cy="1003300"/>
        </p:xfrm>
        <a:graphic>
          <a:graphicData uri="http://schemas.openxmlformats.org/presentationml/2006/ole">
            <mc:AlternateContent xmlns:mc="http://schemas.openxmlformats.org/markup-compatibility/2006">
              <mc:Choice xmlns:v="urn:schemas-microsoft-com:vml" Requires="v">
                <p:oleObj name="Equation" r:id="rId7" imgW="3111500" imgH="444500" progId="Equation.DSMT4">
                  <p:embed/>
                </p:oleObj>
              </mc:Choice>
              <mc:Fallback>
                <p:oleObj name="Equation" r:id="rId7" imgW="3111500" imgH="444500" progId="Equation.DSMT4">
                  <p:embed/>
                  <p:pic>
                    <p:nvPicPr>
                      <p:cNvPr id="186379" name="Object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3886200"/>
                        <a:ext cx="7073900" cy="1003300"/>
                      </a:xfrm>
                      <a:prstGeom prst="rect">
                        <a:avLst/>
                      </a:prstGeom>
                      <a:solidFill>
                        <a:schemeClr val="tx1"/>
                      </a:solidFill>
                    </p:spPr>
                  </p:pic>
                </p:oleObj>
              </mc:Fallback>
            </mc:AlternateContent>
          </a:graphicData>
        </a:graphic>
      </p:graphicFrame>
      <p:sp>
        <p:nvSpPr>
          <p:cNvPr id="9" name="流程图: 可选过程 8"/>
          <p:cNvSpPr/>
          <p:nvPr/>
        </p:nvSpPr>
        <p:spPr bwMode="auto">
          <a:xfrm>
            <a:off x="6553200" y="3048000"/>
            <a:ext cx="762000" cy="1143000"/>
          </a:xfrm>
          <a:prstGeom prst="flowChartAlternateProcess">
            <a:avLst/>
          </a:prstGeom>
          <a:noFill/>
          <a:ln w="38100" cap="flat" cmpd="sng" algn="ctr">
            <a:solidFill>
              <a:srgbClr val="FF0000"/>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imes New Roman" pitchFamily="18" charset="0"/>
            </a:endParaRPr>
          </a:p>
        </p:txBody>
      </p:sp>
      <p:sp>
        <p:nvSpPr>
          <p:cNvPr id="10" name="流程图: 可选过程 9"/>
          <p:cNvSpPr/>
          <p:nvPr/>
        </p:nvSpPr>
        <p:spPr bwMode="auto">
          <a:xfrm>
            <a:off x="6477000" y="5181600"/>
            <a:ext cx="914400" cy="685800"/>
          </a:xfrm>
          <a:prstGeom prst="flowChartAlternateProcess">
            <a:avLst/>
          </a:prstGeom>
          <a:noFill/>
          <a:ln w="38100" cap="flat" cmpd="sng" algn="ctr">
            <a:solidFill>
              <a:srgbClr val="FF0000"/>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zh-CN" altLang="en-US" sz="2400" b="0" i="0" u="none" strike="noStrike" cap="none" normalizeH="0" baseline="0">
              <a:ln>
                <a:noFill/>
              </a:ln>
              <a:solidFill>
                <a:schemeClr val="tx1"/>
              </a:solidFill>
              <a:effectLst/>
              <a:latin typeface="Times New Roman" pitchFamily="18" charset="0"/>
            </a:endParaRPr>
          </a:p>
        </p:txBody>
      </p:sp>
    </p:spTree>
    <p:extLst>
      <p:ext uri="{BB962C8B-B14F-4D97-AF65-F5344CB8AC3E}">
        <p14:creationId xmlns:p14="http://schemas.microsoft.com/office/powerpoint/2010/main" val="2593794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637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637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 calcmode="lin" valueType="num">
                                      <p:cBhvr additive="base">
                                        <p:cTn id="29" dur="500" fill="hold"/>
                                        <p:tgtEl>
                                          <p:spTgt spid="10"/>
                                        </p:tgtEl>
                                        <p:attrNameLst>
                                          <p:attrName>ppt_x</p:attrName>
                                        </p:attrNameLst>
                                      </p:cBhvr>
                                      <p:tavLst>
                                        <p:tav tm="0">
                                          <p:val>
                                            <p:strVal val="#ppt_x"/>
                                          </p:val>
                                        </p:tav>
                                        <p:tav tm="100000">
                                          <p:val>
                                            <p:strVal val="#ppt_x"/>
                                          </p:val>
                                        </p:tav>
                                      </p:tavLst>
                                    </p:anim>
                                    <p:anim calcmode="lin" valueType="num">
                                      <p:cBhvr additive="base">
                                        <p:cTn id="30" dur="500" fill="hold"/>
                                        <p:tgtEl>
                                          <p:spTgt spid="10"/>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6" grpId="0"/>
      <p:bldP spid="9" grpId="0" animBg="1"/>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381000" y="0"/>
            <a:ext cx="7772400" cy="838200"/>
          </a:xfrm>
        </p:spPr>
        <p:txBody>
          <a:bodyPr/>
          <a:lstStyle/>
          <a:p>
            <a:r>
              <a:rPr lang="en-US" altLang="zh-CN" sz="3600" dirty="0"/>
              <a:t>1.2 </a:t>
            </a:r>
            <a:r>
              <a:rPr lang="zh-CN" altLang="en-US" sz="3600" dirty="0"/>
              <a:t>分析插入排序算法</a:t>
            </a:r>
            <a:r>
              <a:rPr lang="en-US" altLang="zh-CN" sz="3600" dirty="0"/>
              <a:t> (6)</a:t>
            </a:r>
            <a:endParaRPr lang="en-US" sz="3600" b="1" dirty="0">
              <a:solidFill>
                <a:srgbClr val="0000CC"/>
              </a:solidFill>
            </a:endParaRPr>
          </a:p>
        </p:txBody>
      </p:sp>
      <p:sp>
        <p:nvSpPr>
          <p:cNvPr id="7171" name="Rectangle 3"/>
          <p:cNvSpPr>
            <a:spLocks noGrp="1" noChangeArrowheads="1"/>
          </p:cNvSpPr>
          <p:nvPr>
            <p:ph type="body" idx="4294967295"/>
          </p:nvPr>
        </p:nvSpPr>
        <p:spPr>
          <a:xfrm>
            <a:off x="533400" y="1371600"/>
            <a:ext cx="8610600" cy="5257800"/>
          </a:xfrm>
        </p:spPr>
        <p:txBody>
          <a:bodyPr/>
          <a:lstStyle/>
          <a:p>
            <a:pPr marL="0" indent="0">
              <a:buNone/>
            </a:pPr>
            <a:r>
              <a:rPr lang="zh-CN" altLang="en-US" sz="2400" b="1" dirty="0">
                <a:solidFill>
                  <a:srgbClr val="3333FF"/>
                </a:solidFill>
                <a:latin typeface="黑体" panose="02010609060101010101" pitchFamily="49" charset="-122"/>
                <a:ea typeface="黑体" panose="02010609060101010101" pitchFamily="49" charset="-122"/>
              </a:rPr>
              <a:t>最坏情况</a:t>
            </a:r>
            <a:r>
              <a:rPr lang="en-US" sz="2400" b="1" dirty="0">
                <a:solidFill>
                  <a:srgbClr val="3333FF"/>
                </a:solidFill>
                <a:latin typeface="黑体" panose="02010609060101010101" pitchFamily="49" charset="-122"/>
                <a:ea typeface="黑体" panose="02010609060101010101" pitchFamily="49" charset="-122"/>
              </a:rPr>
              <a:t>:</a:t>
            </a:r>
          </a:p>
          <a:p>
            <a:r>
              <a:rPr lang="zh-CN" altLang="en-US" sz="2400" b="1" dirty="0"/>
              <a:t>在整个循环测试中，总是</a:t>
            </a:r>
            <a:r>
              <a:rPr lang="en-US" sz="2400" b="1" i="1" dirty="0"/>
              <a:t>A</a:t>
            </a:r>
            <a:r>
              <a:rPr lang="en-US" sz="2400" b="1" dirty="0"/>
              <a:t>[</a:t>
            </a:r>
            <a:r>
              <a:rPr lang="en-US" sz="2400" b="1" i="1" dirty="0" err="1"/>
              <a:t>i</a:t>
            </a:r>
            <a:r>
              <a:rPr lang="en-US" sz="2400" b="1" dirty="0"/>
              <a:t>] &gt; </a:t>
            </a:r>
            <a:r>
              <a:rPr lang="en-US" sz="2400" b="1" i="1" dirty="0"/>
              <a:t>key </a:t>
            </a:r>
            <a:r>
              <a:rPr lang="zh-CN" altLang="en-US" sz="2400" b="1" i="1" dirty="0"/>
              <a:t>。</a:t>
            </a:r>
            <a:endParaRPr lang="en-US" altLang="zh-CN" sz="2400" b="1" i="1" dirty="0"/>
          </a:p>
          <a:p>
            <a:r>
              <a:rPr lang="zh-CN" altLang="en-US" sz="2400" b="1" dirty="0"/>
              <a:t>必须将元素</a:t>
            </a:r>
            <a:r>
              <a:rPr lang="en-US" altLang="zh-CN" sz="2400" b="1" i="1" dirty="0"/>
              <a:t>A</a:t>
            </a:r>
            <a:r>
              <a:rPr lang="en-US" altLang="zh-CN" sz="2400" b="1" dirty="0"/>
              <a:t>[</a:t>
            </a:r>
            <a:r>
              <a:rPr lang="en-US" altLang="zh-CN" sz="2400" b="1" i="1" dirty="0"/>
              <a:t>i</a:t>
            </a:r>
            <a:r>
              <a:rPr lang="en-US" altLang="zh-CN" sz="2400" b="1" dirty="0"/>
              <a:t>]</a:t>
            </a:r>
            <a:r>
              <a:rPr lang="zh-CN" altLang="en-US" sz="2400" b="1" dirty="0"/>
              <a:t>与整个已排序子数组</a:t>
            </a:r>
            <a:r>
              <a:rPr lang="en-US" altLang="zh-CN" sz="2400" b="1" i="1" dirty="0"/>
              <a:t>A</a:t>
            </a:r>
            <a:r>
              <a:rPr lang="en-US" altLang="zh-CN" sz="2400" b="1" dirty="0"/>
              <a:t>[1..</a:t>
            </a:r>
            <a:r>
              <a:rPr lang="en-US" altLang="zh-CN" sz="2400" b="1" i="1" dirty="0"/>
              <a:t>j</a:t>
            </a:r>
            <a:r>
              <a:rPr lang="en-US" altLang="zh-CN" sz="2400" b="1" dirty="0"/>
              <a:t>]</a:t>
            </a:r>
            <a:r>
              <a:rPr lang="zh-CN" altLang="en-US" sz="2400" b="1" dirty="0"/>
              <a:t>中的每个元素进行比较。</a:t>
            </a:r>
            <a:r>
              <a:rPr lang="en-US" sz="2400" b="1" dirty="0">
                <a:sym typeface="Wingdings" pitchFamily="2" charset="2"/>
              </a:rPr>
              <a:t> </a:t>
            </a:r>
            <a:r>
              <a:rPr lang="en-US" sz="2400" b="1" i="1" dirty="0" err="1"/>
              <a:t>t</a:t>
            </a:r>
            <a:r>
              <a:rPr lang="en-US" sz="2400" b="1" i="1" baseline="-25000" dirty="0" err="1"/>
              <a:t>j</a:t>
            </a:r>
            <a:r>
              <a:rPr lang="en-US" sz="2400" b="1" dirty="0"/>
              <a:t> = </a:t>
            </a:r>
            <a:r>
              <a:rPr lang="en-US" sz="2400" b="1" i="1" dirty="0"/>
              <a:t>j</a:t>
            </a:r>
            <a:r>
              <a:rPr lang="en-US" sz="2400" b="1" dirty="0"/>
              <a:t> . </a:t>
            </a:r>
          </a:p>
          <a:p>
            <a:pPr marL="0" indent="0">
              <a:buNone/>
            </a:pPr>
            <a:r>
              <a:rPr lang="en-US" sz="2400" b="1" dirty="0"/>
              <a:t>     </a:t>
            </a:r>
          </a:p>
        </p:txBody>
      </p:sp>
      <p:graphicFrame>
        <p:nvGraphicFramePr>
          <p:cNvPr id="3" name="Object 2"/>
          <p:cNvGraphicFramePr>
            <a:graphicFrameLocks noChangeAspect="1"/>
          </p:cNvGraphicFramePr>
          <p:nvPr>
            <p:extLst>
              <p:ext uri="{D42A27DB-BD31-4B8C-83A1-F6EECF244321}">
                <p14:modId xmlns:p14="http://schemas.microsoft.com/office/powerpoint/2010/main" val="3573749785"/>
              </p:ext>
            </p:extLst>
          </p:nvPr>
        </p:nvGraphicFramePr>
        <p:xfrm>
          <a:off x="4267200" y="3352800"/>
          <a:ext cx="3822700" cy="1019175"/>
        </p:xfrm>
        <a:graphic>
          <a:graphicData uri="http://schemas.openxmlformats.org/presentationml/2006/ole">
            <mc:AlternateContent xmlns:mc="http://schemas.openxmlformats.org/markup-compatibility/2006">
              <mc:Choice xmlns:v="urn:schemas-microsoft-com:vml" Requires="v">
                <p:oleObj name="公式" r:id="rId3" imgW="1714500" imgH="457200" progId="Equation.3">
                  <p:embed/>
                </p:oleObj>
              </mc:Choice>
              <mc:Fallback>
                <p:oleObj name="公式" r:id="rId3" imgW="1714500" imgH="457200" progId="Equation.3">
                  <p:embed/>
                  <p:pic>
                    <p:nvPicPr>
                      <p:cNvPr id="0" name="Picture 29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67200" y="3352800"/>
                        <a:ext cx="3822700" cy="1019175"/>
                      </a:xfrm>
                      <a:prstGeom prst="rect">
                        <a:avLst/>
                      </a:prstGeom>
                      <a:solidFill>
                        <a:schemeClr val="tx1"/>
                      </a:solidFill>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315249114"/>
              </p:ext>
            </p:extLst>
          </p:nvPr>
        </p:nvGraphicFramePr>
        <p:xfrm>
          <a:off x="633274" y="3357583"/>
          <a:ext cx="3087687" cy="1019175"/>
        </p:xfrm>
        <a:graphic>
          <a:graphicData uri="http://schemas.openxmlformats.org/presentationml/2006/ole">
            <mc:AlternateContent xmlns:mc="http://schemas.openxmlformats.org/markup-compatibility/2006">
              <mc:Choice xmlns:v="urn:schemas-microsoft-com:vml" Requires="v">
                <p:oleObj name="公式" r:id="rId5" imgW="1384300" imgH="457200" progId="Equation.3">
                  <p:embed/>
                </p:oleObj>
              </mc:Choice>
              <mc:Fallback>
                <p:oleObj name="公式" r:id="rId5" imgW="1384300" imgH="457200" progId="Equation.3">
                  <p:embed/>
                  <p:pic>
                    <p:nvPicPr>
                      <p:cNvPr id="0" name="Picture 29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274" y="3357583"/>
                        <a:ext cx="3087687" cy="1019175"/>
                      </a:xfrm>
                      <a:prstGeom prst="rect">
                        <a:avLst/>
                      </a:prstGeom>
                      <a:solidFill>
                        <a:schemeClr val="tx1"/>
                      </a:solidFill>
                    </p:spPr>
                  </p:pic>
                </p:oleObj>
              </mc:Fallback>
            </mc:AlternateContent>
          </a:graphicData>
        </a:graphic>
      </p:graphicFrame>
      <p:sp>
        <p:nvSpPr>
          <p:cNvPr id="4" name="TextBox 3"/>
          <p:cNvSpPr txBox="1"/>
          <p:nvPr/>
        </p:nvSpPr>
        <p:spPr>
          <a:xfrm>
            <a:off x="2069277" y="1367135"/>
            <a:ext cx="2350323" cy="461665"/>
          </a:xfrm>
          <a:prstGeom prst="rect">
            <a:avLst/>
          </a:prstGeom>
          <a:noFill/>
        </p:spPr>
        <p:txBody>
          <a:bodyPr wrap="none" rtlCol="0">
            <a:spAutoFit/>
          </a:bodyPr>
          <a:lstStyle/>
          <a:p>
            <a:r>
              <a:rPr lang="zh-CN" altLang="en-US" sz="2400" dirty="0">
                <a:solidFill>
                  <a:srgbClr val="3333FF"/>
                </a:solidFill>
                <a:latin typeface="黑体" panose="02010609060101010101" pitchFamily="49" charset="-122"/>
                <a:ea typeface="黑体" panose="02010609060101010101" pitchFamily="49" charset="-122"/>
              </a:rPr>
              <a:t>数组已逆序排好</a:t>
            </a:r>
            <a:endParaRPr lang="en-US" sz="2400" dirty="0">
              <a:solidFill>
                <a:srgbClr val="3333FF"/>
              </a:solidFill>
              <a:latin typeface="黑体" panose="02010609060101010101" pitchFamily="49" charset="-122"/>
              <a:ea typeface="黑体" panose="02010609060101010101" pitchFamily="49" charset="-122"/>
            </a:endParaRPr>
          </a:p>
        </p:txBody>
      </p:sp>
      <p:sp>
        <p:nvSpPr>
          <p:cNvPr id="10" name="Rectangle 3"/>
          <p:cNvSpPr txBox="1">
            <a:spLocks noChangeArrowheads="1"/>
          </p:cNvSpPr>
          <p:nvPr/>
        </p:nvSpPr>
        <p:spPr bwMode="auto">
          <a:xfrm>
            <a:off x="314325" y="5948860"/>
            <a:ext cx="8610600" cy="458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spcBef>
                <a:spcPts val="0"/>
              </a:spcBef>
              <a:spcAft>
                <a:spcPts val="600"/>
              </a:spcAft>
            </a:pPr>
            <a:r>
              <a:rPr lang="en-US" sz="2400" b="1" i="1" kern="0" dirty="0"/>
              <a:t>T</a:t>
            </a:r>
            <a:r>
              <a:rPr lang="en-US" sz="2400" b="1" kern="0" dirty="0"/>
              <a:t>(</a:t>
            </a:r>
            <a:r>
              <a:rPr lang="en-US" sz="2400" b="1" i="1" kern="0" dirty="0"/>
              <a:t>n</a:t>
            </a:r>
            <a:r>
              <a:rPr lang="en-US" sz="2400" b="1" kern="0" dirty="0"/>
              <a:t>)</a:t>
            </a:r>
            <a:r>
              <a:rPr lang="zh-CN" altLang="en-US" sz="2400" kern="0" dirty="0"/>
              <a:t>表示为</a:t>
            </a:r>
            <a:r>
              <a:rPr lang="en-US" sz="2400" b="1" i="1" kern="0" dirty="0"/>
              <a:t>an</a:t>
            </a:r>
            <a:r>
              <a:rPr lang="en-US" sz="2400" b="1" kern="0" baseline="30000" dirty="0"/>
              <a:t>2</a:t>
            </a:r>
            <a:r>
              <a:rPr lang="en-US" sz="2400" b="1" kern="0" dirty="0"/>
              <a:t> + </a:t>
            </a:r>
            <a:r>
              <a:rPr lang="en-US" sz="2400" b="1" i="1" kern="0" dirty="0" err="1"/>
              <a:t>bn</a:t>
            </a:r>
            <a:r>
              <a:rPr lang="en-US" sz="2400" b="1" kern="0" dirty="0"/>
              <a:t> + </a:t>
            </a:r>
            <a:r>
              <a:rPr lang="en-US" sz="2400" b="1" i="1" kern="0" dirty="0"/>
              <a:t>c</a:t>
            </a:r>
            <a:r>
              <a:rPr lang="zh-CN" altLang="en-US" sz="2400" b="1" kern="0" dirty="0"/>
              <a:t>，其中常量</a:t>
            </a:r>
            <a:r>
              <a:rPr lang="en-US" sz="2400" b="1" i="1" kern="0" dirty="0"/>
              <a:t>a,</a:t>
            </a:r>
            <a:r>
              <a:rPr lang="en-US" sz="2400" b="1" kern="0" dirty="0"/>
              <a:t> </a:t>
            </a:r>
            <a:r>
              <a:rPr lang="en-US" sz="2400" b="1" i="1" kern="0" dirty="0"/>
              <a:t>b</a:t>
            </a:r>
            <a:r>
              <a:rPr lang="zh-CN" altLang="en-US" sz="2400" b="1" kern="0" dirty="0"/>
              <a:t>和</a:t>
            </a:r>
            <a:r>
              <a:rPr lang="en-US" sz="2400" b="1" i="1" kern="0" dirty="0"/>
              <a:t>c</a:t>
            </a:r>
            <a:r>
              <a:rPr lang="en-US" sz="2400" b="1" kern="0" dirty="0"/>
              <a:t> </a:t>
            </a:r>
            <a:r>
              <a:rPr lang="zh-CN" altLang="en-US" sz="2400" b="1" kern="0" dirty="0"/>
              <a:t>依赖于语句代价</a:t>
            </a:r>
            <a:r>
              <a:rPr lang="en-US" sz="2400" b="1" i="1" kern="0" dirty="0"/>
              <a:t>c</a:t>
            </a:r>
            <a:r>
              <a:rPr lang="en-US" sz="2400" b="1" i="1" kern="0" baseline="-25000" dirty="0"/>
              <a:t>i</a:t>
            </a:r>
            <a:endParaRPr lang="en-US" sz="2400" b="1" kern="0" dirty="0"/>
          </a:p>
        </p:txBody>
      </p:sp>
      <p:graphicFrame>
        <p:nvGraphicFramePr>
          <p:cNvPr id="11" name="Object 3"/>
          <p:cNvGraphicFramePr>
            <a:graphicFrameLocks noChangeAspect="1"/>
          </p:cNvGraphicFramePr>
          <p:nvPr>
            <p:extLst>
              <p:ext uri="{D42A27DB-BD31-4B8C-83A1-F6EECF244321}">
                <p14:modId xmlns:p14="http://schemas.microsoft.com/office/powerpoint/2010/main" val="1582376553"/>
              </p:ext>
            </p:extLst>
          </p:nvPr>
        </p:nvGraphicFramePr>
        <p:xfrm>
          <a:off x="609600" y="4424362"/>
          <a:ext cx="7499350" cy="1366838"/>
        </p:xfrm>
        <a:graphic>
          <a:graphicData uri="http://schemas.openxmlformats.org/presentationml/2006/ole">
            <mc:AlternateContent xmlns:mc="http://schemas.openxmlformats.org/markup-compatibility/2006">
              <mc:Choice xmlns:v="urn:schemas-microsoft-com:vml" Requires="v">
                <p:oleObj name="公式" r:id="rId7" imgW="3136900" imgH="571500" progId="Equation.3">
                  <p:embed/>
                </p:oleObj>
              </mc:Choice>
              <mc:Fallback>
                <p:oleObj name="公式" r:id="rId7" imgW="3136900" imgH="571500" progId="Equation.3">
                  <p:embed/>
                  <p:pic>
                    <p:nvPicPr>
                      <p:cNvPr id="0" name="Picture 29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 y="4424362"/>
                        <a:ext cx="7499350" cy="1366838"/>
                      </a:xfrm>
                      <a:prstGeom prst="rect">
                        <a:avLst/>
                      </a:prstGeom>
                      <a:solidFill>
                        <a:schemeClr val="tx1"/>
                      </a:solidFill>
                    </p:spPr>
                  </p:pic>
                </p:oleObj>
              </mc:Fallback>
            </mc:AlternateContent>
          </a:graphicData>
        </a:graphic>
      </p:graphicFrame>
      <p:sp>
        <p:nvSpPr>
          <p:cNvPr id="12" name="AutoShape 5"/>
          <p:cNvSpPr>
            <a:spLocks noChangeArrowheads="1"/>
          </p:cNvSpPr>
          <p:nvPr/>
        </p:nvSpPr>
        <p:spPr bwMode="auto">
          <a:xfrm>
            <a:off x="4953000" y="5486400"/>
            <a:ext cx="2016125" cy="384751"/>
          </a:xfrm>
          <a:prstGeom prst="wedgeRoundRectCallout">
            <a:avLst>
              <a:gd name="adj1" fmla="val -109260"/>
              <a:gd name="adj2" fmla="val 96727"/>
              <a:gd name="adj3" fmla="val 16667"/>
            </a:avLst>
          </a:prstGeom>
          <a:solidFill>
            <a:schemeClr val="accent1"/>
          </a:solidFill>
          <a:ln w="9525">
            <a:solidFill>
              <a:schemeClr val="tx1"/>
            </a:solidFill>
            <a:miter lim="800000"/>
            <a:headEnd/>
            <a:tailEnd/>
          </a:ln>
        </p:spPr>
        <p:txBody>
          <a:bodyPr/>
          <a:lstStyle>
            <a:lvl1pPr>
              <a:spcBef>
                <a:spcPct val="20000"/>
              </a:spcBef>
              <a:buClr>
                <a:schemeClr val="folHlink"/>
              </a:buClr>
              <a:buSzPct val="60000"/>
              <a:buFont typeface="Wingdings" panose="05000000000000000000" pitchFamily="2" charset="2"/>
              <a:buChar char="n"/>
              <a:defRPr sz="3200" b="1">
                <a:solidFill>
                  <a:schemeClr val="tx1"/>
                </a:solidFill>
                <a:latin typeface="华文新魏" panose="02010800040101010101" pitchFamily="2" charset="-122"/>
                <a:ea typeface="华文新魏" panose="02010800040101010101" pitchFamily="2" charset="-122"/>
              </a:defRPr>
            </a:lvl1pPr>
            <a:lvl2pPr marL="742950" indent="-285750">
              <a:spcBef>
                <a:spcPct val="20000"/>
              </a:spcBef>
              <a:buClr>
                <a:schemeClr val="hlink"/>
              </a:buClr>
              <a:buSzPct val="55000"/>
              <a:buFont typeface="Wingdings" panose="05000000000000000000" pitchFamily="2" charset="2"/>
              <a:buChar char="n"/>
              <a:defRPr sz="2800" b="1">
                <a:solidFill>
                  <a:schemeClr val="tx1"/>
                </a:solidFill>
                <a:latin typeface="华文新魏" panose="02010800040101010101" pitchFamily="2" charset="-122"/>
                <a:ea typeface="华文新魏" panose="02010800040101010101" pitchFamily="2" charset="-122"/>
              </a:defRPr>
            </a:lvl2pPr>
            <a:lvl3pPr marL="1143000" indent="-228600">
              <a:spcBef>
                <a:spcPct val="20000"/>
              </a:spcBef>
              <a:buClr>
                <a:schemeClr val="folHlink"/>
              </a:buClr>
              <a:buSzPct val="50000"/>
              <a:buFont typeface="Wingdings" panose="05000000000000000000" pitchFamily="2" charset="2"/>
              <a:buChar char="n"/>
              <a:defRPr sz="2400" b="1">
                <a:solidFill>
                  <a:schemeClr val="tx1"/>
                </a:solidFill>
                <a:latin typeface="华文新魏" panose="02010800040101010101" pitchFamily="2" charset="-122"/>
                <a:ea typeface="华文新魏" panose="02010800040101010101" pitchFamily="2" charset="-122"/>
              </a:defRPr>
            </a:lvl3pPr>
            <a:lvl4pPr marL="1600200" indent="-228600">
              <a:spcBef>
                <a:spcPct val="20000"/>
              </a:spcBef>
              <a:buClr>
                <a:schemeClr val="accent2"/>
              </a:buClr>
              <a:buSzPct val="55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4pPr>
            <a:lvl5pPr marL="2057400" indent="-228600">
              <a:spcBef>
                <a:spcPct val="20000"/>
              </a:spcBef>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b="1">
                <a:solidFill>
                  <a:schemeClr val="tx1"/>
                </a:solidFill>
                <a:latin typeface="华文新魏" panose="02010800040101010101" pitchFamily="2" charset="-122"/>
                <a:ea typeface="华文新魏" panose="02010800040101010101" pitchFamily="2" charset="-122"/>
              </a:defRPr>
            </a:lvl9pPr>
          </a:lstStyle>
          <a:p>
            <a:pPr algn="ctr" eaLnBrk="1" hangingPunct="1">
              <a:spcBef>
                <a:spcPct val="0"/>
              </a:spcBef>
              <a:buClrTx/>
              <a:buSzTx/>
              <a:buFontTx/>
              <a:buNone/>
            </a:pPr>
            <a:r>
              <a:rPr lang="zh-CN" altLang="en-US" sz="1800" dirty="0">
                <a:solidFill>
                  <a:schemeClr val="bg2"/>
                </a:solidFill>
                <a:latin typeface="Tahoma" panose="020B0604030504040204" pitchFamily="34" charset="0"/>
                <a:ea typeface="宋体" panose="02010600030101010101" pitchFamily="2" charset="-122"/>
              </a:rPr>
              <a:t>二次函数</a:t>
            </a:r>
          </a:p>
        </p:txBody>
      </p:sp>
    </p:spTree>
    <p:extLst>
      <p:ext uri="{BB962C8B-B14F-4D97-AF65-F5344CB8AC3E}">
        <p14:creationId xmlns:p14="http://schemas.microsoft.com/office/powerpoint/2010/main" val="2812119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build="p"/>
      <p:bldP spid="4" grpId="0"/>
      <p:bldP spid="10" grpId="0" build="p"/>
      <p:bldP spid="1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33400" y="76200"/>
            <a:ext cx="7772400" cy="838200"/>
          </a:xfrm>
        </p:spPr>
        <p:txBody>
          <a:bodyPr/>
          <a:lstStyle/>
          <a:p>
            <a:r>
              <a:rPr lang="en-US" altLang="zh-CN" sz="3600" dirty="0"/>
              <a:t>1.2 </a:t>
            </a:r>
            <a:r>
              <a:rPr lang="zh-CN" altLang="en-US" sz="3600" dirty="0"/>
              <a:t>分析插入排序算法</a:t>
            </a:r>
            <a:r>
              <a:rPr lang="en-US" altLang="zh-CN" sz="3600" dirty="0"/>
              <a:t> (7)</a:t>
            </a:r>
            <a:endParaRPr lang="zh-CN" altLang="en-US" sz="3600" dirty="0"/>
          </a:p>
        </p:txBody>
      </p:sp>
      <p:sp>
        <p:nvSpPr>
          <p:cNvPr id="3" name="内容占位符 2"/>
          <p:cNvSpPr>
            <a:spLocks noGrp="1"/>
          </p:cNvSpPr>
          <p:nvPr>
            <p:ph idx="1"/>
          </p:nvPr>
        </p:nvSpPr>
        <p:spPr>
          <a:xfrm>
            <a:off x="685800" y="1600200"/>
            <a:ext cx="7772400" cy="4495800"/>
          </a:xfrm>
          <a:prstGeom prst="rect">
            <a:avLst/>
          </a:prstGeom>
        </p:spPr>
        <p:txBody>
          <a:bodyPr/>
          <a:lstStyle/>
          <a:p>
            <a:r>
              <a:rPr lang="zh-CN" altLang="en-US" b="1" dirty="0">
                <a:solidFill>
                  <a:srgbClr val="3333FF"/>
                </a:solidFill>
                <a:latin typeface="黑体" panose="02010609060101010101" pitchFamily="49" charset="-122"/>
                <a:ea typeface="黑体" panose="02010609060101010101" pitchFamily="49" charset="-122"/>
              </a:rPr>
              <a:t>平均情况：不同的比较次数等概率出现</a:t>
            </a:r>
            <a:endParaRPr lang="en-US" altLang="zh-CN" b="1" dirty="0">
              <a:solidFill>
                <a:srgbClr val="3333FF"/>
              </a:solidFill>
              <a:latin typeface="黑体" panose="02010609060101010101" pitchFamily="49" charset="-122"/>
              <a:ea typeface="黑体" panose="02010609060101010101" pitchFamily="49" charset="-122"/>
            </a:endParaRPr>
          </a:p>
          <a:p>
            <a:r>
              <a:rPr lang="en-US" altLang="zh-CN" b="1" i="1" dirty="0" err="1"/>
              <a:t>t</a:t>
            </a:r>
            <a:r>
              <a:rPr lang="en-US" altLang="zh-CN" b="1" i="1" baseline="-25000" dirty="0" err="1"/>
              <a:t>j</a:t>
            </a:r>
            <a:r>
              <a:rPr lang="zh-CN" altLang="en-US" b="1" dirty="0"/>
              <a:t>理解为随机变量</a:t>
            </a:r>
            <a:endParaRPr lang="en-US" altLang="zh-CN" b="1" dirty="0"/>
          </a:p>
          <a:p>
            <a:endParaRPr lang="en-US" altLang="zh-CN" b="1" dirty="0"/>
          </a:p>
          <a:p>
            <a:endParaRPr lang="en-US" altLang="zh-CN" b="1" dirty="0"/>
          </a:p>
          <a:p>
            <a:endParaRPr lang="en-US" altLang="zh-CN" b="1" dirty="0"/>
          </a:p>
          <a:p>
            <a:r>
              <a:rPr lang="zh-CN" altLang="en-US" b="1" dirty="0"/>
              <a:t>参看最坏情况下</a:t>
            </a:r>
            <a:r>
              <a:rPr lang="en-US" altLang="zh-CN" b="1" i="1" dirty="0" err="1"/>
              <a:t>t</a:t>
            </a:r>
            <a:r>
              <a:rPr lang="en-US" altLang="zh-CN" b="1" i="1" baseline="-25000" dirty="0" err="1"/>
              <a:t>j</a:t>
            </a:r>
            <a:r>
              <a:rPr lang="en-US" altLang="zh-CN" b="1" dirty="0"/>
              <a:t> = </a:t>
            </a:r>
            <a:r>
              <a:rPr lang="en-US" altLang="zh-CN" b="1" i="1" dirty="0"/>
              <a:t>j </a:t>
            </a:r>
            <a:r>
              <a:rPr lang="zh-CN" altLang="en-US" b="1" dirty="0"/>
              <a:t>，</a:t>
            </a:r>
            <a:r>
              <a:rPr lang="en-US" altLang="zh-CN" b="1" i="1" dirty="0"/>
              <a:t>T</a:t>
            </a:r>
            <a:r>
              <a:rPr lang="en-US" altLang="zh-CN" b="1" dirty="0"/>
              <a:t>(</a:t>
            </a:r>
            <a:r>
              <a:rPr lang="en-US" altLang="zh-CN" b="1" i="1" dirty="0"/>
              <a:t>n</a:t>
            </a:r>
            <a:r>
              <a:rPr lang="en-US" altLang="zh-CN" b="1" dirty="0"/>
              <a:t>)</a:t>
            </a:r>
            <a:r>
              <a:rPr lang="zh-CN" altLang="en-US" b="1" dirty="0"/>
              <a:t>表示为</a:t>
            </a:r>
            <a:r>
              <a:rPr lang="en-US" altLang="zh-CN" b="1" i="1" dirty="0"/>
              <a:t>an</a:t>
            </a:r>
            <a:r>
              <a:rPr lang="en-US" altLang="zh-CN" b="1" baseline="30000" dirty="0"/>
              <a:t>2</a:t>
            </a:r>
            <a:r>
              <a:rPr lang="en-US" altLang="zh-CN" b="1" dirty="0"/>
              <a:t> + </a:t>
            </a:r>
            <a:r>
              <a:rPr lang="en-US" altLang="zh-CN" b="1" i="1" dirty="0" err="1"/>
              <a:t>bn</a:t>
            </a:r>
            <a:r>
              <a:rPr lang="en-US" altLang="zh-CN" b="1" dirty="0"/>
              <a:t> + </a:t>
            </a:r>
            <a:r>
              <a:rPr lang="en-US" altLang="zh-CN" b="1" i="1" dirty="0"/>
              <a:t>c</a:t>
            </a:r>
            <a:r>
              <a:rPr lang="en-US" altLang="zh-CN" b="1" dirty="0"/>
              <a:t> </a:t>
            </a:r>
            <a:r>
              <a:rPr lang="zh-CN" altLang="en-US" b="1" dirty="0"/>
              <a:t>，则平均情况下的运行时间仍是</a:t>
            </a:r>
            <a:r>
              <a:rPr lang="en-US" altLang="zh-CN" b="1" dirty="0"/>
              <a:t>n</a:t>
            </a:r>
            <a:r>
              <a:rPr lang="zh-CN" altLang="en-US" b="1" dirty="0"/>
              <a:t>的二次函数</a:t>
            </a:r>
          </a:p>
          <a:p>
            <a:endParaRPr lang="zh-CN" altLang="en-US" dirty="0"/>
          </a:p>
        </p:txBody>
      </p:sp>
      <p:graphicFrame>
        <p:nvGraphicFramePr>
          <p:cNvPr id="134146" name="Object 2"/>
          <p:cNvGraphicFramePr>
            <a:graphicFrameLocks noChangeAspect="1"/>
          </p:cNvGraphicFramePr>
          <p:nvPr>
            <p:extLst>
              <p:ext uri="{D42A27DB-BD31-4B8C-83A1-F6EECF244321}">
                <p14:modId xmlns:p14="http://schemas.microsoft.com/office/powerpoint/2010/main" val="2022661023"/>
              </p:ext>
            </p:extLst>
          </p:nvPr>
        </p:nvGraphicFramePr>
        <p:xfrm>
          <a:off x="1143000" y="2743200"/>
          <a:ext cx="4926012" cy="931863"/>
        </p:xfrm>
        <a:graphic>
          <a:graphicData uri="http://schemas.openxmlformats.org/presentationml/2006/ole">
            <mc:AlternateContent xmlns:mc="http://schemas.openxmlformats.org/markup-compatibility/2006">
              <mc:Choice xmlns:v="urn:schemas-microsoft-com:vml" Requires="v">
                <p:oleObj name="Equation" r:id="rId2" imgW="2209800" imgH="419100" progId="Equation.DSMT4">
                  <p:embed/>
                </p:oleObj>
              </mc:Choice>
              <mc:Fallback>
                <p:oleObj name="Equation" r:id="rId2" imgW="2209800" imgH="419100" progId="Equation.DSMT4">
                  <p:embed/>
                  <p:pic>
                    <p:nvPicPr>
                      <p:cNvPr id="0" name="Picture 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2743200"/>
                        <a:ext cx="4926012" cy="931863"/>
                      </a:xfrm>
                      <a:prstGeom prst="rect">
                        <a:avLst/>
                      </a:prstGeom>
                      <a:solidFill>
                        <a:schemeClr val="tx1"/>
                      </a:solid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4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381000" y="76200"/>
            <a:ext cx="7772400" cy="838200"/>
          </a:xfrm>
        </p:spPr>
        <p:txBody>
          <a:bodyPr/>
          <a:lstStyle/>
          <a:p>
            <a:r>
              <a:rPr lang="en-US" altLang="zh-CN" sz="3600" dirty="0"/>
              <a:t>1.2 </a:t>
            </a:r>
            <a:r>
              <a:rPr lang="zh-CN" altLang="en-US" sz="3600" dirty="0"/>
              <a:t>分析插入排序算法</a:t>
            </a:r>
            <a:r>
              <a:rPr lang="en-US" altLang="zh-CN" sz="3600" dirty="0"/>
              <a:t> (8)</a:t>
            </a:r>
            <a:endParaRPr lang="en-US" sz="3600" b="1" dirty="0">
              <a:solidFill>
                <a:srgbClr val="0000CC"/>
              </a:solidFill>
            </a:endParaRPr>
          </a:p>
        </p:txBody>
      </p:sp>
      <p:sp>
        <p:nvSpPr>
          <p:cNvPr id="7171" name="Rectangle 3"/>
          <p:cNvSpPr>
            <a:spLocks noGrp="1" noChangeArrowheads="1"/>
          </p:cNvSpPr>
          <p:nvPr>
            <p:ph type="body" idx="4294967295"/>
          </p:nvPr>
        </p:nvSpPr>
        <p:spPr>
          <a:xfrm>
            <a:off x="381000" y="1371600"/>
            <a:ext cx="8763000" cy="5257800"/>
          </a:xfrm>
        </p:spPr>
        <p:txBody>
          <a:bodyPr>
            <a:normAutofit/>
          </a:bodyPr>
          <a:lstStyle/>
          <a:p>
            <a:pPr marL="0" indent="0">
              <a:buNone/>
            </a:pPr>
            <a:r>
              <a:rPr lang="zh-CN" altLang="en-US" b="1" dirty="0">
                <a:solidFill>
                  <a:srgbClr val="3333FF"/>
                </a:solidFill>
                <a:latin typeface="黑体" panose="02010609060101010101" pitchFamily="49" charset="-122"/>
                <a:ea typeface="黑体" panose="02010609060101010101" pitchFamily="49" charset="-122"/>
              </a:rPr>
              <a:t>最坏情况与平均情况分析：</a:t>
            </a:r>
            <a:endParaRPr lang="en-US" b="1" i="1" dirty="0">
              <a:solidFill>
                <a:srgbClr val="3333FF"/>
              </a:solidFill>
              <a:latin typeface="黑体" panose="02010609060101010101" pitchFamily="49" charset="-122"/>
              <a:ea typeface="黑体" panose="02010609060101010101" pitchFamily="49" charset="-122"/>
            </a:endParaRPr>
          </a:p>
          <a:p>
            <a:pPr>
              <a:spcBef>
                <a:spcPts val="1200"/>
              </a:spcBef>
            </a:pPr>
            <a:r>
              <a:rPr lang="zh-CN" altLang="en-US" b="1" dirty="0"/>
              <a:t>通常关心最坏情况运行时间：</a:t>
            </a:r>
            <a:endParaRPr lang="en-US" b="1" dirty="0"/>
          </a:p>
          <a:p>
            <a:pPr marL="685800" lvl="1">
              <a:spcBef>
                <a:spcPts val="1200"/>
              </a:spcBef>
            </a:pPr>
            <a:r>
              <a:rPr lang="zh-CN" altLang="en-US" sz="2200" b="1" dirty="0"/>
              <a:t>算法的最坏情况运行时间给出了任何输入的运行时间的一个</a:t>
            </a:r>
            <a:r>
              <a:rPr lang="zh-CN" altLang="en-US" sz="2200" b="1" dirty="0">
                <a:solidFill>
                  <a:srgbClr val="CC3300"/>
                </a:solidFill>
              </a:rPr>
              <a:t>上界</a:t>
            </a:r>
            <a:endParaRPr lang="en-US" sz="2200" b="1" dirty="0">
              <a:solidFill>
                <a:srgbClr val="CC3300"/>
              </a:solidFill>
            </a:endParaRPr>
          </a:p>
          <a:p>
            <a:pPr marL="685800" lvl="1">
              <a:spcBef>
                <a:spcPts val="1200"/>
              </a:spcBef>
            </a:pPr>
            <a:r>
              <a:rPr lang="zh-CN" altLang="en-US" sz="2200" b="1" dirty="0"/>
              <a:t>对某些算法，最坏情况经常出现</a:t>
            </a:r>
            <a:endParaRPr lang="en-US" sz="2200" b="1" dirty="0"/>
          </a:p>
          <a:p>
            <a:pPr marL="685800" lvl="1">
              <a:spcBef>
                <a:spcPts val="1200"/>
              </a:spcBef>
            </a:pPr>
            <a:r>
              <a:rPr lang="zh-CN" altLang="en-US" sz="2200" b="1" dirty="0"/>
              <a:t>有时定义平均情况较为困难</a:t>
            </a:r>
            <a:endParaRPr lang="en-US" sz="2200" b="1" dirty="0"/>
          </a:p>
          <a:p>
            <a:pPr marL="685800" lvl="1">
              <a:spcBef>
                <a:spcPts val="1200"/>
              </a:spcBef>
            </a:pPr>
            <a:r>
              <a:rPr lang="zh-CN" altLang="en-US" sz="2200" b="1" dirty="0"/>
              <a:t>平均情况的时间复杂度往往与最坏情况一样</a:t>
            </a:r>
            <a:endParaRPr lang="en-US" sz="2200" b="1" dirty="0"/>
          </a:p>
          <a:p>
            <a:pPr marL="400050" lvl="1" indent="0">
              <a:spcBef>
                <a:spcPts val="1200"/>
              </a:spcBef>
              <a:buNone/>
            </a:pPr>
            <a:r>
              <a:rPr lang="zh-CN" altLang="en-US" sz="2200" b="1" dirty="0"/>
              <a:t>例子</a:t>
            </a:r>
            <a:r>
              <a:rPr lang="en-US" sz="2200" b="1" dirty="0"/>
              <a:t>: </a:t>
            </a:r>
            <a:r>
              <a:rPr lang="zh-CN" altLang="en-US" sz="2200" b="1" dirty="0"/>
              <a:t>对插入排序而言，平均情况运行时间仍是</a:t>
            </a:r>
            <a:r>
              <a:rPr lang="en-US" sz="2200" b="1" i="1" dirty="0"/>
              <a:t>n</a:t>
            </a:r>
            <a:r>
              <a:rPr lang="zh-CN" altLang="en-US" sz="2200" b="1" dirty="0"/>
              <a:t>的二次函数</a:t>
            </a:r>
            <a:endParaRPr lang="en-US" altLang="zh-CN" sz="2200" b="1" dirty="0"/>
          </a:p>
          <a:p>
            <a:pPr>
              <a:lnSpc>
                <a:spcPct val="90000"/>
              </a:lnSpc>
              <a:spcBef>
                <a:spcPts val="1200"/>
              </a:spcBef>
            </a:pPr>
            <a:r>
              <a:rPr lang="zh-CN" altLang="en-US" b="1" dirty="0"/>
              <a:t>平均情况分析：</a:t>
            </a:r>
            <a:endParaRPr lang="en-US" altLang="zh-CN" b="1" dirty="0"/>
          </a:p>
          <a:p>
            <a:pPr marL="685800" lvl="1">
              <a:lnSpc>
                <a:spcPct val="90000"/>
              </a:lnSpc>
              <a:spcBef>
                <a:spcPts val="1200"/>
              </a:spcBef>
            </a:pPr>
            <a:r>
              <a:rPr lang="zh-CN" altLang="en-US" sz="2200" b="1" dirty="0"/>
              <a:t>通常假定一个特定规模下的所有输入的</a:t>
            </a:r>
            <a:r>
              <a:rPr lang="zh-CN" altLang="en-US" sz="2200" b="1" dirty="0">
                <a:latin typeface="宋体" panose="02010600030101010101" pitchFamily="2" charset="-122"/>
                <a:ea typeface="宋体" panose="02010600030101010101" pitchFamily="2" charset="-122"/>
              </a:rPr>
              <a:t>“平均性”</a:t>
            </a:r>
            <a:r>
              <a:rPr lang="zh-CN" altLang="en-US" sz="2200" b="1" dirty="0"/>
              <a:t>都是一样的</a:t>
            </a:r>
          </a:p>
          <a:p>
            <a:pPr marL="685800" lvl="1">
              <a:lnSpc>
                <a:spcPct val="90000"/>
              </a:lnSpc>
              <a:spcBef>
                <a:spcPts val="1200"/>
              </a:spcBef>
            </a:pPr>
            <a:r>
              <a:rPr lang="zh-CN" altLang="en-US" sz="2200" b="1" dirty="0"/>
              <a:t>也可以采用随机算法强制达到平均。</a:t>
            </a:r>
          </a:p>
          <a:p>
            <a:pPr marL="400050" lvl="1" indent="0">
              <a:buNone/>
            </a:pPr>
            <a:endParaRPr lang="en-US" sz="2000" b="1" dirty="0"/>
          </a:p>
        </p:txBody>
      </p:sp>
    </p:spTree>
    <p:extLst>
      <p:ext uri="{BB962C8B-B14F-4D97-AF65-F5344CB8AC3E}">
        <p14:creationId xmlns:p14="http://schemas.microsoft.com/office/powerpoint/2010/main" val="2357584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txBox="1">
            <a:spLocks noChangeArrowheads="1"/>
          </p:cNvSpPr>
          <p:nvPr/>
        </p:nvSpPr>
        <p:spPr bwMode="auto">
          <a:xfrm>
            <a:off x="457200" y="1447800"/>
            <a:ext cx="8305800" cy="487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b="1">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lnSpc>
                <a:spcPct val="120000"/>
              </a:lnSpc>
              <a:spcBef>
                <a:spcPts val="600"/>
              </a:spcBef>
            </a:pPr>
            <a:r>
              <a:rPr lang="zh-CN" altLang="en-US" sz="2400" kern="0" dirty="0"/>
              <a:t>算法复杂性 </a:t>
            </a:r>
            <a:r>
              <a:rPr lang="en-US" altLang="zh-CN" sz="2400" kern="0" dirty="0"/>
              <a:t>= </a:t>
            </a:r>
            <a:r>
              <a:rPr lang="zh-CN" altLang="en-US" sz="2400" kern="0" dirty="0"/>
              <a:t>算法所需要的计算机资源；</a:t>
            </a:r>
          </a:p>
          <a:p>
            <a:pPr>
              <a:lnSpc>
                <a:spcPct val="120000"/>
              </a:lnSpc>
              <a:spcBef>
                <a:spcPts val="600"/>
              </a:spcBef>
            </a:pPr>
            <a:r>
              <a:rPr lang="zh-CN" altLang="en-US" sz="2400" kern="0" dirty="0"/>
              <a:t>算法的时间复杂性</a:t>
            </a:r>
            <a:r>
              <a:rPr lang="en-US" altLang="zh-CN" sz="2400" i="1" kern="0" dirty="0"/>
              <a:t>T</a:t>
            </a:r>
            <a:r>
              <a:rPr lang="en-US" altLang="zh-CN" sz="2400" kern="0" dirty="0"/>
              <a:t>(</a:t>
            </a:r>
            <a:r>
              <a:rPr lang="en-US" altLang="zh-CN" sz="2400" i="1" kern="0" dirty="0"/>
              <a:t>n</a:t>
            </a:r>
            <a:r>
              <a:rPr lang="en-US" altLang="zh-CN" sz="2400" kern="0" dirty="0"/>
              <a:t>)</a:t>
            </a:r>
            <a:r>
              <a:rPr lang="zh-CN" altLang="en-US" sz="2400" kern="0" dirty="0"/>
              <a:t>，其中</a:t>
            </a:r>
            <a:r>
              <a:rPr lang="en-US" altLang="zh-CN" sz="2400" i="1" kern="0" dirty="0"/>
              <a:t>n</a:t>
            </a:r>
            <a:r>
              <a:rPr lang="zh-CN" altLang="en-US" sz="2400" kern="0" dirty="0"/>
              <a:t>是问题的输入规模。</a:t>
            </a:r>
            <a:endParaRPr lang="en-US" altLang="zh-CN" sz="2400" kern="0" dirty="0"/>
          </a:p>
          <a:p>
            <a:pPr lvl="1">
              <a:lnSpc>
                <a:spcPct val="120000"/>
              </a:lnSpc>
              <a:spcBef>
                <a:spcPts val="600"/>
              </a:spcBef>
            </a:pPr>
            <a:r>
              <a:rPr lang="zh-CN" altLang="en-US" sz="2000" dirty="0">
                <a:solidFill>
                  <a:srgbClr val="3907F1"/>
                </a:solidFill>
                <a:latin typeface="黑体" panose="02010609060101010101" pitchFamily="49" charset="-122"/>
                <a:ea typeface="黑体" panose="02010609060101010101" pitchFamily="49" charset="-122"/>
              </a:rPr>
              <a:t>最坏情况</a:t>
            </a:r>
            <a:r>
              <a:rPr lang="zh-CN" altLang="en-US" sz="2000" dirty="0"/>
              <a:t>下的时间复杂性</a:t>
            </a:r>
          </a:p>
          <a:p>
            <a:pPr marL="457200" lvl="1" indent="0">
              <a:lnSpc>
                <a:spcPct val="120000"/>
              </a:lnSpc>
              <a:spcBef>
                <a:spcPts val="600"/>
              </a:spcBef>
              <a:buNone/>
            </a:pPr>
            <a:r>
              <a:rPr lang="zh-CN" altLang="en-US" sz="2000" i="1" dirty="0"/>
              <a:t>     </a:t>
            </a:r>
            <a:r>
              <a:rPr lang="en-US" altLang="zh-CN" sz="2000" i="1" dirty="0" err="1"/>
              <a:t>T</a:t>
            </a:r>
            <a:r>
              <a:rPr lang="en-US" altLang="zh-CN" sz="2000" baseline="-25000" dirty="0" err="1"/>
              <a:t>max</a:t>
            </a:r>
            <a:r>
              <a:rPr lang="en-US" altLang="zh-CN" sz="2000" dirty="0"/>
              <a:t>(</a:t>
            </a:r>
            <a:r>
              <a:rPr lang="en-US" altLang="zh-CN" sz="2000" i="1" dirty="0"/>
              <a:t>n</a:t>
            </a:r>
            <a:r>
              <a:rPr lang="en-US" altLang="zh-CN" sz="2000" dirty="0"/>
              <a:t>) = max{ </a:t>
            </a:r>
            <a:r>
              <a:rPr lang="en-US" altLang="zh-CN" sz="2000" i="1" dirty="0"/>
              <a:t>T</a:t>
            </a:r>
            <a:r>
              <a:rPr lang="en-US" altLang="zh-CN" sz="2000" dirty="0"/>
              <a:t>(I) | size(I)=</a:t>
            </a:r>
            <a:r>
              <a:rPr lang="en-US" altLang="zh-CN" sz="2000" i="1" dirty="0"/>
              <a:t>n </a:t>
            </a:r>
            <a:r>
              <a:rPr lang="en-US" altLang="zh-CN" sz="2000" dirty="0"/>
              <a:t>}</a:t>
            </a:r>
          </a:p>
          <a:p>
            <a:pPr lvl="1">
              <a:lnSpc>
                <a:spcPct val="120000"/>
              </a:lnSpc>
              <a:spcBef>
                <a:spcPts val="600"/>
              </a:spcBef>
            </a:pPr>
            <a:r>
              <a:rPr lang="zh-CN" altLang="en-US" sz="2000" dirty="0">
                <a:solidFill>
                  <a:srgbClr val="3907F1"/>
                </a:solidFill>
                <a:latin typeface="黑体" panose="02010609060101010101" pitchFamily="49" charset="-122"/>
                <a:ea typeface="黑体" panose="02010609060101010101" pitchFamily="49" charset="-122"/>
              </a:rPr>
              <a:t>最好情况</a:t>
            </a:r>
            <a:r>
              <a:rPr lang="zh-CN" altLang="en-US" sz="2000" dirty="0"/>
              <a:t>下的时间复杂性</a:t>
            </a:r>
          </a:p>
          <a:p>
            <a:pPr marL="457200" lvl="1" indent="0">
              <a:lnSpc>
                <a:spcPct val="120000"/>
              </a:lnSpc>
              <a:spcBef>
                <a:spcPts val="600"/>
              </a:spcBef>
              <a:buNone/>
            </a:pPr>
            <a:r>
              <a:rPr lang="zh-CN" altLang="en-US" sz="2000" i="1" dirty="0"/>
              <a:t>     </a:t>
            </a:r>
            <a:r>
              <a:rPr lang="en-US" altLang="zh-CN" sz="2000" i="1" dirty="0" err="1"/>
              <a:t>T</a:t>
            </a:r>
            <a:r>
              <a:rPr lang="en-US" altLang="zh-CN" sz="2000" baseline="-25000" dirty="0" err="1"/>
              <a:t>min</a:t>
            </a:r>
            <a:r>
              <a:rPr lang="en-US" altLang="zh-CN" sz="2000" dirty="0"/>
              <a:t>(</a:t>
            </a:r>
            <a:r>
              <a:rPr lang="en-US" altLang="zh-CN" sz="2000" i="1" dirty="0"/>
              <a:t>n</a:t>
            </a:r>
            <a:r>
              <a:rPr lang="en-US" altLang="zh-CN" sz="2000" dirty="0"/>
              <a:t>) = min{ </a:t>
            </a:r>
            <a:r>
              <a:rPr lang="en-US" altLang="zh-CN" sz="2000" i="1" dirty="0"/>
              <a:t>T</a:t>
            </a:r>
            <a:r>
              <a:rPr lang="en-US" altLang="zh-CN" sz="2000" dirty="0"/>
              <a:t>(I) | size(I)=</a:t>
            </a:r>
            <a:r>
              <a:rPr lang="en-US" altLang="zh-CN" sz="2000" i="1" dirty="0"/>
              <a:t>n </a:t>
            </a:r>
            <a:r>
              <a:rPr lang="en-US" altLang="zh-CN" sz="2000" dirty="0"/>
              <a:t>}</a:t>
            </a:r>
          </a:p>
          <a:p>
            <a:pPr lvl="1">
              <a:lnSpc>
                <a:spcPct val="120000"/>
              </a:lnSpc>
              <a:spcBef>
                <a:spcPts val="600"/>
              </a:spcBef>
            </a:pPr>
            <a:r>
              <a:rPr lang="zh-CN" altLang="en-US" sz="2000" dirty="0">
                <a:solidFill>
                  <a:srgbClr val="3907F1"/>
                </a:solidFill>
                <a:latin typeface="黑体" panose="02010609060101010101" pitchFamily="49" charset="-122"/>
                <a:ea typeface="黑体" panose="02010609060101010101" pitchFamily="49" charset="-122"/>
              </a:rPr>
              <a:t>平均情况</a:t>
            </a:r>
            <a:r>
              <a:rPr lang="zh-CN" altLang="en-US" sz="2000" dirty="0"/>
              <a:t>下的时间复杂性</a:t>
            </a:r>
            <a:endParaRPr lang="en-US" altLang="zh-CN" sz="2000" dirty="0"/>
          </a:p>
          <a:p>
            <a:pPr marL="457200" lvl="1" indent="0">
              <a:lnSpc>
                <a:spcPct val="120000"/>
              </a:lnSpc>
              <a:spcBef>
                <a:spcPts val="600"/>
              </a:spcBef>
              <a:buNone/>
            </a:pPr>
            <a:r>
              <a:rPr lang="en-US" altLang="zh-CN" sz="2000" i="1" dirty="0"/>
              <a:t>   </a:t>
            </a:r>
            <a:r>
              <a:rPr lang="zh-CN" altLang="en-US" sz="2000" i="1" dirty="0"/>
              <a:t>  </a:t>
            </a:r>
            <a:r>
              <a:rPr lang="en-US" altLang="zh-CN" sz="2000" i="1" dirty="0" err="1"/>
              <a:t>T</a:t>
            </a:r>
            <a:r>
              <a:rPr lang="en-US" altLang="zh-CN" sz="2000" baseline="-25000" dirty="0" err="1"/>
              <a:t>avg</a:t>
            </a:r>
            <a:r>
              <a:rPr lang="en-US" altLang="zh-CN" sz="2000" dirty="0"/>
              <a:t>(</a:t>
            </a:r>
            <a:r>
              <a:rPr lang="en-US" altLang="zh-CN" sz="2000" i="1" dirty="0"/>
              <a:t>n</a:t>
            </a:r>
            <a:r>
              <a:rPr lang="en-US" altLang="zh-CN" sz="2000" dirty="0"/>
              <a:t>) =</a:t>
            </a:r>
          </a:p>
          <a:p>
            <a:pPr marL="457200" lvl="1" indent="0">
              <a:lnSpc>
                <a:spcPct val="120000"/>
              </a:lnSpc>
              <a:spcBef>
                <a:spcPts val="1800"/>
              </a:spcBef>
              <a:buNone/>
            </a:pPr>
            <a:r>
              <a:rPr lang="zh-CN" altLang="en-US" sz="2000" dirty="0"/>
              <a:t>    其中</a:t>
            </a:r>
            <a:r>
              <a:rPr lang="en-US" altLang="zh-CN" sz="2000" i="1" dirty="0"/>
              <a:t>I</a:t>
            </a:r>
            <a:r>
              <a:rPr lang="zh-CN" altLang="en-US" sz="2000" dirty="0"/>
              <a:t>是问题的规模为</a:t>
            </a:r>
            <a:r>
              <a:rPr lang="en-US" altLang="zh-CN" sz="2000" i="1" dirty="0"/>
              <a:t>n</a:t>
            </a:r>
            <a:r>
              <a:rPr lang="zh-CN" altLang="en-US" sz="2000" dirty="0"/>
              <a:t>的实例，</a:t>
            </a:r>
            <a:r>
              <a:rPr lang="en-US" altLang="zh-CN" sz="2000" i="1" dirty="0"/>
              <a:t>p</a:t>
            </a:r>
            <a:r>
              <a:rPr lang="en-US" altLang="zh-CN" sz="2000" dirty="0"/>
              <a:t>(</a:t>
            </a:r>
            <a:r>
              <a:rPr lang="en-US" altLang="zh-CN" sz="2000" i="1" dirty="0"/>
              <a:t>I</a:t>
            </a:r>
            <a:r>
              <a:rPr lang="en-US" altLang="zh-CN" sz="2000" dirty="0"/>
              <a:t>)</a:t>
            </a:r>
            <a:r>
              <a:rPr lang="zh-CN" altLang="en-US" sz="2000" dirty="0"/>
              <a:t>是实例</a:t>
            </a:r>
            <a:r>
              <a:rPr lang="en-US" altLang="zh-CN" sz="2000" i="1" dirty="0"/>
              <a:t>I</a:t>
            </a:r>
            <a:r>
              <a:rPr lang="zh-CN" altLang="en-US" sz="2000" dirty="0"/>
              <a:t>出现的概率</a:t>
            </a:r>
          </a:p>
          <a:p>
            <a:pPr>
              <a:lnSpc>
                <a:spcPct val="120000"/>
              </a:lnSpc>
              <a:spcBef>
                <a:spcPts val="600"/>
              </a:spcBef>
            </a:pPr>
            <a:r>
              <a:rPr lang="zh-CN" altLang="en-US" sz="2400" kern="0" dirty="0"/>
              <a:t>算法的空间复杂性</a:t>
            </a:r>
            <a:r>
              <a:rPr lang="en-US" altLang="zh-CN" sz="2400" i="1" kern="0" dirty="0"/>
              <a:t>S</a:t>
            </a:r>
            <a:r>
              <a:rPr lang="en-US" altLang="zh-CN" sz="2400" kern="0" dirty="0"/>
              <a:t>(</a:t>
            </a:r>
            <a:r>
              <a:rPr lang="en-US" altLang="zh-CN" sz="2400" i="1" kern="0" dirty="0"/>
              <a:t>n</a:t>
            </a:r>
            <a:r>
              <a:rPr lang="en-US" altLang="zh-CN" sz="2400" kern="0" dirty="0"/>
              <a:t>)</a:t>
            </a:r>
            <a:r>
              <a:rPr lang="zh-CN" altLang="en-US" sz="2400" kern="0" dirty="0"/>
              <a:t>；</a:t>
            </a:r>
            <a:endParaRPr lang="en-US" altLang="zh-CN" sz="2400" kern="0" dirty="0"/>
          </a:p>
        </p:txBody>
      </p:sp>
      <p:sp>
        <p:nvSpPr>
          <p:cNvPr id="131077" name="Rectangle 5"/>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31076" name="Object 4"/>
          <p:cNvGraphicFramePr>
            <a:graphicFrameLocks noChangeAspect="1"/>
          </p:cNvGraphicFramePr>
          <p:nvPr>
            <p:extLst>
              <p:ext uri="{D42A27DB-BD31-4B8C-83A1-F6EECF244321}">
                <p14:modId xmlns:p14="http://schemas.microsoft.com/office/powerpoint/2010/main" val="1408621434"/>
              </p:ext>
            </p:extLst>
          </p:nvPr>
        </p:nvGraphicFramePr>
        <p:xfrm>
          <a:off x="2286000" y="4648200"/>
          <a:ext cx="1584325" cy="630238"/>
        </p:xfrm>
        <a:graphic>
          <a:graphicData uri="http://schemas.openxmlformats.org/presentationml/2006/ole">
            <mc:AlternateContent xmlns:mc="http://schemas.openxmlformats.org/markup-compatibility/2006">
              <mc:Choice xmlns:v="urn:schemas-microsoft-com:vml" Requires="v">
                <p:oleObj name="公式" r:id="rId2" imgW="888614" imgH="355446" progId="Equation.3">
                  <p:embed/>
                </p:oleObj>
              </mc:Choice>
              <mc:Fallback>
                <p:oleObj name="公式" r:id="rId2" imgW="888614" imgH="355446" progId="Equation.3">
                  <p:embed/>
                  <p:pic>
                    <p:nvPicPr>
                      <p:cNvPr id="0" name="Picture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4648200"/>
                        <a:ext cx="1584325" cy="630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2"/>
          <p:cNvSpPr>
            <a:spLocks noGrp="1" noChangeArrowheads="1"/>
          </p:cNvSpPr>
          <p:nvPr>
            <p:ph type="title"/>
          </p:nvPr>
        </p:nvSpPr>
        <p:spPr>
          <a:xfrm>
            <a:off x="457200" y="228600"/>
            <a:ext cx="8458200" cy="762000"/>
          </a:xfrm>
        </p:spPr>
        <p:txBody>
          <a:bodyPr/>
          <a:lstStyle/>
          <a:p>
            <a:r>
              <a:rPr lang="zh-CN" altLang="en-US" dirty="0"/>
              <a:t>算法分析 </a:t>
            </a:r>
            <a:r>
              <a:rPr lang="en-US" altLang="zh-CN" dirty="0"/>
              <a:t>(2)</a:t>
            </a:r>
            <a:r>
              <a:rPr lang="zh-CN" altLang="en-US" dirty="0"/>
              <a:t> </a:t>
            </a:r>
          </a:p>
        </p:txBody>
      </p:sp>
    </p:spTree>
    <p:extLst>
      <p:ext uri="{BB962C8B-B14F-4D97-AF65-F5344CB8AC3E}">
        <p14:creationId xmlns:p14="http://schemas.microsoft.com/office/powerpoint/2010/main" val="48552354"/>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a:xfrm>
            <a:off x="457200" y="152400"/>
            <a:ext cx="8458200" cy="762000"/>
          </a:xfrm>
        </p:spPr>
        <p:txBody>
          <a:bodyPr/>
          <a:lstStyle/>
          <a:p>
            <a:r>
              <a:rPr lang="zh-CN" altLang="en-US" dirty="0"/>
              <a:t>算法分析 </a:t>
            </a:r>
            <a:r>
              <a:rPr lang="en-US" altLang="zh-CN" dirty="0"/>
              <a:t>(3)</a:t>
            </a:r>
            <a:r>
              <a:rPr lang="zh-CN" altLang="en-US" dirty="0"/>
              <a:t> </a:t>
            </a:r>
          </a:p>
        </p:txBody>
      </p:sp>
      <p:sp>
        <p:nvSpPr>
          <p:cNvPr id="9219" name="Rectangle 3"/>
          <p:cNvSpPr>
            <a:spLocks noGrp="1" noChangeArrowheads="1"/>
          </p:cNvSpPr>
          <p:nvPr>
            <p:ph idx="1"/>
          </p:nvPr>
        </p:nvSpPr>
        <p:spPr>
          <a:xfrm>
            <a:off x="448322" y="1371600"/>
            <a:ext cx="8314678" cy="4343400"/>
          </a:xfrm>
          <a:prstGeom prst="rect">
            <a:avLst/>
          </a:prstGeom>
        </p:spPr>
        <p:txBody>
          <a:bodyPr>
            <a:normAutofit/>
          </a:bodyPr>
          <a:lstStyle/>
          <a:p>
            <a:pPr eaLnBrk="1" hangingPunct="1">
              <a:lnSpc>
                <a:spcPct val="120000"/>
              </a:lnSpc>
              <a:spcBef>
                <a:spcPts val="600"/>
              </a:spcBef>
            </a:pPr>
            <a:r>
              <a:rPr lang="zh-CN" altLang="en-US" sz="2400" b="1" dirty="0">
                <a:latin typeface="宋体" panose="02010600030101010101" pitchFamily="2" charset="-122"/>
                <a:ea typeface="宋体" panose="02010600030101010101" pitchFamily="2" charset="-122"/>
              </a:rPr>
              <a:t>算法运行时间的</a:t>
            </a:r>
            <a:r>
              <a:rPr lang="zh-CN" altLang="en-US" sz="2400" b="1" dirty="0">
                <a:solidFill>
                  <a:srgbClr val="FF0000"/>
                </a:solidFill>
                <a:latin typeface="宋体" panose="02010600030101010101" pitchFamily="2" charset="-122"/>
                <a:ea typeface="宋体" panose="02010600030101010101" pitchFamily="2" charset="-122"/>
              </a:rPr>
              <a:t>阶</a:t>
            </a:r>
            <a:r>
              <a:rPr lang="zh-CN" altLang="en-US" sz="2400" b="1" dirty="0">
                <a:latin typeface="宋体" panose="02010600030101010101" pitchFamily="2" charset="-122"/>
                <a:ea typeface="宋体" panose="02010600030101010101" pitchFamily="2" charset="-122"/>
              </a:rPr>
              <a:t>较简明地刻画了一个算法的效率，并作为不同算法进行比较的工具；</a:t>
            </a:r>
          </a:p>
          <a:p>
            <a:pPr>
              <a:lnSpc>
                <a:spcPct val="120000"/>
              </a:lnSpc>
              <a:spcBef>
                <a:spcPts val="600"/>
              </a:spcBef>
            </a:pPr>
            <a:r>
              <a:rPr lang="zh-CN" altLang="en-US" sz="2400" b="1" dirty="0">
                <a:latin typeface="宋体" panose="02010600030101010101" pitchFamily="2" charset="-122"/>
                <a:ea typeface="宋体" panose="02010600030101010101" pitchFamily="2" charset="-122"/>
              </a:rPr>
              <a:t>当输入规模足够大时</a:t>
            </a:r>
            <a:r>
              <a:rPr lang="en-US" altLang="zh-CN" sz="2400" b="1" i="1" dirty="0">
                <a:latin typeface="+mj-lt"/>
                <a:ea typeface="宋体" panose="02010600030101010101" pitchFamily="2" charset="-122"/>
              </a:rPr>
              <a:t>n</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，运行时间中的</a:t>
            </a:r>
            <a:r>
              <a:rPr lang="zh-CN" altLang="en-US" sz="2400" b="1" dirty="0">
                <a:solidFill>
                  <a:srgbClr val="0000CC"/>
                </a:solidFill>
                <a:latin typeface="黑体" panose="02010609060101010101" pitchFamily="49" charset="-122"/>
                <a:ea typeface="黑体" panose="02010609060101010101" pitchFamily="49" charset="-122"/>
              </a:rPr>
              <a:t>低阶项</a:t>
            </a:r>
            <a:r>
              <a:rPr lang="zh-CN" altLang="en-US" sz="2400" b="1" dirty="0">
                <a:latin typeface="宋体" panose="02010600030101010101" pitchFamily="2" charset="-122"/>
                <a:ea typeface="宋体" panose="02010600030101010101" pitchFamily="2" charset="-122"/>
              </a:rPr>
              <a:t>和</a:t>
            </a:r>
            <a:r>
              <a:rPr lang="zh-CN" altLang="en-US" sz="2400" b="1" dirty="0">
                <a:solidFill>
                  <a:srgbClr val="0000CC"/>
                </a:solidFill>
                <a:latin typeface="黑体" panose="02010609060101010101" pitchFamily="49" charset="-122"/>
                <a:ea typeface="黑体" panose="02010609060101010101" pitchFamily="49" charset="-122"/>
              </a:rPr>
              <a:t>最高次项的常数系数</a:t>
            </a:r>
            <a:r>
              <a:rPr lang="zh-CN" altLang="en-US" sz="2400" b="1" dirty="0"/>
              <a:t>可以忽略；</a:t>
            </a:r>
            <a:endParaRPr lang="en-US" altLang="zh-CN" sz="2400" b="1" dirty="0">
              <a:latin typeface="宋体" panose="02010600030101010101" pitchFamily="2" charset="-122"/>
              <a:ea typeface="宋体" panose="02010600030101010101" pitchFamily="2" charset="-122"/>
            </a:endParaRPr>
          </a:p>
          <a:p>
            <a:pPr>
              <a:lnSpc>
                <a:spcPct val="120000"/>
              </a:lnSpc>
              <a:spcBef>
                <a:spcPts val="600"/>
              </a:spcBef>
            </a:pPr>
            <a:r>
              <a:rPr lang="zh-CN" altLang="en-US" sz="2400" b="1" dirty="0">
                <a:latin typeface="宋体" panose="02010600030101010101" pitchFamily="2" charset="-122"/>
                <a:ea typeface="宋体" panose="02010600030101010101" pitchFamily="2" charset="-122"/>
              </a:rPr>
              <a:t>输入规模足够大</a:t>
            </a:r>
            <a:r>
              <a:rPr lang="en-US" altLang="zh-CN" sz="2400" b="1" dirty="0">
                <a:latin typeface="宋体" panose="02010600030101010101" pitchFamily="2" charset="-122"/>
                <a:ea typeface="宋体" panose="02010600030101010101" pitchFamily="2" charset="-122"/>
              </a:rPr>
              <a:t>(</a:t>
            </a:r>
            <a:r>
              <a:rPr lang="en-US" altLang="zh-CN" sz="2400" b="1" i="1" dirty="0">
                <a:ea typeface="宋体" panose="02010600030101010101" pitchFamily="2" charset="-122"/>
              </a:rPr>
              <a:t>n</a:t>
            </a:r>
            <a:r>
              <a:rPr lang="en-US" altLang="zh-CN" sz="2400" b="1" dirty="0">
                <a:latin typeface="宋体" panose="02010600030101010101" pitchFamily="2" charset="-122"/>
                <a:ea typeface="宋体" panose="02010600030101010101" pitchFamily="2" charset="-122"/>
              </a:rPr>
              <a:t>→∞ )</a:t>
            </a:r>
            <a:r>
              <a:rPr lang="zh-CN" altLang="en-US" sz="2400" b="1" dirty="0">
                <a:latin typeface="宋体" panose="02010600030101010101" pitchFamily="2" charset="-122"/>
                <a:ea typeface="宋体" panose="02010600030101010101" pitchFamily="2" charset="-122"/>
              </a:rPr>
              <a:t>到只需考虑运行时间的</a:t>
            </a:r>
            <a:r>
              <a:rPr lang="zh-CN" altLang="en-US" sz="2400" b="1" dirty="0">
                <a:solidFill>
                  <a:srgbClr val="0000CC"/>
                </a:solidFill>
                <a:latin typeface="黑体" panose="02010609060101010101" pitchFamily="49" charset="-122"/>
                <a:ea typeface="黑体" panose="02010609060101010101" pitchFamily="49" charset="-122"/>
              </a:rPr>
              <a:t>增长量级</a:t>
            </a:r>
            <a:r>
              <a:rPr lang="zh-CN" altLang="en-US" sz="2400" b="1" dirty="0">
                <a:latin typeface="宋体" panose="02010600030101010101" pitchFamily="2" charset="-122"/>
                <a:ea typeface="宋体" panose="02010600030101010101" pitchFamily="2" charset="-122"/>
              </a:rPr>
              <a:t>时，研究的算法效率即为</a:t>
            </a:r>
            <a:r>
              <a:rPr lang="zh-CN" altLang="en-US" sz="2400" b="1" dirty="0">
                <a:solidFill>
                  <a:srgbClr val="0000CC"/>
                </a:solidFill>
                <a:latin typeface="黑体" panose="02010609060101010101" pitchFamily="49" charset="-122"/>
                <a:ea typeface="黑体" panose="02010609060101010101" pitchFamily="49" charset="-122"/>
              </a:rPr>
              <a:t>渐近效率</a:t>
            </a:r>
            <a:r>
              <a:rPr lang="zh-CN" altLang="en-US" sz="2400" b="1" dirty="0">
                <a:latin typeface="宋体" panose="02010600030101010101" pitchFamily="2" charset="-122"/>
                <a:ea typeface="宋体" panose="02010600030101010101" pitchFamily="2" charset="-122"/>
              </a:rPr>
              <a:t>。亦即，我们只关心从极限的角度考虑运行时间如何随输入规模的增长而增长。</a:t>
            </a:r>
          </a:p>
          <a:p>
            <a:pPr eaLnBrk="1" hangingPunct="1">
              <a:lnSpc>
                <a:spcPct val="120000"/>
              </a:lnSpc>
              <a:spcBef>
                <a:spcPts val="600"/>
              </a:spcBef>
            </a:pPr>
            <a:r>
              <a:rPr lang="zh-CN" altLang="en-US" sz="2400" b="1" dirty="0">
                <a:latin typeface="宋体" panose="02010600030101010101" pitchFamily="2" charset="-122"/>
                <a:ea typeface="宋体" panose="02010600030101010101" pitchFamily="2" charset="-122"/>
              </a:rPr>
              <a:t>渐近效率更高的算法，对大规模的输入是更好的。（对小规模的输入则不一定！）</a:t>
            </a:r>
          </a:p>
        </p:txBody>
      </p:sp>
    </p:spTree>
    <p:extLst>
      <p:ext uri="{BB962C8B-B14F-4D97-AF65-F5344CB8AC3E}">
        <p14:creationId xmlns:p14="http://schemas.microsoft.com/office/powerpoint/2010/main" val="30269803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Rectangle 2"/>
          <p:cNvSpPr>
            <a:spLocks noGrp="1" noChangeArrowheads="1"/>
          </p:cNvSpPr>
          <p:nvPr>
            <p:ph type="title"/>
          </p:nvPr>
        </p:nvSpPr>
        <p:spPr>
          <a:xfrm>
            <a:off x="457200" y="228600"/>
            <a:ext cx="8229600" cy="647700"/>
          </a:xfrm>
        </p:spPr>
        <p:txBody>
          <a:bodyPr>
            <a:normAutofit/>
          </a:bodyPr>
          <a:lstStyle/>
          <a:p>
            <a:pPr eaLnBrk="1" hangingPunct="1"/>
            <a:r>
              <a:rPr lang="en-US" altLang="zh-CN" dirty="0"/>
              <a:t>1.3 </a:t>
            </a:r>
            <a:r>
              <a:rPr lang="zh-CN" altLang="en-US" dirty="0"/>
              <a:t>渐近记号 </a:t>
            </a:r>
            <a:r>
              <a:rPr lang="en-US" altLang="zh-CN" dirty="0"/>
              <a:t>— </a:t>
            </a:r>
            <a:r>
              <a:rPr lang="zh-CN" altLang="en-US" sz="3200" dirty="0"/>
              <a:t>基本的效率类型 </a:t>
            </a:r>
            <a:r>
              <a:rPr lang="en-US" altLang="zh-CN" sz="3200" dirty="0"/>
              <a:t>(1)</a:t>
            </a:r>
            <a:endParaRPr lang="zh-CN" altLang="en-US" dirty="0"/>
          </a:p>
        </p:txBody>
      </p:sp>
      <p:pic>
        <p:nvPicPr>
          <p:cNvPr id="16391" name="Picture 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43438" y="1557338"/>
            <a:ext cx="4300537" cy="4281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426" name="Group 42"/>
          <p:cNvGraphicFramePr>
            <a:graphicFrameLocks noGrp="1"/>
          </p:cNvGraphicFramePr>
          <p:nvPr/>
        </p:nvGraphicFramePr>
        <p:xfrm>
          <a:off x="900113" y="1916113"/>
          <a:ext cx="2949575" cy="3413760"/>
        </p:xfrm>
        <a:graphic>
          <a:graphicData uri="http://schemas.openxmlformats.org/drawingml/2006/table">
            <a:tbl>
              <a:tblPr/>
              <a:tblGrid>
                <a:gridCol w="1474787">
                  <a:extLst>
                    <a:ext uri="{9D8B030D-6E8A-4147-A177-3AD203B41FA5}">
                      <a16:colId xmlns:a16="http://schemas.microsoft.com/office/drawing/2014/main" val="20000"/>
                    </a:ext>
                  </a:extLst>
                </a:gridCol>
                <a:gridCol w="1474788">
                  <a:extLst>
                    <a:ext uri="{9D8B030D-6E8A-4147-A177-3AD203B41FA5}">
                      <a16:colId xmlns:a16="http://schemas.microsoft.com/office/drawing/2014/main" val="20001"/>
                    </a:ext>
                  </a:extLst>
                </a:gridCol>
              </a:tblGrid>
              <a:tr h="247650">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黑体" panose="02010609060101010101" pitchFamily="49" charset="-122"/>
                        </a:rPr>
                        <a:t>1</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zh-CN" altLang="en-US" sz="2200" b="1" i="0" u="none" strike="noStrike" cap="none" normalizeH="0" baseline="0">
                          <a:ln>
                            <a:noFill/>
                          </a:ln>
                          <a:solidFill>
                            <a:schemeClr val="tx1"/>
                          </a:solidFill>
                          <a:effectLst/>
                          <a:latin typeface="Arial" panose="020B0604020202020204" pitchFamily="34" charset="0"/>
                          <a:ea typeface="黑体" panose="02010609060101010101" pitchFamily="49" charset="-122"/>
                        </a:rPr>
                        <a:t>常量</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0"/>
                  </a:ext>
                </a:extLst>
              </a:tr>
              <a:tr h="247650">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黑体" panose="02010609060101010101" pitchFamily="49" charset="-122"/>
                        </a:rPr>
                        <a:t>log </a:t>
                      </a:r>
                      <a:r>
                        <a:rPr kumimoji="0" lang="en-US" altLang="zh-CN" sz="2200" b="1" i="1" u="none" strike="noStrike" cap="none" normalizeH="0" baseline="0">
                          <a:ln>
                            <a:noFill/>
                          </a:ln>
                          <a:solidFill>
                            <a:schemeClr val="tx1"/>
                          </a:solidFill>
                          <a:effectLst/>
                          <a:latin typeface="Arial" panose="020B0604020202020204" pitchFamily="34" charset="0"/>
                          <a:ea typeface="黑体" panose="02010609060101010101" pitchFamily="49" charset="-122"/>
                        </a:rPr>
                        <a:t>n</a:t>
                      </a:r>
                      <a:endParaRPr kumimoji="0" lang="en-US" altLang="zh-CN" sz="2200" b="1" i="0"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zh-CN" altLang="en-US" sz="2200" b="1" i="0" u="none" strike="noStrike" cap="none" normalizeH="0" baseline="0">
                          <a:ln>
                            <a:noFill/>
                          </a:ln>
                          <a:solidFill>
                            <a:schemeClr val="tx1"/>
                          </a:solidFill>
                          <a:effectLst/>
                          <a:latin typeface="Arial" panose="020B0604020202020204" pitchFamily="34" charset="0"/>
                          <a:ea typeface="黑体" panose="02010609060101010101" pitchFamily="49" charset="-122"/>
                        </a:rPr>
                        <a:t>对数</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1"/>
                  </a:ext>
                </a:extLst>
              </a:tr>
              <a:tr h="247650">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1" u="none" strike="noStrike" cap="none" normalizeH="0" baseline="0">
                          <a:ln>
                            <a:noFill/>
                          </a:ln>
                          <a:solidFill>
                            <a:schemeClr val="tx1"/>
                          </a:solidFill>
                          <a:effectLst/>
                          <a:latin typeface="Arial" panose="020B0604020202020204" pitchFamily="34" charset="0"/>
                          <a:ea typeface="黑体" panose="02010609060101010101" pitchFamily="49" charset="-122"/>
                        </a:rPr>
                        <a:t>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zh-CN" altLang="en-US" sz="2200" b="1" i="0" u="none" strike="noStrike" cap="none" normalizeH="0" baseline="0">
                          <a:ln>
                            <a:noFill/>
                          </a:ln>
                          <a:solidFill>
                            <a:schemeClr val="tx1"/>
                          </a:solidFill>
                          <a:effectLst/>
                          <a:latin typeface="Arial" panose="020B0604020202020204" pitchFamily="34" charset="0"/>
                          <a:ea typeface="黑体" panose="02010609060101010101" pitchFamily="49" charset="-122"/>
                        </a:rPr>
                        <a:t>线性</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2"/>
                  </a:ext>
                </a:extLst>
              </a:tr>
              <a:tr h="247650">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1" u="none" strike="noStrike" cap="none" normalizeH="0" baseline="0">
                          <a:ln>
                            <a:noFill/>
                          </a:ln>
                          <a:solidFill>
                            <a:schemeClr val="tx1"/>
                          </a:solidFill>
                          <a:effectLst/>
                          <a:latin typeface="Arial" panose="020B0604020202020204" pitchFamily="34" charset="0"/>
                          <a:ea typeface="黑体" panose="02010609060101010101" pitchFamily="49" charset="-122"/>
                        </a:rPr>
                        <a:t>n </a:t>
                      </a:r>
                      <a:r>
                        <a:rPr kumimoji="0" lang="en-US" altLang="zh-CN" sz="2200" b="1" i="0" u="none" strike="noStrike" cap="none" normalizeH="0" baseline="0">
                          <a:ln>
                            <a:noFill/>
                          </a:ln>
                          <a:solidFill>
                            <a:schemeClr val="tx1"/>
                          </a:solidFill>
                          <a:effectLst/>
                          <a:latin typeface="Arial" panose="020B0604020202020204" pitchFamily="34" charset="0"/>
                          <a:ea typeface="黑体" panose="02010609060101010101" pitchFamily="49" charset="-122"/>
                        </a:rPr>
                        <a:t>log </a:t>
                      </a:r>
                      <a:r>
                        <a:rPr kumimoji="0" lang="en-US" altLang="zh-CN" sz="2200" b="1" i="1" u="none" strike="noStrike" cap="none" normalizeH="0" baseline="0">
                          <a:ln>
                            <a:noFill/>
                          </a:ln>
                          <a:solidFill>
                            <a:schemeClr val="tx1"/>
                          </a:solidFill>
                          <a:effectLst/>
                          <a:latin typeface="Arial" panose="020B0604020202020204" pitchFamily="34" charset="0"/>
                          <a:ea typeface="黑体" panose="02010609060101010101" pitchFamily="49" charset="-122"/>
                        </a:rPr>
                        <a:t>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1" u="none" strike="noStrike" cap="none" normalizeH="0" baseline="0">
                          <a:ln>
                            <a:noFill/>
                          </a:ln>
                          <a:solidFill>
                            <a:schemeClr val="tx1"/>
                          </a:solidFill>
                          <a:effectLst/>
                          <a:latin typeface="Arial" panose="020B0604020202020204" pitchFamily="34" charset="0"/>
                          <a:ea typeface="黑体" panose="02010609060101010101" pitchFamily="49" charset="-122"/>
                        </a:rPr>
                        <a:t>n </a:t>
                      </a:r>
                      <a:r>
                        <a:rPr kumimoji="0" lang="en-US" altLang="zh-CN" sz="2200" b="1" i="0" u="none" strike="noStrike" cap="none" normalizeH="0" baseline="0">
                          <a:ln>
                            <a:noFill/>
                          </a:ln>
                          <a:solidFill>
                            <a:schemeClr val="tx1"/>
                          </a:solidFill>
                          <a:effectLst/>
                          <a:latin typeface="Arial" panose="020B0604020202020204" pitchFamily="34" charset="0"/>
                          <a:ea typeface="黑体" panose="02010609060101010101" pitchFamily="49" charset="-122"/>
                        </a:rPr>
                        <a:t>log </a:t>
                      </a:r>
                      <a:r>
                        <a:rPr kumimoji="0" lang="en-US" altLang="zh-CN" sz="2200" b="1" i="1" u="none" strike="noStrike" cap="none" normalizeH="0" baseline="0">
                          <a:ln>
                            <a:noFill/>
                          </a:ln>
                          <a:solidFill>
                            <a:schemeClr val="tx1"/>
                          </a:solidFill>
                          <a:effectLst/>
                          <a:latin typeface="Arial" panose="020B0604020202020204" pitchFamily="34" charset="0"/>
                          <a:ea typeface="黑体" panose="02010609060101010101" pitchFamily="49" charset="-122"/>
                        </a:rPr>
                        <a:t>n</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3"/>
                  </a:ext>
                </a:extLst>
              </a:tr>
              <a:tr h="247650">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1" u="none" strike="noStrike" cap="none" normalizeH="0" baseline="0">
                          <a:ln>
                            <a:noFill/>
                          </a:ln>
                          <a:solidFill>
                            <a:schemeClr val="tx1"/>
                          </a:solidFill>
                          <a:effectLst/>
                          <a:latin typeface="Arial" panose="020B0604020202020204" pitchFamily="34" charset="0"/>
                          <a:ea typeface="黑体" panose="02010609060101010101" pitchFamily="49" charset="-122"/>
                        </a:rPr>
                        <a:t>n</a:t>
                      </a:r>
                      <a:r>
                        <a:rPr kumimoji="0" lang="en-US" altLang="zh-CN" sz="2200" b="1" i="1" u="none" strike="noStrike" cap="none" normalizeH="0" baseline="30000">
                          <a:ln>
                            <a:noFill/>
                          </a:ln>
                          <a:solidFill>
                            <a:schemeClr val="tx1"/>
                          </a:solidFill>
                          <a:effectLst/>
                          <a:latin typeface="Arial" panose="020B0604020202020204" pitchFamily="34" charset="0"/>
                          <a:ea typeface="黑体" panose="02010609060101010101" pitchFamily="49" charset="-122"/>
                        </a:rPr>
                        <a:t>2</a:t>
                      </a:r>
                      <a:endParaRPr kumimoji="0" lang="en-US" altLang="zh-CN" sz="2200" b="1" i="1" u="none" strike="noStrike" cap="none" normalizeH="0" baseline="0">
                        <a:ln>
                          <a:noFill/>
                        </a:ln>
                        <a:solidFill>
                          <a:schemeClr val="tx1"/>
                        </a:solidFill>
                        <a:effectLst/>
                        <a:latin typeface="Arial" panose="020B0604020202020204" pitchFamily="34" charset="0"/>
                        <a:ea typeface="黑体" panose="02010609060101010101" pitchFamily="49"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zh-CN" altLang="en-US" sz="2200" b="1" i="0" u="none" strike="noStrike" cap="none" normalizeH="0" baseline="0">
                          <a:ln>
                            <a:noFill/>
                          </a:ln>
                          <a:solidFill>
                            <a:schemeClr val="tx1"/>
                          </a:solidFill>
                          <a:effectLst/>
                          <a:latin typeface="Arial" panose="020B0604020202020204" pitchFamily="34" charset="0"/>
                          <a:ea typeface="黑体" panose="02010609060101010101" pitchFamily="49" charset="-122"/>
                        </a:rPr>
                        <a:t>平方</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4"/>
                  </a:ext>
                </a:extLst>
              </a:tr>
              <a:tr h="247650">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1" u="none" strike="noStrike" cap="none" normalizeH="0" baseline="0">
                          <a:ln>
                            <a:noFill/>
                          </a:ln>
                          <a:solidFill>
                            <a:schemeClr val="tx1"/>
                          </a:solidFill>
                          <a:effectLst/>
                          <a:latin typeface="Arial" panose="020B0604020202020204" pitchFamily="34" charset="0"/>
                          <a:ea typeface="黑体" panose="02010609060101010101" pitchFamily="49" charset="-122"/>
                        </a:rPr>
                        <a:t>n</a:t>
                      </a:r>
                      <a:r>
                        <a:rPr kumimoji="0" lang="en-US" altLang="zh-CN" sz="2200" b="1" i="1" u="none" strike="noStrike" cap="none" normalizeH="0" baseline="30000">
                          <a:ln>
                            <a:noFill/>
                          </a:ln>
                          <a:solidFill>
                            <a:schemeClr val="tx1"/>
                          </a:solidFill>
                          <a:effectLst/>
                          <a:latin typeface="Arial" panose="020B0604020202020204" pitchFamily="34" charset="0"/>
                          <a:ea typeface="黑体" panose="02010609060101010101" pitchFamily="49" charset="-122"/>
                        </a:rPr>
                        <a:t>3</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zh-CN" altLang="en-US" sz="2200" b="1" i="0" u="none" strike="noStrike" cap="none" normalizeH="0" baseline="0">
                          <a:ln>
                            <a:noFill/>
                          </a:ln>
                          <a:solidFill>
                            <a:schemeClr val="tx1"/>
                          </a:solidFill>
                          <a:effectLst/>
                          <a:latin typeface="Arial" panose="020B0604020202020204" pitchFamily="34" charset="0"/>
                          <a:ea typeface="黑体" panose="02010609060101010101" pitchFamily="49" charset="-122"/>
                        </a:rPr>
                        <a:t>立方</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5"/>
                  </a:ext>
                </a:extLst>
              </a:tr>
              <a:tr h="247650">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0" u="none" strike="noStrike" cap="none" normalizeH="0" baseline="0">
                          <a:ln>
                            <a:noFill/>
                          </a:ln>
                          <a:solidFill>
                            <a:schemeClr val="tx1"/>
                          </a:solidFill>
                          <a:effectLst/>
                          <a:latin typeface="Arial" panose="020B0604020202020204" pitchFamily="34" charset="0"/>
                          <a:ea typeface="黑体" panose="02010609060101010101" pitchFamily="49" charset="-122"/>
                        </a:rPr>
                        <a:t>2</a:t>
                      </a:r>
                      <a:r>
                        <a:rPr kumimoji="0" lang="en-US" altLang="zh-CN" sz="2200" b="1" i="1" u="none" strike="noStrike" cap="none" normalizeH="0" baseline="30000">
                          <a:ln>
                            <a:noFill/>
                          </a:ln>
                          <a:solidFill>
                            <a:schemeClr val="tx1"/>
                          </a:solidFill>
                          <a:effectLst/>
                          <a:latin typeface="Arial" panose="020B0604020202020204" pitchFamily="34" charset="0"/>
                          <a:ea typeface="黑体" panose="02010609060101010101" pitchFamily="49" charset="-122"/>
                        </a:rPr>
                        <a:t>n</a:t>
                      </a: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zh-CN" altLang="en-US" sz="2200" b="1" i="0" u="none" strike="noStrike" cap="none" normalizeH="0" baseline="0">
                          <a:ln>
                            <a:noFill/>
                          </a:ln>
                          <a:solidFill>
                            <a:schemeClr val="tx1"/>
                          </a:solidFill>
                          <a:effectLst/>
                          <a:latin typeface="Arial" panose="020B0604020202020204" pitchFamily="34" charset="0"/>
                          <a:ea typeface="黑体" panose="02010609060101010101" pitchFamily="49" charset="-122"/>
                        </a:rPr>
                        <a:t>指数</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6"/>
                  </a:ext>
                </a:extLst>
              </a:tr>
              <a:tr h="247650">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en-US" altLang="zh-CN" sz="2200" b="1" i="1" u="none" strike="noStrike" cap="none" normalizeH="0" baseline="0">
                          <a:ln>
                            <a:noFill/>
                          </a:ln>
                          <a:solidFill>
                            <a:schemeClr val="tx1"/>
                          </a:solidFill>
                          <a:effectLst/>
                          <a:latin typeface="Arial" panose="020B0604020202020204" pitchFamily="34" charset="0"/>
                          <a:ea typeface="黑体" panose="02010609060101010101" pitchFamily="49" charset="-122"/>
                        </a:rPr>
                        <a:t>n!</a:t>
                      </a:r>
                      <a:endParaRPr kumimoji="0" lang="en-US" altLang="zh-CN" sz="2200" b="1" i="1" u="none" strike="noStrike" cap="none" normalizeH="0" baseline="30000">
                        <a:ln>
                          <a:noFill/>
                        </a:ln>
                        <a:solidFill>
                          <a:schemeClr val="tx1"/>
                        </a:solidFill>
                        <a:effectLst/>
                        <a:latin typeface="Arial" panose="020B0604020202020204" pitchFamily="34" charset="0"/>
                        <a:ea typeface="黑体" panose="02010609060101010101" pitchFamily="49" charset="-122"/>
                      </a:endParaRPr>
                    </a:p>
                  </a:txBody>
                  <a:tcPr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eaLnBrk="0" hangingPunct="0">
                        <a:spcBef>
                          <a:spcPct val="20000"/>
                        </a:spcBef>
                        <a:buClr>
                          <a:schemeClr val="accent1"/>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eaLnBrk="0" hangingPunct="0">
                        <a:spcBef>
                          <a:spcPct val="20000"/>
                        </a:spcBef>
                        <a:buClr>
                          <a:schemeClr val="accent1"/>
                        </a:buClr>
                        <a:buFont typeface="Wingdings" panose="05000000000000000000" pitchFamily="2" charset="2"/>
                        <a:defRPr sz="2300">
                          <a:solidFill>
                            <a:schemeClr val="tx1"/>
                          </a:solidFill>
                          <a:latin typeface="Arial" panose="020B0604020202020204" pitchFamily="34" charset="0"/>
                          <a:ea typeface="宋体" panose="02010600030101010101" pitchFamily="2" charset="-122"/>
                        </a:defRPr>
                      </a:lvl2pPr>
                      <a:lvl3pPr eaLnBrk="0" hangingPunct="0">
                        <a:spcBef>
                          <a:spcPct val="20000"/>
                        </a:spcBef>
                        <a:buClr>
                          <a:schemeClr val="accent1"/>
                        </a:buClr>
                        <a:buFont typeface="Wingdings" panose="05000000000000000000" pitchFamily="2" charset="2"/>
                        <a:defRPr sz="2100">
                          <a:solidFill>
                            <a:schemeClr val="tx1"/>
                          </a:solidFill>
                          <a:latin typeface="Arial" panose="020B0604020202020204" pitchFamily="34" charset="0"/>
                          <a:ea typeface="宋体" panose="02010600030101010101" pitchFamily="2" charset="-122"/>
                        </a:defRPr>
                      </a:lvl3pPr>
                      <a:lvl4pPr eaLnBrk="0" hangingPunct="0">
                        <a:spcBef>
                          <a:spcPct val="20000"/>
                        </a:spcBef>
                        <a:buClr>
                          <a:schemeClr val="accent1"/>
                        </a:buClr>
                        <a:defRPr>
                          <a:solidFill>
                            <a:schemeClr val="tx1"/>
                          </a:solidFill>
                          <a:latin typeface="Arial" panose="020B0604020202020204" pitchFamily="34" charset="0"/>
                          <a:ea typeface="宋体" panose="02010600030101010101" pitchFamily="2" charset="-122"/>
                        </a:defRPr>
                      </a:lvl4pPr>
                      <a:lvl5pPr eaLnBrk="0" hangingPunct="0">
                        <a:spcBef>
                          <a:spcPct val="20000"/>
                        </a:spcBef>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eaLnBrk="0" fontAlgn="base" hangingPunct="0">
                        <a:spcBef>
                          <a:spcPct val="20000"/>
                        </a:spcBef>
                        <a:spcAft>
                          <a:spcPct val="0"/>
                        </a:spcAft>
                        <a:buClr>
                          <a:schemeClr val="accent1"/>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tabLst/>
                      </a:pPr>
                      <a:r>
                        <a:rPr kumimoji="0" lang="zh-CN" altLang="en-US" sz="2200" b="1" i="0" u="none" strike="noStrike" cap="none" normalizeH="0" baseline="0">
                          <a:ln>
                            <a:noFill/>
                          </a:ln>
                          <a:solidFill>
                            <a:schemeClr val="tx1"/>
                          </a:solidFill>
                          <a:effectLst/>
                          <a:latin typeface="Arial" panose="020B0604020202020204" pitchFamily="34" charset="0"/>
                          <a:ea typeface="黑体" panose="02010609060101010101" pitchFamily="49" charset="-122"/>
                        </a:rPr>
                        <a:t>阶乘</a:t>
                      </a:r>
                    </a:p>
                  </a:txBody>
                  <a:tcPr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6427" name="Text Box 8"/>
          <p:cNvSpPr txBox="1">
            <a:spLocks noChangeArrowheads="1"/>
          </p:cNvSpPr>
          <p:nvPr/>
        </p:nvSpPr>
        <p:spPr bwMode="auto">
          <a:xfrm>
            <a:off x="609600" y="5943600"/>
            <a:ext cx="81375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buFontTx/>
              <a:buChar char="•"/>
            </a:pPr>
            <a:r>
              <a:rPr lang="zh-CN" altLang="en-US" sz="2800" u="none" dirty="0">
                <a:solidFill>
                  <a:srgbClr val="FFFF00"/>
                </a:solidFill>
                <a:latin typeface="Verdana" panose="020B0604030504040204" pitchFamily="34" charset="0"/>
              </a:rPr>
              <a:t>排在前面的复杂性类型是算法设计追求的目标。</a:t>
            </a:r>
          </a:p>
        </p:txBody>
      </p:sp>
    </p:spTree>
    <p:extLst>
      <p:ext uri="{BB962C8B-B14F-4D97-AF65-F5344CB8AC3E}">
        <p14:creationId xmlns:p14="http://schemas.microsoft.com/office/powerpoint/2010/main" val="21094494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11" name="Rectangle 7"/>
          <p:cNvSpPr>
            <a:spLocks noGrp="1" noChangeArrowheads="1"/>
          </p:cNvSpPr>
          <p:nvPr>
            <p:ph type="title"/>
          </p:nvPr>
        </p:nvSpPr>
        <p:spPr>
          <a:xfrm>
            <a:off x="609600" y="0"/>
            <a:ext cx="7772400" cy="838200"/>
          </a:xfrm>
        </p:spPr>
        <p:txBody>
          <a:bodyPr/>
          <a:lstStyle/>
          <a:p>
            <a:r>
              <a:rPr lang="en-US" altLang="zh-CN" dirty="0"/>
              <a:t>1. 3 </a:t>
            </a:r>
            <a:r>
              <a:rPr lang="zh-CN" altLang="en-US" dirty="0"/>
              <a:t>渐近记号 </a:t>
            </a:r>
            <a:r>
              <a:rPr lang="en-US" altLang="zh-CN" dirty="0"/>
              <a:t>— </a:t>
            </a:r>
            <a:r>
              <a:rPr lang="zh-CN" altLang="en-US" sz="3200" dirty="0"/>
              <a:t>基本的效率类型</a:t>
            </a:r>
            <a:r>
              <a:rPr lang="en-US" altLang="zh-CN" sz="3200" dirty="0"/>
              <a:t> (2)</a:t>
            </a:r>
            <a:endParaRPr lang="zh-CN" altLang="en-US" sz="3200" dirty="0"/>
          </a:p>
        </p:txBody>
      </p:sp>
      <p:graphicFrame>
        <p:nvGraphicFramePr>
          <p:cNvPr id="109572" name="Object 4"/>
          <p:cNvGraphicFramePr>
            <a:graphicFrameLocks noGrp="1" noChangeAspect="1"/>
          </p:cNvGraphicFramePr>
          <p:nvPr>
            <p:ph idx="1"/>
            <p:extLst>
              <p:ext uri="{D42A27DB-BD31-4B8C-83A1-F6EECF244321}">
                <p14:modId xmlns:p14="http://schemas.microsoft.com/office/powerpoint/2010/main" val="3479825050"/>
              </p:ext>
            </p:extLst>
          </p:nvPr>
        </p:nvGraphicFramePr>
        <p:xfrm>
          <a:off x="1143000" y="3937000"/>
          <a:ext cx="6838950" cy="2235200"/>
        </p:xfrm>
        <a:graphic>
          <a:graphicData uri="http://schemas.openxmlformats.org/presentationml/2006/ole">
            <mc:AlternateContent xmlns:mc="http://schemas.openxmlformats.org/markup-compatibility/2006">
              <mc:Choice xmlns:v="urn:schemas-microsoft-com:vml" Requires="v">
                <p:oleObj name="Equation" r:id="rId2" imgW="2603500" imgH="850900" progId="Equation.DSMT4">
                  <p:embed/>
                </p:oleObj>
              </mc:Choice>
              <mc:Fallback>
                <p:oleObj name="Equation" r:id="rId2" imgW="2603500" imgH="850900" progId="Equation.DSMT4">
                  <p:embed/>
                  <p:pic>
                    <p:nvPicPr>
                      <p:cNvPr id="0" name="Picture 2"/>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3937000"/>
                        <a:ext cx="6838950" cy="2235200"/>
                      </a:xfrm>
                      <a:prstGeom prst="rect">
                        <a:avLst/>
                      </a:prstGeom>
                      <a:solidFill>
                        <a:schemeClr val="tx1"/>
                      </a:solidFill>
                    </p:spPr>
                  </p:pic>
                </p:oleObj>
              </mc:Fallback>
            </mc:AlternateContent>
          </a:graphicData>
        </a:graphic>
      </p:graphicFrame>
      <p:pic>
        <p:nvPicPr>
          <p:cNvPr id="149508"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11263" y="1458913"/>
            <a:ext cx="6408737"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5774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09572"/>
                                        </p:tgtEl>
                                        <p:attrNameLst>
                                          <p:attrName>style.visibility</p:attrName>
                                        </p:attrNameLst>
                                      </p:cBhvr>
                                      <p:to>
                                        <p:strVal val="visible"/>
                                      </p:to>
                                    </p:set>
                                    <p:animEffect transition="in" filter="box(in)">
                                      <p:cBhvr>
                                        <p:cTn id="7" dur="500"/>
                                        <p:tgtEl>
                                          <p:spTgt spid="1095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457200" y="228600"/>
            <a:ext cx="7772400" cy="685800"/>
          </a:xfrm>
        </p:spPr>
        <p:txBody>
          <a:bodyPr/>
          <a:lstStyle/>
          <a:p>
            <a:r>
              <a:rPr lang="en-US" altLang="zh-CN" sz="3600" dirty="0"/>
              <a:t>1.3 </a:t>
            </a:r>
            <a:r>
              <a:rPr lang="zh-CN" altLang="en-US" sz="3600" dirty="0"/>
              <a:t>渐近记号 </a:t>
            </a:r>
            <a:r>
              <a:rPr lang="en-US" altLang="zh-CN" sz="3600" dirty="0"/>
              <a:t>— </a:t>
            </a:r>
            <a:r>
              <a:rPr lang="en-US" altLang="zh-CN" sz="3600" i="1" dirty="0"/>
              <a:t>O</a:t>
            </a:r>
            <a:r>
              <a:rPr lang="zh-CN" altLang="en-US" sz="3600" dirty="0">
                <a:sym typeface="Symbol" panose="05050102010706020507" pitchFamily="18" charset="2"/>
              </a:rPr>
              <a:t>记号 </a:t>
            </a:r>
            <a:r>
              <a:rPr lang="en-US" sz="3600" b="1" dirty="0">
                <a:solidFill>
                  <a:srgbClr val="0000CC"/>
                </a:solidFill>
              </a:rPr>
              <a:t>(</a:t>
            </a:r>
            <a:r>
              <a:rPr lang="en-US" altLang="zh-CN" sz="3600" b="1" dirty="0">
                <a:solidFill>
                  <a:srgbClr val="0000CC"/>
                </a:solidFill>
              </a:rPr>
              <a:t>1</a:t>
            </a:r>
            <a:r>
              <a:rPr lang="en-US" sz="3600" b="1" dirty="0">
                <a:solidFill>
                  <a:srgbClr val="0000CC"/>
                </a:solidFill>
              </a:rPr>
              <a:t>)</a:t>
            </a:r>
          </a:p>
        </p:txBody>
      </p:sp>
      <p:sp>
        <p:nvSpPr>
          <p:cNvPr id="7171" name="Rectangle 3"/>
          <p:cNvSpPr>
            <a:spLocks noGrp="1" noChangeArrowheads="1"/>
          </p:cNvSpPr>
          <p:nvPr>
            <p:ph type="body" idx="4294967295"/>
          </p:nvPr>
        </p:nvSpPr>
        <p:spPr>
          <a:xfrm>
            <a:off x="685800" y="1295400"/>
            <a:ext cx="8458200" cy="2743200"/>
          </a:xfrm>
        </p:spPr>
        <p:txBody>
          <a:bodyPr>
            <a:normAutofit fontScale="92500"/>
          </a:bodyPr>
          <a:lstStyle/>
          <a:p>
            <a:pPr marL="0" indent="0" algn="just">
              <a:lnSpc>
                <a:spcPct val="125000"/>
              </a:lnSpc>
              <a:spcBef>
                <a:spcPts val="600"/>
              </a:spcBef>
              <a:buNone/>
            </a:pPr>
            <a:r>
              <a:rPr lang="zh-CN" altLang="en-US" dirty="0">
                <a:solidFill>
                  <a:srgbClr val="3333FF"/>
                </a:solidFill>
                <a:latin typeface="黑体" panose="02010609060101010101" pitchFamily="49" charset="-122"/>
                <a:ea typeface="黑体" panose="02010609060101010101" pitchFamily="49" charset="-122"/>
              </a:rPr>
              <a:t>渐近上界</a:t>
            </a:r>
            <a:r>
              <a:rPr lang="zh-CN" altLang="en-US" dirty="0">
                <a:latin typeface="黑体" panose="02010609060101010101" pitchFamily="49" charset="-122"/>
                <a:ea typeface="黑体" panose="02010609060101010101" pitchFamily="49" charset="-122"/>
              </a:rPr>
              <a:t>记号</a:t>
            </a:r>
            <a:r>
              <a:rPr lang="en-US" altLang="zh-CN" b="1" i="1" dirty="0">
                <a:solidFill>
                  <a:srgbClr val="C00000"/>
                </a:solidFill>
              </a:rPr>
              <a:t>O </a:t>
            </a:r>
            <a:r>
              <a:rPr lang="en-US" altLang="zh-CN" b="1" dirty="0"/>
              <a:t>(</a:t>
            </a:r>
            <a:r>
              <a:rPr lang="zh-CN" altLang="en-US" b="1" dirty="0">
                <a:latin typeface="黑体" panose="02010609060101010101" pitchFamily="49" charset="-122"/>
                <a:ea typeface="黑体" panose="02010609060101010101" pitchFamily="49" charset="-122"/>
              </a:rPr>
              <a:t>大</a:t>
            </a:r>
            <a:r>
              <a:rPr lang="en-US" altLang="zh-CN" b="1" i="1" dirty="0"/>
              <a:t>O</a:t>
            </a:r>
            <a:r>
              <a:rPr lang="en-US" altLang="zh-CN" b="1" dirty="0"/>
              <a:t>)</a:t>
            </a:r>
            <a:endParaRPr lang="en-US" b="1" dirty="0"/>
          </a:p>
          <a:p>
            <a:pPr algn="just">
              <a:lnSpc>
                <a:spcPct val="125000"/>
              </a:lnSpc>
              <a:spcBef>
                <a:spcPts val="600"/>
              </a:spcBef>
            </a:pPr>
            <a:r>
              <a:rPr lang="zh-CN" altLang="en-US" sz="2400" b="1" dirty="0"/>
              <a:t>渐近地给出了一个函数在常量因子内的上界</a:t>
            </a:r>
            <a:r>
              <a:rPr lang="en-US" sz="2400" b="1" dirty="0"/>
              <a:t>:</a:t>
            </a:r>
          </a:p>
          <a:p>
            <a:pPr marL="0" indent="0" algn="just">
              <a:lnSpc>
                <a:spcPct val="125000"/>
              </a:lnSpc>
              <a:spcBef>
                <a:spcPts val="600"/>
              </a:spcBef>
              <a:buNone/>
            </a:pPr>
            <a:r>
              <a:rPr lang="en-US" sz="2400" b="1" dirty="0"/>
              <a:t>    </a:t>
            </a:r>
            <a:r>
              <a:rPr lang="en-US" altLang="zh-CN" sz="2400" b="1" i="1" dirty="0"/>
              <a:t>O</a:t>
            </a:r>
            <a:r>
              <a:rPr lang="en-US" sz="2400" b="1" dirty="0"/>
              <a:t>(</a:t>
            </a:r>
            <a:r>
              <a:rPr lang="en-US" sz="2400" b="1" i="1" dirty="0"/>
              <a:t>g</a:t>
            </a:r>
            <a:r>
              <a:rPr lang="en-US" sz="2400" b="1" dirty="0"/>
              <a:t>(</a:t>
            </a:r>
            <a:r>
              <a:rPr lang="en-US" sz="2400" b="1" i="1" dirty="0"/>
              <a:t>n</a:t>
            </a:r>
            <a:r>
              <a:rPr lang="en-US" sz="2400" b="1" dirty="0"/>
              <a:t>)) = { </a:t>
            </a:r>
            <a:r>
              <a:rPr lang="en-US" sz="2400" b="1" i="1" dirty="0"/>
              <a:t>f</a:t>
            </a:r>
            <a:r>
              <a:rPr lang="en-US" sz="2400" b="1" dirty="0"/>
              <a:t>(</a:t>
            </a:r>
            <a:r>
              <a:rPr lang="en-US" sz="2400" b="1" i="1" dirty="0"/>
              <a:t>n</a:t>
            </a:r>
            <a:r>
              <a:rPr lang="en-US" sz="2400" b="1" dirty="0"/>
              <a:t>) : </a:t>
            </a:r>
            <a:r>
              <a:rPr lang="zh-CN" altLang="en-US" sz="2400" b="1" dirty="0">
                <a:solidFill>
                  <a:srgbClr val="CC3300"/>
                </a:solidFill>
              </a:rPr>
              <a:t>存在</a:t>
            </a:r>
            <a:r>
              <a:rPr lang="zh-CN" altLang="en-US" sz="2400" b="1" dirty="0"/>
              <a:t>正常量</a:t>
            </a:r>
            <a:r>
              <a:rPr lang="en-US" sz="2400" b="1" i="1" dirty="0"/>
              <a:t>c</a:t>
            </a:r>
            <a:r>
              <a:rPr lang="zh-CN" altLang="en-US" sz="2400" b="1" dirty="0"/>
              <a:t>和</a:t>
            </a:r>
            <a:r>
              <a:rPr lang="en-US" sz="2400" b="1" i="1" dirty="0"/>
              <a:t>n</a:t>
            </a:r>
            <a:r>
              <a:rPr lang="en-US" sz="2400" b="1" baseline="-25000" dirty="0"/>
              <a:t>0</a:t>
            </a:r>
            <a:r>
              <a:rPr lang="zh-CN" altLang="en-US" sz="2400" b="1" dirty="0"/>
              <a:t>，使得对所有</a:t>
            </a:r>
            <a:r>
              <a:rPr lang="pt-BR" altLang="zh-CN" sz="2400" b="1" i="1" dirty="0"/>
              <a:t>n</a:t>
            </a:r>
            <a:r>
              <a:rPr lang="pt-BR" altLang="zh-CN" sz="2400" b="1" dirty="0"/>
              <a:t> ≥ </a:t>
            </a:r>
            <a:r>
              <a:rPr lang="pt-BR" altLang="zh-CN" sz="2400" b="1" i="1" dirty="0"/>
              <a:t>n</a:t>
            </a:r>
            <a:r>
              <a:rPr lang="pt-BR" altLang="zh-CN" sz="2400" b="1" baseline="-25000" dirty="0"/>
              <a:t>0</a:t>
            </a:r>
            <a:r>
              <a:rPr lang="zh-CN" altLang="en-US" sz="2400" b="1" dirty="0"/>
              <a:t>，</a:t>
            </a:r>
            <a:endParaRPr lang="en-US" altLang="zh-CN" sz="2400" b="1" dirty="0"/>
          </a:p>
          <a:p>
            <a:pPr marL="0" indent="0" algn="just">
              <a:lnSpc>
                <a:spcPct val="125000"/>
              </a:lnSpc>
              <a:spcBef>
                <a:spcPts val="600"/>
              </a:spcBef>
              <a:buNone/>
            </a:pPr>
            <a:r>
              <a:rPr lang="en-US" altLang="zh-CN" sz="2400" b="1" dirty="0"/>
              <a:t>                        </a:t>
            </a:r>
            <a:r>
              <a:rPr lang="zh-CN" altLang="en-US" sz="2400" b="1" dirty="0"/>
              <a:t>有</a:t>
            </a:r>
            <a:r>
              <a:rPr lang="pt-BR" sz="2400" b="1" dirty="0"/>
              <a:t>0 ≤ </a:t>
            </a:r>
            <a:r>
              <a:rPr lang="pt-BR" sz="2400" b="1" i="1" dirty="0"/>
              <a:t>f</a:t>
            </a:r>
            <a:r>
              <a:rPr lang="pt-BR" sz="2400" b="1" dirty="0"/>
              <a:t>(</a:t>
            </a:r>
            <a:r>
              <a:rPr lang="pt-BR" sz="2400" b="1" i="1" dirty="0"/>
              <a:t>n</a:t>
            </a:r>
            <a:r>
              <a:rPr lang="pt-BR" sz="2400" b="1" dirty="0"/>
              <a:t>) ≤ </a:t>
            </a:r>
            <a:r>
              <a:rPr lang="en-US" sz="2400" b="1" i="1" dirty="0"/>
              <a:t>c</a:t>
            </a:r>
            <a:r>
              <a:rPr lang="pt-BR" sz="2400" b="1" i="1" dirty="0"/>
              <a:t>g</a:t>
            </a:r>
            <a:r>
              <a:rPr lang="pt-BR" sz="2400" b="1" dirty="0"/>
              <a:t>(</a:t>
            </a:r>
            <a:r>
              <a:rPr lang="pt-BR" sz="2400" b="1" i="1" dirty="0"/>
              <a:t>n</a:t>
            </a:r>
            <a:r>
              <a:rPr lang="pt-BR" sz="2400" b="1" dirty="0"/>
              <a:t>)}</a:t>
            </a:r>
          </a:p>
          <a:p>
            <a:pPr marL="0" indent="0" algn="just">
              <a:lnSpc>
                <a:spcPct val="125000"/>
              </a:lnSpc>
              <a:spcBef>
                <a:spcPts val="600"/>
              </a:spcBef>
              <a:buNone/>
            </a:pPr>
            <a:r>
              <a:rPr lang="zh-CN" altLang="en-US" sz="2400" dirty="0"/>
              <a:t>举例</a:t>
            </a:r>
            <a:r>
              <a:rPr lang="en-US" altLang="zh-CN" sz="2400" dirty="0"/>
              <a:t> : </a:t>
            </a:r>
            <a:r>
              <a:rPr lang="en-US" altLang="zh-CN" sz="2400" i="1" dirty="0"/>
              <a:t>f</a:t>
            </a:r>
            <a:r>
              <a:rPr lang="en-US" altLang="zh-CN" sz="2400" b="1" dirty="0"/>
              <a:t>(</a:t>
            </a:r>
            <a:r>
              <a:rPr lang="en-US" altLang="zh-CN" sz="2400" b="1" i="1" dirty="0"/>
              <a:t>n</a:t>
            </a:r>
            <a:r>
              <a:rPr lang="en-US" altLang="zh-CN" sz="2400" b="1" dirty="0"/>
              <a:t>)=</a:t>
            </a:r>
            <a:r>
              <a:rPr lang="en-US" altLang="zh-CN" sz="2400" i="1" dirty="0"/>
              <a:t>n</a:t>
            </a:r>
            <a:r>
              <a:rPr lang="en-US" altLang="zh-CN" sz="2400" baseline="30000" dirty="0"/>
              <a:t>2</a:t>
            </a:r>
            <a:r>
              <a:rPr lang="en-US" altLang="zh-CN" sz="2400" dirty="0"/>
              <a:t>, </a:t>
            </a:r>
            <a:r>
              <a:rPr lang="en-US" altLang="zh-CN" sz="2400" i="1" dirty="0"/>
              <a:t>n</a:t>
            </a:r>
            <a:r>
              <a:rPr lang="en-US" altLang="zh-CN" sz="2400" baseline="30000" dirty="0"/>
              <a:t>2</a:t>
            </a:r>
            <a:r>
              <a:rPr lang="en-US" altLang="zh-CN" sz="2400" dirty="0"/>
              <a:t> + </a:t>
            </a:r>
            <a:r>
              <a:rPr lang="en-US" altLang="zh-CN" sz="2400" i="1" dirty="0"/>
              <a:t>n</a:t>
            </a:r>
            <a:r>
              <a:rPr lang="en-US" altLang="zh-CN" sz="2400" dirty="0"/>
              <a:t>, </a:t>
            </a:r>
            <a:r>
              <a:rPr lang="en-US" altLang="zh-CN" sz="2400" i="1" dirty="0"/>
              <a:t>n</a:t>
            </a:r>
            <a:r>
              <a:rPr lang="en-US" altLang="zh-CN" sz="2400" baseline="30000" dirty="0"/>
              <a:t>2</a:t>
            </a:r>
            <a:r>
              <a:rPr lang="en-US" altLang="zh-CN" sz="2400" dirty="0"/>
              <a:t> + 1000</a:t>
            </a:r>
            <a:r>
              <a:rPr lang="en-US" altLang="zh-CN" sz="2400" i="1" dirty="0"/>
              <a:t>n</a:t>
            </a:r>
            <a:r>
              <a:rPr lang="en-US" altLang="zh-CN" sz="2400" dirty="0"/>
              <a:t>, 1000</a:t>
            </a:r>
            <a:r>
              <a:rPr lang="en-US" altLang="zh-CN" sz="2400" i="1" dirty="0"/>
              <a:t>n</a:t>
            </a:r>
            <a:r>
              <a:rPr lang="en-US" altLang="zh-CN" sz="2400" baseline="30000" dirty="0"/>
              <a:t>2</a:t>
            </a:r>
            <a:r>
              <a:rPr lang="en-US" altLang="zh-CN" sz="2400" dirty="0"/>
              <a:t> + 1000</a:t>
            </a:r>
            <a:r>
              <a:rPr lang="en-US" altLang="zh-CN" sz="2400" i="1" dirty="0"/>
              <a:t>n</a:t>
            </a:r>
            <a:r>
              <a:rPr lang="en-US" altLang="zh-CN" sz="2400" dirty="0"/>
              <a:t>, 5000</a:t>
            </a:r>
            <a:r>
              <a:rPr lang="en-US" altLang="zh-CN" sz="2400" i="1" dirty="0"/>
              <a:t>n</a:t>
            </a:r>
            <a:r>
              <a:rPr lang="en-US" altLang="zh-CN" sz="2400" dirty="0"/>
              <a:t>, 200</a:t>
            </a:r>
            <a:r>
              <a:rPr lang="en-US" altLang="zh-CN" sz="2400" i="1" dirty="0"/>
              <a:t>n</a:t>
            </a:r>
            <a:r>
              <a:rPr lang="en-US" altLang="zh-CN" sz="2400" baseline="30000" dirty="0"/>
              <a:t>1.9</a:t>
            </a:r>
            <a:endParaRPr lang="en-US" altLang="zh-CN" sz="2400" dirty="0"/>
          </a:p>
          <a:p>
            <a:pPr marL="0" indent="0" algn="just">
              <a:lnSpc>
                <a:spcPct val="125000"/>
              </a:lnSpc>
              <a:spcBef>
                <a:spcPts val="600"/>
              </a:spcBef>
              <a:buNone/>
            </a:pPr>
            <a:endParaRPr lang="pt-BR" sz="2400" b="1" dirty="0"/>
          </a:p>
        </p:txBody>
      </p:sp>
      <p:pic>
        <p:nvPicPr>
          <p:cNvPr id="4" name="Picture 3"/>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0518" t="27538" r="38965" b="23615"/>
          <a:stretch/>
        </p:blipFill>
        <p:spPr bwMode="auto">
          <a:xfrm>
            <a:off x="533400" y="3810000"/>
            <a:ext cx="3761574" cy="289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矩形 1"/>
          <p:cNvSpPr/>
          <p:nvPr/>
        </p:nvSpPr>
        <p:spPr>
          <a:xfrm>
            <a:off x="4419600" y="4343400"/>
            <a:ext cx="4557729" cy="600164"/>
          </a:xfrm>
          <a:prstGeom prst="rect">
            <a:avLst/>
          </a:prstGeom>
        </p:spPr>
        <p:txBody>
          <a:bodyPr wrap="square">
            <a:spAutoFit/>
          </a:bodyPr>
          <a:lstStyle/>
          <a:p>
            <a:pPr marL="234950" indent="-292100">
              <a:lnSpc>
                <a:spcPct val="150000"/>
              </a:lnSpc>
              <a:spcBef>
                <a:spcPts val="600"/>
              </a:spcBef>
              <a:buFont typeface="Arial" panose="020B0604020202020204" pitchFamily="34" charset="0"/>
              <a:buChar char="•"/>
              <a:tabLst>
                <a:tab pos="271463" algn="l"/>
              </a:tabLst>
            </a:pPr>
            <a:r>
              <a:rPr lang="en-US" altLang="zh-CN" sz="2200" i="1" kern="0" dirty="0"/>
              <a:t>O</a:t>
            </a:r>
            <a:r>
              <a:rPr lang="zh-CN" altLang="en-US" sz="2200" dirty="0">
                <a:sym typeface="Symbol"/>
              </a:rPr>
              <a:t>可用于标识最坏情况运行时间</a:t>
            </a:r>
            <a:endParaRPr lang="en-US" altLang="zh-CN" sz="2200" dirty="0">
              <a:sym typeface="Symbol"/>
            </a:endParaRPr>
          </a:p>
        </p:txBody>
      </p:sp>
    </p:spTree>
    <p:extLst>
      <p:ext uri="{BB962C8B-B14F-4D97-AF65-F5344CB8AC3E}">
        <p14:creationId xmlns:p14="http://schemas.microsoft.com/office/powerpoint/2010/main" val="2900637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0"/>
            <a:ext cx="7772400" cy="838200"/>
          </a:xfrm>
        </p:spPr>
        <p:txBody>
          <a:bodyPr/>
          <a:lstStyle/>
          <a:p>
            <a:r>
              <a:rPr lang="en-US" altLang="zh-CN" sz="3600" dirty="0"/>
              <a:t>1.3 </a:t>
            </a:r>
            <a:r>
              <a:rPr lang="zh-CN" altLang="en-US" sz="3600" dirty="0"/>
              <a:t>渐近记号 </a:t>
            </a:r>
            <a:r>
              <a:rPr lang="en-US" altLang="zh-CN" sz="3600" dirty="0"/>
              <a:t>—</a:t>
            </a:r>
            <a:r>
              <a:rPr lang="en-US" altLang="zh-CN" sz="3600" dirty="0">
                <a:sym typeface="Symbol" panose="05050102010706020507" pitchFamily="18" charset="2"/>
              </a:rPr>
              <a:t></a:t>
            </a:r>
            <a:r>
              <a:rPr lang="zh-CN" altLang="en-US" sz="3600" dirty="0">
                <a:sym typeface="Symbol" panose="05050102010706020507" pitchFamily="18" charset="2"/>
              </a:rPr>
              <a:t>记号 </a:t>
            </a:r>
            <a:r>
              <a:rPr lang="en-US" sz="3600" b="1" dirty="0">
                <a:solidFill>
                  <a:srgbClr val="0000CC"/>
                </a:solidFill>
              </a:rPr>
              <a:t>(</a:t>
            </a:r>
            <a:r>
              <a:rPr lang="en-US" altLang="zh-CN" sz="3600" b="1" dirty="0">
                <a:solidFill>
                  <a:srgbClr val="0000CC"/>
                </a:solidFill>
              </a:rPr>
              <a:t>1</a:t>
            </a:r>
            <a:r>
              <a:rPr lang="en-US" sz="3600" b="1" dirty="0">
                <a:solidFill>
                  <a:srgbClr val="0000CC"/>
                </a:solidFill>
              </a:rPr>
              <a:t>)</a:t>
            </a:r>
          </a:p>
        </p:txBody>
      </p:sp>
      <p:sp>
        <p:nvSpPr>
          <p:cNvPr id="7171" name="Rectangle 3"/>
          <p:cNvSpPr>
            <a:spLocks noGrp="1" noChangeArrowheads="1"/>
          </p:cNvSpPr>
          <p:nvPr>
            <p:ph type="body" idx="4294967295"/>
          </p:nvPr>
        </p:nvSpPr>
        <p:spPr>
          <a:xfrm>
            <a:off x="457200" y="1371600"/>
            <a:ext cx="8686800" cy="5181600"/>
          </a:xfrm>
        </p:spPr>
        <p:txBody>
          <a:bodyPr/>
          <a:lstStyle/>
          <a:p>
            <a:pPr marL="0" indent="0">
              <a:buNone/>
            </a:pPr>
            <a:r>
              <a:rPr lang="zh-CN" altLang="en-US" sz="2400" b="1" dirty="0"/>
              <a:t>渐近下界记号</a:t>
            </a:r>
            <a:r>
              <a:rPr lang="en-US" altLang="zh-CN" sz="2400" b="1" dirty="0">
                <a:solidFill>
                  <a:srgbClr val="C00000"/>
                </a:solidFill>
                <a:sym typeface="Symbol"/>
              </a:rPr>
              <a:t></a:t>
            </a:r>
            <a:r>
              <a:rPr lang="en-US" altLang="zh-CN" sz="2400" b="1" dirty="0">
                <a:solidFill>
                  <a:srgbClr val="C00000"/>
                </a:solidFill>
              </a:rPr>
              <a:t> </a:t>
            </a:r>
            <a:r>
              <a:rPr lang="en-US" altLang="zh-CN" sz="2400" b="1" dirty="0"/>
              <a:t>(</a:t>
            </a:r>
            <a:r>
              <a:rPr lang="zh-CN" altLang="en-US" sz="2400" b="1" dirty="0"/>
              <a:t>大</a:t>
            </a:r>
            <a:r>
              <a:rPr lang="en-US" altLang="zh-CN" sz="2400" b="1" dirty="0">
                <a:sym typeface="Symbol"/>
              </a:rPr>
              <a:t></a:t>
            </a:r>
            <a:r>
              <a:rPr lang="en-US" altLang="zh-CN" sz="2400" b="1" dirty="0"/>
              <a:t>)</a:t>
            </a:r>
          </a:p>
          <a:p>
            <a:pPr algn="just">
              <a:lnSpc>
                <a:spcPct val="120000"/>
              </a:lnSpc>
              <a:spcBef>
                <a:spcPts val="600"/>
              </a:spcBef>
            </a:pPr>
            <a:r>
              <a:rPr lang="zh-CN" altLang="en-US" sz="2400" b="1" dirty="0"/>
              <a:t>渐近地给出了一个函数在常量因子内的下界</a:t>
            </a:r>
            <a:r>
              <a:rPr lang="en-US" sz="2400" b="1" dirty="0"/>
              <a:t>:</a:t>
            </a:r>
          </a:p>
          <a:p>
            <a:pPr marL="0" indent="0">
              <a:lnSpc>
                <a:spcPct val="120000"/>
              </a:lnSpc>
              <a:spcBef>
                <a:spcPts val="600"/>
              </a:spcBef>
              <a:buNone/>
            </a:pPr>
            <a:r>
              <a:rPr lang="en-US" altLang="zh-CN" sz="2400" b="1" dirty="0"/>
              <a:t>     </a:t>
            </a:r>
            <a:r>
              <a:rPr lang="en-US" altLang="zh-CN" sz="2400" b="1" dirty="0">
                <a:sym typeface="Symbol"/>
              </a:rPr>
              <a:t></a:t>
            </a:r>
            <a:r>
              <a:rPr lang="en-US" altLang="zh-CN" sz="2400" b="1" dirty="0"/>
              <a:t>(</a:t>
            </a:r>
            <a:r>
              <a:rPr lang="en-US" altLang="zh-CN" sz="2400" b="1" i="1" dirty="0"/>
              <a:t>g</a:t>
            </a:r>
            <a:r>
              <a:rPr lang="en-US" altLang="zh-CN" sz="2400" b="1" dirty="0"/>
              <a:t>(</a:t>
            </a:r>
            <a:r>
              <a:rPr lang="en-US" altLang="zh-CN" sz="2400" b="1" i="1" dirty="0"/>
              <a:t>n</a:t>
            </a:r>
            <a:r>
              <a:rPr lang="en-US" altLang="zh-CN" sz="2400" b="1" dirty="0"/>
              <a:t>)) = { </a:t>
            </a:r>
            <a:r>
              <a:rPr lang="en-US" altLang="zh-CN" sz="2400" b="1" i="1" dirty="0"/>
              <a:t>f</a:t>
            </a:r>
            <a:r>
              <a:rPr lang="en-US" altLang="zh-CN" sz="2400" b="1" dirty="0"/>
              <a:t>(</a:t>
            </a:r>
            <a:r>
              <a:rPr lang="en-US" altLang="zh-CN" sz="2400" b="1" i="1" dirty="0"/>
              <a:t>n</a:t>
            </a:r>
            <a:r>
              <a:rPr lang="en-US" altLang="zh-CN" sz="2400" b="1" dirty="0"/>
              <a:t>) :</a:t>
            </a:r>
            <a:r>
              <a:rPr lang="zh-CN" altLang="en-US" sz="2400" b="1" dirty="0">
                <a:solidFill>
                  <a:srgbClr val="CC3300"/>
                </a:solidFill>
                <a:latin typeface="宋体" panose="02010600030101010101" pitchFamily="2" charset="-122"/>
                <a:ea typeface="宋体" panose="02010600030101010101" pitchFamily="2" charset="-122"/>
              </a:rPr>
              <a:t>存在</a:t>
            </a:r>
            <a:r>
              <a:rPr lang="zh-CN" altLang="en-US" sz="2400" b="1" dirty="0">
                <a:latin typeface="宋体" panose="02010600030101010101" pitchFamily="2" charset="-122"/>
                <a:ea typeface="宋体" panose="02010600030101010101" pitchFamily="2" charset="-122"/>
              </a:rPr>
              <a:t>正常量 </a:t>
            </a:r>
            <a:r>
              <a:rPr lang="en-US" altLang="zh-CN" sz="2400" b="1" i="1" dirty="0"/>
              <a:t>c </a:t>
            </a:r>
            <a:r>
              <a:rPr lang="zh-CN" altLang="en-US" sz="2400" b="1" dirty="0"/>
              <a:t>和 </a:t>
            </a:r>
            <a:r>
              <a:rPr lang="en-US" altLang="zh-CN" sz="2400" b="1" i="1" dirty="0"/>
              <a:t>n</a:t>
            </a:r>
            <a:r>
              <a:rPr lang="en-US" altLang="zh-CN" sz="2400" b="1" baseline="-25000" dirty="0"/>
              <a:t>0</a:t>
            </a:r>
            <a:r>
              <a:rPr lang="zh-CN" altLang="en-US" sz="2400" b="1" dirty="0"/>
              <a:t>，使得对所有 </a:t>
            </a:r>
            <a:r>
              <a:rPr lang="en-US" altLang="zh-CN" sz="2400" b="1" i="1" dirty="0"/>
              <a:t>n</a:t>
            </a:r>
            <a:r>
              <a:rPr lang="en-US" altLang="zh-CN" sz="2400" b="1" dirty="0">
                <a:sym typeface="Symbol" panose="05050102010706020507" pitchFamily="18" charset="2"/>
              </a:rPr>
              <a:t> </a:t>
            </a:r>
            <a:r>
              <a:rPr lang="en-US" altLang="zh-CN" sz="2400" b="1" i="1" dirty="0"/>
              <a:t>n</a:t>
            </a:r>
            <a:r>
              <a:rPr lang="en-US" altLang="zh-CN" sz="2400" b="1" baseline="-25000" dirty="0"/>
              <a:t>0</a:t>
            </a:r>
            <a:endParaRPr lang="en-US" altLang="zh-CN" sz="2400" b="1" dirty="0"/>
          </a:p>
          <a:p>
            <a:pPr marL="0" indent="0">
              <a:lnSpc>
                <a:spcPct val="120000"/>
              </a:lnSpc>
              <a:spcBef>
                <a:spcPts val="600"/>
              </a:spcBef>
              <a:buNone/>
            </a:pPr>
            <a:r>
              <a:rPr lang="en-US" altLang="zh-CN" sz="2400" b="1" dirty="0"/>
              <a:t>                                   </a:t>
            </a:r>
            <a:r>
              <a:rPr lang="zh-CN" altLang="en-US" sz="2400" b="1" dirty="0"/>
              <a:t>有</a:t>
            </a:r>
            <a:r>
              <a:rPr lang="en-US" altLang="zh-CN" sz="2400" b="1" dirty="0"/>
              <a:t> </a:t>
            </a:r>
            <a:r>
              <a:rPr lang="pt-BR" altLang="zh-CN" sz="2400" b="1" dirty="0"/>
              <a:t>0 ≤ </a:t>
            </a:r>
            <a:r>
              <a:rPr lang="pt-BR" altLang="zh-CN" sz="2400" b="1" i="1" dirty="0"/>
              <a:t>cg</a:t>
            </a:r>
            <a:r>
              <a:rPr lang="pt-BR" altLang="zh-CN" sz="2400" b="1" dirty="0"/>
              <a:t>(</a:t>
            </a:r>
            <a:r>
              <a:rPr lang="pt-BR" altLang="zh-CN" sz="2400" b="1" i="1" dirty="0"/>
              <a:t>n</a:t>
            </a:r>
            <a:r>
              <a:rPr lang="pt-BR" altLang="zh-CN" sz="2400" b="1" dirty="0"/>
              <a:t>) ≤ </a:t>
            </a:r>
            <a:r>
              <a:rPr lang="pt-BR" altLang="zh-CN" sz="2400" b="1" i="1" dirty="0"/>
              <a:t>f</a:t>
            </a:r>
            <a:r>
              <a:rPr lang="pt-BR" altLang="zh-CN" sz="2400" b="1" dirty="0"/>
              <a:t>(</a:t>
            </a:r>
            <a:r>
              <a:rPr lang="pt-BR" altLang="zh-CN" sz="2400" b="1" i="1" dirty="0"/>
              <a:t>n</a:t>
            </a:r>
            <a:r>
              <a:rPr lang="pt-BR" altLang="zh-CN" sz="2400" b="1" dirty="0"/>
              <a:t>) for all </a:t>
            </a:r>
            <a:r>
              <a:rPr lang="pt-BR" altLang="zh-CN" sz="2400" b="1" i="1" dirty="0"/>
              <a:t>n</a:t>
            </a:r>
            <a:r>
              <a:rPr lang="pt-BR" altLang="zh-CN" sz="2400" b="1" dirty="0"/>
              <a:t> ≥ </a:t>
            </a:r>
            <a:r>
              <a:rPr lang="pt-BR" altLang="zh-CN" sz="2400" b="1" i="1" dirty="0"/>
              <a:t>n</a:t>
            </a:r>
            <a:r>
              <a:rPr lang="pt-BR" altLang="zh-CN" sz="2400" b="1" baseline="-25000" dirty="0"/>
              <a:t>0</a:t>
            </a:r>
            <a:r>
              <a:rPr lang="pt-BR" altLang="zh-CN" sz="2400" b="1" dirty="0"/>
              <a:t> }</a:t>
            </a:r>
          </a:p>
          <a:p>
            <a:pPr marL="0" indent="0">
              <a:lnSpc>
                <a:spcPct val="120000"/>
              </a:lnSpc>
              <a:spcBef>
                <a:spcPts val="600"/>
              </a:spcBef>
              <a:buNone/>
            </a:pPr>
            <a:r>
              <a:rPr lang="zh-CN" altLang="en-US" sz="2400" b="1" dirty="0"/>
              <a:t>    举例：</a:t>
            </a:r>
            <a:r>
              <a:rPr lang="en-US" altLang="zh-CN" sz="2400" b="1" i="1" dirty="0"/>
              <a:t>f</a:t>
            </a:r>
            <a:r>
              <a:rPr lang="en-US" altLang="zh-CN" sz="2400" b="1" dirty="0"/>
              <a:t>(</a:t>
            </a:r>
            <a:r>
              <a:rPr lang="en-US" altLang="zh-CN" sz="2400" b="1" i="1" dirty="0"/>
              <a:t>n</a:t>
            </a:r>
            <a:r>
              <a:rPr lang="en-US" altLang="zh-CN" sz="2400" b="1" dirty="0"/>
              <a:t>)=</a:t>
            </a:r>
            <a:r>
              <a:rPr lang="en-US" altLang="zh-CN" sz="2400" b="1" i="1" dirty="0"/>
              <a:t>n</a:t>
            </a:r>
            <a:r>
              <a:rPr lang="en-US" altLang="zh-CN" sz="2400" b="1" baseline="30000" dirty="0"/>
              <a:t>2</a:t>
            </a:r>
            <a:r>
              <a:rPr lang="en-US" altLang="zh-CN" sz="2400" b="1" dirty="0"/>
              <a:t>, 1000</a:t>
            </a:r>
            <a:r>
              <a:rPr lang="en-US" altLang="zh-CN" sz="2400" b="1" i="1" dirty="0"/>
              <a:t>n</a:t>
            </a:r>
            <a:r>
              <a:rPr lang="en-US" altLang="zh-CN" sz="2400" b="1" baseline="30000" dirty="0"/>
              <a:t>2</a:t>
            </a:r>
            <a:r>
              <a:rPr lang="en-US" altLang="zh-CN" sz="2400" b="1" dirty="0"/>
              <a:t> + 1000</a:t>
            </a:r>
            <a:r>
              <a:rPr lang="en-US" altLang="zh-CN" sz="2400" b="1" i="1" dirty="0"/>
              <a:t>n</a:t>
            </a:r>
            <a:r>
              <a:rPr lang="en-US" altLang="zh-CN" sz="2400" b="1" dirty="0"/>
              <a:t>, 1000</a:t>
            </a:r>
            <a:r>
              <a:rPr lang="en-US" altLang="zh-CN" sz="2400" b="1" i="1" dirty="0"/>
              <a:t>n</a:t>
            </a:r>
            <a:r>
              <a:rPr lang="en-US" altLang="zh-CN" sz="2400" b="1" baseline="30000" dirty="0"/>
              <a:t>2</a:t>
            </a:r>
            <a:r>
              <a:rPr lang="en-US" altLang="zh-CN" sz="2400" b="1" dirty="0"/>
              <a:t> – 1000</a:t>
            </a:r>
            <a:r>
              <a:rPr lang="en-US" altLang="zh-CN" sz="2400" b="1" i="1" dirty="0"/>
              <a:t>n</a:t>
            </a:r>
            <a:r>
              <a:rPr lang="en-US" altLang="zh-CN" sz="2400" b="1" dirty="0"/>
              <a:t>, </a:t>
            </a:r>
            <a:r>
              <a:rPr lang="en-US" altLang="zh-CN" sz="2400" b="1" i="1" dirty="0"/>
              <a:t>n</a:t>
            </a:r>
            <a:r>
              <a:rPr lang="en-US" altLang="zh-CN" sz="2400" b="1" baseline="30000" dirty="0"/>
              <a:t>3</a:t>
            </a:r>
            <a:r>
              <a:rPr lang="en-US" altLang="zh-CN" sz="2400" b="1" dirty="0"/>
              <a:t>, 0.2</a:t>
            </a:r>
            <a:r>
              <a:rPr lang="en-US" altLang="zh-CN" sz="2400" b="1" i="1" dirty="0"/>
              <a:t>n</a:t>
            </a:r>
            <a:r>
              <a:rPr lang="en-US" altLang="zh-CN" sz="2400" b="1" baseline="30000" dirty="0"/>
              <a:t>2.1</a:t>
            </a:r>
            <a:endParaRPr lang="en-US" sz="2400" b="1" dirty="0"/>
          </a:p>
        </p:txBody>
      </p:sp>
      <p:grpSp>
        <p:nvGrpSpPr>
          <p:cNvPr id="4" name="Group 2"/>
          <p:cNvGrpSpPr/>
          <p:nvPr/>
        </p:nvGrpSpPr>
        <p:grpSpPr>
          <a:xfrm>
            <a:off x="533400" y="3886200"/>
            <a:ext cx="3505200" cy="2864709"/>
            <a:chOff x="2286000" y="2743200"/>
            <a:chExt cx="3962400" cy="3651250"/>
          </a:xfrm>
        </p:grpSpPr>
        <p:pic>
          <p:nvPicPr>
            <p:cNvPr id="5"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63966" t="32308" r="10071" b="23461"/>
            <a:stretch/>
          </p:blipFill>
          <p:spPr bwMode="auto">
            <a:xfrm>
              <a:off x="2286000" y="2743200"/>
              <a:ext cx="3810000" cy="365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1"/>
            <p:cNvSpPr txBox="1"/>
            <p:nvPr/>
          </p:nvSpPr>
          <p:spPr>
            <a:xfrm>
              <a:off x="5969156" y="3607713"/>
              <a:ext cx="279244" cy="430887"/>
            </a:xfrm>
            <a:prstGeom prst="rect">
              <a:avLst/>
            </a:prstGeom>
            <a:noFill/>
          </p:spPr>
          <p:txBody>
            <a:bodyPr wrap="none" rtlCol="0">
              <a:spAutoFit/>
            </a:bodyPr>
            <a:lstStyle/>
            <a:p>
              <a:r>
                <a:rPr lang="en-US" sz="2200" dirty="0"/>
                <a:t>)</a:t>
              </a:r>
            </a:p>
          </p:txBody>
        </p:sp>
      </p:grpSp>
      <p:sp>
        <p:nvSpPr>
          <p:cNvPr id="7" name="Rectangle 3"/>
          <p:cNvSpPr/>
          <p:nvPr/>
        </p:nvSpPr>
        <p:spPr>
          <a:xfrm>
            <a:off x="4056185" y="4122115"/>
            <a:ext cx="5087815" cy="1643912"/>
          </a:xfrm>
          <a:prstGeom prst="rect">
            <a:avLst/>
          </a:prstGeom>
        </p:spPr>
        <p:txBody>
          <a:bodyPr wrap="square">
            <a:spAutoFit/>
          </a:bodyPr>
          <a:lstStyle/>
          <a:p>
            <a:pPr marL="342900" indent="-342900">
              <a:lnSpc>
                <a:spcPct val="150000"/>
              </a:lnSpc>
              <a:buFont typeface="Arial" pitchFamily="34" charset="0"/>
              <a:buChar char="•"/>
            </a:pPr>
            <a:r>
              <a:rPr lang="en-US" sz="2400" dirty="0">
                <a:sym typeface="Symbol"/>
              </a:rPr>
              <a:t></a:t>
            </a:r>
            <a:r>
              <a:rPr lang="zh-CN" altLang="en-US" sz="2400" dirty="0">
                <a:sym typeface="Symbol"/>
              </a:rPr>
              <a:t>可用于标识最佳情况运行时间</a:t>
            </a:r>
            <a:endParaRPr lang="en-US" sz="2400" dirty="0"/>
          </a:p>
          <a:p>
            <a:pPr marL="342900" indent="-342900">
              <a:lnSpc>
                <a:spcPct val="150000"/>
              </a:lnSpc>
              <a:buFont typeface="Arial" pitchFamily="34" charset="0"/>
              <a:buChar char="•"/>
            </a:pPr>
            <a:r>
              <a:rPr lang="zh-CN" altLang="en-US" sz="2400" dirty="0"/>
              <a:t>插入排序的运行时间</a:t>
            </a:r>
            <a:r>
              <a:rPr lang="en-US" sz="2400" dirty="0"/>
              <a:t>?</a:t>
            </a:r>
          </a:p>
          <a:p>
            <a:pPr marL="800100" lvl="1" indent="-342900">
              <a:lnSpc>
                <a:spcPct val="150000"/>
              </a:lnSpc>
              <a:buFont typeface="Arial" pitchFamily="34" charset="0"/>
              <a:buChar char="•"/>
            </a:pPr>
            <a:r>
              <a:rPr lang="en-US" sz="2200" dirty="0">
                <a:sym typeface="Symbol"/>
              </a:rPr>
              <a:t>(</a:t>
            </a:r>
            <a:r>
              <a:rPr lang="en-US" sz="2200" i="1" dirty="0">
                <a:sym typeface="Symbol"/>
              </a:rPr>
              <a:t>n</a:t>
            </a:r>
            <a:r>
              <a:rPr lang="en-US" sz="2200" dirty="0">
                <a:sym typeface="Symbol"/>
              </a:rPr>
              <a:t>) </a:t>
            </a:r>
            <a:r>
              <a:rPr lang="zh-CN" altLang="en-US" sz="2200" dirty="0">
                <a:sym typeface="Symbol"/>
              </a:rPr>
              <a:t>和</a:t>
            </a:r>
            <a:r>
              <a:rPr lang="en-US" altLang="zh-CN" sz="2200" dirty="0">
                <a:sym typeface="Symbol"/>
              </a:rPr>
              <a:t> </a:t>
            </a:r>
            <a:r>
              <a:rPr lang="en-US" sz="2200" dirty="0">
                <a:sym typeface="Symbol"/>
              </a:rPr>
              <a:t>O(</a:t>
            </a:r>
            <a:r>
              <a:rPr lang="en-US" sz="2200" i="1" dirty="0">
                <a:sym typeface="Symbol"/>
              </a:rPr>
              <a:t>n</a:t>
            </a:r>
            <a:r>
              <a:rPr lang="en-US" sz="2200" baseline="30000" dirty="0">
                <a:sym typeface="Symbol"/>
              </a:rPr>
              <a:t>2</a:t>
            </a:r>
            <a:r>
              <a:rPr lang="en-US" sz="2200" dirty="0">
                <a:sym typeface="Symbol"/>
              </a:rPr>
              <a:t>)</a:t>
            </a:r>
            <a:endParaRPr lang="en-US" sz="2200" dirty="0"/>
          </a:p>
        </p:txBody>
      </p:sp>
    </p:spTree>
    <p:extLst>
      <p:ext uri="{BB962C8B-B14F-4D97-AF65-F5344CB8AC3E}">
        <p14:creationId xmlns:p14="http://schemas.microsoft.com/office/powerpoint/2010/main" val="4280759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0" y="0"/>
            <a:ext cx="7772400" cy="838200"/>
          </a:xfrm>
        </p:spPr>
        <p:txBody>
          <a:bodyPr/>
          <a:lstStyle/>
          <a:p>
            <a:r>
              <a:rPr lang="en-US" altLang="zh-CN" sz="3600" dirty="0"/>
              <a:t>1.3 </a:t>
            </a:r>
            <a:r>
              <a:rPr lang="zh-CN" altLang="en-US" sz="3600" dirty="0"/>
              <a:t>渐近记号 </a:t>
            </a:r>
            <a:r>
              <a:rPr lang="en-US" altLang="zh-CN" sz="3600" dirty="0"/>
              <a:t>—</a:t>
            </a:r>
            <a:r>
              <a:rPr lang="en-US" altLang="zh-CN" sz="3600" dirty="0">
                <a:sym typeface="Symbol" panose="05050102010706020507" pitchFamily="18" charset="2"/>
              </a:rPr>
              <a:t></a:t>
            </a:r>
            <a:r>
              <a:rPr lang="zh-CN" altLang="en-US" sz="3600" dirty="0">
                <a:sym typeface="Symbol" panose="05050102010706020507" pitchFamily="18" charset="2"/>
              </a:rPr>
              <a:t>记号 </a:t>
            </a:r>
            <a:r>
              <a:rPr lang="en-US" sz="3600" b="1" dirty="0">
                <a:solidFill>
                  <a:srgbClr val="0000CC"/>
                </a:solidFill>
              </a:rPr>
              <a:t>(</a:t>
            </a:r>
            <a:r>
              <a:rPr lang="en-US" altLang="zh-CN" sz="3600" b="1" dirty="0">
                <a:solidFill>
                  <a:srgbClr val="0000CC"/>
                </a:solidFill>
              </a:rPr>
              <a:t>1</a:t>
            </a:r>
            <a:r>
              <a:rPr lang="en-US" sz="3600" b="1" dirty="0">
                <a:solidFill>
                  <a:srgbClr val="0000CC"/>
                </a:solidFill>
              </a:rPr>
              <a:t>)</a:t>
            </a:r>
          </a:p>
        </p:txBody>
      </p:sp>
      <p:sp>
        <p:nvSpPr>
          <p:cNvPr id="7171" name="Rectangle 3"/>
          <p:cNvSpPr>
            <a:spLocks noGrp="1" noChangeArrowheads="1"/>
          </p:cNvSpPr>
          <p:nvPr>
            <p:ph type="body" idx="4294967295"/>
          </p:nvPr>
        </p:nvSpPr>
        <p:spPr>
          <a:xfrm>
            <a:off x="457200" y="1371600"/>
            <a:ext cx="8686800" cy="2286000"/>
          </a:xfrm>
        </p:spPr>
        <p:txBody>
          <a:bodyPr>
            <a:normAutofit/>
          </a:bodyPr>
          <a:lstStyle/>
          <a:p>
            <a:pPr marL="0" indent="0" algn="just">
              <a:lnSpc>
                <a:spcPct val="125000"/>
              </a:lnSpc>
              <a:spcBef>
                <a:spcPts val="600"/>
              </a:spcBef>
              <a:buNone/>
            </a:pPr>
            <a:r>
              <a:rPr lang="zh-CN" altLang="en-US" b="1" dirty="0">
                <a:solidFill>
                  <a:srgbClr val="3333FF"/>
                </a:solidFill>
                <a:latin typeface="黑体" panose="02010609060101010101" pitchFamily="49" charset="-122"/>
                <a:ea typeface="黑体" panose="02010609060101010101" pitchFamily="49" charset="-122"/>
              </a:rPr>
              <a:t>渐近紧确界</a:t>
            </a:r>
            <a:r>
              <a:rPr lang="zh-CN" altLang="en-US" b="1" dirty="0">
                <a:latin typeface="黑体" panose="02010609060101010101" pitchFamily="49" charset="-122"/>
                <a:ea typeface="黑体" panose="02010609060101010101" pitchFamily="49" charset="-122"/>
              </a:rPr>
              <a:t>记号</a:t>
            </a:r>
            <a:r>
              <a:rPr lang="en-US" b="1" dirty="0">
                <a:latin typeface="黑体" panose="02010609060101010101" pitchFamily="49" charset="-122"/>
                <a:ea typeface="黑体" panose="02010609060101010101" pitchFamily="49" charset="-122"/>
                <a:sym typeface="Symbol"/>
              </a:rPr>
              <a:t></a:t>
            </a:r>
            <a:endParaRPr lang="en-US" b="1" dirty="0">
              <a:latin typeface="黑体" panose="02010609060101010101" pitchFamily="49" charset="-122"/>
              <a:ea typeface="黑体" panose="02010609060101010101" pitchFamily="49" charset="-122"/>
            </a:endParaRPr>
          </a:p>
          <a:p>
            <a:pPr algn="just">
              <a:lnSpc>
                <a:spcPct val="125000"/>
              </a:lnSpc>
              <a:spcBef>
                <a:spcPts val="600"/>
              </a:spcBef>
            </a:pPr>
            <a:r>
              <a:rPr lang="zh-CN" altLang="en-US" sz="2400" b="1" dirty="0"/>
              <a:t>渐近地给出了一个函数的上界和下界</a:t>
            </a:r>
            <a:r>
              <a:rPr lang="en-US" sz="2400" b="1" dirty="0"/>
              <a:t>:</a:t>
            </a:r>
          </a:p>
          <a:p>
            <a:pPr marL="0" indent="0" algn="just">
              <a:lnSpc>
                <a:spcPct val="125000"/>
              </a:lnSpc>
              <a:spcBef>
                <a:spcPts val="600"/>
              </a:spcBef>
              <a:buNone/>
            </a:pPr>
            <a:r>
              <a:rPr lang="en-US" sz="2400" b="1" dirty="0"/>
              <a:t>      </a:t>
            </a:r>
            <a:r>
              <a:rPr lang="en-US" sz="2400" dirty="0">
                <a:sym typeface="Symbol"/>
              </a:rPr>
              <a:t></a:t>
            </a:r>
            <a:r>
              <a:rPr lang="en-US" sz="2400" b="1" dirty="0"/>
              <a:t>(</a:t>
            </a:r>
            <a:r>
              <a:rPr lang="en-US" sz="2400" b="1" i="1" dirty="0"/>
              <a:t>g</a:t>
            </a:r>
            <a:r>
              <a:rPr lang="en-US" sz="2400" b="1" dirty="0"/>
              <a:t>(</a:t>
            </a:r>
            <a:r>
              <a:rPr lang="en-US" sz="2400" b="1" i="1" dirty="0"/>
              <a:t>n</a:t>
            </a:r>
            <a:r>
              <a:rPr lang="en-US" sz="2400" b="1" dirty="0"/>
              <a:t>)) = { </a:t>
            </a:r>
            <a:r>
              <a:rPr lang="en-US" sz="2400" b="1" i="1" dirty="0"/>
              <a:t>f</a:t>
            </a:r>
            <a:r>
              <a:rPr lang="en-US" sz="2400" b="1" dirty="0"/>
              <a:t>(</a:t>
            </a:r>
            <a:r>
              <a:rPr lang="en-US" sz="2400" b="1" i="1" dirty="0"/>
              <a:t>n</a:t>
            </a:r>
            <a:r>
              <a:rPr lang="en-US" sz="2400" b="1" dirty="0"/>
              <a:t>) : </a:t>
            </a:r>
            <a:r>
              <a:rPr lang="zh-CN" altLang="en-US" sz="2400" b="1" dirty="0">
                <a:solidFill>
                  <a:srgbClr val="CC3300"/>
                </a:solidFill>
              </a:rPr>
              <a:t>存在</a:t>
            </a:r>
            <a:r>
              <a:rPr lang="zh-CN" altLang="en-US" sz="2400" b="1" dirty="0"/>
              <a:t>正常量</a:t>
            </a:r>
            <a:r>
              <a:rPr lang="en-US" sz="2400" b="1" i="1" dirty="0"/>
              <a:t>c</a:t>
            </a:r>
            <a:r>
              <a:rPr lang="en-US" sz="2400" b="1" baseline="-25000" dirty="0"/>
              <a:t>1</a:t>
            </a:r>
            <a:r>
              <a:rPr lang="en-US" sz="2400" b="1" i="1" dirty="0"/>
              <a:t>, c</a:t>
            </a:r>
            <a:r>
              <a:rPr lang="en-US" sz="2400" b="1" baseline="-25000" dirty="0"/>
              <a:t>2</a:t>
            </a:r>
            <a:r>
              <a:rPr lang="zh-CN" altLang="en-US" sz="2400" b="1" dirty="0"/>
              <a:t>和</a:t>
            </a:r>
            <a:r>
              <a:rPr lang="en-US" sz="2400" b="1" i="1" dirty="0"/>
              <a:t>n</a:t>
            </a:r>
            <a:r>
              <a:rPr lang="en-US" sz="2400" b="1" baseline="-25000" dirty="0"/>
              <a:t>0</a:t>
            </a:r>
            <a:r>
              <a:rPr lang="zh-CN" altLang="en-US" sz="2400" b="1" dirty="0"/>
              <a:t>，使得对所有</a:t>
            </a:r>
            <a:r>
              <a:rPr lang="pt-BR" altLang="zh-CN" sz="2400" b="1" i="1" dirty="0"/>
              <a:t>n</a:t>
            </a:r>
            <a:r>
              <a:rPr lang="pt-BR" altLang="zh-CN" sz="2400" b="1" dirty="0"/>
              <a:t> ≥ </a:t>
            </a:r>
            <a:r>
              <a:rPr lang="pt-BR" altLang="zh-CN" sz="2400" b="1" i="1" dirty="0"/>
              <a:t>n</a:t>
            </a:r>
            <a:r>
              <a:rPr lang="pt-BR" altLang="zh-CN" sz="2400" b="1" baseline="-25000" dirty="0"/>
              <a:t>0</a:t>
            </a:r>
            <a:r>
              <a:rPr lang="zh-CN" altLang="en-US" sz="2400" b="1" dirty="0"/>
              <a:t>，</a:t>
            </a:r>
            <a:endParaRPr lang="en-US" altLang="zh-CN" sz="2400" b="1" dirty="0"/>
          </a:p>
          <a:p>
            <a:pPr marL="0" indent="0" algn="just">
              <a:lnSpc>
                <a:spcPct val="125000"/>
              </a:lnSpc>
              <a:spcBef>
                <a:spcPts val="600"/>
              </a:spcBef>
              <a:buNone/>
            </a:pPr>
            <a:r>
              <a:rPr lang="en-US" altLang="zh-CN" sz="2400" b="1" dirty="0"/>
              <a:t>                        </a:t>
            </a:r>
            <a:r>
              <a:rPr lang="zh-CN" altLang="en-US" sz="2400" b="1" dirty="0"/>
              <a:t>有</a:t>
            </a:r>
            <a:r>
              <a:rPr lang="pt-BR" sz="2400" b="1" dirty="0"/>
              <a:t>0 ≤ </a:t>
            </a:r>
            <a:r>
              <a:rPr lang="en-US" sz="2400" b="1" i="1" dirty="0"/>
              <a:t>c</a:t>
            </a:r>
            <a:r>
              <a:rPr lang="en-US" sz="2400" b="1" baseline="-25000" dirty="0"/>
              <a:t>1 </a:t>
            </a:r>
            <a:r>
              <a:rPr lang="pt-BR" sz="2400" b="1" i="1" dirty="0"/>
              <a:t>g</a:t>
            </a:r>
            <a:r>
              <a:rPr lang="pt-BR" sz="2400" b="1" dirty="0"/>
              <a:t>(</a:t>
            </a:r>
            <a:r>
              <a:rPr lang="pt-BR" sz="2400" b="1" i="1" dirty="0"/>
              <a:t>n</a:t>
            </a:r>
            <a:r>
              <a:rPr lang="pt-BR" sz="2400" b="1" dirty="0"/>
              <a:t>) ≤ </a:t>
            </a:r>
            <a:r>
              <a:rPr lang="pt-BR" sz="2400" b="1" i="1" dirty="0"/>
              <a:t>f</a:t>
            </a:r>
            <a:r>
              <a:rPr lang="pt-BR" sz="2400" b="1" dirty="0"/>
              <a:t>(</a:t>
            </a:r>
            <a:r>
              <a:rPr lang="pt-BR" sz="2400" b="1" i="1" dirty="0"/>
              <a:t>n</a:t>
            </a:r>
            <a:r>
              <a:rPr lang="pt-BR" sz="2400" b="1" dirty="0"/>
              <a:t>) ≤ </a:t>
            </a:r>
            <a:r>
              <a:rPr lang="en-US" sz="2400" b="1" i="1" dirty="0"/>
              <a:t>c</a:t>
            </a:r>
            <a:r>
              <a:rPr lang="en-US" sz="2400" b="1" baseline="-25000" dirty="0"/>
              <a:t>2 </a:t>
            </a:r>
            <a:r>
              <a:rPr lang="pt-BR" sz="2400" b="1" i="1" dirty="0"/>
              <a:t>g</a:t>
            </a:r>
            <a:r>
              <a:rPr lang="pt-BR" sz="2400" b="1" dirty="0"/>
              <a:t>(</a:t>
            </a:r>
            <a:r>
              <a:rPr lang="pt-BR" sz="2400" b="1" i="1" dirty="0"/>
              <a:t>n</a:t>
            </a:r>
            <a:r>
              <a:rPr lang="pt-BR" sz="2400" b="1" dirty="0"/>
              <a:t>)}</a:t>
            </a:r>
          </a:p>
        </p:txBody>
      </p:sp>
      <p:sp>
        <p:nvSpPr>
          <p:cNvPr id="3" name="矩形 2"/>
          <p:cNvSpPr/>
          <p:nvPr/>
        </p:nvSpPr>
        <p:spPr>
          <a:xfrm>
            <a:off x="4495800" y="4191000"/>
            <a:ext cx="4419600" cy="1015663"/>
          </a:xfrm>
          <a:prstGeom prst="rect">
            <a:avLst/>
          </a:prstGeom>
        </p:spPr>
        <p:txBody>
          <a:bodyPr wrap="square">
            <a:spAutoFit/>
          </a:bodyPr>
          <a:lstStyle/>
          <a:p>
            <a:pPr marL="400050" lvl="1" indent="0" algn="just">
              <a:lnSpc>
                <a:spcPct val="125000"/>
              </a:lnSpc>
              <a:spcBef>
                <a:spcPts val="600"/>
              </a:spcBef>
              <a:buNone/>
            </a:pPr>
            <a:r>
              <a:rPr lang="zh-CN" altLang="en-US" sz="2400" dirty="0"/>
              <a:t>举例</a:t>
            </a:r>
            <a:r>
              <a:rPr lang="pt-BR" altLang="zh-CN" sz="2400" dirty="0"/>
              <a:t>: </a:t>
            </a:r>
            <a:r>
              <a:rPr lang="en-US" altLang="zh-CN" sz="2400" i="1" dirty="0"/>
              <a:t>n</a:t>
            </a:r>
            <a:r>
              <a:rPr lang="en-US" altLang="zh-CN" sz="2400" baseline="30000" dirty="0"/>
              <a:t>2</a:t>
            </a:r>
            <a:r>
              <a:rPr lang="en-US" altLang="zh-CN" sz="2400" dirty="0"/>
              <a:t>/2 – 2</a:t>
            </a:r>
            <a:r>
              <a:rPr lang="en-US" altLang="zh-CN" sz="2400" i="1" dirty="0"/>
              <a:t>n</a:t>
            </a:r>
            <a:r>
              <a:rPr lang="en-US" altLang="zh-CN" sz="2400" dirty="0"/>
              <a:t> </a:t>
            </a:r>
            <a:r>
              <a:rPr lang="en-US" altLang="zh-CN" sz="2400" dirty="0">
                <a:sym typeface="Symbol"/>
              </a:rPr>
              <a:t> </a:t>
            </a:r>
            <a:r>
              <a:rPr lang="en-US" altLang="zh-CN" sz="2400" dirty="0"/>
              <a:t>(</a:t>
            </a:r>
            <a:r>
              <a:rPr lang="en-US" altLang="zh-CN" sz="2400" i="1" dirty="0"/>
              <a:t>n</a:t>
            </a:r>
            <a:r>
              <a:rPr lang="en-US" altLang="zh-CN" sz="2400" baseline="30000" dirty="0"/>
              <a:t>2</a:t>
            </a:r>
            <a:r>
              <a:rPr lang="en-US" altLang="zh-CN" sz="2400" dirty="0"/>
              <a:t>), </a:t>
            </a:r>
            <a:r>
              <a:rPr lang="zh-CN" altLang="en-US" sz="2400" dirty="0"/>
              <a:t>满足</a:t>
            </a:r>
            <a:r>
              <a:rPr lang="en-US" altLang="zh-CN" sz="2400" dirty="0"/>
              <a:t> </a:t>
            </a:r>
            <a:r>
              <a:rPr lang="en-US" altLang="zh-CN" sz="2400" i="1" dirty="0"/>
              <a:t>c</a:t>
            </a:r>
            <a:r>
              <a:rPr lang="en-US" altLang="zh-CN" sz="2400" baseline="-25000" dirty="0"/>
              <a:t>1</a:t>
            </a:r>
            <a:r>
              <a:rPr lang="en-US" altLang="zh-CN" sz="2400" i="1" dirty="0"/>
              <a:t> = </a:t>
            </a:r>
            <a:r>
              <a:rPr lang="en-US" altLang="zh-CN" sz="2400" dirty="0"/>
              <a:t>1/4,</a:t>
            </a:r>
            <a:r>
              <a:rPr lang="en-US" altLang="zh-CN" sz="2400" i="1" dirty="0"/>
              <a:t> c</a:t>
            </a:r>
            <a:r>
              <a:rPr lang="en-US" altLang="zh-CN" sz="2400" baseline="-25000" dirty="0"/>
              <a:t>2</a:t>
            </a:r>
            <a:r>
              <a:rPr lang="en-US" altLang="zh-CN" sz="2400" dirty="0"/>
              <a:t> = 1/2</a:t>
            </a:r>
            <a:r>
              <a:rPr lang="zh-CN" altLang="en-US" sz="2400" dirty="0"/>
              <a:t>和</a:t>
            </a:r>
            <a:r>
              <a:rPr lang="en-US" altLang="zh-CN" sz="2400" i="1" dirty="0"/>
              <a:t>n</a:t>
            </a:r>
            <a:r>
              <a:rPr lang="en-US" altLang="zh-CN" sz="2400" baseline="-25000" dirty="0"/>
              <a:t>0</a:t>
            </a:r>
            <a:r>
              <a:rPr lang="en-US" altLang="zh-CN" sz="2400" dirty="0"/>
              <a:t> = 8</a:t>
            </a:r>
            <a:r>
              <a:rPr lang="zh-CN" altLang="en-US" sz="2400" dirty="0"/>
              <a:t>。</a:t>
            </a:r>
            <a:endParaRPr lang="en-US" altLang="zh-CN" sz="2400" dirty="0"/>
          </a:p>
        </p:txBody>
      </p:sp>
      <p:grpSp>
        <p:nvGrpSpPr>
          <p:cNvPr id="6" name="Group 3"/>
          <p:cNvGrpSpPr/>
          <p:nvPr/>
        </p:nvGrpSpPr>
        <p:grpSpPr>
          <a:xfrm>
            <a:off x="914400" y="3666478"/>
            <a:ext cx="3447096" cy="3124199"/>
            <a:chOff x="916820" y="2743200"/>
            <a:chExt cx="3599496" cy="3628293"/>
          </a:xfrm>
        </p:grpSpPr>
        <p:pic>
          <p:nvPicPr>
            <p:cNvPr id="7" name="Picture 2"/>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2524" t="27821" r="70433" b="23718"/>
            <a:stretch/>
          </p:blipFill>
          <p:spPr bwMode="auto">
            <a:xfrm>
              <a:off x="916820" y="2743200"/>
              <a:ext cx="3599496" cy="3628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8" name="Straight Connector 2"/>
            <p:cNvCxnSpPr/>
            <p:nvPr/>
          </p:nvCxnSpPr>
          <p:spPr bwMode="auto">
            <a:xfrm flipV="1">
              <a:off x="916820" y="2743200"/>
              <a:ext cx="0" cy="2971800"/>
            </a:xfrm>
            <a:prstGeom prst="line">
              <a:avLst/>
            </a:prstGeom>
            <a:solidFill>
              <a:schemeClr val="accent1"/>
            </a:solidFill>
            <a:ln w="9525" cap="flat" cmpd="sng" algn="ctr">
              <a:solidFill>
                <a:schemeClr val="tx1"/>
              </a:solidFill>
              <a:prstDash val="solid"/>
              <a:round/>
              <a:headEnd type="none" w="med" len="med"/>
              <a:tailEnd type="none" w="med" len="med"/>
            </a:ln>
            <a:effectLst/>
          </p:spPr>
        </p:cxnSp>
      </p:grpSp>
    </p:spTree>
    <p:extLst>
      <p:ext uri="{BB962C8B-B14F-4D97-AF65-F5344CB8AC3E}">
        <p14:creationId xmlns:p14="http://schemas.microsoft.com/office/powerpoint/2010/main" val="2055686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533400" y="0"/>
            <a:ext cx="7772400" cy="838200"/>
          </a:xfrm>
        </p:spPr>
        <p:txBody>
          <a:bodyPr/>
          <a:lstStyle/>
          <a:p>
            <a:r>
              <a:rPr lang="en-US" altLang="zh-CN" sz="3600" dirty="0"/>
              <a:t>1.3 </a:t>
            </a:r>
            <a:r>
              <a:rPr lang="zh-CN" altLang="en-US" sz="3600" dirty="0"/>
              <a:t>渐近记号 </a:t>
            </a:r>
            <a:r>
              <a:rPr lang="en-US" altLang="zh-CN" sz="3600" dirty="0"/>
              <a:t>—</a:t>
            </a:r>
            <a:r>
              <a:rPr lang="en-US" altLang="zh-CN" sz="3600" dirty="0">
                <a:sym typeface="Symbol" panose="05050102010706020507" pitchFamily="18" charset="2"/>
              </a:rPr>
              <a:t></a:t>
            </a:r>
            <a:r>
              <a:rPr lang="zh-CN" altLang="en-US" sz="3600" dirty="0">
                <a:sym typeface="Symbol" panose="05050102010706020507" pitchFamily="18" charset="2"/>
              </a:rPr>
              <a:t>记号 </a:t>
            </a:r>
            <a:r>
              <a:rPr lang="en-US" altLang="zh-CN" sz="3600" dirty="0"/>
              <a:t>(2)</a:t>
            </a:r>
            <a:endParaRPr lang="en-US" sz="3600" b="1" dirty="0">
              <a:solidFill>
                <a:srgbClr val="0000CC"/>
              </a:solidFill>
            </a:endParaRPr>
          </a:p>
        </p:txBody>
      </p:sp>
      <p:sp>
        <p:nvSpPr>
          <p:cNvPr id="9" name="Rectangle 3"/>
          <p:cNvSpPr txBox="1">
            <a:spLocks noChangeArrowheads="1"/>
          </p:cNvSpPr>
          <p:nvPr/>
        </p:nvSpPr>
        <p:spPr bwMode="auto">
          <a:xfrm>
            <a:off x="342900" y="1371600"/>
            <a:ext cx="84963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Wingdings" pitchFamily="2" charset="2"/>
              <a:buChar char="§"/>
              <a:defRPr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Font typeface="Wingdings" pitchFamily="2" charset="2"/>
              <a:buChar char="§"/>
              <a:defRPr sz="24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pPr algn="just" eaLnBrk="1" hangingPunct="1">
              <a:lnSpc>
                <a:spcPct val="125000"/>
              </a:lnSpc>
              <a:spcBef>
                <a:spcPts val="600"/>
              </a:spcBef>
            </a:pPr>
            <a:r>
              <a:rPr lang="en-US" altLang="zh-CN" sz="2400" b="1" i="1" kern="0" dirty="0"/>
              <a:t>f</a:t>
            </a:r>
            <a:r>
              <a:rPr lang="en-US" altLang="zh-CN" sz="2400" b="1" kern="0" dirty="0"/>
              <a:t>(</a:t>
            </a:r>
            <a:r>
              <a:rPr lang="en-US" altLang="zh-CN" sz="2400" b="1" i="1" kern="0" dirty="0"/>
              <a:t>n</a:t>
            </a:r>
            <a:r>
              <a:rPr lang="en-US" altLang="zh-CN" sz="2400" b="1" kern="0" dirty="0"/>
              <a:t>) </a:t>
            </a:r>
            <a:r>
              <a:rPr lang="en-US" altLang="zh-CN" sz="2400" b="0" kern="0" dirty="0"/>
              <a:t>= </a:t>
            </a:r>
            <a:r>
              <a:rPr lang="en-US" altLang="zh-CN" sz="2400" b="1" kern="0" dirty="0">
                <a:sym typeface="Symbol" panose="05050102010706020507" pitchFamily="18" charset="2"/>
              </a:rPr>
              <a:t></a:t>
            </a:r>
            <a:r>
              <a:rPr lang="en-US" altLang="zh-CN" sz="2400" b="1" kern="0" dirty="0"/>
              <a:t>(</a:t>
            </a:r>
            <a:r>
              <a:rPr lang="en-US" altLang="zh-CN" sz="2400" b="1" i="1" kern="0" dirty="0"/>
              <a:t>g</a:t>
            </a:r>
            <a:r>
              <a:rPr lang="en-US" altLang="zh-CN" sz="2400" b="1" kern="0" dirty="0"/>
              <a:t>(</a:t>
            </a:r>
            <a:r>
              <a:rPr lang="en-US" altLang="zh-CN" sz="2400" b="1" i="1" kern="0" dirty="0"/>
              <a:t>n</a:t>
            </a:r>
            <a:r>
              <a:rPr lang="en-US" altLang="zh-CN" sz="2400" b="1" kern="0" dirty="0"/>
              <a:t>))</a:t>
            </a:r>
            <a:r>
              <a:rPr lang="zh-CN" altLang="en-US" sz="2400" b="0" kern="0" dirty="0"/>
              <a:t>的确切意义是：</a:t>
            </a:r>
            <a:r>
              <a:rPr lang="en-US" altLang="zh-CN" sz="2400" b="1" i="1" kern="0" dirty="0"/>
              <a:t>f</a:t>
            </a:r>
            <a:r>
              <a:rPr lang="en-US" altLang="zh-CN" sz="2400" b="1" kern="0" dirty="0"/>
              <a:t>(</a:t>
            </a:r>
            <a:r>
              <a:rPr lang="en-US" altLang="zh-CN" sz="2400" b="1" i="1" kern="0" dirty="0"/>
              <a:t>n</a:t>
            </a:r>
            <a:r>
              <a:rPr lang="en-US" altLang="zh-CN" sz="2400" b="1" kern="0" dirty="0"/>
              <a:t>) </a:t>
            </a:r>
            <a:r>
              <a:rPr lang="en-US" altLang="zh-CN" sz="2400" b="1" kern="0" dirty="0">
                <a:sym typeface="Symbol" panose="05050102010706020507" pitchFamily="18" charset="2"/>
              </a:rPr>
              <a:t></a:t>
            </a:r>
            <a:r>
              <a:rPr lang="en-US" altLang="zh-CN" sz="2400" b="1" kern="0" dirty="0"/>
              <a:t> </a:t>
            </a:r>
            <a:r>
              <a:rPr lang="en-US" altLang="zh-CN" sz="2400" b="1" kern="0" dirty="0">
                <a:sym typeface="Symbol" panose="05050102010706020507" pitchFamily="18" charset="2"/>
              </a:rPr>
              <a:t></a:t>
            </a:r>
            <a:r>
              <a:rPr lang="en-US" altLang="zh-CN" sz="2400" b="1" kern="0" dirty="0"/>
              <a:t>(</a:t>
            </a:r>
            <a:r>
              <a:rPr lang="en-US" altLang="zh-CN" sz="2400" b="1" i="1" kern="0" dirty="0"/>
              <a:t>g</a:t>
            </a:r>
            <a:r>
              <a:rPr lang="en-US" altLang="zh-CN" sz="2400" b="1" kern="0" dirty="0"/>
              <a:t>(</a:t>
            </a:r>
            <a:r>
              <a:rPr lang="en-US" altLang="zh-CN" sz="2400" b="1" i="1" kern="0" dirty="0"/>
              <a:t>n</a:t>
            </a:r>
            <a:r>
              <a:rPr lang="en-US" altLang="zh-CN" sz="2400" b="1" kern="0" dirty="0"/>
              <a:t>))</a:t>
            </a:r>
            <a:r>
              <a:rPr lang="zh-CN" altLang="en-US" sz="2400" b="0" kern="0" dirty="0"/>
              <a:t>。</a:t>
            </a:r>
            <a:endParaRPr lang="en-US" altLang="zh-CN" sz="2400" b="0" kern="0" dirty="0"/>
          </a:p>
          <a:p>
            <a:pPr marL="0" indent="0" algn="just" eaLnBrk="1" hangingPunct="1">
              <a:lnSpc>
                <a:spcPct val="125000"/>
              </a:lnSpc>
              <a:spcBef>
                <a:spcPts val="600"/>
              </a:spcBef>
              <a:buFont typeface="Wingdings" pitchFamily="2" charset="2"/>
              <a:buNone/>
            </a:pPr>
            <a:r>
              <a:rPr lang="zh-CN" altLang="en-US" sz="2400" b="0" kern="0" dirty="0"/>
              <a:t>    即对任一函数</a:t>
            </a:r>
            <a:r>
              <a:rPr lang="en-US" altLang="zh-CN" sz="2400" b="1" i="1" kern="0" dirty="0"/>
              <a:t>f</a:t>
            </a:r>
            <a:r>
              <a:rPr lang="en-US" altLang="zh-CN" sz="2400" b="1" kern="0" dirty="0"/>
              <a:t>(</a:t>
            </a:r>
            <a:r>
              <a:rPr lang="en-US" altLang="zh-CN" sz="2400" b="1" i="1" kern="0" dirty="0"/>
              <a:t>n</a:t>
            </a:r>
            <a:r>
              <a:rPr lang="en-US" altLang="zh-CN" sz="2400" b="1" kern="0" dirty="0"/>
              <a:t>)</a:t>
            </a:r>
            <a:r>
              <a:rPr lang="zh-CN" altLang="en-US" sz="2400" b="0" kern="0" dirty="0"/>
              <a:t>满足上述条件时，则</a:t>
            </a:r>
            <a:r>
              <a:rPr lang="en-US" altLang="zh-CN" sz="2400" b="1" i="1" kern="0" dirty="0"/>
              <a:t>f</a:t>
            </a:r>
            <a:r>
              <a:rPr lang="en-US" altLang="zh-CN" sz="2400" b="1" kern="0" dirty="0"/>
              <a:t>(</a:t>
            </a:r>
            <a:r>
              <a:rPr lang="en-US" altLang="zh-CN" sz="2400" b="1" i="1" kern="0" dirty="0"/>
              <a:t>n</a:t>
            </a:r>
            <a:r>
              <a:rPr lang="en-US" altLang="zh-CN" sz="2400" b="1" kern="0" dirty="0"/>
              <a:t>)</a:t>
            </a:r>
            <a:r>
              <a:rPr lang="zh-CN" altLang="en-US" sz="2400" b="0" kern="0" dirty="0"/>
              <a:t>属于</a:t>
            </a:r>
            <a:r>
              <a:rPr lang="zh-CN" altLang="en-US" sz="2400" b="1" kern="0" dirty="0">
                <a:solidFill>
                  <a:srgbClr val="C00000"/>
                </a:solidFill>
                <a:latin typeface="黑体" panose="02010609060101010101" pitchFamily="49" charset="-122"/>
                <a:ea typeface="黑体" panose="02010609060101010101" pitchFamily="49" charset="-122"/>
              </a:rPr>
              <a:t>集合</a:t>
            </a:r>
            <a:r>
              <a:rPr lang="zh-CN" altLang="en-US" sz="2400" b="0" kern="0" dirty="0">
                <a:sym typeface="Symbol" panose="05050102010706020507" pitchFamily="18" charset="2"/>
              </a:rPr>
              <a:t></a:t>
            </a:r>
            <a:r>
              <a:rPr lang="en-US" altLang="zh-CN" sz="2400" b="0" kern="0" dirty="0"/>
              <a:t>(</a:t>
            </a:r>
            <a:r>
              <a:rPr lang="en-US" altLang="zh-CN" sz="2400" b="1" i="1" kern="0" dirty="0"/>
              <a:t>g</a:t>
            </a:r>
            <a:r>
              <a:rPr lang="en-US" altLang="zh-CN" sz="2400" b="1" kern="0" dirty="0"/>
              <a:t>(</a:t>
            </a:r>
            <a:r>
              <a:rPr lang="en-US" altLang="zh-CN" sz="2400" b="1" i="1" kern="0" dirty="0"/>
              <a:t>n</a:t>
            </a:r>
            <a:r>
              <a:rPr lang="en-US" altLang="zh-CN" sz="2400" b="1" kern="0" dirty="0"/>
              <a:t>)</a:t>
            </a:r>
            <a:r>
              <a:rPr lang="en-US" altLang="zh-CN" sz="2400" b="0" kern="0" dirty="0"/>
              <a:t>)</a:t>
            </a:r>
            <a:r>
              <a:rPr lang="zh-CN" altLang="en-US" sz="2400" b="0" kern="0" dirty="0"/>
              <a:t>；</a:t>
            </a:r>
            <a:r>
              <a:rPr lang="en-US" altLang="zh-CN" sz="2400" b="0" kern="0" dirty="0"/>
              <a:t> </a:t>
            </a:r>
          </a:p>
          <a:p>
            <a:pPr algn="just" eaLnBrk="1" hangingPunct="1">
              <a:lnSpc>
                <a:spcPct val="125000"/>
              </a:lnSpc>
              <a:spcBef>
                <a:spcPts val="600"/>
              </a:spcBef>
            </a:pPr>
            <a:r>
              <a:rPr lang="en-US" altLang="zh-CN" sz="2400" b="0" kern="0" dirty="0">
                <a:sym typeface="Symbol"/>
              </a:rPr>
              <a:t></a:t>
            </a:r>
            <a:r>
              <a:rPr lang="en-US" altLang="zh-CN" sz="2400" b="1" kern="0" dirty="0"/>
              <a:t>(</a:t>
            </a:r>
            <a:r>
              <a:rPr lang="en-US" altLang="zh-CN" sz="2400" b="1" i="1" kern="0" dirty="0"/>
              <a:t>g</a:t>
            </a:r>
            <a:r>
              <a:rPr lang="en-US" altLang="zh-CN" sz="2400" b="1" kern="0" dirty="0"/>
              <a:t>(</a:t>
            </a:r>
            <a:r>
              <a:rPr lang="en-US" altLang="zh-CN" sz="2400" b="1" i="1" kern="0" dirty="0"/>
              <a:t>n</a:t>
            </a:r>
            <a:r>
              <a:rPr lang="en-US" altLang="zh-CN" sz="2400" b="1" kern="0" dirty="0"/>
              <a:t>))</a:t>
            </a:r>
            <a:r>
              <a:rPr lang="zh-CN" altLang="en-US" sz="2400" b="0" kern="0" dirty="0"/>
              <a:t>的定义要求其每个元素</a:t>
            </a:r>
            <a:r>
              <a:rPr lang="zh-CN" altLang="en-US" sz="2400" b="1" kern="0" dirty="0">
                <a:solidFill>
                  <a:srgbClr val="C00000"/>
                </a:solidFill>
                <a:latin typeface="黑体" panose="02010609060101010101" pitchFamily="49" charset="-122"/>
                <a:ea typeface="黑体" panose="02010609060101010101" pitchFamily="49" charset="-122"/>
              </a:rPr>
              <a:t>渐近非负</a:t>
            </a:r>
            <a:r>
              <a:rPr lang="zh-CN" altLang="en-US" sz="2400" b="1" kern="0" dirty="0">
                <a:solidFill>
                  <a:srgbClr val="3333FF"/>
                </a:solidFill>
                <a:latin typeface="黑体" panose="02010609060101010101" pitchFamily="49" charset="-122"/>
                <a:ea typeface="黑体" panose="02010609060101010101" pitchFamily="49" charset="-122"/>
              </a:rPr>
              <a:t>（</a:t>
            </a:r>
            <a:r>
              <a:rPr lang="zh-CN" altLang="en-US" sz="2400" dirty="0"/>
              <a:t>当</a:t>
            </a:r>
            <a:r>
              <a:rPr lang="en-US" altLang="zh-CN" sz="2400" dirty="0"/>
              <a:t>n</a:t>
            </a:r>
            <a:r>
              <a:rPr lang="zh-CN" altLang="en-US" sz="2400" dirty="0"/>
              <a:t>趋于无穷大时</a:t>
            </a:r>
            <a:r>
              <a:rPr lang="en-US" altLang="zh-CN" sz="2400" dirty="0"/>
              <a:t>,f(n)</a:t>
            </a:r>
            <a:r>
              <a:rPr lang="zh-CN" altLang="en-US" sz="2400" dirty="0"/>
              <a:t>和</a:t>
            </a:r>
            <a:r>
              <a:rPr lang="en-US" altLang="zh-CN" sz="2400" dirty="0"/>
              <a:t>g(n)</a:t>
            </a:r>
            <a:r>
              <a:rPr lang="zh-CN" altLang="en-US" sz="2400" dirty="0"/>
              <a:t>都非负</a:t>
            </a:r>
            <a:r>
              <a:rPr lang="zh-CN" altLang="en-US" sz="2400" b="1" kern="0" dirty="0">
                <a:solidFill>
                  <a:srgbClr val="3333FF"/>
                </a:solidFill>
                <a:latin typeface="黑体" panose="02010609060101010101" pitchFamily="49" charset="-122"/>
                <a:ea typeface="黑体" panose="02010609060101010101" pitchFamily="49" charset="-122"/>
              </a:rPr>
              <a:t>）</a:t>
            </a:r>
            <a:r>
              <a:rPr lang="zh-CN" altLang="en-US" sz="2400" b="0" kern="0" dirty="0"/>
              <a:t>，这也要求</a:t>
            </a:r>
            <a:r>
              <a:rPr lang="en-US" altLang="zh-CN" sz="2400" b="1" i="1" kern="0" dirty="0"/>
              <a:t>g</a:t>
            </a:r>
            <a:r>
              <a:rPr lang="en-US" altLang="zh-CN" sz="2400" b="1" kern="0" dirty="0"/>
              <a:t>(</a:t>
            </a:r>
            <a:r>
              <a:rPr lang="en-US" altLang="zh-CN" sz="2400" b="1" i="1" kern="0" dirty="0"/>
              <a:t>n</a:t>
            </a:r>
            <a:r>
              <a:rPr lang="en-US" altLang="zh-CN" sz="2400" b="1" kern="0" dirty="0"/>
              <a:t>)</a:t>
            </a:r>
            <a:r>
              <a:rPr lang="zh-CN" altLang="en-US" sz="2400" b="0" kern="0" dirty="0"/>
              <a:t>本身是渐近非负的（其他记号也是如此）。</a:t>
            </a:r>
            <a:endParaRPr lang="en-US" altLang="zh-CN" sz="2400" b="0" kern="0" dirty="0"/>
          </a:p>
          <a:p>
            <a:pPr>
              <a:lnSpc>
                <a:spcPct val="125000"/>
              </a:lnSpc>
              <a:spcBef>
                <a:spcPts val="600"/>
              </a:spcBef>
            </a:pPr>
            <a:r>
              <a:rPr lang="en-US" altLang="zh-CN" sz="2400" dirty="0">
                <a:sym typeface="Symbol"/>
              </a:rPr>
              <a:t></a:t>
            </a:r>
            <a:r>
              <a:rPr lang="en-US" altLang="zh-CN" sz="2400" dirty="0"/>
              <a:t>(</a:t>
            </a:r>
            <a:r>
              <a:rPr lang="en-US" altLang="zh-CN" sz="2400" i="1" dirty="0"/>
              <a:t>g</a:t>
            </a:r>
            <a:r>
              <a:rPr lang="en-US" altLang="zh-CN" sz="2400" dirty="0"/>
              <a:t>(</a:t>
            </a:r>
            <a:r>
              <a:rPr lang="en-US" altLang="zh-CN" sz="2400" i="1" dirty="0"/>
              <a:t>n</a:t>
            </a:r>
            <a:r>
              <a:rPr lang="en-US" altLang="zh-CN" sz="2400" dirty="0"/>
              <a:t>))</a:t>
            </a:r>
            <a:r>
              <a:rPr lang="zh-CN" altLang="en-US" sz="2400" dirty="0"/>
              <a:t>中的所有函数具有相同的最高阶项。</a:t>
            </a:r>
            <a:endParaRPr lang="en-US" altLang="zh-CN" sz="2400" dirty="0"/>
          </a:p>
          <a:p>
            <a:pPr>
              <a:lnSpc>
                <a:spcPct val="125000"/>
              </a:lnSpc>
              <a:spcBef>
                <a:spcPts val="600"/>
              </a:spcBef>
            </a:pPr>
            <a:r>
              <a:rPr lang="zh-CN" altLang="en-US" sz="2400" kern="0" dirty="0">
                <a:solidFill>
                  <a:srgbClr val="C00000"/>
                </a:solidFill>
                <a:latin typeface="黑体" panose="02010609060101010101" pitchFamily="49" charset="-122"/>
                <a:ea typeface="黑体" panose="02010609060101010101" pitchFamily="49" charset="-122"/>
              </a:rPr>
              <a:t>原理</a:t>
            </a:r>
            <a:r>
              <a:rPr lang="zh-CN" altLang="en-US" sz="2400" kern="0" dirty="0">
                <a:solidFill>
                  <a:srgbClr val="3333FF"/>
                </a:solidFill>
                <a:latin typeface="黑体" panose="02010609060101010101" pitchFamily="49" charset="-122"/>
                <a:ea typeface="黑体" panose="02010609060101010101" pitchFamily="49" charset="-122"/>
              </a:rPr>
              <a:t>：</a:t>
            </a:r>
            <a:r>
              <a:rPr lang="en-US" altLang="zh-CN" sz="2400" i="1" dirty="0"/>
              <a:t>f</a:t>
            </a:r>
            <a:r>
              <a:rPr lang="en-US" altLang="zh-CN" sz="2400" dirty="0"/>
              <a:t>(</a:t>
            </a:r>
            <a:r>
              <a:rPr lang="en-US" altLang="zh-CN" sz="2400" i="1" dirty="0"/>
              <a:t>n</a:t>
            </a:r>
            <a:r>
              <a:rPr lang="en-US" altLang="zh-CN" sz="2400" dirty="0"/>
              <a:t>)</a:t>
            </a:r>
            <a:r>
              <a:rPr lang="en-US" altLang="zh-CN" sz="2400" dirty="0">
                <a:sym typeface="Symbol"/>
              </a:rPr>
              <a:t></a:t>
            </a:r>
            <a:r>
              <a:rPr lang="en-US" altLang="zh-CN" sz="2400" dirty="0"/>
              <a:t>(</a:t>
            </a:r>
            <a:r>
              <a:rPr lang="en-US" altLang="zh-CN" sz="2400" i="1" dirty="0"/>
              <a:t>g</a:t>
            </a:r>
            <a:r>
              <a:rPr lang="en-US" altLang="zh-CN" sz="2400" dirty="0"/>
              <a:t>(</a:t>
            </a:r>
            <a:r>
              <a:rPr lang="en-US" altLang="zh-CN" sz="2400" i="1" dirty="0"/>
              <a:t>n</a:t>
            </a:r>
            <a:r>
              <a:rPr lang="en-US" altLang="zh-CN" sz="2400" dirty="0"/>
              <a:t>))</a:t>
            </a:r>
            <a:r>
              <a:rPr lang="zh-CN" altLang="en-US" sz="2400" dirty="0"/>
              <a:t>，当且仅当 </a:t>
            </a:r>
            <a:r>
              <a:rPr lang="en-US" altLang="zh-CN" sz="2400" i="1" dirty="0"/>
              <a:t>f</a:t>
            </a:r>
            <a:r>
              <a:rPr lang="en-US" altLang="zh-CN" sz="2400" dirty="0"/>
              <a:t>(</a:t>
            </a:r>
            <a:r>
              <a:rPr lang="en-US" altLang="zh-CN" sz="2400" i="1" dirty="0"/>
              <a:t>n</a:t>
            </a:r>
            <a:r>
              <a:rPr lang="en-US" altLang="zh-CN" sz="2400" dirty="0"/>
              <a:t>)</a:t>
            </a:r>
            <a:r>
              <a:rPr lang="en-US" altLang="zh-CN" sz="2400" dirty="0">
                <a:sym typeface="Symbol"/>
              </a:rPr>
              <a:t></a:t>
            </a:r>
            <a:r>
              <a:rPr lang="en-US" altLang="zh-CN" sz="2400" i="1" dirty="0">
                <a:sym typeface="Symbol"/>
              </a:rPr>
              <a:t>O</a:t>
            </a:r>
            <a:r>
              <a:rPr lang="en-US" altLang="zh-CN" sz="2400" dirty="0"/>
              <a:t>(</a:t>
            </a:r>
            <a:r>
              <a:rPr lang="en-US" altLang="zh-CN" sz="2400" i="1" dirty="0"/>
              <a:t>g</a:t>
            </a:r>
            <a:r>
              <a:rPr lang="en-US" altLang="zh-CN" sz="2400" dirty="0"/>
              <a:t>(</a:t>
            </a:r>
            <a:r>
              <a:rPr lang="en-US" altLang="zh-CN" sz="2400" i="1" dirty="0"/>
              <a:t>n</a:t>
            </a:r>
            <a:r>
              <a:rPr lang="en-US" altLang="zh-CN" sz="2400" dirty="0"/>
              <a:t>))</a:t>
            </a:r>
            <a:r>
              <a:rPr lang="zh-CN" altLang="en-US" sz="2400" dirty="0"/>
              <a:t>且 </a:t>
            </a:r>
            <a:r>
              <a:rPr lang="en-US" altLang="zh-CN" sz="2400" i="1" dirty="0"/>
              <a:t>f</a:t>
            </a:r>
            <a:r>
              <a:rPr lang="en-US" altLang="zh-CN" sz="2400" dirty="0"/>
              <a:t>(</a:t>
            </a:r>
            <a:r>
              <a:rPr lang="en-US" altLang="zh-CN" sz="2400" i="1" dirty="0"/>
              <a:t>n</a:t>
            </a:r>
            <a:r>
              <a:rPr lang="en-US" altLang="zh-CN" sz="2400" dirty="0"/>
              <a:t>)</a:t>
            </a:r>
            <a:r>
              <a:rPr lang="en-US" altLang="zh-CN" sz="2400" dirty="0">
                <a:sym typeface="Symbol"/>
              </a:rPr>
              <a:t></a:t>
            </a:r>
            <a:r>
              <a:rPr lang="en-US" altLang="zh-CN" sz="2400" dirty="0"/>
              <a:t>(</a:t>
            </a:r>
            <a:r>
              <a:rPr lang="en-US" altLang="zh-CN" sz="2400" i="1" dirty="0"/>
              <a:t>g</a:t>
            </a:r>
            <a:r>
              <a:rPr lang="en-US" altLang="zh-CN" sz="2400" dirty="0"/>
              <a:t>(</a:t>
            </a:r>
            <a:r>
              <a:rPr lang="en-US" altLang="zh-CN" sz="2400" i="1" dirty="0"/>
              <a:t>n</a:t>
            </a:r>
            <a:r>
              <a:rPr lang="en-US" altLang="zh-CN" sz="2400" dirty="0"/>
              <a:t>))</a:t>
            </a:r>
            <a:endParaRPr lang="pt-BR" altLang="zh-CN" sz="2400" dirty="0"/>
          </a:p>
          <a:p>
            <a:pPr algn="just" eaLnBrk="1" hangingPunct="1">
              <a:lnSpc>
                <a:spcPct val="125000"/>
              </a:lnSpc>
              <a:spcBef>
                <a:spcPts val="600"/>
              </a:spcBef>
            </a:pPr>
            <a:endParaRPr lang="en-US" sz="2400" b="1" kern="0" dirty="0"/>
          </a:p>
        </p:txBody>
      </p:sp>
    </p:spTree>
    <p:extLst>
      <p:ext uri="{BB962C8B-B14F-4D97-AF65-F5344CB8AC3E}">
        <p14:creationId xmlns:p14="http://schemas.microsoft.com/office/powerpoint/2010/main" val="658862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609600" y="76200"/>
            <a:ext cx="7772400" cy="914400"/>
          </a:xfrm>
        </p:spPr>
        <p:txBody>
          <a:bodyPr/>
          <a:lstStyle/>
          <a:p>
            <a:pPr eaLnBrk="1" hangingPunct="1"/>
            <a:r>
              <a:rPr lang="en-US" altLang="zh-CN" dirty="0"/>
              <a:t>1.3 </a:t>
            </a:r>
            <a:r>
              <a:rPr lang="zh-CN" altLang="en-US" dirty="0"/>
              <a:t>渐近记号 </a:t>
            </a:r>
            <a:r>
              <a:rPr lang="en-US" altLang="zh-CN" dirty="0"/>
              <a:t>—</a:t>
            </a:r>
            <a:r>
              <a:rPr lang="en-US" altLang="zh-CN" dirty="0">
                <a:sym typeface="Symbol" panose="05050102010706020507" pitchFamily="18" charset="2"/>
              </a:rPr>
              <a:t></a:t>
            </a:r>
            <a:r>
              <a:rPr lang="zh-CN" altLang="en-US" dirty="0">
                <a:sym typeface="Symbol" panose="05050102010706020507" pitchFamily="18" charset="2"/>
              </a:rPr>
              <a:t>记号 </a:t>
            </a:r>
            <a:r>
              <a:rPr lang="en-US" altLang="zh-CN" dirty="0"/>
              <a:t>(3)</a:t>
            </a:r>
            <a:endParaRPr lang="zh-CN" altLang="en-US" sz="3600" dirty="0">
              <a:sym typeface="Symbol" panose="05050102010706020507" pitchFamily="18" charset="2"/>
            </a:endParaRPr>
          </a:p>
        </p:txBody>
      </p:sp>
      <p:sp>
        <p:nvSpPr>
          <p:cNvPr id="13315" name="Rectangle 3"/>
          <p:cNvSpPr>
            <a:spLocks noGrp="1" noChangeArrowheads="1"/>
          </p:cNvSpPr>
          <p:nvPr>
            <p:ph idx="1"/>
          </p:nvPr>
        </p:nvSpPr>
        <p:spPr/>
        <p:txBody>
          <a:bodyPr>
            <a:normAutofit/>
          </a:bodyPr>
          <a:lstStyle/>
          <a:p>
            <a:pPr marL="0" indent="0" eaLnBrk="1" hangingPunct="1">
              <a:lnSpc>
                <a:spcPct val="120000"/>
              </a:lnSpc>
              <a:spcBef>
                <a:spcPts val="600"/>
              </a:spcBef>
              <a:buNone/>
            </a:pPr>
            <a:r>
              <a:rPr lang="zh-CN" altLang="en-US" dirty="0"/>
              <a:t>形式化证明</a:t>
            </a:r>
            <a:r>
              <a:rPr lang="en-US" altLang="zh-CN" i="1" dirty="0"/>
              <a:t>n</a:t>
            </a:r>
            <a:r>
              <a:rPr lang="en-US" altLang="zh-CN" baseline="30000" dirty="0"/>
              <a:t>2</a:t>
            </a:r>
            <a:r>
              <a:rPr lang="en-US" altLang="zh-CN" dirty="0"/>
              <a:t>/2 - 3</a:t>
            </a:r>
            <a:r>
              <a:rPr lang="en-US" altLang="zh-CN" i="1" dirty="0"/>
              <a:t>n </a:t>
            </a:r>
            <a:r>
              <a:rPr lang="en-US" altLang="zh-CN" dirty="0"/>
              <a:t>= </a:t>
            </a:r>
            <a:r>
              <a:rPr lang="en-US" altLang="zh-CN" dirty="0">
                <a:sym typeface="Symbol" panose="05050102010706020507" pitchFamily="18" charset="2"/>
              </a:rPr>
              <a:t></a:t>
            </a:r>
            <a:r>
              <a:rPr lang="en-US" altLang="zh-CN" dirty="0"/>
              <a:t>(</a:t>
            </a:r>
            <a:r>
              <a:rPr lang="en-US" altLang="zh-CN" i="1" dirty="0"/>
              <a:t>n</a:t>
            </a:r>
            <a:r>
              <a:rPr lang="en-US" altLang="zh-CN" baseline="30000" dirty="0"/>
              <a:t>2</a:t>
            </a:r>
            <a:r>
              <a:rPr lang="en-US" altLang="zh-CN" dirty="0"/>
              <a:t>) </a:t>
            </a:r>
          </a:p>
          <a:p>
            <a:pPr eaLnBrk="1" hangingPunct="1">
              <a:lnSpc>
                <a:spcPct val="120000"/>
              </a:lnSpc>
              <a:spcBef>
                <a:spcPts val="600"/>
              </a:spcBef>
            </a:pPr>
            <a:r>
              <a:rPr lang="zh-CN" altLang="en-US" sz="2400" dirty="0">
                <a:sym typeface="Symbol" panose="05050102010706020507" pitchFamily="18" charset="2"/>
              </a:rPr>
              <a:t>即确定正常数</a:t>
            </a:r>
            <a:r>
              <a:rPr lang="en-US" altLang="zh-CN" sz="2400" i="1" dirty="0">
                <a:sym typeface="Symbol" panose="05050102010706020507" pitchFamily="18" charset="2"/>
              </a:rPr>
              <a:t>c</a:t>
            </a:r>
            <a:r>
              <a:rPr lang="en-US" altLang="zh-CN" sz="2400" baseline="-25000" dirty="0">
                <a:sym typeface="Symbol" panose="05050102010706020507" pitchFamily="18" charset="2"/>
              </a:rPr>
              <a:t>1</a:t>
            </a:r>
            <a:r>
              <a:rPr lang="en-US" altLang="zh-CN" sz="2400" dirty="0">
                <a:sym typeface="Symbol" panose="05050102010706020507" pitchFamily="18" charset="2"/>
              </a:rPr>
              <a:t>, </a:t>
            </a:r>
            <a:r>
              <a:rPr lang="en-US" altLang="zh-CN" sz="2400" i="1" dirty="0">
                <a:sym typeface="Symbol" panose="05050102010706020507" pitchFamily="18" charset="2"/>
              </a:rPr>
              <a:t>c</a:t>
            </a:r>
            <a:r>
              <a:rPr lang="en-US" altLang="zh-CN" sz="2400" baseline="-25000" dirty="0">
                <a:sym typeface="Symbol" panose="05050102010706020507" pitchFamily="18" charset="2"/>
              </a:rPr>
              <a:t>2</a:t>
            </a:r>
            <a:r>
              <a:rPr lang="zh-CN" altLang="en-US" sz="2400" dirty="0">
                <a:sym typeface="Symbol" panose="05050102010706020507" pitchFamily="18" charset="2"/>
              </a:rPr>
              <a:t>和</a:t>
            </a:r>
            <a:r>
              <a:rPr lang="en-US" altLang="zh-CN" sz="2400" i="1" dirty="0">
                <a:sym typeface="Symbol" panose="05050102010706020507" pitchFamily="18" charset="2"/>
              </a:rPr>
              <a:t>n</a:t>
            </a:r>
            <a:r>
              <a:rPr lang="en-US" altLang="zh-CN" sz="2400" baseline="-25000" dirty="0">
                <a:sym typeface="Symbol" panose="05050102010706020507" pitchFamily="18" charset="2"/>
              </a:rPr>
              <a:t>0</a:t>
            </a:r>
            <a:r>
              <a:rPr lang="zh-CN" altLang="en-US" sz="2400" dirty="0">
                <a:sym typeface="Symbol" panose="05050102010706020507" pitchFamily="18" charset="2"/>
              </a:rPr>
              <a:t>，使得对所有</a:t>
            </a:r>
            <a:r>
              <a:rPr lang="en-US" altLang="zh-CN" sz="2400" i="1" dirty="0">
                <a:sym typeface="Symbol" panose="05050102010706020507" pitchFamily="18" charset="2"/>
              </a:rPr>
              <a:t>n</a:t>
            </a:r>
            <a:r>
              <a:rPr lang="en-US" altLang="zh-CN" sz="2400" dirty="0">
                <a:sym typeface="Symbol" panose="05050102010706020507" pitchFamily="18" charset="2"/>
              </a:rPr>
              <a:t> </a:t>
            </a:r>
            <a:r>
              <a:rPr lang="pt-BR" altLang="zh-CN" sz="2400" dirty="0"/>
              <a:t>≥</a:t>
            </a:r>
            <a:r>
              <a:rPr lang="en-US" altLang="zh-CN" sz="2400" dirty="0">
                <a:sym typeface="Symbol" panose="05050102010706020507" pitchFamily="18" charset="2"/>
              </a:rPr>
              <a:t> </a:t>
            </a:r>
            <a:r>
              <a:rPr lang="en-US" altLang="zh-CN" sz="2400" i="1" dirty="0">
                <a:sym typeface="Symbol" panose="05050102010706020507" pitchFamily="18" charset="2"/>
              </a:rPr>
              <a:t>n</a:t>
            </a:r>
            <a:r>
              <a:rPr lang="en-US" altLang="zh-CN" sz="2400" baseline="-25000" dirty="0">
                <a:sym typeface="Symbol" panose="05050102010706020507" pitchFamily="18" charset="2"/>
              </a:rPr>
              <a:t>0</a:t>
            </a:r>
            <a:r>
              <a:rPr lang="zh-CN" altLang="en-US" sz="2400" dirty="0">
                <a:sym typeface="Symbol" panose="05050102010706020507" pitchFamily="18" charset="2"/>
              </a:rPr>
              <a:t>，有：</a:t>
            </a:r>
          </a:p>
          <a:p>
            <a:pPr eaLnBrk="1" hangingPunct="1">
              <a:lnSpc>
                <a:spcPct val="120000"/>
              </a:lnSpc>
              <a:spcBef>
                <a:spcPts val="600"/>
              </a:spcBef>
            </a:pPr>
            <a:endParaRPr lang="en-US" altLang="zh-CN" sz="2400" dirty="0">
              <a:sym typeface="Symbol" panose="05050102010706020507" pitchFamily="18" charset="2"/>
            </a:endParaRPr>
          </a:p>
          <a:p>
            <a:pPr eaLnBrk="1" hangingPunct="1">
              <a:lnSpc>
                <a:spcPct val="120000"/>
              </a:lnSpc>
              <a:spcBef>
                <a:spcPts val="600"/>
              </a:spcBef>
            </a:pPr>
            <a:endParaRPr lang="en-US" altLang="zh-CN" sz="2400" dirty="0">
              <a:sym typeface="Symbol" panose="05050102010706020507" pitchFamily="18" charset="2"/>
            </a:endParaRPr>
          </a:p>
          <a:p>
            <a:pPr eaLnBrk="1" hangingPunct="1">
              <a:lnSpc>
                <a:spcPct val="120000"/>
              </a:lnSpc>
              <a:spcBef>
                <a:spcPts val="600"/>
              </a:spcBef>
            </a:pPr>
            <a:r>
              <a:rPr lang="zh-CN" altLang="en-US" sz="2400" dirty="0">
                <a:sym typeface="Symbol" panose="05050102010706020507" pitchFamily="18" charset="2"/>
              </a:rPr>
              <a:t>用</a:t>
            </a:r>
            <a:r>
              <a:rPr lang="en-US" altLang="zh-CN" sz="2400" i="1" dirty="0">
                <a:sym typeface="Symbol" panose="05050102010706020507" pitchFamily="18" charset="2"/>
              </a:rPr>
              <a:t>n</a:t>
            </a:r>
            <a:r>
              <a:rPr lang="en-US" altLang="zh-CN" sz="2400" baseline="30000" dirty="0">
                <a:sym typeface="Symbol" panose="05050102010706020507" pitchFamily="18" charset="2"/>
              </a:rPr>
              <a:t>2</a:t>
            </a:r>
            <a:r>
              <a:rPr lang="zh-CN" altLang="en-US" sz="2400" dirty="0">
                <a:sym typeface="Symbol" panose="05050102010706020507" pitchFamily="18" charset="2"/>
              </a:rPr>
              <a:t>除不等式得：</a:t>
            </a:r>
          </a:p>
          <a:p>
            <a:pPr eaLnBrk="1" hangingPunct="1">
              <a:lnSpc>
                <a:spcPct val="120000"/>
              </a:lnSpc>
              <a:spcBef>
                <a:spcPts val="600"/>
              </a:spcBef>
            </a:pPr>
            <a:endParaRPr lang="en-US" altLang="zh-CN" sz="2400" dirty="0">
              <a:sym typeface="Symbol" panose="05050102010706020507" pitchFamily="18" charset="2"/>
            </a:endParaRPr>
          </a:p>
          <a:p>
            <a:pPr eaLnBrk="1" hangingPunct="1">
              <a:lnSpc>
                <a:spcPct val="120000"/>
              </a:lnSpc>
              <a:spcBef>
                <a:spcPts val="600"/>
              </a:spcBef>
            </a:pPr>
            <a:r>
              <a:rPr lang="zh-CN" altLang="en-US" sz="2400" dirty="0">
                <a:sym typeface="Symbol" panose="05050102010706020507" pitchFamily="18" charset="2"/>
              </a:rPr>
              <a:t>右边不等式在</a:t>
            </a:r>
            <a:r>
              <a:rPr lang="en-US" altLang="zh-CN" sz="2400" i="1" dirty="0">
                <a:sym typeface="Symbol" panose="05050102010706020507" pitchFamily="18" charset="2"/>
              </a:rPr>
              <a:t>n</a:t>
            </a:r>
            <a:r>
              <a:rPr lang="en-US" altLang="zh-CN" sz="2400" dirty="0">
                <a:sym typeface="Symbol" panose="05050102010706020507" pitchFamily="18" charset="2"/>
              </a:rPr>
              <a:t> </a:t>
            </a:r>
            <a:r>
              <a:rPr lang="pt-BR" altLang="zh-CN" sz="2400" dirty="0"/>
              <a:t>≥</a:t>
            </a:r>
            <a:r>
              <a:rPr lang="en-US" altLang="zh-CN" sz="2400" dirty="0">
                <a:sym typeface="Symbol" panose="05050102010706020507" pitchFamily="18" charset="2"/>
              </a:rPr>
              <a:t> 1</a:t>
            </a:r>
            <a:r>
              <a:rPr lang="zh-CN" altLang="en-US" sz="2400" dirty="0">
                <a:sym typeface="Symbol" panose="05050102010706020507" pitchFamily="18" charset="2"/>
              </a:rPr>
              <a:t>，</a:t>
            </a:r>
            <a:r>
              <a:rPr lang="en-US" altLang="zh-CN" sz="2400" i="1" dirty="0">
                <a:sym typeface="Symbol" panose="05050102010706020507" pitchFamily="18" charset="2"/>
              </a:rPr>
              <a:t>c</a:t>
            </a:r>
            <a:r>
              <a:rPr lang="en-US" altLang="zh-CN" sz="2400" baseline="-25000" dirty="0">
                <a:sym typeface="Symbol" panose="05050102010706020507" pitchFamily="18" charset="2"/>
              </a:rPr>
              <a:t>2 </a:t>
            </a:r>
            <a:r>
              <a:rPr lang="pt-BR" altLang="zh-CN" sz="2400" dirty="0"/>
              <a:t>≥</a:t>
            </a:r>
            <a:r>
              <a:rPr lang="en-US" altLang="zh-CN" sz="2400" dirty="0">
                <a:sym typeface="Symbol" panose="05050102010706020507" pitchFamily="18" charset="2"/>
              </a:rPr>
              <a:t> 1/2</a:t>
            </a:r>
            <a:r>
              <a:rPr lang="zh-CN" altLang="en-US" sz="2400" dirty="0">
                <a:sym typeface="Symbol" panose="05050102010706020507" pitchFamily="18" charset="2"/>
              </a:rPr>
              <a:t>时成立，左边不等式在</a:t>
            </a:r>
            <a:r>
              <a:rPr lang="en-US" altLang="zh-CN" sz="2400" i="1" dirty="0">
                <a:sym typeface="Symbol" panose="05050102010706020507" pitchFamily="18" charset="2"/>
              </a:rPr>
              <a:t>n</a:t>
            </a:r>
            <a:r>
              <a:rPr lang="en-US" altLang="zh-CN" sz="2400" dirty="0">
                <a:sym typeface="Symbol" panose="05050102010706020507" pitchFamily="18" charset="2"/>
              </a:rPr>
              <a:t>  7</a:t>
            </a:r>
            <a:r>
              <a:rPr lang="zh-CN" altLang="en-US" sz="2400" dirty="0">
                <a:sym typeface="Symbol" panose="05050102010706020507" pitchFamily="18" charset="2"/>
              </a:rPr>
              <a:t>，</a:t>
            </a:r>
            <a:r>
              <a:rPr lang="en-US" altLang="zh-CN" sz="2400" i="1" dirty="0">
                <a:sym typeface="Symbol" panose="05050102010706020507" pitchFamily="18" charset="2"/>
              </a:rPr>
              <a:t>c</a:t>
            </a:r>
            <a:r>
              <a:rPr lang="en-US" altLang="zh-CN" sz="2400" baseline="-25000" dirty="0">
                <a:sym typeface="Symbol" panose="05050102010706020507" pitchFamily="18" charset="2"/>
              </a:rPr>
              <a:t>1</a:t>
            </a:r>
            <a:r>
              <a:rPr lang="en-US" altLang="zh-CN" sz="2400" dirty="0"/>
              <a:t> </a:t>
            </a:r>
            <a:r>
              <a:rPr lang="en-US" altLang="zh-CN" sz="2400" dirty="0">
                <a:sym typeface="Symbol" panose="05050102010706020507" pitchFamily="18" charset="2"/>
              </a:rPr>
              <a:t> 1/14</a:t>
            </a:r>
            <a:r>
              <a:rPr lang="zh-CN" altLang="en-US" sz="2400" dirty="0">
                <a:sym typeface="Symbol" panose="05050102010706020507" pitchFamily="18" charset="2"/>
              </a:rPr>
              <a:t>时成立，选</a:t>
            </a:r>
            <a:r>
              <a:rPr lang="en-US" altLang="zh-CN" sz="2400" i="1" dirty="0">
                <a:sym typeface="Symbol" panose="05050102010706020507" pitchFamily="18" charset="2"/>
              </a:rPr>
              <a:t>c</a:t>
            </a:r>
            <a:r>
              <a:rPr lang="en-US" altLang="zh-CN" sz="2400" baseline="-25000" dirty="0">
                <a:sym typeface="Symbol" panose="05050102010706020507" pitchFamily="18" charset="2"/>
              </a:rPr>
              <a:t>1 </a:t>
            </a:r>
            <a:r>
              <a:rPr lang="en-US" altLang="zh-CN" sz="2400" dirty="0">
                <a:sym typeface="Symbol" panose="05050102010706020507" pitchFamily="18" charset="2"/>
              </a:rPr>
              <a:t>= 1/14</a:t>
            </a:r>
            <a:r>
              <a:rPr lang="zh-CN" altLang="en-US" sz="2400" dirty="0">
                <a:sym typeface="Symbol" panose="05050102010706020507" pitchFamily="18" charset="2"/>
              </a:rPr>
              <a:t>，</a:t>
            </a:r>
            <a:r>
              <a:rPr lang="en-US" altLang="zh-CN" sz="2400" i="1" dirty="0">
                <a:sym typeface="Symbol" panose="05050102010706020507" pitchFamily="18" charset="2"/>
              </a:rPr>
              <a:t>c</a:t>
            </a:r>
            <a:r>
              <a:rPr lang="en-US" altLang="zh-CN" sz="2400" baseline="-25000" dirty="0">
                <a:sym typeface="Symbol" panose="05050102010706020507" pitchFamily="18" charset="2"/>
              </a:rPr>
              <a:t>2 </a:t>
            </a:r>
            <a:r>
              <a:rPr lang="en-US" altLang="zh-CN" sz="2400" dirty="0">
                <a:sym typeface="Symbol" panose="05050102010706020507" pitchFamily="18" charset="2"/>
              </a:rPr>
              <a:t>= 1/2</a:t>
            </a:r>
            <a:r>
              <a:rPr lang="zh-CN" altLang="en-US" sz="2400" dirty="0">
                <a:sym typeface="Symbol" panose="05050102010706020507" pitchFamily="18" charset="2"/>
              </a:rPr>
              <a:t>，</a:t>
            </a:r>
            <a:r>
              <a:rPr lang="en-US" altLang="zh-CN" sz="2400" i="1" dirty="0">
                <a:sym typeface="Symbol" panose="05050102010706020507" pitchFamily="18" charset="2"/>
              </a:rPr>
              <a:t>n</a:t>
            </a:r>
            <a:r>
              <a:rPr lang="en-US" altLang="zh-CN" sz="2400" baseline="-25000" dirty="0">
                <a:sym typeface="Symbol" panose="05050102010706020507" pitchFamily="18" charset="2"/>
              </a:rPr>
              <a:t>0</a:t>
            </a:r>
            <a:r>
              <a:rPr lang="en-US" altLang="zh-CN" sz="2400" dirty="0">
                <a:sym typeface="Symbol" panose="05050102010706020507" pitchFamily="18" charset="2"/>
              </a:rPr>
              <a:t>=7</a:t>
            </a:r>
            <a:r>
              <a:rPr lang="zh-CN" altLang="en-US" sz="2400" dirty="0">
                <a:sym typeface="Symbol" panose="05050102010706020507" pitchFamily="18" charset="2"/>
              </a:rPr>
              <a:t>时上式即可成立。</a:t>
            </a:r>
          </a:p>
        </p:txBody>
      </p:sp>
      <p:pic>
        <p:nvPicPr>
          <p:cNvPr id="13316" name="Picture 5" descr="24_a"/>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19400" y="2438400"/>
            <a:ext cx="3334205" cy="826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Picture 7" descr="24_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05200" y="3505200"/>
            <a:ext cx="2710817"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23830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506412" y="152400"/>
            <a:ext cx="8637588" cy="900113"/>
          </a:xfrm>
          <a:noFill/>
        </p:spPr>
        <p:txBody>
          <a:bodyPr lIns="92075" tIns="46038" rIns="92075" bIns="46038" anchor="ctr"/>
          <a:lstStyle/>
          <a:p>
            <a:pPr eaLnBrk="1" hangingPunct="1"/>
            <a:r>
              <a:rPr lang="en-US" altLang="zh-CN" dirty="0"/>
              <a:t>1.3 </a:t>
            </a:r>
            <a:r>
              <a:rPr lang="zh-CN" altLang="en-US" dirty="0"/>
              <a:t>渐近记号 </a:t>
            </a:r>
            <a:r>
              <a:rPr lang="en-US" altLang="zh-CN" dirty="0"/>
              <a:t>—</a:t>
            </a:r>
            <a:r>
              <a:rPr lang="zh-CN" altLang="en-US" dirty="0">
                <a:sym typeface="Symbol" panose="05050102010706020507" pitchFamily="18" charset="2"/>
              </a:rPr>
              <a:t>性质 </a:t>
            </a:r>
            <a:r>
              <a:rPr lang="en-US" b="1" dirty="0">
                <a:solidFill>
                  <a:srgbClr val="0000CC"/>
                </a:solidFill>
              </a:rPr>
              <a:t>(1)</a:t>
            </a:r>
            <a:endParaRPr lang="en-US" dirty="0"/>
          </a:p>
        </p:txBody>
      </p:sp>
      <p:sp>
        <p:nvSpPr>
          <p:cNvPr id="61443" name="Rectangle 3"/>
          <p:cNvSpPr>
            <a:spLocks noGrp="1" noChangeArrowheads="1"/>
          </p:cNvSpPr>
          <p:nvPr>
            <p:ph idx="1"/>
          </p:nvPr>
        </p:nvSpPr>
        <p:spPr>
          <a:xfrm>
            <a:off x="533400" y="1447800"/>
            <a:ext cx="8610600" cy="5105400"/>
          </a:xfrm>
          <a:prstGeom prst="rect">
            <a:avLst/>
          </a:prstGeom>
          <a:noFill/>
        </p:spPr>
        <p:txBody>
          <a:bodyPr lIns="92075" tIns="46038" rIns="92075" bIns="46038">
            <a:normAutofit/>
          </a:bodyPr>
          <a:lstStyle/>
          <a:p>
            <a:pPr eaLnBrk="1" hangingPunct="1">
              <a:buFont typeface="Wingdings" charset="2"/>
              <a:buNone/>
            </a:pPr>
            <a:r>
              <a:rPr lang="zh-CN" altLang="en-US" sz="2400" b="1" dirty="0">
                <a:solidFill>
                  <a:srgbClr val="C00000"/>
                </a:solidFill>
              </a:rPr>
              <a:t>传递性</a:t>
            </a:r>
            <a:r>
              <a:rPr lang="en-US" sz="2400" b="1" dirty="0">
                <a:solidFill>
                  <a:srgbClr val="C00000"/>
                </a:solidFill>
              </a:rPr>
              <a:t>:</a:t>
            </a:r>
          </a:p>
          <a:p>
            <a:pPr eaLnBrk="1" hangingPunct="1">
              <a:spcBef>
                <a:spcPts val="1200"/>
              </a:spcBef>
            </a:pPr>
            <a:r>
              <a:rPr lang="en-US" sz="2400" b="1" i="1" dirty="0">
                <a:latin typeface="+mj-lt"/>
              </a:rPr>
              <a:t>f</a:t>
            </a:r>
            <a:r>
              <a:rPr lang="en-US" sz="2400" b="1" dirty="0">
                <a:latin typeface="+mj-lt"/>
              </a:rPr>
              <a:t>(</a:t>
            </a:r>
            <a:r>
              <a:rPr lang="en-US" sz="2400" b="1" i="1" dirty="0">
                <a:latin typeface="+mj-lt"/>
              </a:rPr>
              <a:t>n</a:t>
            </a:r>
            <a:r>
              <a:rPr lang="en-US" sz="2400" b="1" dirty="0">
                <a:latin typeface="+mj-lt"/>
              </a:rPr>
              <a:t>) = </a:t>
            </a:r>
            <a:r>
              <a:rPr lang="en-US" sz="2400" b="1" i="1" dirty="0">
                <a:solidFill>
                  <a:schemeClr val="tx2"/>
                </a:solidFill>
                <a:latin typeface="+mj-lt"/>
              </a:rPr>
              <a:t>O</a:t>
            </a:r>
            <a:r>
              <a:rPr lang="en-US" sz="2400" b="1" dirty="0">
                <a:latin typeface="+mj-lt"/>
              </a:rPr>
              <a:t>(</a:t>
            </a:r>
            <a:r>
              <a:rPr lang="en-US" sz="2400" b="1" i="1" dirty="0">
                <a:latin typeface="+mj-lt"/>
              </a:rPr>
              <a:t>g</a:t>
            </a:r>
            <a:r>
              <a:rPr lang="en-US" sz="2400" b="1" dirty="0">
                <a:latin typeface="+mj-lt"/>
              </a:rPr>
              <a:t>(</a:t>
            </a:r>
            <a:r>
              <a:rPr lang="en-US" sz="2400" b="1" i="1" dirty="0">
                <a:latin typeface="+mj-lt"/>
              </a:rPr>
              <a:t>n</a:t>
            </a:r>
            <a:r>
              <a:rPr lang="en-US" sz="2400" b="1" dirty="0">
                <a:latin typeface="+mj-lt"/>
              </a:rPr>
              <a:t>)) </a:t>
            </a:r>
            <a:r>
              <a:rPr lang="zh-CN" altLang="en-US" sz="2400" b="1" dirty="0">
                <a:latin typeface="+mj-lt"/>
              </a:rPr>
              <a:t>且</a:t>
            </a:r>
            <a:r>
              <a:rPr lang="en-US" sz="2400" b="1" dirty="0">
                <a:latin typeface="+mj-lt"/>
              </a:rPr>
              <a:t> </a:t>
            </a:r>
            <a:r>
              <a:rPr lang="en-US" sz="2400" b="1" i="1" dirty="0">
                <a:latin typeface="+mj-lt"/>
              </a:rPr>
              <a:t>g</a:t>
            </a:r>
            <a:r>
              <a:rPr lang="en-US" sz="2400" b="1" dirty="0">
                <a:latin typeface="+mj-lt"/>
              </a:rPr>
              <a:t>(</a:t>
            </a:r>
            <a:r>
              <a:rPr lang="en-US" sz="2400" b="1" i="1" dirty="0">
                <a:latin typeface="+mj-lt"/>
              </a:rPr>
              <a:t>n</a:t>
            </a:r>
            <a:r>
              <a:rPr lang="en-US" sz="2400" b="1" dirty="0">
                <a:latin typeface="+mj-lt"/>
              </a:rPr>
              <a:t>) = </a:t>
            </a:r>
            <a:r>
              <a:rPr lang="en-US" sz="2400" b="1" i="1" dirty="0">
                <a:latin typeface="+mj-lt"/>
              </a:rPr>
              <a:t>O</a:t>
            </a:r>
            <a:r>
              <a:rPr lang="en-US" sz="2400" b="1" dirty="0">
                <a:latin typeface="+mj-lt"/>
              </a:rPr>
              <a:t>(</a:t>
            </a:r>
            <a:r>
              <a:rPr lang="en-US" sz="2400" b="1" i="1" dirty="0">
                <a:latin typeface="+mj-lt"/>
              </a:rPr>
              <a:t>h</a:t>
            </a:r>
            <a:r>
              <a:rPr lang="en-US" sz="2400" b="1" dirty="0">
                <a:latin typeface="+mj-lt"/>
              </a:rPr>
              <a:t>(</a:t>
            </a:r>
            <a:r>
              <a:rPr lang="en-US" sz="2400" b="1" i="1" dirty="0">
                <a:latin typeface="+mj-lt"/>
              </a:rPr>
              <a:t>n</a:t>
            </a:r>
            <a:r>
              <a:rPr lang="en-US" sz="2400" b="1" dirty="0">
                <a:latin typeface="+mj-lt"/>
              </a:rPr>
              <a:t>))	</a:t>
            </a:r>
            <a:r>
              <a:rPr lang="zh-CN" altLang="en-US" sz="2400" b="1" dirty="0">
                <a:latin typeface="+mj-lt"/>
              </a:rPr>
              <a:t>蕴含 </a:t>
            </a:r>
            <a:r>
              <a:rPr lang="en-US" sz="2400" b="1" i="1" dirty="0">
                <a:latin typeface="+mj-lt"/>
              </a:rPr>
              <a:t>f</a:t>
            </a:r>
            <a:r>
              <a:rPr lang="en-US" sz="2400" b="1" dirty="0">
                <a:latin typeface="+mj-lt"/>
              </a:rPr>
              <a:t>(</a:t>
            </a:r>
            <a:r>
              <a:rPr lang="en-US" sz="2400" b="1" i="1" dirty="0">
                <a:latin typeface="+mj-lt"/>
              </a:rPr>
              <a:t>n</a:t>
            </a:r>
            <a:r>
              <a:rPr lang="en-US" sz="2400" b="1" dirty="0">
                <a:latin typeface="+mj-lt"/>
              </a:rPr>
              <a:t>) = </a:t>
            </a:r>
            <a:r>
              <a:rPr lang="en-US" sz="2400" b="1" i="1" dirty="0">
                <a:latin typeface="+mj-lt"/>
              </a:rPr>
              <a:t>O</a:t>
            </a:r>
            <a:r>
              <a:rPr lang="en-US" sz="2400" b="1" dirty="0">
                <a:latin typeface="+mj-lt"/>
              </a:rPr>
              <a:t>(</a:t>
            </a:r>
            <a:r>
              <a:rPr lang="en-US" sz="2400" b="1" i="1" dirty="0">
                <a:latin typeface="+mj-lt"/>
              </a:rPr>
              <a:t>h</a:t>
            </a:r>
            <a:r>
              <a:rPr lang="en-US" sz="2400" b="1" dirty="0">
                <a:latin typeface="+mj-lt"/>
              </a:rPr>
              <a:t>(</a:t>
            </a:r>
            <a:r>
              <a:rPr lang="en-US" sz="2400" b="1" i="1" dirty="0">
                <a:latin typeface="+mj-lt"/>
              </a:rPr>
              <a:t>n</a:t>
            </a:r>
            <a:r>
              <a:rPr lang="en-US" sz="2400" b="1" dirty="0">
                <a:latin typeface="+mj-lt"/>
              </a:rPr>
              <a:t>))</a:t>
            </a:r>
          </a:p>
          <a:p>
            <a:pPr eaLnBrk="1" hangingPunct="1">
              <a:spcBef>
                <a:spcPts val="1200"/>
              </a:spcBef>
            </a:pPr>
            <a:r>
              <a:rPr lang="en-US" sz="2400" b="1" i="1" dirty="0">
                <a:latin typeface="+mj-lt"/>
              </a:rPr>
              <a:t>f</a:t>
            </a:r>
            <a:r>
              <a:rPr lang="en-US" sz="2400" b="1" dirty="0">
                <a:latin typeface="+mj-lt"/>
              </a:rPr>
              <a:t>(</a:t>
            </a:r>
            <a:r>
              <a:rPr lang="en-US" sz="2400" b="1" i="1" dirty="0">
                <a:latin typeface="+mj-lt"/>
              </a:rPr>
              <a:t>n</a:t>
            </a:r>
            <a:r>
              <a:rPr lang="en-US" sz="2400" b="1" dirty="0">
                <a:latin typeface="+mj-lt"/>
              </a:rPr>
              <a:t>) = </a:t>
            </a:r>
            <a:r>
              <a:rPr lang="en-US" sz="2400" b="1" dirty="0">
                <a:solidFill>
                  <a:schemeClr val="tx2"/>
                </a:solidFill>
                <a:latin typeface="+mj-lt"/>
                <a:sym typeface="Symbol"/>
              </a:rPr>
              <a:t></a:t>
            </a:r>
            <a:r>
              <a:rPr lang="en-US" sz="2400" b="1" dirty="0">
                <a:latin typeface="+mj-lt"/>
              </a:rPr>
              <a:t>(</a:t>
            </a:r>
            <a:r>
              <a:rPr lang="en-US" sz="2400" b="1" i="1" dirty="0">
                <a:latin typeface="+mj-lt"/>
              </a:rPr>
              <a:t>g</a:t>
            </a:r>
            <a:r>
              <a:rPr lang="en-US" sz="2400" b="1" dirty="0">
                <a:latin typeface="+mj-lt"/>
              </a:rPr>
              <a:t>(</a:t>
            </a:r>
            <a:r>
              <a:rPr lang="en-US" sz="2400" b="1" i="1" dirty="0">
                <a:latin typeface="+mj-lt"/>
              </a:rPr>
              <a:t>n</a:t>
            </a:r>
            <a:r>
              <a:rPr lang="en-US" sz="2400" b="1" dirty="0">
                <a:latin typeface="+mj-lt"/>
              </a:rPr>
              <a:t>)) </a:t>
            </a:r>
            <a:r>
              <a:rPr lang="zh-CN" altLang="en-US" sz="2400" b="1" dirty="0">
                <a:latin typeface="+mj-lt"/>
              </a:rPr>
              <a:t>且 </a:t>
            </a:r>
            <a:r>
              <a:rPr lang="en-US" sz="2400" b="1" i="1" dirty="0">
                <a:latin typeface="+mj-lt"/>
              </a:rPr>
              <a:t>g</a:t>
            </a:r>
            <a:r>
              <a:rPr lang="en-US" sz="2400" b="1" dirty="0">
                <a:latin typeface="+mj-lt"/>
              </a:rPr>
              <a:t>(</a:t>
            </a:r>
            <a:r>
              <a:rPr lang="en-US" sz="2400" b="1" i="1" dirty="0">
                <a:latin typeface="+mj-lt"/>
              </a:rPr>
              <a:t>n</a:t>
            </a:r>
            <a:r>
              <a:rPr lang="en-US" sz="2400" b="1" dirty="0">
                <a:latin typeface="+mj-lt"/>
              </a:rPr>
              <a:t>) = </a:t>
            </a:r>
            <a:r>
              <a:rPr lang="en-US" sz="2400" b="1" dirty="0">
                <a:solidFill>
                  <a:schemeClr val="tx2"/>
                </a:solidFill>
                <a:sym typeface="Symbol"/>
              </a:rPr>
              <a:t></a:t>
            </a:r>
            <a:r>
              <a:rPr lang="en-US" sz="2400" b="1" dirty="0">
                <a:latin typeface="+mj-lt"/>
              </a:rPr>
              <a:t>(</a:t>
            </a:r>
            <a:r>
              <a:rPr lang="en-US" sz="2400" b="1" i="1" dirty="0">
                <a:latin typeface="+mj-lt"/>
              </a:rPr>
              <a:t>h</a:t>
            </a:r>
            <a:r>
              <a:rPr lang="en-US" sz="2400" b="1" dirty="0">
                <a:latin typeface="+mj-lt"/>
              </a:rPr>
              <a:t>(</a:t>
            </a:r>
            <a:r>
              <a:rPr lang="en-US" sz="2400" b="1" i="1" dirty="0">
                <a:latin typeface="+mj-lt"/>
              </a:rPr>
              <a:t>n</a:t>
            </a:r>
            <a:r>
              <a:rPr lang="en-US" sz="2400" b="1" dirty="0">
                <a:latin typeface="+mj-lt"/>
              </a:rPr>
              <a:t>))</a:t>
            </a:r>
            <a:r>
              <a:rPr lang="en-US" altLang="zh-CN" sz="2400" dirty="0"/>
              <a:t> 	</a:t>
            </a:r>
            <a:r>
              <a:rPr lang="zh-CN" altLang="en-US" sz="2400" dirty="0"/>
              <a:t>蕴含 </a:t>
            </a:r>
            <a:r>
              <a:rPr lang="en-US" sz="2400" b="1" i="1" dirty="0">
                <a:latin typeface="+mj-lt"/>
              </a:rPr>
              <a:t>f</a:t>
            </a:r>
            <a:r>
              <a:rPr lang="en-US" sz="2400" b="1" dirty="0">
                <a:latin typeface="+mj-lt"/>
              </a:rPr>
              <a:t>(</a:t>
            </a:r>
            <a:r>
              <a:rPr lang="en-US" sz="2400" b="1" i="1" dirty="0">
                <a:latin typeface="+mj-lt"/>
              </a:rPr>
              <a:t>n</a:t>
            </a:r>
            <a:r>
              <a:rPr lang="en-US" sz="2400" b="1" dirty="0">
                <a:latin typeface="+mj-lt"/>
              </a:rPr>
              <a:t>) =</a:t>
            </a:r>
            <a:r>
              <a:rPr lang="en-US" sz="2400" b="1" i="1" dirty="0">
                <a:latin typeface="+mj-lt"/>
              </a:rPr>
              <a:t> </a:t>
            </a:r>
            <a:r>
              <a:rPr lang="en-US" sz="2400" b="1" dirty="0">
                <a:solidFill>
                  <a:schemeClr val="tx2"/>
                </a:solidFill>
                <a:sym typeface="Symbol"/>
              </a:rPr>
              <a:t></a:t>
            </a:r>
            <a:r>
              <a:rPr lang="en-US" sz="2400" b="1" dirty="0">
                <a:latin typeface="+mj-lt"/>
              </a:rPr>
              <a:t>(</a:t>
            </a:r>
            <a:r>
              <a:rPr lang="en-US" sz="2400" b="1" i="1" dirty="0">
                <a:latin typeface="+mj-lt"/>
              </a:rPr>
              <a:t>h</a:t>
            </a:r>
            <a:r>
              <a:rPr lang="en-US" sz="2400" b="1" dirty="0">
                <a:latin typeface="+mj-lt"/>
              </a:rPr>
              <a:t>(</a:t>
            </a:r>
            <a:r>
              <a:rPr lang="en-US" sz="2400" b="1" i="1" dirty="0">
                <a:latin typeface="+mj-lt"/>
              </a:rPr>
              <a:t>n</a:t>
            </a:r>
            <a:r>
              <a:rPr lang="en-US" sz="2400" b="1" dirty="0">
                <a:latin typeface="+mj-lt"/>
              </a:rPr>
              <a:t>)) </a:t>
            </a:r>
          </a:p>
          <a:p>
            <a:pPr eaLnBrk="1" hangingPunct="1">
              <a:spcBef>
                <a:spcPts val="1200"/>
              </a:spcBef>
            </a:pPr>
            <a:r>
              <a:rPr lang="en-US" sz="2400" b="1" i="1" dirty="0">
                <a:latin typeface="+mj-lt"/>
              </a:rPr>
              <a:t>f</a:t>
            </a:r>
            <a:r>
              <a:rPr lang="en-US" sz="2400" b="1" dirty="0">
                <a:latin typeface="+mj-lt"/>
              </a:rPr>
              <a:t>(</a:t>
            </a:r>
            <a:r>
              <a:rPr lang="en-US" sz="2400" b="1" i="1" dirty="0">
                <a:latin typeface="+mj-lt"/>
              </a:rPr>
              <a:t>n</a:t>
            </a:r>
            <a:r>
              <a:rPr lang="en-US" sz="2400" b="1" dirty="0">
                <a:latin typeface="+mj-lt"/>
              </a:rPr>
              <a:t>) = </a:t>
            </a:r>
            <a:r>
              <a:rPr lang="en-US" sz="2400" b="1" dirty="0">
                <a:latin typeface="+mj-lt"/>
                <a:sym typeface="Symbol"/>
              </a:rPr>
              <a:t></a:t>
            </a:r>
            <a:r>
              <a:rPr lang="en-US" sz="2400" b="1" dirty="0">
                <a:latin typeface="+mj-lt"/>
              </a:rPr>
              <a:t>(</a:t>
            </a:r>
            <a:r>
              <a:rPr lang="en-US" sz="2400" b="1" i="1" dirty="0">
                <a:latin typeface="+mj-lt"/>
              </a:rPr>
              <a:t>g</a:t>
            </a:r>
            <a:r>
              <a:rPr lang="en-US" sz="2400" b="1" dirty="0">
                <a:latin typeface="+mj-lt"/>
              </a:rPr>
              <a:t>(</a:t>
            </a:r>
            <a:r>
              <a:rPr lang="en-US" sz="2400" b="1" i="1" dirty="0">
                <a:latin typeface="+mj-lt"/>
              </a:rPr>
              <a:t>n</a:t>
            </a:r>
            <a:r>
              <a:rPr lang="en-US" sz="2400" b="1" dirty="0">
                <a:latin typeface="+mj-lt"/>
              </a:rPr>
              <a:t>)) </a:t>
            </a:r>
            <a:r>
              <a:rPr lang="zh-CN" altLang="en-US" sz="2400" b="1" dirty="0">
                <a:latin typeface="+mj-lt"/>
              </a:rPr>
              <a:t>且 </a:t>
            </a:r>
            <a:r>
              <a:rPr lang="en-US" sz="2400" b="1" i="1" dirty="0">
                <a:latin typeface="+mj-lt"/>
              </a:rPr>
              <a:t>g</a:t>
            </a:r>
            <a:r>
              <a:rPr lang="en-US" sz="2400" b="1" dirty="0">
                <a:latin typeface="+mj-lt"/>
              </a:rPr>
              <a:t>(</a:t>
            </a:r>
            <a:r>
              <a:rPr lang="en-US" sz="2400" b="1" i="1" dirty="0">
                <a:latin typeface="+mj-lt"/>
              </a:rPr>
              <a:t>n</a:t>
            </a:r>
            <a:r>
              <a:rPr lang="en-US" sz="2400" b="1" dirty="0">
                <a:latin typeface="+mj-lt"/>
              </a:rPr>
              <a:t>) = </a:t>
            </a:r>
            <a:r>
              <a:rPr lang="en-US" sz="2400" b="1" dirty="0">
                <a:sym typeface="Symbol"/>
              </a:rPr>
              <a:t></a:t>
            </a:r>
            <a:r>
              <a:rPr lang="en-US" sz="2400" b="1" dirty="0">
                <a:latin typeface="+mj-lt"/>
              </a:rPr>
              <a:t>(</a:t>
            </a:r>
            <a:r>
              <a:rPr lang="en-US" sz="2400" b="1" i="1" dirty="0">
                <a:latin typeface="+mj-lt"/>
              </a:rPr>
              <a:t>h</a:t>
            </a:r>
            <a:r>
              <a:rPr lang="en-US" sz="2400" b="1" dirty="0">
                <a:latin typeface="+mj-lt"/>
              </a:rPr>
              <a:t>(</a:t>
            </a:r>
            <a:r>
              <a:rPr lang="en-US" sz="2400" b="1" i="1" dirty="0">
                <a:latin typeface="+mj-lt"/>
              </a:rPr>
              <a:t>n</a:t>
            </a:r>
            <a:r>
              <a:rPr lang="en-US" sz="2400" b="1" dirty="0">
                <a:latin typeface="+mj-lt"/>
              </a:rPr>
              <a:t>))</a:t>
            </a:r>
            <a:r>
              <a:rPr lang="en-US" altLang="zh-CN" sz="2400" dirty="0"/>
              <a:t> 	</a:t>
            </a:r>
            <a:r>
              <a:rPr lang="zh-CN" altLang="en-US" sz="2400" dirty="0"/>
              <a:t>蕴含 </a:t>
            </a:r>
            <a:r>
              <a:rPr lang="en-US" sz="2400" b="1" i="1" dirty="0">
                <a:latin typeface="+mj-lt"/>
              </a:rPr>
              <a:t>f</a:t>
            </a:r>
            <a:r>
              <a:rPr lang="en-US" sz="2400" b="1" dirty="0">
                <a:latin typeface="+mj-lt"/>
              </a:rPr>
              <a:t>(</a:t>
            </a:r>
            <a:r>
              <a:rPr lang="en-US" sz="2400" b="1" i="1" dirty="0">
                <a:latin typeface="+mj-lt"/>
              </a:rPr>
              <a:t>n</a:t>
            </a:r>
            <a:r>
              <a:rPr lang="en-US" sz="2400" b="1" dirty="0">
                <a:latin typeface="+mj-lt"/>
              </a:rPr>
              <a:t>) = </a:t>
            </a:r>
            <a:r>
              <a:rPr lang="en-US" sz="2400" b="1" dirty="0">
                <a:sym typeface="Symbol"/>
              </a:rPr>
              <a:t></a:t>
            </a:r>
            <a:r>
              <a:rPr lang="en-US" sz="2400" b="1" dirty="0">
                <a:latin typeface="+mj-lt"/>
              </a:rPr>
              <a:t>(</a:t>
            </a:r>
            <a:r>
              <a:rPr lang="en-US" sz="2400" b="1" i="1" dirty="0">
                <a:latin typeface="+mj-lt"/>
              </a:rPr>
              <a:t>h</a:t>
            </a:r>
            <a:r>
              <a:rPr lang="en-US" sz="2400" b="1" dirty="0">
                <a:latin typeface="+mj-lt"/>
              </a:rPr>
              <a:t>(</a:t>
            </a:r>
            <a:r>
              <a:rPr lang="en-US" sz="2400" b="1" i="1" dirty="0">
                <a:latin typeface="+mj-lt"/>
              </a:rPr>
              <a:t>n</a:t>
            </a:r>
            <a:r>
              <a:rPr lang="en-US" sz="2400" b="1" dirty="0">
                <a:latin typeface="+mj-lt"/>
              </a:rPr>
              <a:t>))</a:t>
            </a:r>
          </a:p>
          <a:p>
            <a:pPr eaLnBrk="1" hangingPunct="1">
              <a:spcBef>
                <a:spcPts val="1200"/>
              </a:spcBef>
            </a:pPr>
            <a:r>
              <a:rPr lang="en-US" sz="2400" b="1" i="1" dirty="0">
                <a:latin typeface="+mj-lt"/>
              </a:rPr>
              <a:t>f</a:t>
            </a:r>
            <a:r>
              <a:rPr lang="en-US" sz="2400" b="1" dirty="0">
                <a:latin typeface="+mj-lt"/>
              </a:rPr>
              <a:t>(</a:t>
            </a:r>
            <a:r>
              <a:rPr lang="en-US" sz="2400" b="1" i="1" dirty="0">
                <a:latin typeface="+mj-lt"/>
              </a:rPr>
              <a:t>n</a:t>
            </a:r>
            <a:r>
              <a:rPr lang="en-US" sz="2400" b="1" dirty="0">
                <a:latin typeface="+mj-lt"/>
              </a:rPr>
              <a:t>) =  </a:t>
            </a:r>
            <a:r>
              <a:rPr lang="en-US" sz="2400" b="1" i="1" dirty="0">
                <a:solidFill>
                  <a:schemeClr val="tx2"/>
                </a:solidFill>
                <a:latin typeface="+mj-lt"/>
              </a:rPr>
              <a:t>o</a:t>
            </a:r>
            <a:r>
              <a:rPr lang="en-US" sz="2400" b="1" dirty="0">
                <a:latin typeface="+mj-lt"/>
              </a:rPr>
              <a:t>(</a:t>
            </a:r>
            <a:r>
              <a:rPr lang="en-US" sz="2400" b="1" i="1" dirty="0">
                <a:latin typeface="+mj-lt"/>
              </a:rPr>
              <a:t>g</a:t>
            </a:r>
            <a:r>
              <a:rPr lang="en-US" sz="2400" b="1" dirty="0">
                <a:latin typeface="+mj-lt"/>
              </a:rPr>
              <a:t>(</a:t>
            </a:r>
            <a:r>
              <a:rPr lang="en-US" sz="2400" b="1" i="1" dirty="0">
                <a:latin typeface="+mj-lt"/>
              </a:rPr>
              <a:t>n</a:t>
            </a:r>
            <a:r>
              <a:rPr lang="en-US" sz="2400" b="1" dirty="0">
                <a:latin typeface="+mj-lt"/>
              </a:rPr>
              <a:t>)) </a:t>
            </a:r>
            <a:r>
              <a:rPr lang="zh-CN" altLang="en-US" sz="2400" b="1" dirty="0">
                <a:latin typeface="+mj-lt"/>
              </a:rPr>
              <a:t>且 </a:t>
            </a:r>
            <a:r>
              <a:rPr lang="en-US" sz="2400" b="1" i="1" dirty="0">
                <a:latin typeface="+mj-lt"/>
              </a:rPr>
              <a:t>g</a:t>
            </a:r>
            <a:r>
              <a:rPr lang="en-US" sz="2400" b="1" dirty="0">
                <a:latin typeface="+mj-lt"/>
              </a:rPr>
              <a:t>(</a:t>
            </a:r>
            <a:r>
              <a:rPr lang="en-US" sz="2400" b="1" i="1" dirty="0">
                <a:latin typeface="+mj-lt"/>
              </a:rPr>
              <a:t>n</a:t>
            </a:r>
            <a:r>
              <a:rPr lang="en-US" sz="2400" b="1" dirty="0">
                <a:latin typeface="+mj-lt"/>
              </a:rPr>
              <a:t>) = </a:t>
            </a:r>
            <a:r>
              <a:rPr lang="en-US" sz="2400" b="1" i="1" dirty="0">
                <a:solidFill>
                  <a:schemeClr val="tx2"/>
                </a:solidFill>
                <a:latin typeface="+mj-lt"/>
              </a:rPr>
              <a:t>o</a:t>
            </a:r>
            <a:r>
              <a:rPr lang="en-US" sz="2400" b="1" dirty="0">
                <a:latin typeface="+mj-lt"/>
              </a:rPr>
              <a:t>(</a:t>
            </a:r>
            <a:r>
              <a:rPr lang="en-US" sz="2400" b="1" i="1" dirty="0">
                <a:latin typeface="+mj-lt"/>
              </a:rPr>
              <a:t>h</a:t>
            </a:r>
            <a:r>
              <a:rPr lang="en-US" sz="2400" b="1" dirty="0">
                <a:latin typeface="+mj-lt"/>
              </a:rPr>
              <a:t>(</a:t>
            </a:r>
            <a:r>
              <a:rPr lang="en-US" sz="2400" b="1" i="1" dirty="0">
                <a:latin typeface="+mj-lt"/>
              </a:rPr>
              <a:t>n</a:t>
            </a:r>
            <a:r>
              <a:rPr lang="en-US" sz="2400" b="1" dirty="0">
                <a:latin typeface="+mj-lt"/>
              </a:rPr>
              <a:t>))</a:t>
            </a:r>
            <a:r>
              <a:rPr lang="en-US" altLang="zh-CN" sz="2400" dirty="0"/>
              <a:t> 	</a:t>
            </a:r>
            <a:r>
              <a:rPr lang="zh-CN" altLang="en-US" sz="2400" dirty="0"/>
              <a:t>蕴含 </a:t>
            </a:r>
            <a:r>
              <a:rPr lang="en-US" sz="2400" b="1" i="1" dirty="0">
                <a:latin typeface="+mj-lt"/>
              </a:rPr>
              <a:t>f</a:t>
            </a:r>
            <a:r>
              <a:rPr lang="en-US" sz="2400" b="1" dirty="0">
                <a:latin typeface="+mj-lt"/>
              </a:rPr>
              <a:t>(</a:t>
            </a:r>
            <a:r>
              <a:rPr lang="en-US" sz="2400" b="1" i="1" dirty="0">
                <a:latin typeface="+mj-lt"/>
              </a:rPr>
              <a:t>n</a:t>
            </a:r>
            <a:r>
              <a:rPr lang="en-US" sz="2400" b="1" dirty="0">
                <a:latin typeface="+mj-lt"/>
              </a:rPr>
              <a:t>) = </a:t>
            </a:r>
            <a:r>
              <a:rPr lang="en-US" sz="2400" b="1" i="1" dirty="0">
                <a:solidFill>
                  <a:schemeClr val="tx2"/>
                </a:solidFill>
                <a:latin typeface="+mj-lt"/>
              </a:rPr>
              <a:t>o</a:t>
            </a:r>
            <a:r>
              <a:rPr lang="en-US" sz="2400" b="1" dirty="0">
                <a:latin typeface="+mj-lt"/>
              </a:rPr>
              <a:t>(</a:t>
            </a:r>
            <a:r>
              <a:rPr lang="en-US" sz="2400" b="1" i="1" dirty="0">
                <a:latin typeface="+mj-lt"/>
              </a:rPr>
              <a:t>h</a:t>
            </a:r>
            <a:r>
              <a:rPr lang="en-US" sz="2400" b="1" dirty="0">
                <a:latin typeface="+mj-lt"/>
              </a:rPr>
              <a:t>(</a:t>
            </a:r>
            <a:r>
              <a:rPr lang="en-US" sz="2400" b="1" i="1" dirty="0">
                <a:latin typeface="+mj-lt"/>
              </a:rPr>
              <a:t>n</a:t>
            </a:r>
            <a:r>
              <a:rPr lang="en-US" sz="2400" b="1" dirty="0">
                <a:latin typeface="+mj-lt"/>
              </a:rPr>
              <a:t>))</a:t>
            </a:r>
          </a:p>
          <a:p>
            <a:pPr eaLnBrk="1" hangingPunct="1">
              <a:spcBef>
                <a:spcPts val="1200"/>
              </a:spcBef>
            </a:pPr>
            <a:r>
              <a:rPr lang="en-US" sz="2400" b="1" i="1" dirty="0">
                <a:latin typeface="+mj-lt"/>
              </a:rPr>
              <a:t>f</a:t>
            </a:r>
            <a:r>
              <a:rPr lang="en-US" sz="2400" b="1" dirty="0">
                <a:latin typeface="+mj-lt"/>
              </a:rPr>
              <a:t>(</a:t>
            </a:r>
            <a:r>
              <a:rPr lang="en-US" sz="2400" b="1" i="1" dirty="0">
                <a:latin typeface="+mj-lt"/>
              </a:rPr>
              <a:t>n</a:t>
            </a:r>
            <a:r>
              <a:rPr lang="en-US" sz="2400" b="1" dirty="0">
                <a:latin typeface="+mj-lt"/>
              </a:rPr>
              <a:t>) =  </a:t>
            </a:r>
            <a:r>
              <a:rPr lang="en-US" sz="2400" b="1" dirty="0">
                <a:latin typeface="+mj-lt"/>
                <a:sym typeface="Symbol"/>
              </a:rPr>
              <a:t></a:t>
            </a:r>
            <a:r>
              <a:rPr lang="en-US" sz="2400" b="1" dirty="0">
                <a:latin typeface="+mj-lt"/>
              </a:rPr>
              <a:t>(</a:t>
            </a:r>
            <a:r>
              <a:rPr lang="en-US" sz="2400" b="1" i="1" dirty="0">
                <a:latin typeface="+mj-lt"/>
              </a:rPr>
              <a:t>g</a:t>
            </a:r>
            <a:r>
              <a:rPr lang="en-US" sz="2400" b="1" dirty="0">
                <a:latin typeface="+mj-lt"/>
              </a:rPr>
              <a:t>(</a:t>
            </a:r>
            <a:r>
              <a:rPr lang="en-US" sz="2400" b="1" i="1" dirty="0">
                <a:latin typeface="+mj-lt"/>
              </a:rPr>
              <a:t>n</a:t>
            </a:r>
            <a:r>
              <a:rPr lang="en-US" sz="2400" b="1" dirty="0">
                <a:latin typeface="+mj-lt"/>
              </a:rPr>
              <a:t>)) </a:t>
            </a:r>
            <a:r>
              <a:rPr lang="zh-CN" altLang="en-US" sz="2400" b="1" dirty="0">
                <a:latin typeface="+mj-lt"/>
              </a:rPr>
              <a:t>且 </a:t>
            </a:r>
            <a:r>
              <a:rPr lang="en-US" sz="2400" b="1" i="1" dirty="0">
                <a:latin typeface="+mj-lt"/>
              </a:rPr>
              <a:t>g</a:t>
            </a:r>
            <a:r>
              <a:rPr lang="en-US" sz="2400" b="1" dirty="0">
                <a:latin typeface="+mj-lt"/>
              </a:rPr>
              <a:t>(</a:t>
            </a:r>
            <a:r>
              <a:rPr lang="en-US" sz="2400" b="1" i="1" dirty="0">
                <a:latin typeface="+mj-lt"/>
              </a:rPr>
              <a:t>n</a:t>
            </a:r>
            <a:r>
              <a:rPr lang="en-US" sz="2400" b="1" dirty="0">
                <a:latin typeface="+mj-lt"/>
              </a:rPr>
              <a:t>) = </a:t>
            </a:r>
            <a:r>
              <a:rPr lang="en-US" sz="2400" b="1" dirty="0">
                <a:sym typeface="Symbol"/>
              </a:rPr>
              <a:t></a:t>
            </a:r>
            <a:r>
              <a:rPr lang="en-US" sz="2400" b="1" dirty="0">
                <a:latin typeface="+mj-lt"/>
              </a:rPr>
              <a:t>(</a:t>
            </a:r>
            <a:r>
              <a:rPr lang="en-US" sz="2400" b="1" i="1" dirty="0">
                <a:latin typeface="+mj-lt"/>
              </a:rPr>
              <a:t>h</a:t>
            </a:r>
            <a:r>
              <a:rPr lang="en-US" sz="2400" b="1" dirty="0">
                <a:latin typeface="+mj-lt"/>
              </a:rPr>
              <a:t>(</a:t>
            </a:r>
            <a:r>
              <a:rPr lang="en-US" sz="2400" b="1" i="1" dirty="0">
                <a:latin typeface="+mj-lt"/>
              </a:rPr>
              <a:t>n</a:t>
            </a:r>
            <a:r>
              <a:rPr lang="en-US" sz="2400" b="1" dirty="0">
                <a:latin typeface="+mj-lt"/>
              </a:rPr>
              <a:t>))</a:t>
            </a:r>
            <a:r>
              <a:rPr lang="en-US" altLang="zh-CN" sz="2400" dirty="0"/>
              <a:t> 	</a:t>
            </a:r>
            <a:r>
              <a:rPr lang="zh-CN" altLang="en-US" sz="2400" dirty="0"/>
              <a:t>蕴含 </a:t>
            </a:r>
            <a:r>
              <a:rPr lang="en-US" sz="2400" b="1" i="1" dirty="0">
                <a:latin typeface="+mj-lt"/>
              </a:rPr>
              <a:t>f</a:t>
            </a:r>
            <a:r>
              <a:rPr lang="en-US" sz="2400" b="1" dirty="0">
                <a:latin typeface="+mj-lt"/>
              </a:rPr>
              <a:t>(</a:t>
            </a:r>
            <a:r>
              <a:rPr lang="en-US" sz="2400" b="1" i="1" dirty="0">
                <a:latin typeface="+mj-lt"/>
              </a:rPr>
              <a:t>n</a:t>
            </a:r>
            <a:r>
              <a:rPr lang="en-US" sz="2400" b="1" dirty="0">
                <a:latin typeface="+mj-lt"/>
              </a:rPr>
              <a:t>) = </a:t>
            </a:r>
            <a:r>
              <a:rPr lang="en-US" sz="2400" b="1" dirty="0">
                <a:sym typeface="Symbol"/>
              </a:rPr>
              <a:t></a:t>
            </a:r>
            <a:r>
              <a:rPr lang="en-US" sz="2400" b="1" dirty="0">
                <a:latin typeface="+mj-lt"/>
              </a:rPr>
              <a:t>(</a:t>
            </a:r>
            <a:r>
              <a:rPr lang="en-US" sz="2400" b="1" i="1" dirty="0">
                <a:latin typeface="+mj-lt"/>
              </a:rPr>
              <a:t>h</a:t>
            </a:r>
            <a:r>
              <a:rPr lang="en-US" sz="2400" b="1" dirty="0">
                <a:latin typeface="+mj-lt"/>
              </a:rPr>
              <a:t>(</a:t>
            </a:r>
            <a:r>
              <a:rPr lang="en-US" sz="2400" b="1" i="1" dirty="0">
                <a:latin typeface="+mj-lt"/>
              </a:rPr>
              <a:t>n</a:t>
            </a:r>
            <a:r>
              <a:rPr lang="en-US" sz="2400" b="1" dirty="0">
                <a:latin typeface="+mj-lt"/>
              </a:rPr>
              <a:t>))</a:t>
            </a:r>
          </a:p>
          <a:p>
            <a:pPr lvl="0" eaLnBrk="1" hangingPunct="1">
              <a:buNone/>
            </a:pPr>
            <a:r>
              <a:rPr lang="zh-CN" altLang="en-US" sz="2400" b="1" dirty="0">
                <a:solidFill>
                  <a:srgbClr val="C00000"/>
                </a:solidFill>
                <a:latin typeface="Times New Roman" pitchFamily="16" charset="0"/>
              </a:rPr>
              <a:t>自反性</a:t>
            </a:r>
            <a:r>
              <a:rPr lang="en-US" sz="2400" b="1" dirty="0">
                <a:solidFill>
                  <a:srgbClr val="C00000"/>
                </a:solidFill>
                <a:latin typeface="Times New Roman" pitchFamily="16" charset="0"/>
              </a:rPr>
              <a:t>:</a:t>
            </a:r>
          </a:p>
          <a:p>
            <a:pPr eaLnBrk="1" hangingPunct="1">
              <a:spcBef>
                <a:spcPts val="600"/>
              </a:spcBef>
            </a:pPr>
            <a:r>
              <a:rPr lang="en-US" sz="2400" b="1" i="1" dirty="0">
                <a:solidFill>
                  <a:srgbClr val="000000"/>
                </a:solidFill>
                <a:latin typeface="Times New Roman" pitchFamily="16" charset="0"/>
              </a:rPr>
              <a:t>f</a:t>
            </a:r>
            <a:r>
              <a:rPr lang="en-US" sz="2400" b="1" dirty="0">
                <a:solidFill>
                  <a:srgbClr val="000000"/>
                </a:solidFill>
                <a:latin typeface="Times New Roman" pitchFamily="16" charset="0"/>
              </a:rPr>
              <a:t>(</a:t>
            </a:r>
            <a:r>
              <a:rPr lang="en-US" sz="2400" b="1" i="1" dirty="0">
                <a:solidFill>
                  <a:srgbClr val="000000"/>
                </a:solidFill>
                <a:latin typeface="Times New Roman" pitchFamily="16" charset="0"/>
              </a:rPr>
              <a:t>n</a:t>
            </a:r>
            <a:r>
              <a:rPr lang="en-US" sz="2400" b="1" dirty="0">
                <a:solidFill>
                  <a:srgbClr val="000000"/>
                </a:solidFill>
                <a:latin typeface="Times New Roman" pitchFamily="16" charset="0"/>
              </a:rPr>
              <a:t>) = </a:t>
            </a:r>
            <a:r>
              <a:rPr lang="en-US" sz="2400" b="1" i="1" dirty="0">
                <a:solidFill>
                  <a:srgbClr val="000000"/>
                </a:solidFill>
                <a:latin typeface="Symbol" pitchFamily="18" charset="2"/>
              </a:rPr>
              <a:t>O</a:t>
            </a:r>
            <a:r>
              <a:rPr lang="en-US" sz="2400" b="1" dirty="0">
                <a:solidFill>
                  <a:srgbClr val="000000"/>
                </a:solidFill>
                <a:latin typeface="Times New Roman" pitchFamily="16" charset="0"/>
              </a:rPr>
              <a:t>(</a:t>
            </a:r>
            <a:r>
              <a:rPr lang="en-US" sz="2400" b="1" i="1" dirty="0">
                <a:solidFill>
                  <a:srgbClr val="000000"/>
                </a:solidFill>
                <a:latin typeface="Times New Roman" pitchFamily="16" charset="0"/>
              </a:rPr>
              <a:t>f</a:t>
            </a:r>
            <a:r>
              <a:rPr lang="en-US" sz="2400" b="1" dirty="0">
                <a:solidFill>
                  <a:srgbClr val="000000"/>
                </a:solidFill>
                <a:latin typeface="Times New Roman" pitchFamily="16" charset="0"/>
              </a:rPr>
              <a:t>(</a:t>
            </a:r>
            <a:r>
              <a:rPr lang="en-US" sz="2400" b="1" i="1" dirty="0">
                <a:solidFill>
                  <a:srgbClr val="000000"/>
                </a:solidFill>
                <a:latin typeface="Times New Roman" pitchFamily="16" charset="0"/>
              </a:rPr>
              <a:t>n</a:t>
            </a:r>
            <a:r>
              <a:rPr lang="en-US" sz="2400" b="1" dirty="0">
                <a:solidFill>
                  <a:srgbClr val="000000"/>
                </a:solidFill>
                <a:latin typeface="Times New Roman" pitchFamily="16" charset="0"/>
              </a:rPr>
              <a:t>))</a:t>
            </a:r>
            <a:endParaRPr lang="en-US" sz="2400" b="1" dirty="0"/>
          </a:p>
          <a:p>
            <a:pPr eaLnBrk="1" hangingPunct="1">
              <a:spcBef>
                <a:spcPts val="600"/>
              </a:spcBef>
            </a:pPr>
            <a:r>
              <a:rPr lang="en-US" sz="2400" b="1" i="1" dirty="0">
                <a:solidFill>
                  <a:srgbClr val="000000"/>
                </a:solidFill>
                <a:latin typeface="Times New Roman" pitchFamily="16" charset="0"/>
              </a:rPr>
              <a:t>f</a:t>
            </a:r>
            <a:r>
              <a:rPr lang="en-US" sz="2400" b="1" dirty="0">
                <a:solidFill>
                  <a:srgbClr val="000000"/>
                </a:solidFill>
                <a:latin typeface="Times New Roman" pitchFamily="16" charset="0"/>
              </a:rPr>
              <a:t>(</a:t>
            </a:r>
            <a:r>
              <a:rPr lang="en-US" sz="2400" b="1" i="1" dirty="0">
                <a:solidFill>
                  <a:srgbClr val="000000"/>
                </a:solidFill>
                <a:latin typeface="Times New Roman" pitchFamily="16" charset="0"/>
              </a:rPr>
              <a:t>n</a:t>
            </a:r>
            <a:r>
              <a:rPr lang="en-US" sz="2400" b="1" dirty="0">
                <a:solidFill>
                  <a:srgbClr val="000000"/>
                </a:solidFill>
                <a:latin typeface="Times New Roman" pitchFamily="16" charset="0"/>
              </a:rPr>
              <a:t>) = </a:t>
            </a:r>
            <a:r>
              <a:rPr lang="en-US" sz="2400" b="1" dirty="0">
                <a:solidFill>
                  <a:srgbClr val="000000"/>
                </a:solidFill>
                <a:latin typeface="Symbol" pitchFamily="18" charset="2"/>
              </a:rPr>
              <a:t>W</a:t>
            </a:r>
            <a:r>
              <a:rPr lang="en-US" sz="2400" b="1" dirty="0">
                <a:solidFill>
                  <a:srgbClr val="000000"/>
                </a:solidFill>
                <a:latin typeface="Times New Roman" pitchFamily="16" charset="0"/>
              </a:rPr>
              <a:t>(</a:t>
            </a:r>
            <a:r>
              <a:rPr lang="en-US" sz="2400" b="1" i="1" dirty="0">
                <a:solidFill>
                  <a:srgbClr val="000000"/>
                </a:solidFill>
                <a:latin typeface="Times New Roman" pitchFamily="16" charset="0"/>
              </a:rPr>
              <a:t>f</a:t>
            </a:r>
            <a:r>
              <a:rPr lang="en-US" sz="2400" b="1" dirty="0">
                <a:solidFill>
                  <a:srgbClr val="000000"/>
                </a:solidFill>
                <a:latin typeface="Times New Roman" pitchFamily="16" charset="0"/>
              </a:rPr>
              <a:t>(</a:t>
            </a:r>
            <a:r>
              <a:rPr lang="en-US" sz="2400" b="1" i="1" dirty="0">
                <a:solidFill>
                  <a:srgbClr val="000000"/>
                </a:solidFill>
                <a:latin typeface="Times New Roman" pitchFamily="16" charset="0"/>
              </a:rPr>
              <a:t>n</a:t>
            </a:r>
            <a:r>
              <a:rPr lang="en-US" sz="2400" b="1" dirty="0">
                <a:solidFill>
                  <a:srgbClr val="000000"/>
                </a:solidFill>
                <a:latin typeface="Times New Roman" pitchFamily="16" charset="0"/>
              </a:rPr>
              <a:t>)) </a:t>
            </a:r>
          </a:p>
          <a:p>
            <a:pPr eaLnBrk="1" hangingPunct="1">
              <a:spcBef>
                <a:spcPts val="600"/>
              </a:spcBef>
            </a:pPr>
            <a:r>
              <a:rPr lang="en-US" sz="2400" b="1" i="1" dirty="0">
                <a:solidFill>
                  <a:srgbClr val="000000"/>
                </a:solidFill>
                <a:latin typeface="Times New Roman" pitchFamily="16" charset="0"/>
              </a:rPr>
              <a:t>f</a:t>
            </a:r>
            <a:r>
              <a:rPr lang="en-US" sz="2400" b="1" dirty="0">
                <a:solidFill>
                  <a:srgbClr val="000000"/>
                </a:solidFill>
                <a:latin typeface="Times New Roman" pitchFamily="16" charset="0"/>
              </a:rPr>
              <a:t>(</a:t>
            </a:r>
            <a:r>
              <a:rPr lang="en-US" sz="2400" b="1" i="1" dirty="0">
                <a:solidFill>
                  <a:srgbClr val="000000"/>
                </a:solidFill>
                <a:latin typeface="Times New Roman" pitchFamily="16" charset="0"/>
              </a:rPr>
              <a:t>n</a:t>
            </a:r>
            <a:r>
              <a:rPr lang="en-US" sz="2400" b="1" dirty="0">
                <a:solidFill>
                  <a:srgbClr val="000000"/>
                </a:solidFill>
                <a:latin typeface="Times New Roman" pitchFamily="16" charset="0"/>
              </a:rPr>
              <a:t>) = </a:t>
            </a:r>
            <a:r>
              <a:rPr lang="en-US" sz="2400" b="1" dirty="0">
                <a:solidFill>
                  <a:srgbClr val="000000"/>
                </a:solidFill>
                <a:latin typeface="Symbol" pitchFamily="18" charset="2"/>
              </a:rPr>
              <a:t>Q</a:t>
            </a:r>
            <a:r>
              <a:rPr lang="en-US" sz="2400" b="1" dirty="0">
                <a:solidFill>
                  <a:srgbClr val="000000"/>
                </a:solidFill>
                <a:latin typeface="Times New Roman" pitchFamily="16" charset="0"/>
              </a:rPr>
              <a:t>(</a:t>
            </a:r>
            <a:r>
              <a:rPr lang="en-US" sz="2400" b="1" i="1" dirty="0">
                <a:solidFill>
                  <a:srgbClr val="000000"/>
                </a:solidFill>
                <a:latin typeface="Times New Roman" pitchFamily="16" charset="0"/>
              </a:rPr>
              <a:t>f</a:t>
            </a:r>
            <a:r>
              <a:rPr lang="en-US" sz="2400" b="1" dirty="0">
                <a:solidFill>
                  <a:srgbClr val="000000"/>
                </a:solidFill>
                <a:latin typeface="Times New Roman" pitchFamily="16" charset="0"/>
              </a:rPr>
              <a:t>(</a:t>
            </a:r>
            <a:r>
              <a:rPr lang="en-US" sz="2400" b="1" i="1" dirty="0">
                <a:solidFill>
                  <a:srgbClr val="000000"/>
                </a:solidFill>
                <a:latin typeface="Times New Roman" pitchFamily="16" charset="0"/>
              </a:rPr>
              <a:t>n</a:t>
            </a:r>
            <a:r>
              <a:rPr lang="en-US" sz="2400" b="1" dirty="0">
                <a:solidFill>
                  <a:srgbClr val="000000"/>
                </a:solidFill>
                <a:latin typeface="Times New Roman" pitchFamily="16" charset="0"/>
              </a:rPr>
              <a:t>))</a:t>
            </a:r>
          </a:p>
        </p:txBody>
      </p:sp>
      <p:sp>
        <p:nvSpPr>
          <p:cNvPr id="2" name="矩形 1"/>
          <p:cNvSpPr/>
          <p:nvPr/>
        </p:nvSpPr>
        <p:spPr>
          <a:xfrm>
            <a:off x="3200400" y="5410200"/>
            <a:ext cx="3004349" cy="400110"/>
          </a:xfrm>
          <a:prstGeom prst="rect">
            <a:avLst/>
          </a:prstGeom>
        </p:spPr>
        <p:txBody>
          <a:bodyPr wrap="none">
            <a:spAutoFit/>
          </a:bodyPr>
          <a:lstStyle/>
          <a:p>
            <a:pPr eaLnBrk="1" hangingPunct="1">
              <a:spcBef>
                <a:spcPts val="600"/>
              </a:spcBef>
            </a:pPr>
            <a:r>
              <a:rPr lang="zh-CN" altLang="en-US" dirty="0">
                <a:solidFill>
                  <a:srgbClr val="000000"/>
                </a:solidFill>
                <a:latin typeface="Times New Roman" pitchFamily="16" charset="0"/>
              </a:rPr>
              <a:t>注意：</a:t>
            </a:r>
            <a:r>
              <a:rPr lang="en-US" altLang="zh-CN" i="1" dirty="0">
                <a:solidFill>
                  <a:srgbClr val="000000"/>
                </a:solidFill>
                <a:latin typeface="Times New Roman" pitchFamily="16" charset="0"/>
              </a:rPr>
              <a:t>o</a:t>
            </a:r>
            <a:r>
              <a:rPr lang="en-US" altLang="zh-CN" dirty="0">
                <a:solidFill>
                  <a:srgbClr val="000000"/>
                </a:solidFill>
                <a:latin typeface="Times New Roman" pitchFamily="16" charset="0"/>
              </a:rPr>
              <a:t> </a:t>
            </a:r>
            <a:r>
              <a:rPr lang="zh-CN" altLang="en-US" dirty="0">
                <a:solidFill>
                  <a:srgbClr val="000000"/>
                </a:solidFill>
                <a:latin typeface="Times New Roman" pitchFamily="16" charset="0"/>
              </a:rPr>
              <a:t>和</a:t>
            </a:r>
            <a:r>
              <a:rPr lang="en-US" altLang="zh-CN" dirty="0">
                <a:solidFill>
                  <a:srgbClr val="000000"/>
                </a:solidFill>
                <a:latin typeface="Times New Roman" pitchFamily="16" charset="0"/>
              </a:rPr>
              <a:t> </a:t>
            </a:r>
            <a:r>
              <a:rPr lang="en-US" altLang="zh-CN" dirty="0">
                <a:solidFill>
                  <a:srgbClr val="000000"/>
                </a:solidFill>
                <a:latin typeface="Times New Roman" pitchFamily="16" charset="0"/>
                <a:sym typeface="Symbol" pitchFamily="18" charset="2"/>
              </a:rPr>
              <a:t> </a:t>
            </a:r>
            <a:r>
              <a:rPr lang="zh-CN" altLang="en-US" dirty="0">
                <a:solidFill>
                  <a:srgbClr val="000000"/>
                </a:solidFill>
                <a:latin typeface="Times New Roman" pitchFamily="16" charset="0"/>
                <a:sym typeface="Symbol" pitchFamily="18" charset="2"/>
              </a:rPr>
              <a:t>不具自反性</a:t>
            </a:r>
            <a:endParaRPr lang="en-US" altLang="zh-CN" dirty="0">
              <a:solidFill>
                <a:srgbClr val="000000"/>
              </a:solidFill>
              <a:latin typeface="Times New Roman" pitchFamily="16" charset="0"/>
            </a:endParaRPr>
          </a:p>
        </p:txBody>
      </p:sp>
    </p:spTree>
    <p:extLst>
      <p:ext uri="{BB962C8B-B14F-4D97-AF65-F5344CB8AC3E}">
        <p14:creationId xmlns:p14="http://schemas.microsoft.com/office/powerpoint/2010/main" val="2446541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4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44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4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506412" y="152400"/>
            <a:ext cx="8637588" cy="900113"/>
          </a:xfrm>
          <a:noFill/>
        </p:spPr>
        <p:txBody>
          <a:bodyPr lIns="92075" tIns="46038" rIns="92075" bIns="46038" anchor="ctr"/>
          <a:lstStyle/>
          <a:p>
            <a:pPr eaLnBrk="1" hangingPunct="1"/>
            <a:r>
              <a:rPr lang="en-US" altLang="zh-CN" dirty="0"/>
              <a:t>1.3 </a:t>
            </a:r>
            <a:r>
              <a:rPr lang="zh-CN" altLang="en-US" dirty="0"/>
              <a:t>渐近记号 </a:t>
            </a:r>
            <a:r>
              <a:rPr lang="en-US" altLang="zh-CN" dirty="0"/>
              <a:t>— </a:t>
            </a:r>
            <a:r>
              <a:rPr lang="zh-CN" altLang="en-US" dirty="0">
                <a:sym typeface="Symbol" panose="05050102010706020507" pitchFamily="18" charset="2"/>
              </a:rPr>
              <a:t>性质 </a:t>
            </a:r>
            <a:r>
              <a:rPr lang="en-US" altLang="zh-CN" dirty="0"/>
              <a:t>(2)</a:t>
            </a:r>
            <a:endParaRPr lang="en-US" dirty="0"/>
          </a:p>
        </p:txBody>
      </p:sp>
      <p:sp>
        <p:nvSpPr>
          <p:cNvPr id="61443" name="Rectangle 3"/>
          <p:cNvSpPr>
            <a:spLocks noGrp="1" noChangeArrowheads="1"/>
          </p:cNvSpPr>
          <p:nvPr>
            <p:ph idx="1"/>
          </p:nvPr>
        </p:nvSpPr>
        <p:spPr>
          <a:xfrm>
            <a:off x="538427" y="1371600"/>
            <a:ext cx="8382000" cy="2514600"/>
          </a:xfrm>
          <a:prstGeom prst="rect">
            <a:avLst/>
          </a:prstGeom>
          <a:noFill/>
        </p:spPr>
        <p:txBody>
          <a:bodyPr lIns="92075" tIns="46038" rIns="92075" bIns="46038">
            <a:normAutofit/>
          </a:bodyPr>
          <a:lstStyle/>
          <a:p>
            <a:pPr marL="0" indent="0" eaLnBrk="1" hangingPunct="1">
              <a:buNone/>
            </a:pPr>
            <a:r>
              <a:rPr lang="zh-CN" altLang="en-US" sz="2400" b="1" dirty="0">
                <a:solidFill>
                  <a:srgbClr val="C00000"/>
                </a:solidFill>
                <a:latin typeface="+mj-lt"/>
              </a:rPr>
              <a:t>对称性</a:t>
            </a:r>
            <a:r>
              <a:rPr lang="en-US" sz="2400" b="1" dirty="0">
                <a:solidFill>
                  <a:srgbClr val="C00000"/>
                </a:solidFill>
                <a:latin typeface="+mj-lt"/>
              </a:rPr>
              <a:t>:</a:t>
            </a:r>
            <a:endParaRPr lang="en-US" sz="2400" b="1" dirty="0">
              <a:latin typeface="+mj-lt"/>
            </a:endParaRPr>
          </a:p>
          <a:p>
            <a:pPr eaLnBrk="1" hangingPunct="1"/>
            <a:r>
              <a:rPr lang="en-US" sz="2400" b="1" i="1" dirty="0">
                <a:latin typeface="+mj-lt"/>
              </a:rPr>
              <a:t>f</a:t>
            </a:r>
            <a:r>
              <a:rPr lang="en-US" sz="2400" b="1" dirty="0">
                <a:latin typeface="+mj-lt"/>
              </a:rPr>
              <a:t> (</a:t>
            </a:r>
            <a:r>
              <a:rPr lang="en-US" sz="2400" b="1" i="1" dirty="0">
                <a:latin typeface="+mj-lt"/>
              </a:rPr>
              <a:t>n</a:t>
            </a:r>
            <a:r>
              <a:rPr lang="en-US" sz="2400" b="1" dirty="0">
                <a:latin typeface="+mj-lt"/>
              </a:rPr>
              <a:t>) = </a:t>
            </a:r>
            <a:r>
              <a:rPr lang="en-US" sz="2400" dirty="0">
                <a:solidFill>
                  <a:schemeClr val="tx2"/>
                </a:solidFill>
                <a:latin typeface="Symbol" pitchFamily="18" charset="2"/>
              </a:rPr>
              <a:t>Q</a:t>
            </a:r>
            <a:r>
              <a:rPr lang="en-US" sz="2400" b="1" dirty="0">
                <a:latin typeface="+mj-lt"/>
              </a:rPr>
              <a:t>(</a:t>
            </a:r>
            <a:r>
              <a:rPr lang="en-US" sz="2400" b="1" i="1" dirty="0">
                <a:latin typeface="+mj-lt"/>
              </a:rPr>
              <a:t>g</a:t>
            </a:r>
            <a:r>
              <a:rPr lang="en-US" sz="2400" b="1" dirty="0">
                <a:latin typeface="+mj-lt"/>
              </a:rPr>
              <a:t>(</a:t>
            </a:r>
            <a:r>
              <a:rPr lang="en-US" sz="2400" b="1" i="1" dirty="0">
                <a:latin typeface="+mj-lt"/>
              </a:rPr>
              <a:t>n</a:t>
            </a:r>
            <a:r>
              <a:rPr lang="en-US" sz="2400" b="1" dirty="0">
                <a:latin typeface="+mj-lt"/>
              </a:rPr>
              <a:t>)) </a:t>
            </a:r>
            <a:r>
              <a:rPr lang="zh-CN" altLang="en-US" sz="2400" dirty="0"/>
              <a:t>当且仅当 </a:t>
            </a:r>
            <a:r>
              <a:rPr lang="en-US" sz="2400" b="1" i="1" dirty="0">
                <a:latin typeface="+mj-lt"/>
              </a:rPr>
              <a:t>g</a:t>
            </a:r>
            <a:r>
              <a:rPr lang="en-US" sz="2400" b="1" dirty="0">
                <a:latin typeface="+mj-lt"/>
              </a:rPr>
              <a:t>(</a:t>
            </a:r>
            <a:r>
              <a:rPr lang="en-US" sz="2400" b="1" i="1" dirty="0">
                <a:latin typeface="+mj-lt"/>
              </a:rPr>
              <a:t>n</a:t>
            </a:r>
            <a:r>
              <a:rPr lang="en-US" sz="2400" b="1" dirty="0">
                <a:latin typeface="+mj-lt"/>
              </a:rPr>
              <a:t>) = </a:t>
            </a:r>
            <a:r>
              <a:rPr lang="en-US" sz="2400" dirty="0">
                <a:solidFill>
                  <a:schemeClr val="tx2"/>
                </a:solidFill>
                <a:latin typeface="Symbol" pitchFamily="18" charset="2"/>
              </a:rPr>
              <a:t>Q</a:t>
            </a:r>
            <a:r>
              <a:rPr lang="en-US" sz="2400" b="1" dirty="0">
                <a:latin typeface="+mj-lt"/>
              </a:rPr>
              <a:t>(</a:t>
            </a:r>
            <a:r>
              <a:rPr lang="en-US" sz="2400" b="1" i="1" dirty="0">
                <a:latin typeface="+mj-lt"/>
              </a:rPr>
              <a:t>f</a:t>
            </a:r>
            <a:r>
              <a:rPr lang="en-US" sz="2400" b="1" dirty="0">
                <a:latin typeface="+mj-lt"/>
              </a:rPr>
              <a:t>(</a:t>
            </a:r>
            <a:r>
              <a:rPr lang="en-US" sz="2400" b="1" i="1" dirty="0">
                <a:latin typeface="+mj-lt"/>
              </a:rPr>
              <a:t>n</a:t>
            </a:r>
            <a:r>
              <a:rPr lang="en-US" sz="2400" b="1" dirty="0">
                <a:latin typeface="+mj-lt"/>
              </a:rPr>
              <a:t>)).</a:t>
            </a:r>
            <a:endParaRPr lang="en-US" sz="2400" dirty="0">
              <a:latin typeface="+mj-lt"/>
            </a:endParaRPr>
          </a:p>
          <a:p>
            <a:pPr marL="0" indent="0" eaLnBrk="1" hangingPunct="1">
              <a:buNone/>
            </a:pPr>
            <a:r>
              <a:rPr lang="zh-CN" altLang="en-US" sz="2400" b="1" dirty="0">
                <a:solidFill>
                  <a:srgbClr val="C00000"/>
                </a:solidFill>
                <a:latin typeface="+mj-lt"/>
              </a:rPr>
              <a:t>转置对称性</a:t>
            </a:r>
            <a:r>
              <a:rPr lang="en-US" sz="2400" b="1" dirty="0">
                <a:solidFill>
                  <a:srgbClr val="C00000"/>
                </a:solidFill>
                <a:latin typeface="+mj-lt"/>
              </a:rPr>
              <a:t>:</a:t>
            </a:r>
          </a:p>
          <a:p>
            <a:pPr eaLnBrk="1" hangingPunct="1"/>
            <a:r>
              <a:rPr lang="en-US" sz="2400" b="1" i="1" dirty="0">
                <a:latin typeface="+mj-lt"/>
              </a:rPr>
              <a:t>f</a:t>
            </a:r>
            <a:r>
              <a:rPr lang="en-US" sz="2400" b="1" dirty="0">
                <a:latin typeface="+mj-lt"/>
              </a:rPr>
              <a:t>(</a:t>
            </a:r>
            <a:r>
              <a:rPr lang="en-US" sz="2400" b="1" i="1" dirty="0">
                <a:latin typeface="+mj-lt"/>
              </a:rPr>
              <a:t>n</a:t>
            </a:r>
            <a:r>
              <a:rPr lang="en-US" sz="2400" b="1" dirty="0">
                <a:latin typeface="+mj-lt"/>
              </a:rPr>
              <a:t>) = </a:t>
            </a:r>
            <a:r>
              <a:rPr lang="en-US" sz="2400" b="1" i="1" dirty="0">
                <a:solidFill>
                  <a:schemeClr val="tx2"/>
                </a:solidFill>
                <a:latin typeface="+mj-lt"/>
              </a:rPr>
              <a:t>O</a:t>
            </a:r>
            <a:r>
              <a:rPr lang="en-US" sz="2400" b="1" dirty="0">
                <a:latin typeface="+mj-lt"/>
              </a:rPr>
              <a:t>(</a:t>
            </a:r>
            <a:r>
              <a:rPr lang="en-US" sz="2400" b="1" i="1" dirty="0">
                <a:latin typeface="+mj-lt"/>
              </a:rPr>
              <a:t>g</a:t>
            </a:r>
            <a:r>
              <a:rPr lang="en-US" sz="2400" b="1" dirty="0">
                <a:latin typeface="+mj-lt"/>
              </a:rPr>
              <a:t>(</a:t>
            </a:r>
            <a:r>
              <a:rPr lang="en-US" sz="2400" b="1" i="1" dirty="0">
                <a:latin typeface="+mj-lt"/>
              </a:rPr>
              <a:t>n</a:t>
            </a:r>
            <a:r>
              <a:rPr lang="en-US" sz="2400" b="1" dirty="0">
                <a:latin typeface="+mj-lt"/>
              </a:rPr>
              <a:t>)) </a:t>
            </a:r>
            <a:r>
              <a:rPr lang="zh-CN" altLang="en-US" sz="2400" dirty="0"/>
              <a:t>当且仅当  </a:t>
            </a:r>
            <a:r>
              <a:rPr lang="en-US" sz="2400" b="1" i="1" dirty="0">
                <a:latin typeface="+mj-lt"/>
              </a:rPr>
              <a:t>g</a:t>
            </a:r>
            <a:r>
              <a:rPr lang="en-US" sz="2400" b="1" dirty="0">
                <a:latin typeface="+mj-lt"/>
              </a:rPr>
              <a:t>(</a:t>
            </a:r>
            <a:r>
              <a:rPr lang="en-US" sz="2400" b="1" i="1" dirty="0">
                <a:latin typeface="+mj-lt"/>
              </a:rPr>
              <a:t>n</a:t>
            </a:r>
            <a:r>
              <a:rPr lang="en-US" sz="2400" b="1" dirty="0">
                <a:latin typeface="+mj-lt"/>
              </a:rPr>
              <a:t>) = </a:t>
            </a:r>
            <a:r>
              <a:rPr lang="en-US" sz="2400" b="1" dirty="0">
                <a:latin typeface="+mj-lt"/>
                <a:sym typeface="Symbol"/>
              </a:rPr>
              <a:t></a:t>
            </a:r>
            <a:r>
              <a:rPr lang="en-US" sz="2400" b="1" dirty="0">
                <a:latin typeface="+mj-lt"/>
              </a:rPr>
              <a:t>(</a:t>
            </a:r>
            <a:r>
              <a:rPr lang="en-US" sz="2400" b="1" i="1" dirty="0">
                <a:latin typeface="+mj-lt"/>
              </a:rPr>
              <a:t>f</a:t>
            </a:r>
            <a:r>
              <a:rPr lang="en-US" sz="2400" b="1" dirty="0">
                <a:latin typeface="+mj-lt"/>
              </a:rPr>
              <a:t>(</a:t>
            </a:r>
            <a:r>
              <a:rPr lang="en-US" sz="2400" b="1" i="1" dirty="0">
                <a:latin typeface="+mj-lt"/>
              </a:rPr>
              <a:t>n</a:t>
            </a:r>
            <a:r>
              <a:rPr lang="en-US" sz="2400" b="1" dirty="0">
                <a:latin typeface="+mj-lt"/>
              </a:rPr>
              <a:t>)). </a:t>
            </a:r>
          </a:p>
          <a:p>
            <a:pPr eaLnBrk="1" hangingPunct="1"/>
            <a:r>
              <a:rPr lang="en-US" sz="2400" b="1" i="1" dirty="0">
                <a:latin typeface="+mj-lt"/>
              </a:rPr>
              <a:t>f</a:t>
            </a:r>
            <a:r>
              <a:rPr lang="en-US" sz="2400" b="1" dirty="0">
                <a:latin typeface="+mj-lt"/>
              </a:rPr>
              <a:t>(</a:t>
            </a:r>
            <a:r>
              <a:rPr lang="en-US" sz="2400" b="1" i="1" dirty="0">
                <a:latin typeface="+mj-lt"/>
              </a:rPr>
              <a:t>n</a:t>
            </a:r>
            <a:r>
              <a:rPr lang="en-US" sz="2400" b="1" dirty="0">
                <a:latin typeface="+mj-lt"/>
              </a:rPr>
              <a:t>) = </a:t>
            </a:r>
            <a:r>
              <a:rPr lang="en-US" sz="2400" b="1" i="1" dirty="0">
                <a:solidFill>
                  <a:schemeClr val="tx2"/>
                </a:solidFill>
                <a:latin typeface="+mj-lt"/>
              </a:rPr>
              <a:t>o</a:t>
            </a:r>
            <a:r>
              <a:rPr lang="en-US" sz="2400" b="1" dirty="0">
                <a:latin typeface="+mj-lt"/>
              </a:rPr>
              <a:t>(</a:t>
            </a:r>
            <a:r>
              <a:rPr lang="en-US" sz="2400" b="1" i="1" dirty="0">
                <a:latin typeface="+mj-lt"/>
              </a:rPr>
              <a:t>g</a:t>
            </a:r>
            <a:r>
              <a:rPr lang="en-US" sz="2400" b="1" dirty="0">
                <a:latin typeface="+mj-lt"/>
              </a:rPr>
              <a:t>(</a:t>
            </a:r>
            <a:r>
              <a:rPr lang="en-US" sz="2400" b="1" i="1" dirty="0">
                <a:latin typeface="+mj-lt"/>
              </a:rPr>
              <a:t>n</a:t>
            </a:r>
            <a:r>
              <a:rPr lang="en-US" sz="2400" b="1" dirty="0">
                <a:latin typeface="+mj-lt"/>
              </a:rPr>
              <a:t>))  </a:t>
            </a:r>
            <a:r>
              <a:rPr lang="zh-CN" altLang="en-US" sz="2400" dirty="0"/>
              <a:t>当且仅当  </a:t>
            </a:r>
            <a:r>
              <a:rPr lang="en-US" sz="2400" b="1" i="1" dirty="0">
                <a:latin typeface="+mj-lt"/>
              </a:rPr>
              <a:t>g</a:t>
            </a:r>
            <a:r>
              <a:rPr lang="en-US" sz="2400" b="1" dirty="0">
                <a:latin typeface="+mj-lt"/>
              </a:rPr>
              <a:t>(</a:t>
            </a:r>
            <a:r>
              <a:rPr lang="en-US" sz="2400" b="1" i="1" dirty="0">
                <a:latin typeface="+mj-lt"/>
              </a:rPr>
              <a:t>n</a:t>
            </a:r>
            <a:r>
              <a:rPr lang="en-US" sz="2400" b="1" dirty="0">
                <a:latin typeface="+mj-lt"/>
              </a:rPr>
              <a:t>) = </a:t>
            </a:r>
            <a:r>
              <a:rPr lang="en-US" sz="2400" b="1" dirty="0">
                <a:latin typeface="+mj-lt"/>
                <a:sym typeface="Symbol"/>
              </a:rPr>
              <a:t></a:t>
            </a:r>
            <a:r>
              <a:rPr lang="en-US" sz="2400" b="1" dirty="0">
                <a:latin typeface="+mj-lt"/>
              </a:rPr>
              <a:t>(</a:t>
            </a:r>
            <a:r>
              <a:rPr lang="en-US" sz="2400" b="1" i="1" dirty="0">
                <a:latin typeface="+mj-lt"/>
              </a:rPr>
              <a:t>f</a:t>
            </a:r>
            <a:r>
              <a:rPr lang="en-US" sz="2400" b="1" dirty="0">
                <a:latin typeface="+mj-lt"/>
              </a:rPr>
              <a:t>(</a:t>
            </a:r>
            <a:r>
              <a:rPr lang="en-US" sz="2400" b="1" i="1" dirty="0">
                <a:latin typeface="+mj-lt"/>
              </a:rPr>
              <a:t>n</a:t>
            </a:r>
            <a:r>
              <a:rPr lang="en-US" sz="2400" b="1" dirty="0">
                <a:latin typeface="+mj-lt"/>
              </a:rPr>
              <a:t>)). </a:t>
            </a:r>
          </a:p>
        </p:txBody>
      </p:sp>
      <p:graphicFrame>
        <p:nvGraphicFramePr>
          <p:cNvPr id="4" name="Table 1"/>
          <p:cNvGraphicFramePr>
            <a:graphicFrameLocks noGrp="1"/>
          </p:cNvGraphicFramePr>
          <p:nvPr>
            <p:extLst>
              <p:ext uri="{D42A27DB-BD31-4B8C-83A1-F6EECF244321}">
                <p14:modId xmlns:p14="http://schemas.microsoft.com/office/powerpoint/2010/main" val="2385385134"/>
              </p:ext>
            </p:extLst>
          </p:nvPr>
        </p:nvGraphicFramePr>
        <p:xfrm>
          <a:off x="1676400" y="4052887"/>
          <a:ext cx="6400800" cy="2560320"/>
        </p:xfrm>
        <a:graphic>
          <a:graphicData uri="http://schemas.openxmlformats.org/drawingml/2006/table">
            <a:tbl>
              <a:tblPr firstRow="1" bandRow="1">
                <a:tableStyleId>{D7AC3CCA-C797-4891-BE02-D94E43425B78}</a:tableStyleId>
              </a:tblPr>
              <a:tblGrid>
                <a:gridCol w="32004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0">
                <a:tc>
                  <a:txBody>
                    <a:bodyPr/>
                    <a:lstStyle/>
                    <a:p>
                      <a:pPr algn="ctr"/>
                      <a:r>
                        <a:rPr lang="zh-CN" altLang="en-US" sz="2200" dirty="0"/>
                        <a:t>渐近符号</a:t>
                      </a:r>
                      <a:endParaRPr lang="en-US" sz="2200" dirty="0"/>
                    </a:p>
                  </a:txBody>
                  <a:tcPr/>
                </a:tc>
                <a:tc>
                  <a:txBody>
                    <a:bodyPr/>
                    <a:lstStyle/>
                    <a:p>
                      <a:pPr algn="ctr"/>
                      <a:r>
                        <a:rPr lang="zh-CN" altLang="en-US" sz="2200" dirty="0"/>
                        <a:t>算术符号</a:t>
                      </a:r>
                      <a:endParaRPr lang="en-US" sz="2200" dirty="0"/>
                    </a:p>
                  </a:txBody>
                  <a:tcPr/>
                </a:tc>
                <a:extLst>
                  <a:ext uri="{0D108BD9-81ED-4DB2-BD59-A6C34878D82A}">
                    <a16:rowId xmlns:a16="http://schemas.microsoft.com/office/drawing/2014/main" val="10000"/>
                  </a:ext>
                </a:extLst>
              </a:tr>
              <a:tr h="370840">
                <a:tc>
                  <a:txBody>
                    <a:bodyPr/>
                    <a:lstStyle/>
                    <a:p>
                      <a:pPr algn="ctr"/>
                      <a:r>
                        <a:rPr lang="en-US" sz="2200" b="1" i="1" dirty="0"/>
                        <a:t>O</a:t>
                      </a:r>
                    </a:p>
                  </a:txBody>
                  <a:tcPr/>
                </a:tc>
                <a:tc>
                  <a:txBody>
                    <a:bodyPr/>
                    <a:lstStyle/>
                    <a:p>
                      <a:pPr algn="ctr"/>
                      <a:r>
                        <a:rPr lang="en-US" sz="2200" b="1" dirty="0"/>
                        <a:t>≤</a:t>
                      </a:r>
                    </a:p>
                  </a:txBody>
                  <a:tcPr/>
                </a:tc>
                <a:extLst>
                  <a:ext uri="{0D108BD9-81ED-4DB2-BD59-A6C34878D82A}">
                    <a16:rowId xmlns:a16="http://schemas.microsoft.com/office/drawing/2014/main" val="10001"/>
                  </a:ext>
                </a:extLst>
              </a:tr>
              <a:tr h="370840">
                <a:tc>
                  <a:txBody>
                    <a:bodyPr/>
                    <a:lstStyle/>
                    <a:p>
                      <a:pPr algn="ctr"/>
                      <a:r>
                        <a:rPr lang="en-US" sz="2200" b="1" dirty="0">
                          <a:sym typeface="Symbol"/>
                        </a:rPr>
                        <a:t></a:t>
                      </a:r>
                      <a:endParaRPr lang="en-US" sz="2200" b="1" dirty="0"/>
                    </a:p>
                  </a:txBody>
                  <a:tcPr/>
                </a:tc>
                <a:tc>
                  <a:txBody>
                    <a:bodyPr/>
                    <a:lstStyle/>
                    <a:p>
                      <a:pPr algn="ctr"/>
                      <a:r>
                        <a:rPr lang="en-US" sz="2200" b="1" dirty="0"/>
                        <a:t>≥</a:t>
                      </a:r>
                    </a:p>
                  </a:txBody>
                  <a:tcPr/>
                </a:tc>
                <a:extLst>
                  <a:ext uri="{0D108BD9-81ED-4DB2-BD59-A6C34878D82A}">
                    <a16:rowId xmlns:a16="http://schemas.microsoft.com/office/drawing/2014/main" val="10002"/>
                  </a:ext>
                </a:extLst>
              </a:tr>
              <a:tr h="370840">
                <a:tc>
                  <a:txBody>
                    <a:bodyPr/>
                    <a:lstStyle/>
                    <a:p>
                      <a:pPr algn="ctr"/>
                      <a:r>
                        <a:rPr lang="en-US" sz="2200" b="1" dirty="0">
                          <a:sym typeface="Symbol"/>
                        </a:rPr>
                        <a:t></a:t>
                      </a:r>
                      <a:endParaRPr lang="en-US" sz="2200" b="1" dirty="0"/>
                    </a:p>
                  </a:txBody>
                  <a:tcPr/>
                </a:tc>
                <a:tc>
                  <a:txBody>
                    <a:bodyPr/>
                    <a:lstStyle/>
                    <a:p>
                      <a:pPr algn="ctr"/>
                      <a:r>
                        <a:rPr lang="en-US" sz="2200" b="1" dirty="0"/>
                        <a:t>=</a:t>
                      </a:r>
                    </a:p>
                  </a:txBody>
                  <a:tcPr/>
                </a:tc>
                <a:extLst>
                  <a:ext uri="{0D108BD9-81ED-4DB2-BD59-A6C34878D82A}">
                    <a16:rowId xmlns:a16="http://schemas.microsoft.com/office/drawing/2014/main" val="10003"/>
                  </a:ext>
                </a:extLst>
              </a:tr>
              <a:tr h="370840">
                <a:tc>
                  <a:txBody>
                    <a:bodyPr/>
                    <a:lstStyle/>
                    <a:p>
                      <a:pPr algn="ctr"/>
                      <a:r>
                        <a:rPr lang="en-US" sz="2200" b="1" i="1" dirty="0"/>
                        <a:t>o</a:t>
                      </a:r>
                    </a:p>
                  </a:txBody>
                  <a:tcPr/>
                </a:tc>
                <a:tc>
                  <a:txBody>
                    <a:bodyPr/>
                    <a:lstStyle/>
                    <a:p>
                      <a:pPr algn="ctr"/>
                      <a:r>
                        <a:rPr lang="en-US" sz="2200" b="1" dirty="0"/>
                        <a:t>&lt;</a:t>
                      </a:r>
                    </a:p>
                  </a:txBody>
                  <a:tcPr/>
                </a:tc>
                <a:extLst>
                  <a:ext uri="{0D108BD9-81ED-4DB2-BD59-A6C34878D82A}">
                    <a16:rowId xmlns:a16="http://schemas.microsoft.com/office/drawing/2014/main" val="10004"/>
                  </a:ext>
                </a:extLst>
              </a:tr>
              <a:tr h="370840">
                <a:tc>
                  <a:txBody>
                    <a:bodyPr/>
                    <a:lstStyle/>
                    <a:p>
                      <a:pPr algn="ctr"/>
                      <a:r>
                        <a:rPr lang="en-US" sz="2200" b="1" dirty="0">
                          <a:sym typeface="Symbol"/>
                        </a:rPr>
                        <a:t></a:t>
                      </a:r>
                      <a:endParaRPr lang="en-US" sz="2200" b="1" dirty="0"/>
                    </a:p>
                  </a:txBody>
                  <a:tcPr/>
                </a:tc>
                <a:tc>
                  <a:txBody>
                    <a:bodyPr/>
                    <a:lstStyle/>
                    <a:p>
                      <a:pPr algn="ctr"/>
                      <a:r>
                        <a:rPr lang="en-US" sz="2200" b="1" dirty="0"/>
                        <a:t>&gt;</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526568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44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4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4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09600" y="152400"/>
            <a:ext cx="7772400" cy="685800"/>
          </a:xfrm>
        </p:spPr>
        <p:txBody>
          <a:bodyPr/>
          <a:lstStyle/>
          <a:p>
            <a:pPr eaLnBrk="1" hangingPunct="1"/>
            <a:r>
              <a:rPr lang="en-US" altLang="zh-CN" dirty="0"/>
              <a:t>1.3 </a:t>
            </a:r>
            <a:r>
              <a:rPr lang="zh-CN" altLang="en-US" dirty="0"/>
              <a:t>渐近记号 </a:t>
            </a:r>
            <a:r>
              <a:rPr lang="en-US" altLang="zh-CN" dirty="0"/>
              <a:t>— </a:t>
            </a:r>
            <a:r>
              <a:rPr lang="zh-CN" altLang="en-US" dirty="0">
                <a:sym typeface="Symbol" panose="05050102010706020507" pitchFamily="18" charset="2"/>
              </a:rPr>
              <a:t>性质 </a:t>
            </a:r>
            <a:r>
              <a:rPr lang="en-US" altLang="zh-CN" dirty="0"/>
              <a:t>(3)</a:t>
            </a:r>
            <a:endParaRPr lang="zh-CN" altLang="en-US" sz="3600" dirty="0">
              <a:sym typeface="Symbol" panose="05050102010706020507" pitchFamily="18" charset="2"/>
            </a:endParaRPr>
          </a:p>
        </p:txBody>
      </p:sp>
      <p:sp>
        <p:nvSpPr>
          <p:cNvPr id="22531" name="Rectangle 3"/>
          <p:cNvSpPr>
            <a:spLocks noGrp="1" noChangeArrowheads="1"/>
          </p:cNvSpPr>
          <p:nvPr>
            <p:ph idx="1"/>
          </p:nvPr>
        </p:nvSpPr>
        <p:spPr>
          <a:xfrm>
            <a:off x="457200" y="1447800"/>
            <a:ext cx="7772400" cy="4219575"/>
          </a:xfrm>
          <a:prstGeom prst="rect">
            <a:avLst/>
          </a:prstGeom>
        </p:spPr>
        <p:txBody>
          <a:bodyPr/>
          <a:lstStyle/>
          <a:p>
            <a:pPr marL="0" indent="0" eaLnBrk="1" hangingPunct="1">
              <a:buNone/>
            </a:pPr>
            <a:r>
              <a:rPr lang="zh-CN" altLang="en-US" sz="2400" dirty="0">
                <a:solidFill>
                  <a:srgbClr val="CC3300"/>
                </a:solidFill>
              </a:rPr>
              <a:t>单调性</a:t>
            </a:r>
            <a:r>
              <a:rPr lang="zh-CN" altLang="en-US" sz="2400" dirty="0"/>
              <a:t>：</a:t>
            </a:r>
          </a:p>
          <a:p>
            <a:pPr lvl="1" eaLnBrk="1" hangingPunct="1"/>
            <a:r>
              <a:rPr lang="zh-CN" altLang="en-US" dirty="0"/>
              <a:t>单调递增：若</a:t>
            </a:r>
            <a:r>
              <a:rPr lang="en-US" altLang="zh-CN" i="1" dirty="0"/>
              <a:t>m</a:t>
            </a:r>
            <a:r>
              <a:rPr lang="en-US" altLang="zh-CN" dirty="0"/>
              <a:t> </a:t>
            </a:r>
            <a:r>
              <a:rPr lang="en-US" altLang="zh-CN" dirty="0">
                <a:sym typeface="Symbol" panose="05050102010706020507" pitchFamily="18" charset="2"/>
              </a:rPr>
              <a:t></a:t>
            </a:r>
            <a:r>
              <a:rPr lang="en-US" altLang="zh-CN" dirty="0"/>
              <a:t> </a:t>
            </a:r>
            <a:r>
              <a:rPr lang="en-US" altLang="zh-CN" i="1" dirty="0"/>
              <a:t>n</a:t>
            </a:r>
            <a:r>
              <a:rPr lang="zh-CN" altLang="en-US" dirty="0"/>
              <a:t>蕴含</a:t>
            </a:r>
            <a:r>
              <a:rPr lang="en-US" altLang="zh-CN" i="1" dirty="0"/>
              <a:t>f</a:t>
            </a:r>
            <a:r>
              <a:rPr lang="en-US" altLang="zh-CN" dirty="0"/>
              <a:t>(</a:t>
            </a:r>
            <a:r>
              <a:rPr lang="en-US" altLang="zh-CN" i="1" dirty="0"/>
              <a:t>m</a:t>
            </a:r>
            <a:r>
              <a:rPr lang="en-US" altLang="zh-CN" dirty="0"/>
              <a:t>) </a:t>
            </a:r>
            <a:r>
              <a:rPr lang="en-US" altLang="zh-CN" dirty="0">
                <a:sym typeface="Symbol" panose="05050102010706020507" pitchFamily="18" charset="2"/>
              </a:rPr>
              <a:t></a:t>
            </a:r>
            <a:r>
              <a:rPr lang="en-US" altLang="zh-CN" dirty="0"/>
              <a:t> </a:t>
            </a:r>
            <a:r>
              <a:rPr lang="en-US" altLang="zh-CN" i="1" dirty="0"/>
              <a:t>f</a:t>
            </a:r>
            <a:r>
              <a:rPr lang="en-US" altLang="zh-CN" dirty="0"/>
              <a:t>(</a:t>
            </a:r>
            <a:r>
              <a:rPr lang="en-US" altLang="zh-CN" i="1" dirty="0"/>
              <a:t>n</a:t>
            </a:r>
            <a:r>
              <a:rPr lang="en-US" altLang="zh-CN" dirty="0"/>
              <a:t>) </a:t>
            </a:r>
          </a:p>
          <a:p>
            <a:pPr lvl="1" eaLnBrk="1" hangingPunct="1"/>
            <a:r>
              <a:rPr lang="zh-CN" altLang="en-US" dirty="0"/>
              <a:t>单调递减：若</a:t>
            </a:r>
            <a:r>
              <a:rPr lang="en-US" altLang="zh-CN" i="1" dirty="0"/>
              <a:t>m</a:t>
            </a:r>
            <a:r>
              <a:rPr lang="en-US" altLang="zh-CN" dirty="0"/>
              <a:t> </a:t>
            </a:r>
            <a:r>
              <a:rPr lang="en-US" altLang="zh-CN" dirty="0">
                <a:sym typeface="Symbol" panose="05050102010706020507" pitchFamily="18" charset="2"/>
              </a:rPr>
              <a:t></a:t>
            </a:r>
            <a:r>
              <a:rPr lang="en-US" altLang="zh-CN" dirty="0"/>
              <a:t> </a:t>
            </a:r>
            <a:r>
              <a:rPr lang="en-US" altLang="zh-CN" i="1" dirty="0"/>
              <a:t>n</a:t>
            </a:r>
            <a:r>
              <a:rPr lang="zh-CN" altLang="en-US" dirty="0"/>
              <a:t>蕴含</a:t>
            </a:r>
            <a:r>
              <a:rPr lang="en-US" altLang="zh-CN" i="1" dirty="0"/>
              <a:t>f</a:t>
            </a:r>
            <a:r>
              <a:rPr lang="en-US" altLang="zh-CN" dirty="0"/>
              <a:t>(</a:t>
            </a:r>
            <a:r>
              <a:rPr lang="en-US" altLang="zh-CN" i="1" dirty="0"/>
              <a:t>m</a:t>
            </a:r>
            <a:r>
              <a:rPr lang="en-US" altLang="zh-CN" dirty="0"/>
              <a:t>) </a:t>
            </a:r>
            <a:r>
              <a:rPr lang="en-US" altLang="zh-CN" dirty="0">
                <a:sym typeface="Symbol" panose="05050102010706020507" pitchFamily="18" charset="2"/>
              </a:rPr>
              <a:t> </a:t>
            </a:r>
            <a:r>
              <a:rPr lang="en-US" altLang="zh-CN" i="1" dirty="0"/>
              <a:t>f</a:t>
            </a:r>
            <a:r>
              <a:rPr lang="en-US" altLang="zh-CN" dirty="0"/>
              <a:t>(</a:t>
            </a:r>
            <a:r>
              <a:rPr lang="en-US" altLang="zh-CN" i="1" dirty="0"/>
              <a:t>n</a:t>
            </a:r>
            <a:r>
              <a:rPr lang="en-US" altLang="zh-CN" dirty="0"/>
              <a:t>) </a:t>
            </a:r>
          </a:p>
          <a:p>
            <a:pPr lvl="1" eaLnBrk="1" hangingPunct="1"/>
            <a:r>
              <a:rPr lang="zh-CN" altLang="en-US" dirty="0"/>
              <a:t>严格递增：若</a:t>
            </a:r>
            <a:r>
              <a:rPr lang="en-US" altLang="zh-CN" i="1" dirty="0"/>
              <a:t>m </a:t>
            </a:r>
            <a:r>
              <a:rPr lang="en-US" altLang="zh-CN" dirty="0"/>
              <a:t>&lt;</a:t>
            </a:r>
            <a:r>
              <a:rPr lang="en-US" altLang="zh-CN" i="1" dirty="0"/>
              <a:t> n</a:t>
            </a:r>
            <a:r>
              <a:rPr lang="zh-CN" altLang="en-US" dirty="0"/>
              <a:t>蕴含</a:t>
            </a:r>
            <a:r>
              <a:rPr lang="en-US" altLang="zh-CN" i="1" dirty="0"/>
              <a:t>f</a:t>
            </a:r>
            <a:r>
              <a:rPr lang="en-US" altLang="zh-CN" dirty="0"/>
              <a:t>(</a:t>
            </a:r>
            <a:r>
              <a:rPr lang="en-US" altLang="zh-CN" i="1" dirty="0"/>
              <a:t>m</a:t>
            </a:r>
            <a:r>
              <a:rPr lang="en-US" altLang="zh-CN" dirty="0"/>
              <a:t>) &lt; </a:t>
            </a:r>
            <a:r>
              <a:rPr lang="en-US" altLang="zh-CN" i="1" dirty="0"/>
              <a:t>f</a:t>
            </a:r>
            <a:r>
              <a:rPr lang="en-US" altLang="zh-CN" dirty="0"/>
              <a:t>(</a:t>
            </a:r>
            <a:r>
              <a:rPr lang="en-US" altLang="zh-CN" i="1" dirty="0"/>
              <a:t>n</a:t>
            </a:r>
            <a:r>
              <a:rPr lang="en-US" altLang="zh-CN" dirty="0"/>
              <a:t>) </a:t>
            </a:r>
          </a:p>
          <a:p>
            <a:pPr lvl="1" eaLnBrk="1" hangingPunct="1"/>
            <a:r>
              <a:rPr lang="zh-CN" altLang="en-US" dirty="0"/>
              <a:t>严格递减：若</a:t>
            </a:r>
            <a:r>
              <a:rPr lang="en-US" altLang="zh-CN" i="1" dirty="0"/>
              <a:t>m </a:t>
            </a:r>
            <a:r>
              <a:rPr lang="en-US" altLang="zh-CN" dirty="0"/>
              <a:t>&lt;</a:t>
            </a:r>
            <a:r>
              <a:rPr lang="en-US" altLang="zh-CN" i="1" dirty="0"/>
              <a:t> n</a:t>
            </a:r>
            <a:r>
              <a:rPr lang="zh-CN" altLang="en-US" dirty="0"/>
              <a:t>蕴含</a:t>
            </a:r>
            <a:r>
              <a:rPr lang="en-US" altLang="zh-CN" i="1" dirty="0"/>
              <a:t>f</a:t>
            </a:r>
            <a:r>
              <a:rPr lang="en-US" altLang="zh-CN" dirty="0"/>
              <a:t>(</a:t>
            </a:r>
            <a:r>
              <a:rPr lang="en-US" altLang="zh-CN" i="1" dirty="0"/>
              <a:t>m</a:t>
            </a:r>
            <a:r>
              <a:rPr lang="en-US" altLang="zh-CN" dirty="0"/>
              <a:t>) &gt; </a:t>
            </a:r>
            <a:r>
              <a:rPr lang="en-US" altLang="zh-CN" i="1" dirty="0"/>
              <a:t>f</a:t>
            </a:r>
            <a:r>
              <a:rPr lang="en-US" altLang="zh-CN" dirty="0"/>
              <a:t>(</a:t>
            </a:r>
            <a:r>
              <a:rPr lang="en-US" altLang="zh-CN" i="1" dirty="0"/>
              <a:t>n</a:t>
            </a:r>
            <a:r>
              <a:rPr lang="en-US" altLang="zh-CN" dirty="0"/>
              <a:t>) </a:t>
            </a:r>
          </a:p>
        </p:txBody>
      </p:sp>
    </p:spTree>
    <p:extLst>
      <p:ext uri="{BB962C8B-B14F-4D97-AF65-F5344CB8AC3E}">
        <p14:creationId xmlns:p14="http://schemas.microsoft.com/office/powerpoint/2010/main" val="420157013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1" name="Rectangle 2"/>
          <p:cNvSpPr>
            <a:spLocks noGrp="1" noChangeArrowheads="1"/>
          </p:cNvSpPr>
          <p:nvPr>
            <p:ph type="title"/>
          </p:nvPr>
        </p:nvSpPr>
        <p:spPr>
          <a:xfrm>
            <a:off x="381000" y="0"/>
            <a:ext cx="8229600" cy="954088"/>
          </a:xfrm>
        </p:spPr>
        <p:txBody>
          <a:bodyPr/>
          <a:lstStyle/>
          <a:p>
            <a:pPr eaLnBrk="1" hangingPunct="1"/>
            <a:r>
              <a:rPr lang="en-US" altLang="zh-CN" dirty="0"/>
              <a:t>1.3 </a:t>
            </a:r>
            <a:r>
              <a:rPr lang="zh-CN" altLang="en-US" dirty="0"/>
              <a:t>渐近记号 </a:t>
            </a:r>
            <a:r>
              <a:rPr lang="en-US" altLang="zh-CN" dirty="0"/>
              <a:t>— </a:t>
            </a:r>
            <a:r>
              <a:rPr lang="zh-CN" altLang="en-US" dirty="0">
                <a:sym typeface="Symbol" panose="05050102010706020507" pitchFamily="18" charset="2"/>
              </a:rPr>
              <a:t>性质 </a:t>
            </a:r>
            <a:r>
              <a:rPr lang="en-US" altLang="zh-CN" dirty="0"/>
              <a:t>(4)</a:t>
            </a:r>
            <a:endParaRPr lang="zh-CN" altLang="en-US" dirty="0"/>
          </a:p>
        </p:txBody>
      </p:sp>
      <p:sp>
        <p:nvSpPr>
          <p:cNvPr id="14342" name="Rectangle 3"/>
          <p:cNvSpPr>
            <a:spLocks noGrp="1" noChangeArrowheads="1"/>
          </p:cNvSpPr>
          <p:nvPr>
            <p:ph idx="1"/>
          </p:nvPr>
        </p:nvSpPr>
        <p:spPr>
          <a:xfrm>
            <a:off x="468313" y="1444764"/>
            <a:ext cx="8496300" cy="4530725"/>
          </a:xfrm>
          <a:prstGeom prst="rect">
            <a:avLst/>
          </a:prstGeom>
        </p:spPr>
        <p:txBody>
          <a:bodyPr/>
          <a:lstStyle/>
          <a:p>
            <a:pPr eaLnBrk="1" hangingPunct="1">
              <a:lnSpc>
                <a:spcPct val="120000"/>
              </a:lnSpc>
              <a:spcBef>
                <a:spcPts val="600"/>
              </a:spcBef>
            </a:pPr>
            <a:r>
              <a:rPr lang="zh-CN" altLang="en-US" dirty="0"/>
              <a:t>定理 如果</a:t>
            </a:r>
            <a:r>
              <a:rPr lang="en-US" altLang="zh-CN" i="1" dirty="0"/>
              <a:t>t</a:t>
            </a:r>
            <a:r>
              <a:rPr lang="en-US" altLang="zh-CN" baseline="-25000" dirty="0"/>
              <a:t>1</a:t>
            </a:r>
            <a:r>
              <a:rPr lang="en-US" altLang="zh-CN" dirty="0"/>
              <a:t>(</a:t>
            </a:r>
            <a:r>
              <a:rPr lang="en-US" altLang="zh-CN" i="1" dirty="0"/>
              <a:t>n</a:t>
            </a:r>
            <a:r>
              <a:rPr lang="en-US" altLang="zh-CN" dirty="0"/>
              <a:t>)</a:t>
            </a:r>
            <a:r>
              <a:rPr lang="en-US" altLang="zh-CN" i="1" dirty="0"/>
              <a:t> </a:t>
            </a:r>
            <a:r>
              <a:rPr lang="en-US" altLang="en-US" dirty="0"/>
              <a:t>∈</a:t>
            </a:r>
            <a:r>
              <a:rPr lang="en-US" altLang="zh-CN" i="1" dirty="0"/>
              <a:t>O</a:t>
            </a:r>
            <a:r>
              <a:rPr lang="en-US" altLang="zh-CN" dirty="0"/>
              <a:t>(</a:t>
            </a:r>
            <a:r>
              <a:rPr lang="en-US" altLang="zh-CN" i="1" dirty="0"/>
              <a:t>g</a:t>
            </a:r>
            <a:r>
              <a:rPr lang="en-US" altLang="zh-CN" baseline="-25000" dirty="0"/>
              <a:t>1</a:t>
            </a:r>
            <a:r>
              <a:rPr lang="en-US" altLang="zh-CN" dirty="0"/>
              <a:t>(</a:t>
            </a:r>
            <a:r>
              <a:rPr lang="en-US" altLang="zh-CN" i="1" dirty="0"/>
              <a:t>n</a:t>
            </a:r>
            <a:r>
              <a:rPr lang="en-US" altLang="zh-CN" dirty="0"/>
              <a:t>))</a:t>
            </a:r>
            <a:r>
              <a:rPr lang="zh-CN" altLang="en-US" dirty="0"/>
              <a:t>并且</a:t>
            </a:r>
            <a:r>
              <a:rPr lang="en-US" altLang="zh-CN" i="1" dirty="0"/>
              <a:t>t</a:t>
            </a:r>
            <a:r>
              <a:rPr lang="en-US" altLang="zh-CN" baseline="-25000" dirty="0"/>
              <a:t>2</a:t>
            </a:r>
            <a:r>
              <a:rPr lang="en-US" altLang="zh-CN" dirty="0"/>
              <a:t>(</a:t>
            </a:r>
            <a:r>
              <a:rPr lang="en-US" altLang="zh-CN" i="1" dirty="0"/>
              <a:t>n</a:t>
            </a:r>
            <a:r>
              <a:rPr lang="en-US" altLang="zh-CN" dirty="0"/>
              <a:t>)</a:t>
            </a:r>
            <a:r>
              <a:rPr lang="en-US" altLang="zh-CN" i="1" dirty="0"/>
              <a:t> </a:t>
            </a:r>
            <a:r>
              <a:rPr lang="en-US" altLang="en-US" dirty="0"/>
              <a:t>∈</a:t>
            </a:r>
            <a:r>
              <a:rPr lang="en-US" altLang="zh-CN" i="1" dirty="0"/>
              <a:t>O</a:t>
            </a:r>
            <a:r>
              <a:rPr lang="en-US" altLang="zh-CN" dirty="0"/>
              <a:t>(</a:t>
            </a:r>
            <a:r>
              <a:rPr lang="en-US" altLang="zh-CN" i="1" dirty="0"/>
              <a:t>g</a:t>
            </a:r>
            <a:r>
              <a:rPr lang="en-US" altLang="zh-CN" baseline="-25000" dirty="0"/>
              <a:t>2</a:t>
            </a:r>
            <a:r>
              <a:rPr lang="en-US" altLang="zh-CN" dirty="0"/>
              <a:t>(</a:t>
            </a:r>
            <a:r>
              <a:rPr lang="en-US" altLang="zh-CN" i="1" dirty="0"/>
              <a:t>n</a:t>
            </a:r>
            <a:r>
              <a:rPr lang="en-US" altLang="zh-CN" dirty="0"/>
              <a:t>))</a:t>
            </a:r>
            <a:r>
              <a:rPr lang="zh-CN" altLang="en-US" dirty="0"/>
              <a:t>，则</a:t>
            </a:r>
          </a:p>
          <a:p>
            <a:pPr eaLnBrk="1" hangingPunct="1">
              <a:lnSpc>
                <a:spcPct val="120000"/>
              </a:lnSpc>
              <a:spcBef>
                <a:spcPts val="600"/>
              </a:spcBef>
              <a:buFont typeface="Wingdings" panose="05000000000000000000" pitchFamily="2" charset="2"/>
              <a:buNone/>
            </a:pPr>
            <a:r>
              <a:rPr lang="zh-CN" altLang="en-US" i="1" dirty="0">
                <a:solidFill>
                  <a:srgbClr val="FF0000"/>
                </a:solidFill>
              </a:rPr>
              <a:t>        </a:t>
            </a:r>
            <a:r>
              <a:rPr lang="en-US" altLang="zh-CN" b="1" i="1" dirty="0">
                <a:solidFill>
                  <a:srgbClr val="FF0000"/>
                </a:solidFill>
              </a:rPr>
              <a:t>t</a:t>
            </a:r>
            <a:r>
              <a:rPr lang="en-US" altLang="zh-CN" b="1" baseline="-25000" dirty="0">
                <a:solidFill>
                  <a:srgbClr val="FF0000"/>
                </a:solidFill>
              </a:rPr>
              <a:t>1</a:t>
            </a:r>
            <a:r>
              <a:rPr lang="en-US" altLang="zh-CN" b="1" dirty="0">
                <a:solidFill>
                  <a:srgbClr val="FF0000"/>
                </a:solidFill>
              </a:rPr>
              <a:t>(</a:t>
            </a:r>
            <a:r>
              <a:rPr lang="en-US" altLang="zh-CN" b="1" i="1" dirty="0">
                <a:solidFill>
                  <a:srgbClr val="FF0000"/>
                </a:solidFill>
              </a:rPr>
              <a:t>n</a:t>
            </a:r>
            <a:r>
              <a:rPr lang="en-US" altLang="zh-CN" b="1" dirty="0">
                <a:solidFill>
                  <a:srgbClr val="FF0000"/>
                </a:solidFill>
              </a:rPr>
              <a:t>) </a:t>
            </a:r>
            <a:r>
              <a:rPr lang="en-US" altLang="zh-CN" b="1" i="1" dirty="0">
                <a:solidFill>
                  <a:srgbClr val="FF0000"/>
                </a:solidFill>
              </a:rPr>
              <a:t>+ t</a:t>
            </a:r>
            <a:r>
              <a:rPr lang="en-US" altLang="zh-CN" b="1" baseline="-25000" dirty="0">
                <a:solidFill>
                  <a:srgbClr val="FF0000"/>
                </a:solidFill>
              </a:rPr>
              <a:t>2</a:t>
            </a:r>
            <a:r>
              <a:rPr lang="en-US" altLang="zh-CN" b="1" dirty="0">
                <a:solidFill>
                  <a:srgbClr val="FF0000"/>
                </a:solidFill>
              </a:rPr>
              <a:t>(</a:t>
            </a:r>
            <a:r>
              <a:rPr lang="en-US" altLang="zh-CN" b="1" i="1" dirty="0">
                <a:solidFill>
                  <a:srgbClr val="FF0000"/>
                </a:solidFill>
              </a:rPr>
              <a:t>n</a:t>
            </a:r>
            <a:r>
              <a:rPr lang="en-US" altLang="zh-CN" b="1" dirty="0">
                <a:solidFill>
                  <a:srgbClr val="FF0000"/>
                </a:solidFill>
              </a:rPr>
              <a:t>)</a:t>
            </a:r>
            <a:r>
              <a:rPr lang="en-US" altLang="zh-CN" b="1" i="1" dirty="0">
                <a:solidFill>
                  <a:srgbClr val="FF0000"/>
                </a:solidFill>
              </a:rPr>
              <a:t> </a:t>
            </a:r>
            <a:r>
              <a:rPr lang="en-US" altLang="en-US" b="1" i="1" dirty="0">
                <a:solidFill>
                  <a:srgbClr val="FF0000"/>
                </a:solidFill>
              </a:rPr>
              <a:t>∈ </a:t>
            </a:r>
            <a:r>
              <a:rPr lang="en-US" altLang="zh-CN" b="1" i="1" dirty="0">
                <a:solidFill>
                  <a:srgbClr val="FF0000"/>
                </a:solidFill>
              </a:rPr>
              <a:t>O</a:t>
            </a:r>
            <a:r>
              <a:rPr lang="en-US" altLang="zh-CN" b="1" dirty="0">
                <a:solidFill>
                  <a:srgbClr val="FF0000"/>
                </a:solidFill>
              </a:rPr>
              <a:t>(</a:t>
            </a:r>
            <a:r>
              <a:rPr lang="en-US" altLang="zh-CN" b="1" i="1" dirty="0">
                <a:solidFill>
                  <a:srgbClr val="FF0000"/>
                </a:solidFill>
              </a:rPr>
              <a:t>max</a:t>
            </a:r>
            <a:r>
              <a:rPr lang="en-US" altLang="zh-CN" b="1" dirty="0">
                <a:solidFill>
                  <a:srgbClr val="FF0000"/>
                </a:solidFill>
              </a:rPr>
              <a:t>{(</a:t>
            </a:r>
            <a:r>
              <a:rPr lang="en-US" altLang="zh-CN" b="1" i="1" dirty="0">
                <a:solidFill>
                  <a:srgbClr val="FF0000"/>
                </a:solidFill>
              </a:rPr>
              <a:t>g</a:t>
            </a:r>
            <a:r>
              <a:rPr lang="en-US" altLang="zh-CN" b="1" baseline="-25000" dirty="0">
                <a:solidFill>
                  <a:srgbClr val="FF0000"/>
                </a:solidFill>
              </a:rPr>
              <a:t>1</a:t>
            </a:r>
            <a:r>
              <a:rPr lang="en-US" altLang="zh-CN" b="1" dirty="0">
                <a:solidFill>
                  <a:srgbClr val="FF0000"/>
                </a:solidFill>
              </a:rPr>
              <a:t>(</a:t>
            </a:r>
            <a:r>
              <a:rPr lang="en-US" altLang="zh-CN" b="1" i="1" dirty="0">
                <a:solidFill>
                  <a:srgbClr val="FF0000"/>
                </a:solidFill>
              </a:rPr>
              <a:t>n</a:t>
            </a:r>
            <a:r>
              <a:rPr lang="en-US" altLang="zh-CN" b="1" dirty="0">
                <a:solidFill>
                  <a:srgbClr val="FF0000"/>
                </a:solidFill>
              </a:rPr>
              <a:t>)</a:t>
            </a:r>
            <a:r>
              <a:rPr lang="en-US" altLang="zh-CN" b="1" i="1" dirty="0">
                <a:solidFill>
                  <a:srgbClr val="FF0000"/>
                </a:solidFill>
              </a:rPr>
              <a:t>, g</a:t>
            </a:r>
            <a:r>
              <a:rPr lang="en-US" altLang="zh-CN" b="1" baseline="-25000" dirty="0">
                <a:solidFill>
                  <a:srgbClr val="FF0000"/>
                </a:solidFill>
              </a:rPr>
              <a:t>2</a:t>
            </a:r>
            <a:r>
              <a:rPr lang="en-US" altLang="zh-CN" b="1" dirty="0">
                <a:solidFill>
                  <a:srgbClr val="FF0000"/>
                </a:solidFill>
              </a:rPr>
              <a:t>(</a:t>
            </a:r>
            <a:r>
              <a:rPr lang="en-US" altLang="zh-CN" b="1" i="1" dirty="0">
                <a:solidFill>
                  <a:srgbClr val="FF0000"/>
                </a:solidFill>
              </a:rPr>
              <a:t>n</a:t>
            </a:r>
            <a:r>
              <a:rPr lang="en-US" altLang="zh-CN" b="1" dirty="0">
                <a:solidFill>
                  <a:srgbClr val="FF0000"/>
                </a:solidFill>
              </a:rPr>
              <a:t>)})</a:t>
            </a:r>
            <a:endParaRPr lang="en-US" altLang="zh-CN" b="1" dirty="0"/>
          </a:p>
          <a:p>
            <a:pPr eaLnBrk="1" hangingPunct="1">
              <a:lnSpc>
                <a:spcPct val="120000"/>
              </a:lnSpc>
              <a:spcBef>
                <a:spcPts val="600"/>
              </a:spcBef>
            </a:pPr>
            <a:r>
              <a:rPr lang="zh-CN" altLang="en-US" dirty="0"/>
              <a:t>对于符号</a:t>
            </a:r>
            <a:r>
              <a:rPr lang="en-US" altLang="zh-CN" dirty="0"/>
              <a:t>Ω</a:t>
            </a:r>
            <a:r>
              <a:rPr lang="zh-CN" altLang="en-US" dirty="0"/>
              <a:t>和</a:t>
            </a:r>
            <a:r>
              <a:rPr lang="en-US" altLang="zh-CN" dirty="0"/>
              <a:t>Θ</a:t>
            </a:r>
            <a:r>
              <a:rPr lang="zh-CN" altLang="en-US" dirty="0"/>
              <a:t>，该定理也成立。</a:t>
            </a:r>
          </a:p>
          <a:p>
            <a:pPr eaLnBrk="1" hangingPunct="1">
              <a:lnSpc>
                <a:spcPct val="120000"/>
              </a:lnSpc>
              <a:spcBef>
                <a:spcPts val="600"/>
              </a:spcBef>
            </a:pPr>
            <a:r>
              <a:rPr lang="zh-CN" altLang="en-US" dirty="0"/>
              <a:t>该定理表明：</a:t>
            </a:r>
            <a:r>
              <a:rPr lang="zh-CN" altLang="en-US" b="1" dirty="0">
                <a:solidFill>
                  <a:srgbClr val="0000CC"/>
                </a:solidFill>
                <a:latin typeface="宋体" panose="02010600030101010101" pitchFamily="2" charset="-122"/>
                <a:ea typeface="宋体" panose="02010600030101010101" pitchFamily="2" charset="-122"/>
              </a:rPr>
              <a:t>当算法由两个连续执行部分组成时，该算法的整体效率由具有较大增长次数的那部分所决定，即效率较差的部分决定</a:t>
            </a:r>
          </a:p>
        </p:txBody>
      </p:sp>
      <p:sp>
        <p:nvSpPr>
          <p:cNvPr id="14345" name="Text Box 9"/>
          <p:cNvSpPr txBox="1">
            <a:spLocks noChangeArrowheads="1"/>
          </p:cNvSpPr>
          <p:nvPr/>
        </p:nvSpPr>
        <p:spPr bwMode="auto">
          <a:xfrm>
            <a:off x="533400" y="4724400"/>
            <a:ext cx="7993062" cy="116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spcBef>
                <a:spcPct val="50000"/>
              </a:spcBef>
            </a:pPr>
            <a:r>
              <a:rPr kumimoji="1" lang="zh-CN" altLang="en-US" sz="2800" u="none" dirty="0">
                <a:solidFill>
                  <a:schemeClr val="tx2"/>
                </a:solidFill>
                <a:latin typeface="Times New Roman" panose="02020603050405020304" pitchFamily="18" charset="0"/>
              </a:rPr>
              <a:t>例子： </a:t>
            </a:r>
            <a:r>
              <a:rPr kumimoji="1" lang="en-US" altLang="zh-CN" sz="2800" u="none" dirty="0">
                <a:latin typeface="Times New Roman" panose="02020603050405020304" pitchFamily="18" charset="0"/>
              </a:rPr>
              <a:t>0.5(</a:t>
            </a:r>
            <a:r>
              <a:rPr kumimoji="1" lang="en-US" altLang="zh-CN" sz="2800" i="1" u="none" dirty="0">
                <a:latin typeface="Times New Roman" panose="02020603050405020304" pitchFamily="18" charset="0"/>
              </a:rPr>
              <a:t>n</a:t>
            </a:r>
            <a:r>
              <a:rPr kumimoji="1" lang="en-US" altLang="zh-CN" sz="2800" u="none" dirty="0">
                <a:latin typeface="Times New Roman" panose="02020603050405020304" pitchFamily="18" charset="0"/>
              </a:rPr>
              <a:t>(</a:t>
            </a:r>
            <a:r>
              <a:rPr kumimoji="1" lang="en-US" altLang="zh-CN" sz="2800" i="1" u="none" dirty="0">
                <a:latin typeface="Times New Roman" panose="02020603050405020304" pitchFamily="18" charset="0"/>
              </a:rPr>
              <a:t>n</a:t>
            </a:r>
            <a:r>
              <a:rPr kumimoji="1" lang="en-US" altLang="zh-CN" sz="2800" u="none" dirty="0">
                <a:latin typeface="Times New Roman" panose="02020603050405020304" pitchFamily="18" charset="0"/>
              </a:rPr>
              <a:t>-1)) ∈O(</a:t>
            </a:r>
            <a:r>
              <a:rPr kumimoji="1" lang="en-US" altLang="zh-CN" sz="2800" i="1" u="none" dirty="0">
                <a:latin typeface="Times New Roman" panose="02020603050405020304" pitchFamily="18" charset="0"/>
              </a:rPr>
              <a:t>n</a:t>
            </a:r>
            <a:r>
              <a:rPr kumimoji="1" lang="en-US" altLang="zh-CN" sz="2800" u="none" baseline="30000" dirty="0">
                <a:latin typeface="Times New Roman" panose="02020603050405020304" pitchFamily="18" charset="0"/>
              </a:rPr>
              <a:t>2</a:t>
            </a:r>
            <a:r>
              <a:rPr kumimoji="1" lang="en-US" altLang="zh-CN" sz="2800" u="none" dirty="0">
                <a:latin typeface="Times New Roman" panose="02020603050405020304" pitchFamily="18" charset="0"/>
              </a:rPr>
              <a:t>)</a:t>
            </a:r>
            <a:r>
              <a:rPr kumimoji="1" lang="zh-CN" altLang="en-US" sz="2800" u="none" dirty="0">
                <a:latin typeface="Times New Roman" panose="02020603050405020304" pitchFamily="18" charset="0"/>
              </a:rPr>
              <a:t>；</a:t>
            </a:r>
          </a:p>
          <a:p>
            <a:pPr eaLnBrk="0" hangingPunct="0">
              <a:spcBef>
                <a:spcPct val="50000"/>
              </a:spcBef>
            </a:pPr>
            <a:r>
              <a:rPr kumimoji="1" lang="en-US" altLang="zh-CN" sz="2800" u="none" dirty="0">
                <a:latin typeface="Times New Roman" panose="02020603050405020304" pitchFamily="18" charset="0"/>
              </a:rPr>
              <a:t>             0.5(</a:t>
            </a:r>
            <a:r>
              <a:rPr kumimoji="1" lang="en-US" altLang="zh-CN" sz="2800" i="1" u="none" dirty="0">
                <a:latin typeface="Times New Roman" panose="02020603050405020304" pitchFamily="18" charset="0"/>
              </a:rPr>
              <a:t>n</a:t>
            </a:r>
            <a:r>
              <a:rPr kumimoji="1" lang="en-US" altLang="zh-CN" sz="2800" u="none" dirty="0">
                <a:latin typeface="Times New Roman" panose="02020603050405020304" pitchFamily="18" charset="0"/>
              </a:rPr>
              <a:t>(</a:t>
            </a:r>
            <a:r>
              <a:rPr kumimoji="1" lang="en-US" altLang="zh-CN" sz="2800" i="1" u="none" dirty="0">
                <a:latin typeface="Times New Roman" panose="02020603050405020304" pitchFamily="18" charset="0"/>
              </a:rPr>
              <a:t>n</a:t>
            </a:r>
            <a:r>
              <a:rPr kumimoji="1" lang="en-US" altLang="zh-CN" sz="2800" u="none" dirty="0">
                <a:latin typeface="Times New Roman" panose="02020603050405020304" pitchFamily="18" charset="0"/>
              </a:rPr>
              <a:t>-1)) = 0.5</a:t>
            </a:r>
            <a:r>
              <a:rPr kumimoji="1" lang="en-US" altLang="zh-CN" sz="2800" i="1" u="none" dirty="0">
                <a:latin typeface="Times New Roman" panose="02020603050405020304" pitchFamily="18" charset="0"/>
              </a:rPr>
              <a:t>n</a:t>
            </a:r>
            <a:r>
              <a:rPr kumimoji="1" lang="en-US" altLang="zh-CN" sz="2800" u="none" baseline="30000" dirty="0">
                <a:latin typeface="Times New Roman" panose="02020603050405020304" pitchFamily="18" charset="0"/>
              </a:rPr>
              <a:t>2 </a:t>
            </a:r>
            <a:r>
              <a:rPr kumimoji="1" lang="en-US" altLang="zh-CN" sz="2800" u="none" dirty="0">
                <a:latin typeface="Times New Roman" panose="02020603050405020304" pitchFamily="18" charset="0"/>
              </a:rPr>
              <a:t>- 0.5</a:t>
            </a:r>
            <a:r>
              <a:rPr kumimoji="1" lang="en-US" altLang="zh-CN" sz="2800" i="1" u="none" dirty="0">
                <a:latin typeface="Times New Roman" panose="02020603050405020304" pitchFamily="18" charset="0"/>
              </a:rPr>
              <a:t>n</a:t>
            </a:r>
            <a:r>
              <a:rPr kumimoji="1" lang="zh-CN" altLang="en-US" sz="2800" u="none" dirty="0">
                <a:latin typeface="Times New Roman" panose="02020603050405020304" pitchFamily="18" charset="0"/>
              </a:rPr>
              <a:t>；</a:t>
            </a:r>
            <a:r>
              <a:rPr kumimoji="1" lang="en-US" altLang="zh-CN" sz="2800" u="none" dirty="0">
                <a:latin typeface="Times New Roman" panose="02020603050405020304" pitchFamily="18" charset="0"/>
              </a:rPr>
              <a:t>0.5</a:t>
            </a:r>
            <a:r>
              <a:rPr kumimoji="1" lang="en-US" altLang="zh-CN" sz="2800" i="1" u="none" dirty="0">
                <a:latin typeface="Times New Roman" panose="02020603050405020304" pitchFamily="18" charset="0"/>
              </a:rPr>
              <a:t>n</a:t>
            </a:r>
            <a:r>
              <a:rPr kumimoji="1" lang="en-US" altLang="zh-CN" sz="2800" u="none" baseline="30000" dirty="0">
                <a:latin typeface="Times New Roman" panose="02020603050405020304" pitchFamily="18" charset="0"/>
              </a:rPr>
              <a:t>2</a:t>
            </a:r>
            <a:r>
              <a:rPr kumimoji="1" lang="en-US" altLang="zh-CN" sz="2800" u="none" dirty="0">
                <a:latin typeface="Times New Roman" panose="02020603050405020304" pitchFamily="18" charset="0"/>
              </a:rPr>
              <a:t> ∈O(</a:t>
            </a:r>
            <a:r>
              <a:rPr kumimoji="1" lang="en-US" altLang="zh-CN" sz="2800" i="1" u="none" dirty="0">
                <a:latin typeface="Times New Roman" panose="02020603050405020304" pitchFamily="18" charset="0"/>
              </a:rPr>
              <a:t>n</a:t>
            </a:r>
            <a:r>
              <a:rPr kumimoji="1" lang="en-US" altLang="zh-CN" sz="2800" u="none" baseline="30000" dirty="0">
                <a:latin typeface="Times New Roman" panose="02020603050405020304" pitchFamily="18" charset="0"/>
              </a:rPr>
              <a:t>2</a:t>
            </a:r>
            <a:r>
              <a:rPr kumimoji="1" lang="en-US" altLang="zh-CN" sz="2800" u="none" dirty="0">
                <a:latin typeface="Times New Roman" panose="02020603050405020304" pitchFamily="18" charset="0"/>
              </a:rPr>
              <a:t>)</a:t>
            </a:r>
          </a:p>
        </p:txBody>
      </p:sp>
    </p:spTree>
    <p:extLst>
      <p:ext uri="{BB962C8B-B14F-4D97-AF65-F5344CB8AC3E}">
        <p14:creationId xmlns:p14="http://schemas.microsoft.com/office/powerpoint/2010/main" val="38381459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609600" y="152400"/>
            <a:ext cx="7772400" cy="685800"/>
          </a:xfrm>
        </p:spPr>
        <p:txBody>
          <a:bodyPr/>
          <a:lstStyle/>
          <a:p>
            <a:pPr eaLnBrk="1" hangingPunct="1"/>
            <a:r>
              <a:rPr lang="en-US" altLang="zh-CN" dirty="0"/>
              <a:t>1.3 </a:t>
            </a:r>
            <a:r>
              <a:rPr lang="zh-CN" altLang="en-US" dirty="0"/>
              <a:t>渐近记号 </a:t>
            </a:r>
            <a:r>
              <a:rPr lang="en-US" altLang="zh-CN" dirty="0"/>
              <a:t>— </a:t>
            </a:r>
            <a:r>
              <a:rPr lang="zh-CN" altLang="en-US" sz="3200" dirty="0"/>
              <a:t>常用函数 </a:t>
            </a:r>
            <a:r>
              <a:rPr lang="en-US" altLang="zh-CN" dirty="0"/>
              <a:t>(1)</a:t>
            </a:r>
            <a:endParaRPr lang="zh-CN" altLang="en-US" sz="3600" dirty="0">
              <a:sym typeface="Symbol" panose="05050102010706020507" pitchFamily="18" charset="2"/>
            </a:endParaRPr>
          </a:p>
        </p:txBody>
      </p:sp>
      <p:sp>
        <p:nvSpPr>
          <p:cNvPr id="24579" name="Rectangle 3"/>
          <p:cNvSpPr>
            <a:spLocks noGrp="1" noChangeArrowheads="1"/>
          </p:cNvSpPr>
          <p:nvPr>
            <p:ph idx="1"/>
          </p:nvPr>
        </p:nvSpPr>
        <p:spPr>
          <a:xfrm>
            <a:off x="381000" y="1371600"/>
            <a:ext cx="8534400" cy="5257800"/>
          </a:xfrm>
          <a:prstGeom prst="rect">
            <a:avLst/>
          </a:prstGeom>
        </p:spPr>
        <p:txBody>
          <a:bodyPr>
            <a:normAutofit/>
          </a:bodyPr>
          <a:lstStyle/>
          <a:p>
            <a:pPr marL="0" indent="0" eaLnBrk="1" hangingPunct="1">
              <a:lnSpc>
                <a:spcPct val="125000"/>
              </a:lnSpc>
              <a:spcBef>
                <a:spcPts val="600"/>
              </a:spcBef>
              <a:buNone/>
            </a:pPr>
            <a:r>
              <a:rPr lang="zh-CN" altLang="en-US" dirty="0">
                <a:solidFill>
                  <a:srgbClr val="0000CC"/>
                </a:solidFill>
                <a:latin typeface="黑体" panose="02010609060101010101" pitchFamily="49" charset="-122"/>
                <a:ea typeface="黑体" panose="02010609060101010101" pitchFamily="49" charset="-122"/>
              </a:rPr>
              <a:t>多项式：</a:t>
            </a:r>
          </a:p>
          <a:p>
            <a:pPr eaLnBrk="1" hangingPunct="1">
              <a:lnSpc>
                <a:spcPct val="120000"/>
              </a:lnSpc>
              <a:spcBef>
                <a:spcPts val="600"/>
              </a:spcBef>
            </a:pPr>
            <a:r>
              <a:rPr lang="zh-CN" altLang="en-US" sz="2400" dirty="0">
                <a:latin typeface="Times New Roman" panose="02020603050405020304" pitchFamily="18" charset="0"/>
                <a:ea typeface="宋体" panose="02010600030101010101" pitchFamily="2" charset="-122"/>
              </a:rPr>
              <a:t>给定一个非负整数</a:t>
            </a:r>
            <a:r>
              <a:rPr lang="en-US" altLang="zh-CN" sz="2400" i="1" dirty="0">
                <a:latin typeface="Times New Roman" panose="02020603050405020304" pitchFamily="18" charset="0"/>
                <a:ea typeface="宋体" panose="02010600030101010101" pitchFamily="2" charset="-122"/>
              </a:rPr>
              <a:t>d</a:t>
            </a:r>
            <a:r>
              <a:rPr lang="zh-CN" altLang="en-US"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n</a:t>
            </a:r>
            <a:r>
              <a:rPr lang="zh-CN" altLang="en-US" sz="2400" dirty="0">
                <a:latin typeface="Times New Roman" panose="02020603050405020304" pitchFamily="18" charset="0"/>
                <a:ea typeface="宋体" panose="02010600030101010101" pitchFamily="2" charset="-122"/>
              </a:rPr>
              <a:t>的</a:t>
            </a:r>
            <a:r>
              <a:rPr lang="en-US" altLang="zh-CN" sz="2400" i="1" dirty="0">
                <a:latin typeface="Times New Roman" panose="02020603050405020304" pitchFamily="18" charset="0"/>
                <a:ea typeface="宋体" panose="02010600030101010101" pitchFamily="2" charset="-122"/>
              </a:rPr>
              <a:t>d</a:t>
            </a:r>
            <a:r>
              <a:rPr lang="zh-CN" altLang="en-US" sz="2400" dirty="0">
                <a:latin typeface="Times New Roman" panose="02020603050405020304" pitchFamily="18" charset="0"/>
                <a:ea typeface="宋体" panose="02010600030101010101" pitchFamily="2" charset="-122"/>
              </a:rPr>
              <a:t>次多项式是具有如下形式的函数：</a:t>
            </a:r>
            <a:endParaRPr lang="en-US" altLang="zh-CN" sz="2400" dirty="0">
              <a:latin typeface="Times New Roman" panose="02020603050405020304" pitchFamily="18" charset="0"/>
              <a:ea typeface="宋体" panose="02010600030101010101" pitchFamily="2" charset="-122"/>
            </a:endParaRPr>
          </a:p>
          <a:p>
            <a:pPr eaLnBrk="1" hangingPunct="1">
              <a:lnSpc>
                <a:spcPct val="120000"/>
              </a:lnSpc>
              <a:spcBef>
                <a:spcPts val="600"/>
              </a:spcBef>
            </a:pPr>
            <a:endParaRPr lang="zh-CN" altLang="en-US" sz="2400" dirty="0">
              <a:latin typeface="Times New Roman" panose="02020603050405020304" pitchFamily="18" charset="0"/>
              <a:ea typeface="宋体" panose="02010600030101010101" pitchFamily="2" charset="-122"/>
            </a:endParaRPr>
          </a:p>
          <a:p>
            <a:pPr eaLnBrk="1" hangingPunct="1">
              <a:lnSpc>
                <a:spcPct val="120000"/>
              </a:lnSpc>
              <a:spcBef>
                <a:spcPts val="600"/>
              </a:spcBef>
              <a:buFont typeface="Wingdings" panose="05000000000000000000" pitchFamily="2" charset="2"/>
              <a:buNone/>
            </a:pPr>
            <a:r>
              <a:rPr lang="zh-CN" altLang="en-US" sz="2400" dirty="0">
                <a:latin typeface="Times New Roman" panose="02020603050405020304" pitchFamily="18" charset="0"/>
                <a:ea typeface="宋体" panose="02010600030101010101" pitchFamily="2" charset="-122"/>
              </a:rPr>
              <a:t>	</a:t>
            </a:r>
            <a:endParaRPr lang="en-US" altLang="zh-CN" sz="2400" dirty="0">
              <a:latin typeface="Times New Roman" panose="02020603050405020304" pitchFamily="18" charset="0"/>
              <a:ea typeface="宋体" panose="02010600030101010101" pitchFamily="2" charset="-122"/>
            </a:endParaRPr>
          </a:p>
          <a:p>
            <a:pPr eaLnBrk="1" hangingPunct="1">
              <a:lnSpc>
                <a:spcPct val="120000"/>
              </a:lnSpc>
              <a:spcBef>
                <a:spcPts val="600"/>
              </a:spcBef>
              <a:buFont typeface="Wingdings" panose="05000000000000000000" pitchFamily="2" charset="2"/>
              <a:buNone/>
            </a:pPr>
            <a:r>
              <a:rPr lang="en-US" altLang="zh-CN" sz="24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其中常量</a:t>
            </a:r>
            <a:r>
              <a:rPr lang="en-US" altLang="zh-CN" sz="2400" i="1" dirty="0" err="1">
                <a:latin typeface="Times New Roman" panose="02020603050405020304" pitchFamily="18" charset="0"/>
                <a:ea typeface="宋体" panose="02010600030101010101" pitchFamily="2" charset="-122"/>
              </a:rPr>
              <a:t>a</a:t>
            </a:r>
            <a:r>
              <a:rPr lang="en-US" altLang="zh-CN" sz="2400" i="1" baseline="-25000" dirty="0" err="1">
                <a:latin typeface="Times New Roman" panose="02020603050405020304" pitchFamily="18" charset="0"/>
                <a:ea typeface="宋体" panose="02010600030101010101" pitchFamily="2" charset="-122"/>
              </a:rPr>
              <a:t>i</a:t>
            </a:r>
            <a:r>
              <a:rPr lang="zh-CN" altLang="en-US" sz="2400" dirty="0">
                <a:latin typeface="Times New Roman" panose="02020603050405020304" pitchFamily="18" charset="0"/>
                <a:ea typeface="宋体" panose="02010600030101010101" pitchFamily="2" charset="-122"/>
              </a:rPr>
              <a:t>是多项式的系数且</a:t>
            </a:r>
            <a:r>
              <a:rPr lang="en-US" altLang="zh-CN" sz="2400" i="1" dirty="0">
                <a:latin typeface="Times New Roman" panose="02020603050405020304" pitchFamily="18" charset="0"/>
                <a:ea typeface="宋体" panose="02010600030101010101" pitchFamily="2" charset="-122"/>
              </a:rPr>
              <a:t>a</a:t>
            </a:r>
            <a:r>
              <a:rPr lang="en-US" altLang="zh-CN" sz="2400" i="1" baseline="-25000" dirty="0">
                <a:latin typeface="Times New Roman" panose="02020603050405020304" pitchFamily="18" charset="0"/>
                <a:ea typeface="宋体" panose="02010600030101010101" pitchFamily="2" charset="-122"/>
              </a:rPr>
              <a:t>d</a:t>
            </a:r>
            <a:r>
              <a:rPr lang="en-US" altLang="zh-CN" sz="2400" baseline="-250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 0</a:t>
            </a:r>
            <a:r>
              <a:rPr lang="zh-CN" altLang="en-US"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eaLnBrk="1" hangingPunct="1">
              <a:lnSpc>
                <a:spcPct val="120000"/>
              </a:lnSpc>
              <a:spcBef>
                <a:spcPts val="600"/>
              </a:spcBef>
            </a:pPr>
            <a:r>
              <a:rPr lang="zh-CN" altLang="en-US" sz="2400" dirty="0">
                <a:latin typeface="Times New Roman" panose="02020603050405020304" pitchFamily="18" charset="0"/>
                <a:ea typeface="宋体" panose="02010600030101010101" pitchFamily="2" charset="-122"/>
              </a:rPr>
              <a:t>一个多项式是渐近正的，当且仅当</a:t>
            </a:r>
            <a:r>
              <a:rPr lang="en-US" altLang="zh-CN" sz="2400" i="1" dirty="0">
                <a:latin typeface="Times New Roman" panose="02020603050405020304" pitchFamily="18" charset="0"/>
                <a:ea typeface="宋体" panose="02010600030101010101" pitchFamily="2" charset="-122"/>
              </a:rPr>
              <a:t>a</a:t>
            </a:r>
            <a:r>
              <a:rPr lang="en-US" altLang="zh-CN" sz="2400" i="1" baseline="-25000" dirty="0">
                <a:latin typeface="Times New Roman" panose="02020603050405020304" pitchFamily="18" charset="0"/>
                <a:ea typeface="宋体" panose="02010600030101010101" pitchFamily="2" charset="-122"/>
              </a:rPr>
              <a:t>d</a:t>
            </a:r>
            <a:r>
              <a:rPr lang="en-US" altLang="zh-CN" sz="2400" baseline="-250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rPr>
              <a:t>&gt; 0</a:t>
            </a:r>
          </a:p>
          <a:p>
            <a:pPr eaLnBrk="1" hangingPunct="1">
              <a:lnSpc>
                <a:spcPct val="120000"/>
              </a:lnSpc>
              <a:spcBef>
                <a:spcPts val="600"/>
              </a:spcBef>
            </a:pPr>
            <a:r>
              <a:rPr lang="zh-CN" altLang="en-US" sz="2400" dirty="0">
                <a:latin typeface="Times New Roman" panose="02020603050405020304" pitchFamily="18" charset="0"/>
                <a:ea typeface="宋体" panose="02010600030101010101" pitchFamily="2" charset="-122"/>
              </a:rPr>
              <a:t>对一个</a:t>
            </a:r>
            <a:r>
              <a:rPr lang="en-US" altLang="zh-CN" sz="2400" i="1" dirty="0">
                <a:latin typeface="Times New Roman" panose="02020603050405020304" pitchFamily="18" charset="0"/>
                <a:ea typeface="宋体" panose="02010600030101010101" pitchFamily="2" charset="-122"/>
              </a:rPr>
              <a:t>d</a:t>
            </a:r>
            <a:r>
              <a:rPr lang="zh-CN" altLang="en-US" sz="2400" dirty="0">
                <a:latin typeface="Times New Roman" panose="02020603050405020304" pitchFamily="18" charset="0"/>
                <a:ea typeface="宋体" panose="02010600030101010101" pitchFamily="2" charset="-122"/>
              </a:rPr>
              <a:t>次的渐近正多项式</a:t>
            </a:r>
            <a:r>
              <a:rPr lang="en-US" altLang="zh-CN" sz="2400" i="1" dirty="0">
                <a:latin typeface="Times New Roman" panose="02020603050405020304" pitchFamily="18" charset="0"/>
                <a:ea typeface="宋体" panose="02010600030101010101" pitchFamily="2" charset="-122"/>
              </a:rPr>
              <a:t>p</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n</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，有</a:t>
            </a:r>
            <a:r>
              <a:rPr lang="en-US" altLang="zh-CN" sz="2400" i="1" dirty="0">
                <a:latin typeface="Times New Roman" panose="02020603050405020304" pitchFamily="18" charset="0"/>
                <a:ea typeface="宋体" panose="02010600030101010101" pitchFamily="2" charset="-122"/>
              </a:rPr>
              <a:t>p</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n</a:t>
            </a:r>
            <a:r>
              <a:rPr lang="en-US" altLang="zh-CN" sz="2400" dirty="0">
                <a:latin typeface="Times New Roman" panose="02020603050405020304" pitchFamily="18" charset="0"/>
                <a:ea typeface="宋体" panose="02010600030101010101" pitchFamily="2" charset="-122"/>
              </a:rPr>
              <a:t>) = </a:t>
            </a: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r>
              <a:rPr lang="en-US" altLang="zh-CN" sz="2400" dirty="0">
                <a:latin typeface="Times New Roman" panose="02020603050405020304" pitchFamily="18" charset="0"/>
                <a:ea typeface="宋体" panose="02010600030101010101" pitchFamily="2" charset="-122"/>
              </a:rPr>
              <a:t>(</a:t>
            </a:r>
            <a:r>
              <a:rPr lang="en-US" altLang="zh-CN" sz="2400" i="1" dirty="0" err="1">
                <a:latin typeface="Times New Roman" panose="02020603050405020304" pitchFamily="18" charset="0"/>
                <a:ea typeface="宋体" panose="02010600030101010101" pitchFamily="2" charset="-122"/>
              </a:rPr>
              <a:t>n</a:t>
            </a:r>
            <a:r>
              <a:rPr lang="en-US" altLang="zh-CN" sz="2400" i="1" baseline="30000" dirty="0" err="1">
                <a:latin typeface="Times New Roman" panose="02020603050405020304" pitchFamily="18" charset="0"/>
                <a:ea typeface="宋体" panose="02010600030101010101" pitchFamily="2" charset="-122"/>
              </a:rPr>
              <a:t>d</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a:p>
            <a:pPr eaLnBrk="1" hangingPunct="1">
              <a:lnSpc>
                <a:spcPct val="120000"/>
              </a:lnSpc>
              <a:spcBef>
                <a:spcPts val="600"/>
              </a:spcBef>
            </a:pPr>
            <a:r>
              <a:rPr lang="zh-CN" altLang="en-US" sz="2400" dirty="0">
                <a:latin typeface="Times New Roman" panose="02020603050405020304" pitchFamily="18" charset="0"/>
                <a:ea typeface="宋体" panose="02010600030101010101" pitchFamily="2" charset="-122"/>
              </a:rPr>
              <a:t>对函数</a:t>
            </a:r>
            <a:r>
              <a:rPr lang="en-US" altLang="zh-CN" sz="2400" i="1" dirty="0" err="1">
                <a:latin typeface="Times New Roman" panose="02020603050405020304" pitchFamily="18" charset="0"/>
                <a:ea typeface="宋体" panose="02010600030101010101" pitchFamily="2" charset="-122"/>
              </a:rPr>
              <a:t>n</a:t>
            </a:r>
            <a:r>
              <a:rPr lang="en-US" altLang="zh-CN" sz="2400" i="1" baseline="30000" dirty="0" err="1">
                <a:latin typeface="Times New Roman" panose="02020603050405020304" pitchFamily="18" charset="0"/>
                <a:ea typeface="宋体" panose="02010600030101010101" pitchFamily="2" charset="-122"/>
              </a:rPr>
              <a:t>a</a:t>
            </a:r>
            <a:r>
              <a:rPr lang="en-US" altLang="zh-CN" sz="2400" baseline="30000" dirty="0">
                <a:latin typeface="Times New Roman" panose="02020603050405020304" pitchFamily="18" charset="0"/>
                <a:ea typeface="宋体" panose="02010600030101010101" pitchFamily="2" charset="-122"/>
              </a:rPr>
              <a:t> </a:t>
            </a:r>
            <a:r>
              <a:rPr lang="zh-CN" altLang="en-US" sz="2400" dirty="0">
                <a:latin typeface="Times New Roman" panose="02020603050405020304" pitchFamily="18" charset="0"/>
                <a:ea typeface="宋体" panose="02010600030101010101" pitchFamily="2" charset="-122"/>
              </a:rPr>
              <a:t>，当</a:t>
            </a:r>
            <a:r>
              <a:rPr lang="en-US" altLang="zh-CN" sz="2400" i="1" dirty="0">
                <a:latin typeface="Times New Roman" panose="02020603050405020304" pitchFamily="18" charset="0"/>
                <a:ea typeface="宋体" panose="02010600030101010101" pitchFamily="2" charset="-122"/>
              </a:rPr>
              <a:t>a</a:t>
            </a:r>
            <a:r>
              <a:rPr lang="en-US" altLang="zh-CN"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sym typeface="Symbol" panose="05050102010706020507" pitchFamily="18" charset="2"/>
              </a:rPr>
              <a:t> 0</a:t>
            </a:r>
            <a:r>
              <a:rPr lang="zh-CN" altLang="en-US" sz="2400" dirty="0">
                <a:latin typeface="Times New Roman" panose="02020603050405020304" pitchFamily="18" charset="0"/>
                <a:ea typeface="宋体" panose="02010600030101010101" pitchFamily="2" charset="-122"/>
              </a:rPr>
              <a:t>时单调增，</a:t>
            </a:r>
            <a:r>
              <a:rPr lang="en-US" altLang="zh-CN" sz="2400" i="1" dirty="0">
                <a:latin typeface="Times New Roman" panose="02020603050405020304" pitchFamily="18" charset="0"/>
                <a:ea typeface="宋体" panose="02010600030101010101" pitchFamily="2" charset="-122"/>
              </a:rPr>
              <a:t>a</a:t>
            </a:r>
            <a:r>
              <a:rPr lang="en-US" altLang="zh-CN" sz="2400" dirty="0">
                <a:latin typeface="Times New Roman" panose="02020603050405020304" pitchFamily="18" charset="0"/>
                <a:ea typeface="宋体" panose="02010600030101010101" pitchFamily="2" charset="-122"/>
              </a:rPr>
              <a:t> </a:t>
            </a:r>
            <a:r>
              <a:rPr lang="en-US" altLang="zh-CN" sz="2400" dirty="0">
                <a:latin typeface="Times New Roman" panose="02020603050405020304" pitchFamily="18" charset="0"/>
                <a:ea typeface="宋体" panose="02010600030101010101" pitchFamily="2" charset="-122"/>
                <a:sym typeface="Symbol" panose="05050102010706020507" pitchFamily="18" charset="2"/>
              </a:rPr>
              <a:t></a:t>
            </a:r>
            <a:r>
              <a:rPr lang="en-US" altLang="zh-CN" sz="2400" dirty="0">
                <a:latin typeface="Times New Roman" panose="02020603050405020304" pitchFamily="18" charset="0"/>
                <a:ea typeface="宋体" panose="02010600030101010101" pitchFamily="2" charset="-122"/>
              </a:rPr>
              <a:t> 0</a:t>
            </a:r>
            <a:r>
              <a:rPr lang="zh-CN" altLang="en-US" sz="2400" dirty="0">
                <a:latin typeface="Times New Roman" panose="02020603050405020304" pitchFamily="18" charset="0"/>
                <a:ea typeface="宋体" panose="02010600030101010101" pitchFamily="2" charset="-122"/>
              </a:rPr>
              <a:t>时单调减。</a:t>
            </a:r>
          </a:p>
          <a:p>
            <a:pPr eaLnBrk="1" hangingPunct="1">
              <a:lnSpc>
                <a:spcPct val="120000"/>
              </a:lnSpc>
              <a:spcBef>
                <a:spcPts val="600"/>
              </a:spcBef>
            </a:pPr>
            <a:r>
              <a:rPr lang="zh-CN" altLang="en-US" sz="2400" dirty="0">
                <a:latin typeface="Times New Roman" panose="02020603050405020304" pitchFamily="18" charset="0"/>
                <a:ea typeface="宋体" panose="02010600030101010101" pitchFamily="2" charset="-122"/>
              </a:rPr>
              <a:t>若对某个常量</a:t>
            </a:r>
            <a:r>
              <a:rPr lang="en-US" altLang="zh-CN" sz="2400" i="1" dirty="0">
                <a:latin typeface="Times New Roman" panose="02020603050405020304" pitchFamily="18" charset="0"/>
                <a:ea typeface="宋体" panose="02010600030101010101" pitchFamily="2" charset="-122"/>
              </a:rPr>
              <a:t>k</a:t>
            </a:r>
            <a:r>
              <a:rPr lang="zh-CN" altLang="en-US" sz="2400" dirty="0">
                <a:latin typeface="Times New Roman" panose="02020603050405020304" pitchFamily="18" charset="0"/>
                <a:ea typeface="宋体" panose="02010600030101010101" pitchFamily="2" charset="-122"/>
              </a:rPr>
              <a:t>，使</a:t>
            </a:r>
            <a:r>
              <a:rPr lang="en-US" altLang="zh-CN" sz="2400" i="1" dirty="0">
                <a:latin typeface="Times New Roman" panose="02020603050405020304" pitchFamily="18" charset="0"/>
                <a:ea typeface="宋体" panose="02010600030101010101" pitchFamily="2" charset="-122"/>
              </a:rPr>
              <a:t>f</a:t>
            </a:r>
            <a:r>
              <a:rPr lang="en-US" altLang="zh-CN" sz="2400" dirty="0">
                <a:latin typeface="Times New Roman" panose="02020603050405020304" pitchFamily="18" charset="0"/>
                <a:ea typeface="宋体" panose="02010600030101010101" pitchFamily="2" charset="-122"/>
              </a:rPr>
              <a:t>(</a:t>
            </a:r>
            <a:r>
              <a:rPr lang="en-US" altLang="zh-CN" sz="2400" i="1" dirty="0">
                <a:latin typeface="Times New Roman" panose="02020603050405020304" pitchFamily="18" charset="0"/>
                <a:ea typeface="宋体" panose="02010600030101010101" pitchFamily="2" charset="-122"/>
              </a:rPr>
              <a:t>n</a:t>
            </a:r>
            <a:r>
              <a:rPr lang="en-US" altLang="zh-CN" sz="2400" dirty="0">
                <a:latin typeface="Times New Roman" panose="02020603050405020304" pitchFamily="18" charset="0"/>
                <a:ea typeface="宋体" panose="02010600030101010101" pitchFamily="2" charset="-122"/>
              </a:rPr>
              <a:t>) = </a:t>
            </a:r>
            <a:r>
              <a:rPr lang="en-US" altLang="zh-CN" sz="2400" i="1" dirty="0">
                <a:latin typeface="Times New Roman" panose="02020603050405020304" pitchFamily="18" charset="0"/>
                <a:ea typeface="宋体" panose="02010600030101010101" pitchFamily="2" charset="-122"/>
              </a:rPr>
              <a:t>O</a:t>
            </a:r>
            <a:r>
              <a:rPr lang="en-US" altLang="zh-CN" sz="2400" dirty="0">
                <a:latin typeface="Times New Roman" panose="02020603050405020304" pitchFamily="18" charset="0"/>
                <a:ea typeface="宋体" panose="02010600030101010101" pitchFamily="2" charset="-122"/>
              </a:rPr>
              <a:t>(</a:t>
            </a:r>
            <a:r>
              <a:rPr lang="en-US" altLang="zh-CN" sz="2400" i="1" dirty="0" err="1">
                <a:latin typeface="Times New Roman" panose="02020603050405020304" pitchFamily="18" charset="0"/>
                <a:ea typeface="宋体" panose="02010600030101010101" pitchFamily="2" charset="-122"/>
              </a:rPr>
              <a:t>n</a:t>
            </a:r>
            <a:r>
              <a:rPr lang="en-US" altLang="zh-CN" sz="2400" i="1" baseline="30000" dirty="0" err="1">
                <a:latin typeface="Times New Roman" panose="02020603050405020304" pitchFamily="18" charset="0"/>
                <a:ea typeface="宋体" panose="02010600030101010101" pitchFamily="2" charset="-122"/>
              </a:rPr>
              <a:t>k</a:t>
            </a:r>
            <a:r>
              <a:rPr lang="en-US" altLang="zh-CN" sz="2400" dirty="0">
                <a:latin typeface="Times New Roman" panose="02020603050405020304" pitchFamily="18" charset="0"/>
                <a:ea typeface="宋体" panose="02010600030101010101" pitchFamily="2" charset="-122"/>
              </a:rPr>
              <a:t>)</a:t>
            </a:r>
            <a:r>
              <a:rPr lang="zh-CN" altLang="en-US" sz="2400" dirty="0">
                <a:latin typeface="Times New Roman" panose="02020603050405020304" pitchFamily="18" charset="0"/>
                <a:ea typeface="宋体" panose="02010600030101010101" pitchFamily="2" charset="-122"/>
              </a:rPr>
              <a:t>，则称函数</a:t>
            </a:r>
            <a:r>
              <a:rPr lang="en-US" altLang="zh-CN" sz="2400" dirty="0">
                <a:latin typeface="Times New Roman" panose="02020603050405020304" pitchFamily="18" charset="0"/>
                <a:ea typeface="宋体" panose="02010600030101010101" pitchFamily="2" charset="-122"/>
              </a:rPr>
              <a:t>f(n)</a:t>
            </a:r>
            <a:r>
              <a:rPr lang="zh-CN" altLang="en-US" sz="2400" dirty="0">
                <a:latin typeface="Times New Roman" panose="02020603050405020304" pitchFamily="18" charset="0"/>
                <a:ea typeface="宋体" panose="02010600030101010101" pitchFamily="2" charset="-122"/>
              </a:rPr>
              <a:t>是</a:t>
            </a:r>
            <a:r>
              <a:rPr lang="zh-CN" altLang="en-US" sz="2400" dirty="0">
                <a:solidFill>
                  <a:srgbClr val="0000CC"/>
                </a:solidFill>
                <a:latin typeface="黑体" panose="02010609060101010101" pitchFamily="49" charset="-122"/>
                <a:ea typeface="黑体" panose="02010609060101010101" pitchFamily="49" charset="-122"/>
              </a:rPr>
              <a:t>多项式有界的</a:t>
            </a:r>
            <a:r>
              <a:rPr lang="zh-CN" altLang="en-US" sz="2400" dirty="0">
                <a:latin typeface="Times New Roman" panose="02020603050405020304" pitchFamily="18" charset="0"/>
                <a:ea typeface="宋体" panose="02010600030101010101" pitchFamily="2" charset="-122"/>
              </a:rPr>
              <a:t>。</a:t>
            </a:r>
            <a:endParaRPr lang="en-US" altLang="zh-CN" sz="2400" dirty="0">
              <a:latin typeface="Times New Roman" panose="02020603050405020304" pitchFamily="18" charset="0"/>
              <a:ea typeface="宋体" panose="02010600030101010101" pitchFamily="2"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463001989"/>
              </p:ext>
            </p:extLst>
          </p:nvPr>
        </p:nvGraphicFramePr>
        <p:xfrm>
          <a:off x="1828800" y="2514600"/>
          <a:ext cx="2049518" cy="990600"/>
        </p:xfrm>
        <a:graphic>
          <a:graphicData uri="http://schemas.openxmlformats.org/presentationml/2006/ole">
            <mc:AlternateContent xmlns:mc="http://schemas.openxmlformats.org/markup-compatibility/2006">
              <mc:Choice xmlns:v="urn:schemas-microsoft-com:vml" Requires="v">
                <p:oleObj name="Equation" r:id="rId2" imgW="761669" imgH="368140" progId="Equation.DSMT4">
                  <p:embed/>
                </p:oleObj>
              </mc:Choice>
              <mc:Fallback>
                <p:oleObj name="Equation" r:id="rId2" imgW="761669" imgH="368140" progId="Equation.DSMT4">
                  <p:embed/>
                  <p:pic>
                    <p:nvPicPr>
                      <p:cNvPr id="0" name="Picture 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2514600"/>
                        <a:ext cx="2049518" cy="990600"/>
                      </a:xfrm>
                      <a:prstGeom prst="rect">
                        <a:avLst/>
                      </a:prstGeom>
                      <a:solidFill>
                        <a:schemeClr val="tx1"/>
                      </a:solidFill>
                    </p:spPr>
                  </p:pic>
                </p:oleObj>
              </mc:Fallback>
            </mc:AlternateContent>
          </a:graphicData>
        </a:graphic>
      </p:graphicFrame>
    </p:spTree>
    <p:extLst>
      <p:ext uri="{BB962C8B-B14F-4D97-AF65-F5344CB8AC3E}">
        <p14:creationId xmlns:p14="http://schemas.microsoft.com/office/powerpoint/2010/main" val="11479305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8EE8DA-7170-4B38-8B4E-F9E7BA4CC005}"/>
              </a:ext>
            </a:extLst>
          </p:cNvPr>
          <p:cNvSpPr>
            <a:spLocks noGrp="1"/>
          </p:cNvSpPr>
          <p:nvPr>
            <p:ph type="title"/>
          </p:nvPr>
        </p:nvSpPr>
        <p:spPr/>
        <p:txBody>
          <a:bodyPr/>
          <a:lstStyle/>
          <a:p>
            <a:r>
              <a:rPr lang="zh-CN" altLang="en-US" dirty="0"/>
              <a:t>例</a:t>
            </a:r>
            <a:r>
              <a:rPr lang="en-US" altLang="zh-CN" dirty="0"/>
              <a:t>1</a:t>
            </a:r>
            <a:r>
              <a:rPr lang="zh-CN" altLang="en-US" dirty="0"/>
              <a:t>：代码效率分析</a:t>
            </a:r>
          </a:p>
        </p:txBody>
      </p:sp>
      <p:pic>
        <p:nvPicPr>
          <p:cNvPr id="5" name="内容占位符 4">
            <a:extLst>
              <a:ext uri="{FF2B5EF4-FFF2-40B4-BE49-F238E27FC236}">
                <a16:creationId xmlns:a16="http://schemas.microsoft.com/office/drawing/2014/main" id="{28E5E767-6A6F-4159-9CDB-390D55C224C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2362200"/>
            <a:ext cx="5410200" cy="3420579"/>
          </a:xfrm>
        </p:spPr>
      </p:pic>
      <p:sp>
        <p:nvSpPr>
          <p:cNvPr id="6" name="文本框 5">
            <a:extLst>
              <a:ext uri="{FF2B5EF4-FFF2-40B4-BE49-F238E27FC236}">
                <a16:creationId xmlns:a16="http://schemas.microsoft.com/office/drawing/2014/main" id="{EF790AFC-D0AA-4CF4-8AC9-87A9F37D866F}"/>
              </a:ext>
            </a:extLst>
          </p:cNvPr>
          <p:cNvSpPr txBox="1"/>
          <p:nvPr/>
        </p:nvSpPr>
        <p:spPr>
          <a:xfrm>
            <a:off x="516081" y="1468725"/>
            <a:ext cx="6364243" cy="584775"/>
          </a:xfrm>
          <a:prstGeom prst="rect">
            <a:avLst/>
          </a:prstGeom>
          <a:noFill/>
        </p:spPr>
        <p:txBody>
          <a:bodyPr wrap="none" rtlCol="0">
            <a:spAutoFit/>
          </a:bodyPr>
          <a:lstStyle/>
          <a:p>
            <a:r>
              <a:rPr lang="zh-CN" altLang="en-US" sz="3200" dirty="0"/>
              <a:t>下面的代码什么功能？什么效率？</a:t>
            </a:r>
          </a:p>
        </p:txBody>
      </p:sp>
    </p:spTree>
    <p:extLst>
      <p:ext uri="{BB962C8B-B14F-4D97-AF65-F5344CB8AC3E}">
        <p14:creationId xmlns:p14="http://schemas.microsoft.com/office/powerpoint/2010/main" val="285466574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a:extLst>
              <a:ext uri="{FF2B5EF4-FFF2-40B4-BE49-F238E27FC236}">
                <a16:creationId xmlns:a16="http://schemas.microsoft.com/office/drawing/2014/main" id="{D9C8E0E3-9463-488E-8DBF-5F993D3AB0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2286000"/>
            <a:ext cx="7010400" cy="3364366"/>
          </a:xfrm>
        </p:spPr>
      </p:pic>
      <p:sp>
        <p:nvSpPr>
          <p:cNvPr id="6" name="Rectangle 2">
            <a:extLst>
              <a:ext uri="{FF2B5EF4-FFF2-40B4-BE49-F238E27FC236}">
                <a16:creationId xmlns:a16="http://schemas.microsoft.com/office/drawing/2014/main" id="{BD762716-39E9-4995-82B4-7BD18123D66D}"/>
              </a:ext>
            </a:extLst>
          </p:cNvPr>
          <p:cNvSpPr>
            <a:spLocks noGrp="1" noChangeArrowheads="1"/>
          </p:cNvSpPr>
          <p:nvPr>
            <p:ph type="title"/>
          </p:nvPr>
        </p:nvSpPr>
        <p:spPr>
          <a:xfrm>
            <a:off x="609600" y="152400"/>
            <a:ext cx="8534400" cy="685800"/>
          </a:xfrm>
        </p:spPr>
        <p:txBody>
          <a:bodyPr>
            <a:normAutofit/>
          </a:bodyPr>
          <a:lstStyle/>
          <a:p>
            <a:pPr>
              <a:defRPr/>
            </a:pPr>
            <a:r>
              <a:rPr lang="zh-CN" altLang="en-US" dirty="0">
                <a:ea typeface="宋体" pitchFamily="2" charset="-122"/>
              </a:rPr>
              <a:t>例</a:t>
            </a:r>
            <a:r>
              <a:rPr lang="en-US" altLang="zh-CN" dirty="0">
                <a:ea typeface="宋体" pitchFamily="2" charset="-122"/>
              </a:rPr>
              <a:t>2 :</a:t>
            </a:r>
            <a:r>
              <a:rPr lang="zh-CN" altLang="en-US" dirty="0"/>
              <a:t>代码效率分析</a:t>
            </a:r>
            <a:endParaRPr lang="en-US" altLang="zh-CN" dirty="0">
              <a:ea typeface="宋体" pitchFamily="2" charset="-122"/>
            </a:endParaRPr>
          </a:p>
        </p:txBody>
      </p:sp>
      <p:sp>
        <p:nvSpPr>
          <p:cNvPr id="7" name="文本框 6">
            <a:extLst>
              <a:ext uri="{FF2B5EF4-FFF2-40B4-BE49-F238E27FC236}">
                <a16:creationId xmlns:a16="http://schemas.microsoft.com/office/drawing/2014/main" id="{35C72F6D-4F85-4756-8FDE-0C591816DE04}"/>
              </a:ext>
            </a:extLst>
          </p:cNvPr>
          <p:cNvSpPr txBox="1"/>
          <p:nvPr/>
        </p:nvSpPr>
        <p:spPr>
          <a:xfrm>
            <a:off x="516081" y="1468725"/>
            <a:ext cx="6364243" cy="584775"/>
          </a:xfrm>
          <a:prstGeom prst="rect">
            <a:avLst/>
          </a:prstGeom>
          <a:noFill/>
        </p:spPr>
        <p:txBody>
          <a:bodyPr wrap="none" rtlCol="0">
            <a:spAutoFit/>
          </a:bodyPr>
          <a:lstStyle/>
          <a:p>
            <a:r>
              <a:rPr lang="zh-CN" altLang="en-US" sz="3200" dirty="0"/>
              <a:t>下面的代码什么功能？什么效率？</a:t>
            </a:r>
          </a:p>
        </p:txBody>
      </p:sp>
    </p:spTree>
    <p:extLst>
      <p:ext uri="{BB962C8B-B14F-4D97-AF65-F5344CB8AC3E}">
        <p14:creationId xmlns:p14="http://schemas.microsoft.com/office/powerpoint/2010/main" val="13372311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4" name="Rectangle 2"/>
          <p:cNvSpPr>
            <a:spLocks noGrp="1" noChangeArrowheads="1"/>
          </p:cNvSpPr>
          <p:nvPr>
            <p:ph type="title"/>
          </p:nvPr>
        </p:nvSpPr>
        <p:spPr>
          <a:xfrm>
            <a:off x="609600" y="152400"/>
            <a:ext cx="8534400" cy="685800"/>
          </a:xfrm>
        </p:spPr>
        <p:txBody>
          <a:bodyPr>
            <a:normAutofit/>
          </a:bodyPr>
          <a:lstStyle/>
          <a:p>
            <a:pPr>
              <a:defRPr/>
            </a:pPr>
            <a:r>
              <a:rPr lang="zh-CN" altLang="en-US" dirty="0">
                <a:ea typeface="宋体" pitchFamily="2" charset="-122"/>
              </a:rPr>
              <a:t>例</a:t>
            </a:r>
            <a:r>
              <a:rPr lang="en-US" altLang="zh-CN" dirty="0">
                <a:ea typeface="宋体" pitchFamily="2" charset="-122"/>
              </a:rPr>
              <a:t>3 :</a:t>
            </a:r>
            <a:r>
              <a:rPr lang="zh-CN" altLang="en-US" dirty="0"/>
              <a:t>代码效率分析</a:t>
            </a:r>
            <a:endParaRPr lang="en-US" altLang="zh-CN" dirty="0">
              <a:ea typeface="宋体" pitchFamily="2" charset="-122"/>
            </a:endParaRPr>
          </a:p>
        </p:txBody>
      </p:sp>
      <p:pic>
        <p:nvPicPr>
          <p:cNvPr id="25603" name="Picture 4" descr="2_3b"/>
          <p:cNvPicPr>
            <a:picLocks noGrp="1" noChangeAspect="1" noChangeArrowheads="1"/>
          </p:cNvPicPr>
          <p:nvPr>
            <p:ph idx="1"/>
          </p:nvPr>
        </p:nvPicPr>
        <p:blipFill>
          <a:blip r:embed="rId3" cstate="print"/>
          <a:srcRect/>
          <a:stretch>
            <a:fillRect/>
          </a:stretch>
        </p:blipFill>
        <p:spPr>
          <a:xfrm>
            <a:off x="533400" y="2438400"/>
            <a:ext cx="8305800" cy="3318439"/>
          </a:xfrm>
          <a:prstGeom prst="rect">
            <a:avLst/>
          </a:prstGeom>
          <a:solidFill>
            <a:schemeClr val="tx1"/>
          </a:solidFill>
        </p:spPr>
      </p:pic>
      <p:sp>
        <p:nvSpPr>
          <p:cNvPr id="4" name="文本框 3">
            <a:extLst>
              <a:ext uri="{FF2B5EF4-FFF2-40B4-BE49-F238E27FC236}">
                <a16:creationId xmlns:a16="http://schemas.microsoft.com/office/drawing/2014/main" id="{FFE9587C-52FF-40CA-81BD-11B0B8617B1E}"/>
              </a:ext>
            </a:extLst>
          </p:cNvPr>
          <p:cNvSpPr txBox="1"/>
          <p:nvPr/>
        </p:nvSpPr>
        <p:spPr>
          <a:xfrm>
            <a:off x="516081" y="1468725"/>
            <a:ext cx="6364243" cy="584775"/>
          </a:xfrm>
          <a:prstGeom prst="rect">
            <a:avLst/>
          </a:prstGeom>
          <a:noFill/>
        </p:spPr>
        <p:txBody>
          <a:bodyPr wrap="none" rtlCol="0">
            <a:spAutoFit/>
          </a:bodyPr>
          <a:lstStyle/>
          <a:p>
            <a:r>
              <a:rPr lang="zh-CN" altLang="en-US" sz="3200" dirty="0"/>
              <a:t>下面的代码什么功能？什么效率？</a:t>
            </a:r>
          </a:p>
        </p:txBody>
      </p:sp>
    </p:spTree>
  </p:cSld>
  <p:clrMapOvr>
    <a:masterClrMapping/>
  </p:clrMapOvr>
</p:sld>
</file>

<file path=ppt/theme/theme1.xml><?xml version="1.0" encoding="utf-8"?>
<a:theme xmlns:a="http://schemas.openxmlformats.org/drawingml/2006/main" name="Introduction to Algorithm">
  <a:themeElements>
    <a:clrScheme name="">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FFFF99"/>
      </a:hlink>
      <a:folHlink>
        <a:srgbClr val="1C6D9A"/>
      </a:folHlink>
    </a:clrScheme>
    <a:fontScheme name="CS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rgbClr val="FF0000"/>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altLang="zh-CN"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12700" cap="flat" cmpd="sng" algn="ctr">
          <a:solidFill>
            <a:srgbClr val="FF0000"/>
          </a:solidFill>
          <a:prstDash val="solid"/>
          <a:round/>
          <a:headEnd type="none" w="sm" len="sm"/>
          <a:tailEnd type="triangl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altLang="zh-CN"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CS1 1">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6666FF"/>
        </a:hlink>
        <a:folHlink>
          <a:srgbClr val="1C6D9A"/>
        </a:folHlink>
      </a:clrScheme>
      <a:clrMap bg1="dk2" tx1="lt1" bg2="dk1" tx2="lt2" accent1="accent1" accent2="accent2" accent3="accent3" accent4="accent4" accent5="accent5" accent6="accent6" hlink="hlink" folHlink="folHlink"/>
    </a:extraClrScheme>
    <a:extraClrScheme>
      <a:clrScheme name="CS1 2">
        <a:dk1>
          <a:srgbClr val="000000"/>
        </a:dk1>
        <a:lt1>
          <a:srgbClr val="FFFFFF"/>
        </a:lt1>
        <a:dk2>
          <a:srgbClr val="000066"/>
        </a:dk2>
        <a:lt2>
          <a:srgbClr val="969696"/>
        </a:lt2>
        <a:accent1>
          <a:srgbClr val="666699"/>
        </a:accent1>
        <a:accent2>
          <a:srgbClr val="CCCCFF"/>
        </a:accent2>
        <a:accent3>
          <a:srgbClr val="FFFFFF"/>
        </a:accent3>
        <a:accent4>
          <a:srgbClr val="000000"/>
        </a:accent4>
        <a:accent5>
          <a:srgbClr val="B8B8CA"/>
        </a:accent5>
        <a:accent6>
          <a:srgbClr val="B9B9E7"/>
        </a:accent6>
        <a:hlink>
          <a:srgbClr val="CC00CC"/>
        </a:hlink>
        <a:folHlink>
          <a:srgbClr val="EAEAEA"/>
        </a:folHlink>
      </a:clrScheme>
      <a:clrMap bg1="lt1" tx1="dk1" bg2="lt2" tx2="dk2" accent1="accent1" accent2="accent2" accent3="accent3" accent4="accent4" accent5="accent5" accent6="accent6" hlink="hlink" folHlink="folHlink"/>
    </a:extraClrScheme>
    <a:extraClrScheme>
      <a:clrScheme name="CS1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 4">
        <a:dk1>
          <a:srgbClr val="000000"/>
        </a:dk1>
        <a:lt1>
          <a:srgbClr val="FFFFCC"/>
        </a:lt1>
        <a:dk2>
          <a:srgbClr val="FF6600"/>
        </a:dk2>
        <a:lt2>
          <a:srgbClr val="333300"/>
        </a:lt2>
        <a:accent1>
          <a:srgbClr val="800000"/>
        </a:accent1>
        <a:accent2>
          <a:srgbClr val="CC6600"/>
        </a:accent2>
        <a:accent3>
          <a:srgbClr val="FFFFE2"/>
        </a:accent3>
        <a:accent4>
          <a:srgbClr val="000000"/>
        </a:accent4>
        <a:accent5>
          <a:srgbClr val="C0AAAA"/>
        </a:accent5>
        <a:accent6>
          <a:srgbClr val="B95C00"/>
        </a:accent6>
        <a:hlink>
          <a:srgbClr val="808000"/>
        </a:hlink>
        <a:folHlink>
          <a:srgbClr val="FFCC66"/>
        </a:folHlink>
      </a:clrScheme>
      <a:clrMap bg1="lt1" tx1="dk1" bg2="lt2" tx2="dk2" accent1="accent1" accent2="accent2" accent3="accent3" accent4="accent4" accent5="accent5" accent6="accent6" hlink="hlink" folHlink="folHlink"/>
    </a:extraClrScheme>
    <a:extraClrScheme>
      <a:clrScheme name="CS1 5">
        <a:dk1>
          <a:srgbClr val="1C3956"/>
        </a:dk1>
        <a:lt1>
          <a:srgbClr val="FFFFFF"/>
        </a:lt1>
        <a:dk2>
          <a:srgbClr val="003366"/>
        </a:dk2>
        <a:lt2>
          <a:srgbClr val="DDDDDD"/>
        </a:lt2>
        <a:accent1>
          <a:srgbClr val="3D7CBB"/>
        </a:accent1>
        <a:accent2>
          <a:srgbClr val="00152A"/>
        </a:accent2>
        <a:accent3>
          <a:srgbClr val="AAADB8"/>
        </a:accent3>
        <a:accent4>
          <a:srgbClr val="DADADA"/>
        </a:accent4>
        <a:accent5>
          <a:srgbClr val="AFBFDA"/>
        </a:accent5>
        <a:accent6>
          <a:srgbClr val="001225"/>
        </a:accent6>
        <a:hlink>
          <a:srgbClr val="33CCCC"/>
        </a:hlink>
        <a:folHlink>
          <a:srgbClr val="96B9DC"/>
        </a:folHlink>
      </a:clrScheme>
      <a:clrMap bg1="dk2" tx1="lt1" bg2="dk1" tx2="lt2" accent1="accent1" accent2="accent2" accent3="accent3" accent4="accent4" accent5="accent5" accent6="accent6" hlink="hlink" folHlink="folHlink"/>
    </a:extraClrScheme>
    <a:extraClrScheme>
      <a:clrScheme name="CS1 6">
        <a:dk1>
          <a:srgbClr val="000000"/>
        </a:dk1>
        <a:lt1>
          <a:srgbClr val="FFFFFF"/>
        </a:lt1>
        <a:dk2>
          <a:srgbClr val="440044"/>
        </a:dk2>
        <a:lt2>
          <a:srgbClr val="491D49"/>
        </a:lt2>
        <a:accent1>
          <a:srgbClr val="9D9DBD"/>
        </a:accent1>
        <a:accent2>
          <a:srgbClr val="14213C"/>
        </a:accent2>
        <a:accent3>
          <a:srgbClr val="FFFFFF"/>
        </a:accent3>
        <a:accent4>
          <a:srgbClr val="000000"/>
        </a:accent4>
        <a:accent5>
          <a:srgbClr val="CCCCDB"/>
        </a:accent5>
        <a:accent6>
          <a:srgbClr val="111D35"/>
        </a:accent6>
        <a:hlink>
          <a:srgbClr val="666699"/>
        </a:hlink>
        <a:folHlink>
          <a:srgbClr val="DBDBF1"/>
        </a:folHlink>
      </a:clrScheme>
      <a:clrMap bg1="lt1" tx1="dk1" bg2="lt2" tx2="dk2" accent1="accent1" accent2="accent2" accent3="accent3" accent4="accent4" accent5="accent5" accent6="accent6" hlink="hlink" folHlink="folHlink"/>
    </a:extraClrScheme>
    <a:extraClrScheme>
      <a:clrScheme name="CS1 7">
        <a:dk1>
          <a:srgbClr val="000000"/>
        </a:dk1>
        <a:lt1>
          <a:srgbClr val="FFFFFF"/>
        </a:lt1>
        <a:dk2>
          <a:srgbClr val="000000"/>
        </a:dk2>
        <a:lt2>
          <a:srgbClr val="001A00"/>
        </a:lt2>
        <a:accent1>
          <a:srgbClr val="339966"/>
        </a:accent1>
        <a:accent2>
          <a:srgbClr val="003300"/>
        </a:accent2>
        <a:accent3>
          <a:srgbClr val="FFFFFF"/>
        </a:accent3>
        <a:accent4>
          <a:srgbClr val="000000"/>
        </a:accent4>
        <a:accent5>
          <a:srgbClr val="ADCAB8"/>
        </a:accent5>
        <a:accent6>
          <a:srgbClr val="002D00"/>
        </a:accent6>
        <a:hlink>
          <a:srgbClr val="FF9933"/>
        </a:hlink>
        <a:folHlink>
          <a:srgbClr val="AFE9CC"/>
        </a:folHlink>
      </a:clrScheme>
      <a:clrMap bg1="lt1" tx1="dk1" bg2="lt2" tx2="dk2" accent1="accent1" accent2="accent2" accent3="accent3" accent4="accent4" accent5="accent5" accent6="accent6" hlink="hlink" folHlink="folHlink"/>
    </a:extraClrScheme>
    <a:extraClrScheme>
      <a:clrScheme name="CS1 8">
        <a:dk1>
          <a:srgbClr val="000000"/>
        </a:dk1>
        <a:lt1>
          <a:srgbClr val="FFFFFF"/>
        </a:lt1>
        <a:dk2>
          <a:srgbClr val="000000"/>
        </a:dk2>
        <a:lt2>
          <a:srgbClr val="FFCC00"/>
        </a:lt2>
        <a:accent1>
          <a:srgbClr val="FF9900"/>
        </a:accent1>
        <a:accent2>
          <a:srgbClr val="D60093"/>
        </a:accent2>
        <a:accent3>
          <a:srgbClr val="AAAAAA"/>
        </a:accent3>
        <a:accent4>
          <a:srgbClr val="DADADA"/>
        </a:accent4>
        <a:accent5>
          <a:srgbClr val="FFCAAA"/>
        </a:accent5>
        <a:accent6>
          <a:srgbClr val="C20085"/>
        </a:accent6>
        <a:hlink>
          <a:srgbClr val="9966FF"/>
        </a:hlink>
        <a:folHlink>
          <a:srgbClr val="80808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787878"/>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787878"/>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original</Template>
  <TotalTime>19167</TotalTime>
  <Words>3579</Words>
  <Application>Microsoft Macintosh PowerPoint</Application>
  <PresentationFormat>On-screen Show (4:3)</PresentationFormat>
  <Paragraphs>348</Paragraphs>
  <Slides>39</Slides>
  <Notes>23</Notes>
  <HiddenSlides>0</HiddenSlides>
  <MMClips>0</MMClips>
  <ScaleCrop>false</ScaleCrop>
  <HeadingPairs>
    <vt:vector size="8" baseType="variant">
      <vt:variant>
        <vt:lpstr>Fonts Used</vt:lpstr>
      </vt:variant>
      <vt:variant>
        <vt:i4>15</vt:i4>
      </vt:variant>
      <vt:variant>
        <vt:lpstr>Theme</vt:lpstr>
      </vt:variant>
      <vt:variant>
        <vt:i4>2</vt:i4>
      </vt:variant>
      <vt:variant>
        <vt:lpstr>Embedded OLE Servers</vt:lpstr>
      </vt:variant>
      <vt:variant>
        <vt:i4>2</vt:i4>
      </vt:variant>
      <vt:variant>
        <vt:lpstr>Slide Titles</vt:lpstr>
      </vt:variant>
      <vt:variant>
        <vt:i4>39</vt:i4>
      </vt:variant>
    </vt:vector>
  </HeadingPairs>
  <TitlesOfParts>
    <vt:vector size="58" baseType="lpstr">
      <vt:lpstr>Arial Unicode MS</vt:lpstr>
      <vt:lpstr>隶书</vt:lpstr>
      <vt:lpstr>黑体</vt:lpstr>
      <vt:lpstr>宋体</vt:lpstr>
      <vt:lpstr>华文琥珀</vt:lpstr>
      <vt:lpstr>Arial</vt:lpstr>
      <vt:lpstr>Calibri</vt:lpstr>
      <vt:lpstr>Cambria Math</vt:lpstr>
      <vt:lpstr>Comic Sans MS</vt:lpstr>
      <vt:lpstr>Monotype Sorts</vt:lpstr>
      <vt:lpstr>Symbol</vt:lpstr>
      <vt:lpstr>Tahoma</vt:lpstr>
      <vt:lpstr>Times New Roman</vt:lpstr>
      <vt:lpstr>Verdana</vt:lpstr>
      <vt:lpstr>Wingdings</vt:lpstr>
      <vt:lpstr>Introduction to Algorithm</vt:lpstr>
      <vt:lpstr>自定义设计方案</vt:lpstr>
      <vt:lpstr>Equation</vt:lpstr>
      <vt:lpstr>公式</vt:lpstr>
      <vt:lpstr>算法设计与分析</vt:lpstr>
      <vt:lpstr>基本情况</vt:lpstr>
      <vt:lpstr>关于实验课的说明</vt:lpstr>
      <vt:lpstr>教材</vt:lpstr>
      <vt:lpstr>主要内容</vt:lpstr>
      <vt:lpstr>问题与算法的关系</vt:lpstr>
      <vt:lpstr>为什么要学习算法？</vt:lpstr>
      <vt:lpstr>第一章 算法复杂度分析</vt:lpstr>
      <vt:lpstr>1.1 算法基本概念 —什么是算法？</vt:lpstr>
      <vt:lpstr>1.1 算法基本概念 —算法</vt:lpstr>
      <vt:lpstr>1.1 算法基本概念—问题求解过程</vt:lpstr>
      <vt:lpstr>1.1 算法基本概念—算法分析 (1) </vt:lpstr>
      <vt:lpstr>1.2 插入排序 (1)</vt:lpstr>
      <vt:lpstr>1.2 插入排序 (2)</vt:lpstr>
      <vt:lpstr>1.2 分析插入排序算法 (1)</vt:lpstr>
      <vt:lpstr>1.2 分析插入排序算法 (2)</vt:lpstr>
      <vt:lpstr>1.2 分析插入排序算法 (3)</vt:lpstr>
      <vt:lpstr>1.2 分析插入排序算法 (4)</vt:lpstr>
      <vt:lpstr>1.2 分析插入排序算法 (5)</vt:lpstr>
      <vt:lpstr>1.2 分析插入排序算法 (6)</vt:lpstr>
      <vt:lpstr>1.2 分析插入排序算法 (7)</vt:lpstr>
      <vt:lpstr>1.2 分析插入排序算法 (8)</vt:lpstr>
      <vt:lpstr>算法分析 (2) </vt:lpstr>
      <vt:lpstr>算法分析 (3) </vt:lpstr>
      <vt:lpstr>1.3 渐近记号 — 基本的效率类型 (1)</vt:lpstr>
      <vt:lpstr>1. 3 渐近记号 — 基本的效率类型 (2)</vt:lpstr>
      <vt:lpstr>1.3 渐近记号 — O记号 (1)</vt:lpstr>
      <vt:lpstr>1.3 渐近记号 —记号 (1)</vt:lpstr>
      <vt:lpstr>1.3 渐近记号 —记号 (1)</vt:lpstr>
      <vt:lpstr>1.3 渐近记号 —记号 (2)</vt:lpstr>
      <vt:lpstr>1.3 渐近记号 —记号 (3)</vt:lpstr>
      <vt:lpstr>1.3 渐近记号 —性质 (1)</vt:lpstr>
      <vt:lpstr>1.3 渐近记号 — 性质 (2)</vt:lpstr>
      <vt:lpstr>1.3 渐近记号 — 性质 (3)</vt:lpstr>
      <vt:lpstr>1.3 渐近记号 — 性质 (4)</vt:lpstr>
      <vt:lpstr>1.3 渐近记号 — 常用函数 (1)</vt:lpstr>
      <vt:lpstr>例1：代码效率分析</vt:lpstr>
      <vt:lpstr>例2 :代码效率分析</vt:lpstr>
      <vt:lpstr>例3 :代码效率分析</vt:lpstr>
    </vt:vector>
  </TitlesOfParts>
  <Company>SUNY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SUNY Learning Network</dc:creator>
  <cp:lastModifiedBy>Dingming</cp:lastModifiedBy>
  <cp:revision>829</cp:revision>
  <dcterms:created xsi:type="dcterms:W3CDTF">1998-05-26T01:10:06Z</dcterms:created>
  <dcterms:modified xsi:type="dcterms:W3CDTF">2024-03-04T09:22:26Z</dcterms:modified>
</cp:coreProperties>
</file>