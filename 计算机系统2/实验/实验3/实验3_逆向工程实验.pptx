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7" r:id="rId5"/>
    <p:sldId id="269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1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2018/4/13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1039723"/>
          </a:xfrm>
        </p:spPr>
        <p:txBody>
          <a:bodyPr>
            <a:normAutofit/>
          </a:bodyPr>
          <a:lstStyle/>
          <a:p>
            <a:r>
              <a:rPr lang="zh-CN" altLang="en-US" sz="4800" b="1" dirty="0" smtClean="0"/>
              <a:t>实验三：</a:t>
            </a:r>
            <a:r>
              <a:rPr lang="zh-CN" altLang="en-US" sz="4800" dirty="0" smtClean="0"/>
              <a:t>逆向工程</a:t>
            </a:r>
            <a:r>
              <a:rPr lang="zh-CN" altLang="zh-CN" sz="4800" b="1" dirty="0" smtClean="0"/>
              <a:t>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333" y="2762588"/>
            <a:ext cx="8015992" cy="3353398"/>
          </a:xfrm>
        </p:spPr>
        <p:txBody>
          <a:bodyPr>
            <a:normAutofit/>
          </a:bodyPr>
          <a:lstStyle/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理解程序</a:t>
            </a:r>
            <a:r>
              <a:rPr lang="zh-CN" altLang="en-US" sz="3200" b="1" dirty="0" smtClean="0">
                <a:solidFill>
                  <a:srgbClr val="002060"/>
                </a:solidFill>
              </a:rPr>
              <a:t>（控制语句、函数、返回值</a:t>
            </a:r>
            <a:r>
              <a:rPr lang="zh-CN" altLang="en-US" sz="3200" b="1" dirty="0">
                <a:solidFill>
                  <a:srgbClr val="002060"/>
                </a:solidFill>
              </a:rPr>
              <a:t>、</a:t>
            </a:r>
            <a:r>
              <a:rPr lang="zh-CN" altLang="en-US" sz="3200" b="1" dirty="0" smtClean="0">
                <a:solidFill>
                  <a:srgbClr val="002060"/>
                </a:solidFill>
              </a:rPr>
              <a:t>堆栈结构）是如何运行的</a:t>
            </a:r>
            <a:endParaRPr lang="zh-CN" altLang="zh-CN" sz="3200" b="1" dirty="0">
              <a:solidFill>
                <a:srgbClr val="002060"/>
              </a:solidFill>
            </a:endParaRPr>
          </a:p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3200" b="1" dirty="0" smtClean="0">
                <a:solidFill>
                  <a:srgbClr val="002060"/>
                </a:solidFill>
              </a:rPr>
              <a:t>掌握</a:t>
            </a:r>
            <a:r>
              <a:rPr lang="en-US" altLang="zh-CN" sz="3200" b="1" dirty="0" smtClean="0">
                <a:solidFill>
                  <a:srgbClr val="002060"/>
                </a:solidFill>
              </a:rPr>
              <a:t>GDB</a:t>
            </a:r>
            <a:r>
              <a:rPr lang="zh-CN" altLang="en-US" sz="3200" b="1" dirty="0" smtClean="0">
                <a:solidFill>
                  <a:srgbClr val="002060"/>
                </a:solidFill>
              </a:rPr>
              <a:t>调试工具</a:t>
            </a:r>
            <a:endParaRPr lang="en-US" altLang="zh-CN" sz="3200" b="1" dirty="0" smtClean="0">
              <a:solidFill>
                <a:srgbClr val="002060"/>
              </a:solidFill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 err="1">
                <a:solidFill>
                  <a:srgbClr val="002060"/>
                </a:solidFill>
              </a:rPr>
              <a:t>objdump</a:t>
            </a:r>
            <a:r>
              <a:rPr lang="zh-CN" altLang="en-US" sz="3200" b="1" dirty="0">
                <a:solidFill>
                  <a:srgbClr val="002060"/>
                </a:solidFill>
              </a:rPr>
              <a:t>反汇编</a:t>
            </a:r>
            <a:r>
              <a:rPr lang="zh-CN" altLang="en-US" sz="3200" b="1" dirty="0" smtClean="0">
                <a:solidFill>
                  <a:srgbClr val="002060"/>
                </a:solidFill>
              </a:rPr>
              <a:t>工具</a:t>
            </a:r>
            <a:endParaRPr lang="en-US" altLang="zh-CN" sz="3200" b="1" dirty="0" smtClean="0">
              <a:solidFill>
                <a:srgbClr val="002060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zh-CN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实验介绍：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093" y="1086040"/>
            <a:ext cx="8446984" cy="558357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本实验设计为一个黑客拆解二进制炸弹的游戏。我们仅给黑客（同学）提供一个</a:t>
            </a:r>
            <a:r>
              <a:rPr lang="zh-CN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二进制可执行文件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和主函数所在的源程序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bomb.c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，不提供每个关卡的源代码。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程序运行中有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个关卡（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），每个关卡需要用户输入正确的字符串或数字才能通关，否则会引爆炸弹（打印出一条错误信息，并导致评分下降）！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要求同学运用</a:t>
            </a:r>
            <a:r>
              <a:rPr lang="en-US" altLang="zh-CN" b="1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GDB</a:t>
            </a:r>
            <a:r>
              <a:rPr lang="zh-CN" altLang="en-US" b="1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调试工具</a:t>
            </a:r>
            <a:r>
              <a:rPr lang="zh-CN" altLang="en-US" b="1" dirty="0" smtClean="0"/>
              <a:t>和</a:t>
            </a:r>
            <a:r>
              <a:rPr lang="en-US" altLang="zh-CN" b="1" dirty="0" err="1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objdump</a:t>
            </a:r>
            <a:r>
              <a:rPr lang="zh-CN" altLang="en-US" b="1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反汇编工具</a:t>
            </a:r>
            <a:r>
              <a:rPr lang="zh-CN" altLang="en-US" dirty="0" smtClean="0"/>
              <a:t>，通过分析汇编代码</a:t>
            </a:r>
            <a:r>
              <a:rPr lang="zh-CN" altLang="en-US" b="1" dirty="0" smtClean="0"/>
              <a:t>，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找到在每个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程序段中，引导程序跳转到“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程序段的地方，并分析其成功跳转的条件，以此为突破口寻找应该在命令行输入何种字符串来通关。</a:t>
            </a:r>
            <a:endParaRPr lang="zh-CN" altLang="zh-C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009" y="1008404"/>
            <a:ext cx="8305207" cy="5737169"/>
          </a:xfrm>
        </p:spPr>
        <p:txBody>
          <a:bodyPr>
            <a:normAutofit lnSpcReduction="10000"/>
          </a:bodyPr>
          <a:lstStyle/>
          <a:p>
            <a:r>
              <a:rPr lang="en-US" altLang="zh-CN" sz="2400" b="1" dirty="0"/>
              <a:t>6</a:t>
            </a:r>
            <a:r>
              <a:rPr lang="zh-CN" altLang="zh-CN" sz="2400" b="1" dirty="0"/>
              <a:t>个关卡</a:t>
            </a:r>
            <a:r>
              <a:rPr lang="zh-CN" altLang="zh-CN" sz="2400" b="1" dirty="0" smtClean="0"/>
              <a:t>，难度</a:t>
            </a:r>
            <a:r>
              <a:rPr lang="zh-CN" altLang="zh-CN" sz="2400" b="1" dirty="0"/>
              <a:t>随</a:t>
            </a:r>
            <a:r>
              <a:rPr lang="zh-CN" altLang="zh-CN" sz="2400" b="1" dirty="0" smtClean="0"/>
              <a:t>关卡</a:t>
            </a:r>
            <a:r>
              <a:rPr lang="zh-CN" altLang="en-US" sz="2400" b="1" dirty="0"/>
              <a:t>升级</a:t>
            </a:r>
            <a:r>
              <a:rPr lang="zh-CN" altLang="zh-CN" sz="2400" b="1" dirty="0" smtClean="0"/>
              <a:t>而提升</a:t>
            </a:r>
            <a:r>
              <a:rPr lang="zh-CN" altLang="en-US" sz="2400" b="1" dirty="0" smtClean="0"/>
              <a:t>；</a:t>
            </a:r>
            <a:endParaRPr lang="en-US" altLang="zh-CN" sz="2400" b="1" dirty="0" smtClean="0"/>
          </a:p>
          <a:p>
            <a:r>
              <a:rPr lang="zh-CN" altLang="zh-CN" sz="2400" b="1" dirty="0" smtClean="0"/>
              <a:t>通过</a:t>
            </a:r>
            <a:r>
              <a:rPr lang="zh-CN" altLang="en-US" sz="2400" b="1" dirty="0" smtClean="0"/>
              <a:t>解读</a:t>
            </a:r>
            <a:r>
              <a:rPr lang="zh-CN" altLang="zh-CN" sz="2400" b="1" dirty="0" smtClean="0"/>
              <a:t>汇编</a:t>
            </a:r>
            <a:r>
              <a:rPr lang="zh-CN" altLang="en-US" sz="2400" b="1" dirty="0"/>
              <a:t>代码</a:t>
            </a:r>
            <a:r>
              <a:rPr lang="zh-CN" altLang="zh-CN" sz="2400" b="1" dirty="0" smtClean="0"/>
              <a:t>来推断</a:t>
            </a:r>
            <a:r>
              <a:rPr lang="zh-CN" altLang="en-US" sz="2400" b="1" dirty="0" smtClean="0"/>
              <a:t>其对应的</a:t>
            </a:r>
            <a:r>
              <a:rPr lang="zh-CN" altLang="zh-CN" sz="2400" b="1" dirty="0" smtClean="0"/>
              <a:t>函数</a:t>
            </a:r>
            <a:r>
              <a:rPr lang="zh-CN" altLang="zh-CN" sz="2400" b="1" dirty="0"/>
              <a:t>结构（推断过程不唯一</a:t>
            </a:r>
            <a:r>
              <a:rPr lang="zh-CN" altLang="zh-CN" sz="2400" b="1" dirty="0" smtClean="0"/>
              <a:t>），</a:t>
            </a:r>
            <a:r>
              <a:rPr lang="zh-CN" altLang="zh-CN" sz="2400" b="1" dirty="0"/>
              <a:t>某些关卡答案不</a:t>
            </a:r>
            <a:r>
              <a:rPr lang="zh-CN" altLang="zh-CN" sz="2400" b="1" dirty="0" smtClean="0"/>
              <a:t>唯一</a:t>
            </a:r>
            <a:r>
              <a:rPr lang="zh-CN" altLang="en-US" sz="2400" b="1" dirty="0"/>
              <a:t>；</a:t>
            </a:r>
            <a:endParaRPr lang="en-US" altLang="zh-CN" sz="2400" b="1" dirty="0" smtClean="0"/>
          </a:p>
          <a:p>
            <a:r>
              <a:rPr lang="zh-CN" altLang="en-US" sz="2400" b="1" dirty="0"/>
              <a:t>尽力而为，能通几关就几</a:t>
            </a:r>
            <a:r>
              <a:rPr lang="zh-CN" altLang="en-US" sz="2400" b="1" dirty="0" smtClean="0"/>
              <a:t>关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实验文档给出了部分关卡的通关思路，可以参考学习。</a:t>
            </a:r>
            <a:endParaRPr lang="en-US" altLang="zh-CN" sz="2400" b="1" dirty="0" smtClean="0"/>
          </a:p>
          <a:p>
            <a:r>
              <a:rPr lang="zh-CN" altLang="en-US" sz="2400" dirty="0" smtClean="0"/>
              <a:t>提示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 smtClean="0"/>
              <a:t>第一</a:t>
            </a:r>
            <a:r>
              <a:rPr lang="zh-CN" altLang="zh-CN" sz="2400" b="1" dirty="0"/>
              <a:t>关（知识点：</a:t>
            </a:r>
            <a:r>
              <a:rPr lang="en-US" altLang="zh-CN" sz="2400" b="1" dirty="0"/>
              <a:t>string</a:t>
            </a:r>
            <a:r>
              <a:rPr lang="zh-CN" altLang="zh-CN" sz="2400" b="1" dirty="0"/>
              <a:t>，函数调用，</a:t>
            </a:r>
            <a:r>
              <a:rPr lang="zh-CN" altLang="zh-CN" sz="2400" b="1"/>
              <a:t>栈</a:t>
            </a:r>
            <a:r>
              <a:rPr lang="zh-CN" altLang="zh-CN" sz="2400" b="1" smtClean="0"/>
              <a:t>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 smtClean="0"/>
              <a:t>第二</a:t>
            </a:r>
            <a:r>
              <a:rPr lang="zh-CN" altLang="zh-CN" sz="2400" b="1" dirty="0"/>
              <a:t>关</a:t>
            </a:r>
            <a:r>
              <a:rPr lang="zh-CN" altLang="zh-CN" sz="2400" b="1" dirty="0" smtClean="0"/>
              <a:t>（</a:t>
            </a:r>
            <a:r>
              <a:rPr lang="zh-CN" altLang="zh-CN" sz="2400" b="1" dirty="0"/>
              <a:t>知识点：</a:t>
            </a:r>
            <a:r>
              <a:rPr lang="zh-CN" altLang="zh-CN" sz="2400" b="1" dirty="0" smtClean="0"/>
              <a:t>循环</a:t>
            </a:r>
            <a:r>
              <a:rPr lang="zh-CN" altLang="zh-CN" sz="2400" b="1" dirty="0"/>
              <a:t>语句，数组</a:t>
            </a:r>
            <a:r>
              <a:rPr lang="zh-CN" altLang="zh-CN" sz="2400" b="1" dirty="0" smtClean="0"/>
              <a:t>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 smtClean="0"/>
              <a:t>第</a:t>
            </a:r>
            <a:r>
              <a:rPr lang="zh-CN" altLang="zh-CN" sz="2400" b="1" dirty="0"/>
              <a:t>三关</a:t>
            </a:r>
            <a:r>
              <a:rPr lang="zh-CN" altLang="zh-CN" sz="2400" b="1" dirty="0" smtClean="0"/>
              <a:t>（</a:t>
            </a:r>
            <a:r>
              <a:rPr lang="zh-CN" altLang="zh-CN" sz="2400" b="1" dirty="0"/>
              <a:t>知识点： </a:t>
            </a:r>
            <a:r>
              <a:rPr lang="en-US" altLang="zh-CN" sz="2400" b="1" dirty="0" smtClean="0"/>
              <a:t>switch</a:t>
            </a:r>
            <a:r>
              <a:rPr lang="zh-CN" altLang="zh-CN" sz="2400" b="1" dirty="0"/>
              <a:t>语句</a:t>
            </a:r>
            <a:r>
              <a:rPr lang="zh-CN" altLang="zh-CN" sz="2400" b="1" dirty="0" smtClean="0"/>
              <a:t>）</a:t>
            </a:r>
            <a:endParaRPr lang="en-US" altLang="zh-CN" sz="2400" b="1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 smtClean="0"/>
              <a:t>第四</a:t>
            </a:r>
            <a:r>
              <a:rPr lang="zh-CN" altLang="zh-CN" sz="2400" b="1" dirty="0"/>
              <a:t>关</a:t>
            </a:r>
            <a:r>
              <a:rPr lang="zh-CN" altLang="zh-CN" sz="2400" b="1" dirty="0" smtClean="0"/>
              <a:t>（</a:t>
            </a:r>
            <a:r>
              <a:rPr lang="zh-CN" altLang="zh-CN" sz="2400" b="1" dirty="0"/>
              <a:t>知识点：</a:t>
            </a:r>
            <a:r>
              <a:rPr lang="zh-CN" altLang="zh-CN" sz="2400" b="1" dirty="0" smtClean="0"/>
              <a:t>递归</a:t>
            </a:r>
            <a:r>
              <a:rPr lang="zh-CN" altLang="zh-CN" sz="2400" b="1" dirty="0" smtClean="0"/>
              <a:t>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 smtClean="0"/>
              <a:t>第五</a:t>
            </a:r>
            <a:r>
              <a:rPr lang="zh-CN" altLang="zh-CN" sz="2400" b="1" dirty="0"/>
              <a:t>关</a:t>
            </a:r>
            <a:r>
              <a:rPr lang="zh-CN" altLang="zh-CN" sz="2400" b="1" dirty="0" smtClean="0"/>
              <a:t>（</a:t>
            </a:r>
            <a:r>
              <a:rPr lang="zh-CN" altLang="zh-CN" sz="2400" b="1" dirty="0"/>
              <a:t>知识点：</a:t>
            </a:r>
            <a:r>
              <a:rPr lang="zh-CN" altLang="zh-CN" sz="2400" b="1" dirty="0" smtClean="0"/>
              <a:t>字</a:t>
            </a:r>
            <a:r>
              <a:rPr lang="zh-CN" altLang="zh-CN" sz="2400" b="1" dirty="0"/>
              <a:t>串变换，</a:t>
            </a:r>
            <a:r>
              <a:rPr lang="en-US" altLang="zh-CN" sz="2400" b="1" dirty="0" err="1"/>
              <a:t>ascii</a:t>
            </a:r>
            <a:r>
              <a:rPr lang="zh-CN" altLang="zh-CN" sz="2400" b="1" dirty="0"/>
              <a:t>转换，寻址</a:t>
            </a:r>
            <a:r>
              <a:rPr lang="zh-CN" altLang="zh-CN" sz="2400" b="1" dirty="0" smtClean="0"/>
              <a:t>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 smtClean="0"/>
              <a:t>第六</a:t>
            </a:r>
            <a:r>
              <a:rPr lang="zh-CN" altLang="zh-CN" sz="2400" b="1" dirty="0"/>
              <a:t>关</a:t>
            </a:r>
            <a:r>
              <a:rPr lang="zh-CN" altLang="zh-CN" sz="2400" b="1" dirty="0" smtClean="0"/>
              <a:t>（</a:t>
            </a:r>
            <a:r>
              <a:rPr lang="zh-CN" altLang="zh-CN" sz="2400" b="1" dirty="0"/>
              <a:t>知识点：</a:t>
            </a:r>
            <a:r>
              <a:rPr lang="zh-CN" altLang="zh-CN" sz="2400" b="1" dirty="0" smtClean="0"/>
              <a:t>寻址</a:t>
            </a:r>
            <a:r>
              <a:rPr lang="zh-CN" altLang="zh-CN" sz="2400" b="1" dirty="0" smtClean="0"/>
              <a:t>）</a:t>
            </a:r>
            <a:endParaRPr lang="en-US" altLang="zh-CN" sz="2400" b="1" dirty="0" smtClean="0"/>
          </a:p>
          <a:p>
            <a:pPr marL="0" indent="0">
              <a:buNone/>
            </a:pPr>
            <a:endParaRPr lang="en-US" altLang="zh-CN" sz="2400" b="1" dirty="0" smtClean="0"/>
          </a:p>
          <a:p>
            <a:pPr marL="0" indent="0">
              <a:buNone/>
            </a:pPr>
            <a:r>
              <a:rPr lang="zh-CN" altLang="en-US" sz="2400" dirty="0" smtClean="0"/>
              <a:t>（第</a:t>
            </a:r>
            <a:r>
              <a:rPr lang="en-US" altLang="zh-CN" sz="2400" dirty="0" smtClean="0"/>
              <a:t>1-5</a:t>
            </a:r>
            <a:r>
              <a:rPr lang="zh-CN" altLang="en-US" sz="2400" dirty="0" smtClean="0"/>
              <a:t>关，各</a:t>
            </a:r>
            <a:r>
              <a:rPr lang="en-US" altLang="zh-CN" sz="2400" dirty="0" smtClean="0"/>
              <a:t>15</a:t>
            </a:r>
            <a:r>
              <a:rPr lang="zh-CN" altLang="en-US" sz="2400" dirty="0" smtClean="0"/>
              <a:t>分。第</a:t>
            </a:r>
            <a:r>
              <a:rPr lang="en-US" altLang="zh-CN" sz="2400" dirty="0" smtClean="0"/>
              <a:t>6</a:t>
            </a:r>
            <a:r>
              <a:rPr lang="zh-CN" altLang="en-US" sz="2400" dirty="0" smtClean="0"/>
              <a:t>关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分。实验总结</a:t>
            </a:r>
            <a:r>
              <a:rPr lang="en-US" altLang="zh-CN" sz="2400" dirty="0" smtClean="0"/>
              <a:t>15</a:t>
            </a:r>
            <a:r>
              <a:rPr lang="zh-CN" altLang="en-US" sz="2400" dirty="0" smtClean="0"/>
              <a:t>分。）</a:t>
            </a:r>
            <a:endParaRPr lang="zh-CN" altLang="zh-CN" sz="2400" dirty="0"/>
          </a:p>
          <a:p>
            <a:pPr marL="0" indent="0"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9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105151" cy="5491981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sz="5100" dirty="0" smtClean="0"/>
              <a:t>输入</a:t>
            </a:r>
            <a:r>
              <a:rPr lang="zh-CN" altLang="zh-CN" sz="5100" dirty="0"/>
              <a:t>反汇编命令查看</a:t>
            </a:r>
            <a:r>
              <a:rPr lang="zh-CN" altLang="zh-CN" sz="5100" dirty="0" smtClean="0"/>
              <a:t>汇编</a:t>
            </a:r>
            <a:r>
              <a:rPr lang="zh-CN" altLang="en-US" sz="5100" dirty="0" smtClean="0"/>
              <a:t>代码（保存在</a:t>
            </a:r>
            <a:r>
              <a:rPr lang="en-US" altLang="zh-CN" sz="5100" dirty="0" smtClean="0"/>
              <a:t>1.txt</a:t>
            </a:r>
            <a:r>
              <a:rPr lang="zh-CN" altLang="en-US" sz="5100" dirty="0" smtClean="0"/>
              <a:t>文件中）</a:t>
            </a:r>
            <a:endParaRPr lang="en-US" altLang="zh-CN" sz="5100" dirty="0" smtClean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5100" i="1" dirty="0" smtClean="0"/>
              <a:t>$ </a:t>
            </a:r>
            <a:r>
              <a:rPr lang="en-US" altLang="zh-CN" sz="5100" i="1" dirty="0" err="1" smtClean="0"/>
              <a:t>objdump</a:t>
            </a:r>
            <a:r>
              <a:rPr lang="en-US" altLang="zh-CN" sz="5100" i="1" dirty="0" smtClean="0"/>
              <a:t> -d bomb &gt;</a:t>
            </a:r>
            <a:r>
              <a:rPr lang="en-US" altLang="zh-CN" sz="5100" i="1" dirty="0"/>
              <a:t> </a:t>
            </a:r>
            <a:r>
              <a:rPr lang="en-US" altLang="zh-CN" sz="5100" i="1" dirty="0" smtClean="0"/>
              <a:t>1.tx</a:t>
            </a:r>
            <a:r>
              <a:rPr lang="en-US" altLang="zh-CN" sz="5100" i="1" dirty="0"/>
              <a:t>t</a:t>
            </a:r>
            <a:endParaRPr lang="en-US" altLang="zh-CN" sz="5100" i="1" dirty="0" smtClean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5100" dirty="0" smtClean="0"/>
              <a:t>首先找到</a:t>
            </a:r>
            <a:r>
              <a:rPr lang="en-US" altLang="zh-CN" sz="5100" dirty="0"/>
              <a:t>main</a:t>
            </a:r>
            <a:r>
              <a:rPr lang="zh-CN" altLang="en-US" sz="5100" dirty="0"/>
              <a:t>函数，发现它调用了从</a:t>
            </a:r>
            <a:r>
              <a:rPr lang="en-US" altLang="zh-CN" sz="5100" dirty="0"/>
              <a:t>phase1</a:t>
            </a:r>
            <a:r>
              <a:rPr lang="zh-CN" altLang="en-US" sz="5100" dirty="0"/>
              <a:t>到</a:t>
            </a:r>
            <a:r>
              <a:rPr lang="en-US" altLang="zh-CN" sz="5100" dirty="0"/>
              <a:t>phase6</a:t>
            </a:r>
            <a:r>
              <a:rPr lang="zh-CN" altLang="en-US" sz="5100" dirty="0"/>
              <a:t>这六个函数</a:t>
            </a:r>
            <a:r>
              <a:rPr lang="zh-CN" altLang="en-US" sz="5100" dirty="0" smtClean="0"/>
              <a:t>。再找到</a:t>
            </a:r>
            <a:r>
              <a:rPr lang="en-US" altLang="zh-CN" sz="5100" dirty="0" smtClean="0"/>
              <a:t>phase1</a:t>
            </a:r>
            <a:r>
              <a:rPr lang="zh-CN" altLang="en-US" sz="5100" dirty="0" smtClean="0"/>
              <a:t>，代码如下：（举例分析）</a:t>
            </a:r>
            <a:endParaRPr lang="zh-CN" altLang="zh-CN" sz="5100" dirty="0" smtClean="0"/>
          </a:p>
          <a:p>
            <a:pPr marL="0" indent="0">
              <a:buNone/>
            </a:pPr>
            <a:r>
              <a:rPr lang="en-US" altLang="zh-CN" sz="2900" b="1" dirty="0"/>
              <a:t>08048b1c &lt;phase_1&gt;: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8048b1c:	55                   	push   %</a:t>
            </a:r>
            <a:r>
              <a:rPr lang="en-US" altLang="zh-CN" sz="2900" b="1" dirty="0" err="1"/>
              <a:t>ebp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8048b1d:	89 e5                	</a:t>
            </a:r>
            <a:r>
              <a:rPr lang="en-US" altLang="zh-CN" sz="2900" b="1" dirty="0" err="1"/>
              <a:t>mov</a:t>
            </a:r>
            <a:r>
              <a:rPr lang="en-US" altLang="zh-CN" sz="2900" b="1" dirty="0"/>
              <a:t>    %</a:t>
            </a:r>
            <a:r>
              <a:rPr lang="en-US" altLang="zh-CN" sz="2900" b="1" dirty="0" err="1"/>
              <a:t>esp</a:t>
            </a:r>
            <a:r>
              <a:rPr lang="en-US" altLang="zh-CN" sz="2900" b="1" dirty="0"/>
              <a:t>,%</a:t>
            </a:r>
            <a:r>
              <a:rPr lang="en-US" altLang="zh-CN" sz="2900" b="1" dirty="0" err="1"/>
              <a:t>ebp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8048b1f:	83 </a:t>
            </a:r>
            <a:r>
              <a:rPr lang="en-US" altLang="zh-CN" sz="2900" b="1" dirty="0" err="1"/>
              <a:t>ec</a:t>
            </a:r>
            <a:r>
              <a:rPr lang="en-US" altLang="zh-CN" sz="2900" b="1" dirty="0"/>
              <a:t> 10             	sub    $0x10,%esp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8048b22:	68 78 96 04 08       	push   $0x8049678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8048b27:	</a:t>
            </a:r>
            <a:r>
              <a:rPr lang="en-US" altLang="zh-CN" sz="2900" b="1" dirty="0" err="1"/>
              <a:t>ff</a:t>
            </a:r>
            <a:r>
              <a:rPr lang="en-US" altLang="zh-CN" sz="2900" b="1" dirty="0"/>
              <a:t> 75 08             	</a:t>
            </a:r>
            <a:r>
              <a:rPr lang="en-US" altLang="zh-CN" sz="2900" b="1" dirty="0" err="1"/>
              <a:t>pushl</a:t>
            </a:r>
            <a:r>
              <a:rPr lang="en-US" altLang="zh-CN" sz="2900" b="1" dirty="0"/>
              <a:t>  0x8(%</a:t>
            </a:r>
            <a:r>
              <a:rPr lang="en-US" altLang="zh-CN" sz="2900" b="1" dirty="0" err="1"/>
              <a:t>ebp</a:t>
            </a:r>
            <a:r>
              <a:rPr lang="en-US" altLang="zh-CN" sz="2900" b="1" dirty="0"/>
              <a:t>)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8048b2a:	e8 00 04 00 00       	call   8048f2f &lt;</a:t>
            </a:r>
            <a:r>
              <a:rPr lang="en-US" altLang="zh-CN" sz="2900" b="1" dirty="0" err="1"/>
              <a:t>strings_not_equal</a:t>
            </a:r>
            <a:r>
              <a:rPr lang="en-US" altLang="zh-CN" sz="2900" b="1" dirty="0"/>
              <a:t>&gt;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8048b2f:	83 c4 10             	add    $0x10,%esp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8048b32:	85 c0                	test   %</a:t>
            </a:r>
            <a:r>
              <a:rPr lang="en-US" altLang="zh-CN" sz="2900" b="1" dirty="0" err="1"/>
              <a:t>eax</a:t>
            </a:r>
            <a:r>
              <a:rPr lang="en-US" altLang="zh-CN" sz="2900" b="1" dirty="0"/>
              <a:t>,%</a:t>
            </a:r>
            <a:r>
              <a:rPr lang="en-US" altLang="zh-CN" sz="2900" b="1" dirty="0" err="1"/>
              <a:t>eax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8048b34:	74 05                	je     8048b3b &lt;phase_1+0x1f&gt;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8048b36:	e8 b1 08 00 00       	</a:t>
            </a:r>
            <a:r>
              <a:rPr lang="en-US" altLang="zh-CN" sz="2900" b="1" dirty="0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call   80493ec &lt;</a:t>
            </a:r>
            <a:r>
              <a:rPr lang="en-US" altLang="zh-CN" sz="2900" b="1"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explode_bomb</a:t>
            </a:r>
            <a:r>
              <a:rPr lang="en-US" altLang="zh-CN" sz="2900" b="1" dirty="0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&gt;</a:t>
            </a:r>
            <a:endParaRPr lang="zh-CN" altLang="zh-CN" sz="2900"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2900" b="1" dirty="0"/>
              <a:t> 8048b3b:	c9                   	leave  </a:t>
            </a:r>
            <a:endParaRPr lang="zh-CN" altLang="zh-CN" sz="2900" dirty="0"/>
          </a:p>
          <a:p>
            <a:pPr marL="0" indent="0">
              <a:buNone/>
            </a:pPr>
            <a:r>
              <a:rPr lang="en-US" altLang="zh-CN" sz="2900" b="1" dirty="0"/>
              <a:t> 8048b3c:	c3                   	ret </a:t>
            </a:r>
            <a:endParaRPr lang="zh-CN" altLang="zh-CN" sz="2900" dirty="0"/>
          </a:p>
        </p:txBody>
      </p:sp>
      <p:sp>
        <p:nvSpPr>
          <p:cNvPr id="5" name="矩形标注 4"/>
          <p:cNvSpPr/>
          <p:nvPr/>
        </p:nvSpPr>
        <p:spPr>
          <a:xfrm>
            <a:off x="6456887" y="5433133"/>
            <a:ext cx="2157274" cy="1260629"/>
          </a:xfrm>
          <a:prstGeom prst="wedgeRectCallout">
            <a:avLst>
              <a:gd name="adj1" fmla="val -82319"/>
              <a:gd name="adj2" fmla="val -1688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引导程序跳转到“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，分析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其成功跳转的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6100" y="4074850"/>
            <a:ext cx="6238683" cy="7901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406499" y="4074850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字符串比较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727969" y="5433133"/>
            <a:ext cx="41369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25012" y="5063801"/>
            <a:ext cx="2521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测试</a:t>
            </a:r>
            <a:r>
              <a:rPr lang="en-US" altLang="zh-CN" b="1" dirty="0" smtClean="0">
                <a:solidFill>
                  <a:srgbClr val="FF0000"/>
                </a:solidFill>
              </a:rPr>
              <a:t>%</a:t>
            </a:r>
            <a:r>
              <a:rPr lang="en-US" altLang="zh-CN" b="1" dirty="0" err="1" smtClean="0">
                <a:solidFill>
                  <a:srgbClr val="FF0000"/>
                </a:solidFill>
              </a:rPr>
              <a:t>eax</a:t>
            </a:r>
            <a:r>
              <a:rPr lang="en-US" altLang="zh-CN" b="1" dirty="0" smtClean="0">
                <a:solidFill>
                  <a:srgbClr val="FF0000"/>
                </a:solidFill>
              </a:rPr>
              <a:t>==0, </a:t>
            </a:r>
            <a:r>
              <a:rPr lang="zh-CN" altLang="en-US" b="1" dirty="0" smtClean="0">
                <a:solidFill>
                  <a:srgbClr val="FF0000"/>
                </a:solidFill>
              </a:rPr>
              <a:t>相等为</a:t>
            </a:r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40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en-US" dirty="0" smtClean="0"/>
              <a:t>步骤（续）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2"/>
            <a:ext cx="8262793" cy="5267384"/>
          </a:xfrm>
        </p:spPr>
        <p:txBody>
          <a:bodyPr/>
          <a:lstStyle/>
          <a:p>
            <a:pPr marL="355600" indent="-355600">
              <a:buFont typeface="+mj-lt"/>
              <a:buAutoNum type="arabicPeriod" startAt="3"/>
            </a:pPr>
            <a:r>
              <a:rPr lang="zh-CN" altLang="en-US" sz="2400" dirty="0"/>
              <a:t>利用</a:t>
            </a:r>
            <a:r>
              <a:rPr lang="en-US" altLang="zh-CN" sz="2400" dirty="0" err="1" smtClean="0"/>
              <a:t>gdb</a:t>
            </a:r>
            <a:r>
              <a:rPr lang="zh-CN" altLang="en-US" sz="2400" dirty="0" smtClean="0"/>
              <a:t>调试工具来破解</a:t>
            </a:r>
            <a:r>
              <a:rPr lang="en-US" altLang="zh-CN" sz="2400" dirty="0" smtClean="0"/>
              <a:t>Phase1</a:t>
            </a:r>
            <a:r>
              <a:rPr lang="zh-CN" altLang="en-US" sz="2400" dirty="0" smtClean="0"/>
              <a:t>中的神秘字符串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i="1" dirty="0" smtClean="0"/>
              <a:t>$ </a:t>
            </a:r>
            <a:r>
              <a:rPr lang="en-US" altLang="zh-CN" i="1" dirty="0" err="1" smtClean="0"/>
              <a:t>gdb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 bomb</a:t>
            </a:r>
          </a:p>
          <a:p>
            <a:pPr marL="355600" indent="-355600">
              <a:buFont typeface="+mj-lt"/>
              <a:buAutoNum type="arabicPeriod" startAt="4"/>
            </a:pPr>
            <a:r>
              <a:rPr lang="zh-CN" altLang="en-US" sz="2400" dirty="0"/>
              <a:t>在</a:t>
            </a:r>
            <a:r>
              <a:rPr lang="en-US" altLang="zh-CN" sz="2400" dirty="0"/>
              <a:t>0x8048b22</a:t>
            </a:r>
            <a:r>
              <a:rPr lang="zh-CN" altLang="en-US" sz="2400" dirty="0" smtClean="0"/>
              <a:t>处</a:t>
            </a:r>
            <a:r>
              <a:rPr lang="zh-CN" altLang="en-US" sz="2400" dirty="0"/>
              <a:t>设置</a:t>
            </a:r>
            <a:r>
              <a:rPr lang="zh-CN" altLang="en-US" sz="2400" dirty="0" smtClean="0"/>
              <a:t>断点，运行并打印</a:t>
            </a:r>
            <a:r>
              <a:rPr lang="en-US" altLang="zh-CN" sz="2400" dirty="0"/>
              <a:t>0x8049678</a:t>
            </a:r>
            <a:r>
              <a:rPr lang="zh-CN" altLang="en-US" sz="2400" dirty="0" smtClean="0"/>
              <a:t>地址的</a:t>
            </a:r>
            <a:r>
              <a:rPr lang="zh-CN" altLang="en-US" sz="2400" dirty="0"/>
              <a:t>值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 smtClean="0"/>
              <a:t>记录答案，对下一关进行破解。</a:t>
            </a:r>
            <a:endParaRPr lang="en-US" altLang="zh-CN" sz="2400" dirty="0" smtClean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 smtClean="0"/>
              <a:t>若输入错误答案，则会引爆炸弹。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52" y="2523719"/>
            <a:ext cx="3248478" cy="51442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52" y="3565673"/>
            <a:ext cx="5562600" cy="4191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23652" y="3099485"/>
            <a:ext cx="3248478" cy="369332"/>
          </a:xfrm>
          <a:prstGeom prst="rect">
            <a:avLst/>
          </a:prstGeom>
          <a:solidFill>
            <a:srgbClr val="1C1C1C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 err="1" smtClean="0">
                <a:solidFill>
                  <a:schemeClr val="bg1"/>
                </a:solidFill>
              </a:rPr>
              <a:t>gdb</a:t>
            </a:r>
            <a:r>
              <a:rPr lang="en-US" altLang="zh-CN" dirty="0" smtClean="0">
                <a:solidFill>
                  <a:schemeClr val="bg1"/>
                </a:solidFill>
              </a:rPr>
              <a:t>)  r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7" name="图片 6" descr="C:\Users\Administrator\Desktop\phase_1.3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52" y="4939835"/>
            <a:ext cx="4362450" cy="1590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042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426</Words>
  <Application>Microsoft Office PowerPoint</Application>
  <PresentationFormat>全屏显示(4:3)</PresentationFormat>
  <Paragraphs>51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黑体</vt:lpstr>
      <vt:lpstr>宋体</vt:lpstr>
      <vt:lpstr>Arial</vt:lpstr>
      <vt:lpstr>Calibri</vt:lpstr>
      <vt:lpstr>Times New Roman</vt:lpstr>
      <vt:lpstr>Office 主题</vt:lpstr>
      <vt:lpstr>实验三：逆向工程实验</vt:lpstr>
      <vt:lpstr>实验介绍：</vt:lpstr>
      <vt:lpstr>实验说明</vt:lpstr>
      <vt:lpstr>实验步骤</vt:lpstr>
      <vt:lpstr>实验步骤（续）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Guanquan Lin</cp:lastModifiedBy>
  <cp:revision>38</cp:revision>
  <dcterms:created xsi:type="dcterms:W3CDTF">2016-03-28T08:52:44Z</dcterms:created>
  <dcterms:modified xsi:type="dcterms:W3CDTF">2018-04-13T02:33:07Z</dcterms:modified>
</cp:coreProperties>
</file>