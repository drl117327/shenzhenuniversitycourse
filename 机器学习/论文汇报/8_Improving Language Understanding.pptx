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393" r:id="rId5"/>
    <p:sldId id="643" r:id="rId6"/>
    <p:sldId id="647" r:id="rId7"/>
    <p:sldId id="646" r:id="rId8"/>
    <p:sldId id="648" r:id="rId9"/>
    <p:sldId id="649" r:id="rId10"/>
    <p:sldId id="1220" r:id="rId11"/>
    <p:sldId id="654" r:id="rId12"/>
    <p:sldId id="1221" r:id="rId13"/>
    <p:sldId id="1223" r:id="rId14"/>
    <p:sldId id="1222" r:id="rId15"/>
    <p:sldId id="1224" r:id="rId16"/>
    <p:sldId id="1225" r:id="rId17"/>
    <p:sldId id="1226" r:id="rId18"/>
    <p:sldId id="1219" r:id="rId19"/>
    <p:sldId id="658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708" userDrawn="1">
          <p15:clr>
            <a:srgbClr val="747775"/>
          </p15:clr>
        </p15:guide>
        <p15:guide id="2" pos="287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A"/>
    <a:srgbClr val="165DFF"/>
    <a:srgbClr val="FF7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3829" autoAdjust="0"/>
  </p:normalViewPr>
  <p:slideViewPr>
    <p:cSldViewPr snapToGrid="0" showGuides="1">
      <p:cViewPr>
        <p:scale>
          <a:sx n="53" d="100"/>
          <a:sy n="53" d="100"/>
        </p:scale>
        <p:origin x="68" y="1296"/>
      </p:cViewPr>
      <p:guideLst>
        <p:guide orient="horz" pos="1708"/>
        <p:guide pos="2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7268E1E-0E44-426D-905E-8AD9B19D2182}" type="datetimeFigureOut">
              <a:rPr lang="cs-CZ" smtClean="0"/>
            </a:fld>
            <a:endParaRPr lang="cs-C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71B2431-D351-4C6E-A3CF-9DFAC0E3E050}" type="slidenum">
              <a:rPr lang="cs-CZ" smtClean="0"/>
            </a:fld>
            <a:endParaRPr lang="cs-CZ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  <a:endParaRPr lang="cs-C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  <a:endParaRPr lang="cs-CZ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 dirty="0"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 dirty="0"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 dirty="0"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22DE-872A-4FED-AB0B-502B88775D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70C0">
                <a:lumMod val="10000"/>
                <a:lumOff val="90000"/>
              </a:srgbClr>
            </a:gs>
            <a:gs pos="100000">
              <a:srgbClr val="0070C0">
                <a:lumMod val="30000"/>
                <a:lumOff val="7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 dirty="0"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 dirty="0"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 lang="zh-CN" altLang="en-US" dirty="0"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 lang="zh-CN" altLang="en-US" dirty="0"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8020" y="108839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80260" y="1856740"/>
            <a:ext cx="8188960" cy="15316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altLang="zh-CN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653540" y="3995420"/>
            <a:ext cx="9042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3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1540" y="437642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542540" y="431292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/>
                <a:sym typeface="Noto Sans SC"/>
              </a:rPr>
              <a:t>时间：</a:t>
            </a:r>
            <a:r>
              <a:rPr lang="en-US" altLang="zh-CN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/>
                <a:sym typeface="Noto Sans SC"/>
              </a:rPr>
              <a:t>2026.6.16</a:t>
            </a:r>
            <a:endParaRPr lang="en-US" altLang="zh-CN" sz="1600" b="0" i="0" u="none" strike="noStrike" dirty="0">
              <a:solidFill>
                <a:srgbClr val="0070C0"/>
              </a:solidFill>
              <a:latin typeface="+mj-ea"/>
              <a:ea typeface="+mj-ea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6990" y="437642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07990" y="431292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/>
                <a:sym typeface="Noto Sans SC"/>
              </a:rPr>
              <a:t>组号：</a:t>
            </a:r>
            <a:r>
              <a:rPr lang="en-US" altLang="zh-CN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/>
                <a:sym typeface="Noto Sans SC"/>
              </a:rPr>
              <a:t>8</a:t>
            </a:r>
            <a:endParaRPr lang="en-US" altLang="zh-CN" sz="1600" b="0" i="0" u="none" strike="noStrike" dirty="0">
              <a:solidFill>
                <a:srgbClr val="0070C0"/>
              </a:solidFill>
              <a:latin typeface="+mj-ea"/>
              <a:ea typeface="+mj-ea"/>
              <a:cs typeface="Noto Sans SC"/>
              <a:sym typeface="Noto Sans SC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8605" y="437642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87080" y="4312920"/>
            <a:ext cx="23082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0070C0"/>
                </a:solidFill>
                <a:latin typeface="+mj-ea"/>
                <a:ea typeface="+mj-ea"/>
              </a:rPr>
              <a:t>成员：邓瑞霖</a:t>
            </a:r>
            <a:r>
              <a:rPr lang="en-US" altLang="zh-CN" sz="1600" dirty="0">
                <a:solidFill>
                  <a:srgbClr val="0070C0"/>
                </a:solidFill>
                <a:latin typeface="+mj-ea"/>
                <a:ea typeface="+mj-ea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+mj-ea"/>
                <a:ea typeface="+mj-ea"/>
              </a:rPr>
              <a:t>李圣元</a:t>
            </a:r>
            <a:endParaRPr lang="zh-CN" altLang="en-US" sz="16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AutoShape 5"/>
          <p:cNvSpPr/>
          <p:nvPr/>
        </p:nvSpPr>
        <p:spPr>
          <a:xfrm>
            <a:off x="3560445" y="1727200"/>
            <a:ext cx="5880735" cy="2268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Improving Language Understanding  </a:t>
            </a:r>
            <a:endParaRPr lang="en-US" altLang="zh-CN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by Generative Pre-Training</a:t>
            </a:r>
            <a:endParaRPr lang="en-US" altLang="zh-CN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altLang="zh-CN" sz="3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2080260" y="1856740"/>
            <a:ext cx="8188960" cy="22679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背景介绍</a:t>
            </a:r>
            <a:endParaRPr lang="en-US" altLang="zh-CN" sz="4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微软雅黑" charset="0"/>
                <a:ea typeface="微软雅黑" charset="0"/>
                <a:sym typeface="Poppins"/>
              </a:rPr>
              <a:t>背景介绍</a:t>
            </a:r>
            <a:endParaRPr lang="zh-CN" altLang="en-US" sz="3600" b="1" dirty="0">
              <a:solidFill>
                <a:srgbClr val="0070C0"/>
              </a:solidFill>
              <a:latin typeface="微软雅黑" charset="0"/>
              <a:ea typeface="微软雅黑" charset="0"/>
              <a:sym typeface="Poppins"/>
            </a:endParaRPr>
          </a:p>
        </p:txBody>
      </p:sp>
      <p:sp>
        <p:nvSpPr>
          <p:cNvPr id="6" name="AutoShape 8"/>
          <p:cNvSpPr/>
          <p:nvPr/>
        </p:nvSpPr>
        <p:spPr>
          <a:xfrm>
            <a:off x="431800" y="995045"/>
            <a:ext cx="10930890" cy="1716405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>
                <a:latin typeface="微软雅黑" charset="0"/>
                <a:ea typeface="微软雅黑" charset="0"/>
                <a:cs typeface="微软雅黑" charset="0"/>
              </a:rPr>
              <a:t>研究领域大背景</a:t>
            </a:r>
            <a:endParaRPr lang="zh-CN" altLang="en-US" b="1" dirty="0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自然语言理解（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NLU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）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——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让计算机理解、推理和生成人类语言，涵盖文本分类、语义相似度、自然语言推理、问答、阅读理解等下游任务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存在的问题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：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如何有效地从大规模无标注语料中学习通用语言表示，再迁移到下游特定任务，实现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"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预训练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微调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"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范式的有效性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AutoShape 8"/>
          <p:cNvSpPr/>
          <p:nvPr/>
        </p:nvSpPr>
        <p:spPr>
          <a:xfrm>
            <a:off x="431800" y="3429000"/>
            <a:ext cx="3340735" cy="3251200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  <a:buNone/>
            </a:pPr>
            <a:endParaRPr lang="zh-CN" altLang="en-US" dirty="0">
              <a:latin typeface="微软雅黑" charset="0"/>
              <a:ea typeface="微软雅黑" charset="0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4226560" y="3429000"/>
            <a:ext cx="3340735" cy="3251200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  <a:buNone/>
            </a:pPr>
            <a:endParaRPr lang="zh-CN" altLang="en-US" dirty="0">
              <a:latin typeface="微软雅黑" charset="0"/>
              <a:ea typeface="微软雅黑" charset="0"/>
            </a:endParaRPr>
          </a:p>
        </p:txBody>
      </p:sp>
      <p:sp>
        <p:nvSpPr>
          <p:cNvPr id="5" name="AutoShape 8"/>
          <p:cNvSpPr/>
          <p:nvPr/>
        </p:nvSpPr>
        <p:spPr>
          <a:xfrm>
            <a:off x="7894320" y="3429000"/>
            <a:ext cx="3340735" cy="3251200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  <a:buNone/>
            </a:pPr>
            <a:endParaRPr lang="zh-CN" altLang="en-US" dirty="0">
              <a:latin typeface="微软雅黑" charset="0"/>
              <a:ea typeface="微软雅黑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1800" y="30302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charset="0"/>
                <a:ea typeface="微软雅黑" charset="0"/>
              </a:rPr>
              <a:t>相关动作</a:t>
            </a:r>
            <a:r>
              <a:rPr lang="en-US" altLang="zh-CN" sz="2400" b="1">
                <a:latin typeface="微软雅黑" charset="0"/>
                <a:ea typeface="微软雅黑" charset="0"/>
              </a:rPr>
              <a:t>：</a:t>
            </a:r>
            <a:endParaRPr lang="en-US" altLang="zh-CN" sz="2400" b="1">
              <a:latin typeface="微软雅黑" charset="0"/>
              <a:ea typeface="微软雅黑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8490" y="3616325"/>
            <a:ext cx="2978785" cy="398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半监督学习与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NLP</a:t>
            </a:r>
            <a:endParaRPr lang="en-US" altLang="zh-CN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8490" y="4110355"/>
            <a:ext cx="2978785" cy="2431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早期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：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利用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无标注数据计算词级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短语级统计特征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作为监督模型的附加特征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词嵌入时代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：Word2Vec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GloVe: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证明了无监督词表示的价值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但仅传递词级信息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无法捕获高层语意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句子级嵌入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：Skip-thought、inferSent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尝试学习更高层语义表示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28490" y="3616325"/>
            <a:ext cx="2978785" cy="398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>
                <a:latin typeface="微软雅黑" charset="0"/>
                <a:ea typeface="微软雅黑" charset="0"/>
              </a:rPr>
              <a:t>无监督预训练</a:t>
            </a:r>
            <a:endParaRPr lang="zh-CN" altLang="en-US" sz="2000" b="1">
              <a:latin typeface="微软雅黑" charset="0"/>
              <a:ea typeface="微软雅黑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28490" y="4110355"/>
            <a:ext cx="2978785" cy="2431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微软雅黑" charset="0"/>
                <a:ea typeface="微软雅黑" charset="0"/>
              </a:rPr>
              <a:t>起源</a:t>
            </a:r>
            <a:r>
              <a:rPr lang="en-US" altLang="zh-CN">
                <a:latin typeface="微软雅黑" charset="0"/>
                <a:ea typeface="微软雅黑" charset="0"/>
              </a:rPr>
              <a:t>：</a:t>
            </a:r>
            <a:r>
              <a:rPr lang="zh-CN" altLang="en-US">
                <a:latin typeface="微软雅黑" charset="0"/>
                <a:ea typeface="微软雅黑" charset="0"/>
              </a:rPr>
              <a:t>图像领域的逐层贪心预训练</a:t>
            </a:r>
            <a:endParaRPr lang="zh-CN" altLang="en-US">
              <a:latin typeface="微软雅黑" charset="0"/>
              <a:ea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</a:rPr>
              <a:t>应用扩展</a:t>
            </a:r>
            <a:r>
              <a:rPr lang="en-US" altLang="zh-CN">
                <a:latin typeface="微软雅黑" charset="0"/>
                <a:ea typeface="微软雅黑" charset="0"/>
              </a:rPr>
              <a:t>：</a:t>
            </a:r>
            <a:r>
              <a:rPr lang="zh-CN" altLang="en-US">
                <a:latin typeface="微软雅黑" charset="0"/>
                <a:ea typeface="微软雅黑" charset="0"/>
              </a:rPr>
              <a:t>图像分类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语音识别图像分类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实体消歧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机器翻译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111490" y="3616325"/>
            <a:ext cx="2978785" cy="398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>
                <a:latin typeface="微软雅黑" charset="0"/>
                <a:ea typeface="微软雅黑" charset="0"/>
              </a:rPr>
              <a:t>与本文相关的工作</a:t>
            </a:r>
            <a:endParaRPr lang="zh-CN" altLang="en-US" sz="2000" b="1">
              <a:latin typeface="微软雅黑" charset="0"/>
              <a:ea typeface="微软雅黑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111490" y="4110355"/>
            <a:ext cx="2978785" cy="2431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Dai %&amp; Le: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语言建模预训练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微调做文本分类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但使用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LSTM，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长程依赖捕获能力有限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Howard &amp; Ruder: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同样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LSTM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架构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提出渐进式解冻等微调技巧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/>
          <p:nvPr/>
        </p:nvSpPr>
        <p:spPr>
          <a:xfrm>
            <a:off x="2080260" y="1856740"/>
            <a:ext cx="8188960" cy="22679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问题与动机</a:t>
            </a:r>
            <a:endParaRPr lang="en-US" altLang="zh-CN" sz="4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微软雅黑" charset="0"/>
                <a:ea typeface="微软雅黑" charset="0"/>
                <a:sym typeface="Poppins"/>
              </a:rPr>
              <a:t>问题与动机</a:t>
            </a:r>
            <a:endParaRPr lang="zh-CN" altLang="en-US" sz="3600" b="1" dirty="0">
              <a:solidFill>
                <a:srgbClr val="0070C0"/>
              </a:solidFill>
              <a:latin typeface="微软雅黑" charset="0"/>
              <a:ea typeface="微软雅黑" charset="0"/>
              <a:sym typeface="Poppins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431165" y="1079500"/>
            <a:ext cx="10964545" cy="3289935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latin typeface="微软雅黑" charset="0"/>
              <a:ea typeface="微软雅黑" charset="0"/>
            </a:endParaRPr>
          </a:p>
        </p:txBody>
      </p:sp>
      <p:sp>
        <p:nvSpPr>
          <p:cNvPr id="5" name="AutoShape 8"/>
          <p:cNvSpPr/>
          <p:nvPr/>
        </p:nvSpPr>
        <p:spPr>
          <a:xfrm>
            <a:off x="476250" y="4919345"/>
            <a:ext cx="10918190" cy="1415415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latin typeface="微软雅黑" charset="0"/>
              <a:ea typeface="微软雅黑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7220" y="1296035"/>
            <a:ext cx="1077658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核心矛盾</a:t>
            </a:r>
            <a:r>
              <a:rPr lang="en-US" altLang="zh-CN" sz="2400" b="1">
                <a:latin typeface="微软雅黑" charset="0"/>
                <a:ea typeface="微软雅黑" charset="0"/>
                <a:cs typeface="微软雅黑" charset="0"/>
              </a:rPr>
              <a:t>：</a:t>
            </a:r>
            <a:endParaRPr lang="en-US" altLang="zh-CN" sz="2400" b="1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自然语言理解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（NLU）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任务种类繁多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 --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文本蕴含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问答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语义相似度评估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文档分类等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但标注数据稀缺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而大规模无标注文本却极为丰富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28040" y="2426335"/>
            <a:ext cx="4265295" cy="155257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29335" y="2586990"/>
            <a:ext cx="3928110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800">
                <a:latin typeface="微软雅黑" charset="0"/>
                <a:ea typeface="微软雅黑" charset="0"/>
                <a:cs typeface="微软雅黑" charset="0"/>
              </a:rPr>
              <a:t>不确定性</a:t>
            </a:r>
            <a:r>
              <a:rPr lang="en-US" altLang="zh-CN" sz="1800">
                <a:latin typeface="微软雅黑" charset="0"/>
                <a:ea typeface="微软雅黑" charset="0"/>
                <a:cs typeface="微软雅黑" charset="0"/>
              </a:rPr>
              <a:t>1 ---- </a:t>
            </a:r>
            <a:r>
              <a:rPr lang="zh-CN" altLang="en-US" sz="1800">
                <a:latin typeface="微软雅黑" charset="0"/>
                <a:ea typeface="微软雅黑" charset="0"/>
                <a:cs typeface="微软雅黑" charset="0"/>
              </a:rPr>
              <a:t>优化目标选择</a:t>
            </a:r>
            <a:r>
              <a:rPr lang="en-US" altLang="zh-CN" sz="1800">
                <a:latin typeface="微软雅黑" charset="0"/>
                <a:ea typeface="微软雅黑" charset="0"/>
                <a:cs typeface="微软雅黑" charset="0"/>
              </a:rPr>
              <a:t>：</a:t>
            </a:r>
            <a:endParaRPr lang="en-US" altLang="zh-CN" sz="1800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何种无监督目标最适合学习可迁移的文本表示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？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语言建模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机器翻译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语篇连贯等各有优势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不同目标在不同任务上表现不一致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89040" y="2426335"/>
            <a:ext cx="4265295" cy="155257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90335" y="2586990"/>
            <a:ext cx="3928110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800">
                <a:latin typeface="微软雅黑" charset="0"/>
                <a:ea typeface="微软雅黑" charset="0"/>
                <a:cs typeface="微软雅黑" charset="0"/>
              </a:rPr>
              <a:t>不确定性</a:t>
            </a:r>
            <a:r>
              <a:rPr lang="en-US" altLang="zh-CN" sz="1800">
                <a:latin typeface="微软雅黑" charset="0"/>
                <a:ea typeface="微软雅黑" charset="0"/>
                <a:cs typeface="微软雅黑" charset="0"/>
              </a:rPr>
              <a:t>2 ---- </a:t>
            </a:r>
            <a:r>
              <a:rPr lang="zh-CN" altLang="en-US" sz="1800">
                <a:latin typeface="微软雅黑" charset="0"/>
                <a:ea typeface="微软雅黑" charset="0"/>
                <a:cs typeface="微软雅黑" charset="0"/>
              </a:rPr>
              <a:t>迁移方式</a:t>
            </a:r>
            <a:r>
              <a:rPr lang="en-US" altLang="zh-CN" sz="1800">
                <a:latin typeface="微软雅黑" charset="0"/>
                <a:ea typeface="微软雅黑" charset="0"/>
                <a:cs typeface="微软雅黑" charset="0"/>
              </a:rPr>
              <a:t>：</a:t>
            </a:r>
            <a:endParaRPr lang="en-US" altLang="zh-CN" sz="1800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如何最有效地将学到的表示迁移到目标任务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？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现有方法需要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：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修改模型架构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使用复杂学习方案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添加辅助学习目标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7220" y="50247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charset="0"/>
                <a:ea typeface="微软雅黑" charset="0"/>
              </a:rPr>
              <a:t>本文方案</a:t>
            </a:r>
            <a:r>
              <a:rPr lang="en-US" altLang="zh-CN" sz="2400" b="1">
                <a:latin typeface="微软雅黑" charset="0"/>
                <a:ea typeface="微软雅黑" charset="0"/>
              </a:rPr>
              <a:t>：</a:t>
            </a:r>
            <a:endParaRPr lang="en-US" altLang="zh-CN" sz="2400" b="1">
              <a:latin typeface="微软雅黑" charset="0"/>
              <a:ea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7220" y="5508625"/>
            <a:ext cx="103193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提出生成式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预训练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无监督语言建模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）+ 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判别式微调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有监督任务适配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）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的两阶段框架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以统一架构处理多种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NLU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任务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67715" y="5892800"/>
            <a:ext cx="75565" cy="3765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43280" y="5923280"/>
            <a:ext cx="9066530" cy="306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微软雅黑" charset="0"/>
                <a:ea typeface="微软雅黑" charset="0"/>
              </a:rPr>
              <a:t>关键创新</a:t>
            </a:r>
            <a:r>
              <a:rPr lang="en-US" altLang="zh-CN">
                <a:latin typeface="微软雅黑" charset="0"/>
                <a:ea typeface="微软雅黑" charset="0"/>
              </a:rPr>
              <a:t>：</a:t>
            </a:r>
            <a:r>
              <a:rPr lang="zh-CN" altLang="en-US">
                <a:latin typeface="微软雅黑" charset="0"/>
                <a:ea typeface="微软雅黑" charset="0"/>
              </a:rPr>
              <a:t>微调阶段使用任务感知的输入变换</a:t>
            </a:r>
            <a:r>
              <a:rPr lang="en-US" altLang="zh-CN">
                <a:latin typeface="微软雅黑" charset="0"/>
                <a:ea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</a:rPr>
              <a:t>无需修改模型架构即可适配不同任务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5"/>
          <p:cNvSpPr/>
          <p:nvPr/>
        </p:nvSpPr>
        <p:spPr>
          <a:xfrm>
            <a:off x="2080260" y="1856740"/>
            <a:ext cx="8188960" cy="22679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解决方法</a:t>
            </a:r>
            <a:endParaRPr lang="en-US" altLang="zh-CN" sz="4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</a:rPr>
              <a:t>模型框架</a:t>
            </a:r>
            <a:r>
              <a:rPr lang="en-US" altLang="zh-CN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</a:rPr>
              <a:t>：</a:t>
            </a: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</a:rPr>
              <a:t>两阶段训练流程</a:t>
            </a:r>
            <a:endParaRPr lang="zh-CN" alt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13105" y="1440815"/>
            <a:ext cx="4705985" cy="3976370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3" name="AutoShape 8"/>
          <p:cNvSpPr/>
          <p:nvPr/>
        </p:nvSpPr>
        <p:spPr>
          <a:xfrm>
            <a:off x="6624320" y="1440815"/>
            <a:ext cx="4705985" cy="3976370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33780" y="179387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+mj-ea"/>
                <a:ea typeface="+mj-ea"/>
              </a:rPr>
              <a:t>阶段一</a:t>
            </a:r>
            <a:r>
              <a:rPr lang="en-US" altLang="zh-CN" sz="2000" b="1">
                <a:latin typeface="+mj-ea"/>
                <a:ea typeface="+mj-ea"/>
              </a:rPr>
              <a:t>：</a:t>
            </a:r>
            <a:r>
              <a:rPr lang="zh-CN" altLang="en-US" sz="2000" b="1">
                <a:latin typeface="+mj-ea"/>
                <a:ea typeface="+mj-ea"/>
              </a:rPr>
              <a:t>无监督预训练</a:t>
            </a:r>
            <a:endParaRPr lang="zh-CN" altLang="en-US" sz="2000" b="1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45630" y="179387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+mj-ea"/>
                <a:ea typeface="+mj-ea"/>
              </a:rPr>
              <a:t>阶段二</a:t>
            </a:r>
            <a:r>
              <a:rPr lang="en-US" altLang="zh-CN" sz="2000" b="1">
                <a:latin typeface="+mj-ea"/>
                <a:ea typeface="+mj-ea"/>
              </a:rPr>
              <a:t>：</a:t>
            </a:r>
            <a:r>
              <a:rPr lang="zh-CN" altLang="en-US" sz="2000" b="1">
                <a:latin typeface="+mj-ea"/>
                <a:ea typeface="+mj-ea"/>
              </a:rPr>
              <a:t>有监督微调</a:t>
            </a:r>
            <a:endParaRPr lang="zh-CN" altLang="en-US" sz="2000" b="1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033780" y="2346325"/>
                <a:ext cx="4064000" cy="2566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sz="1600" b="1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  <a:sym typeface="+mn-ea"/>
                  </a:rPr>
                  <a:t>目标：</a:t>
                </a:r>
                <a:r>
                  <a:rPr lang="zh-CN" sz="1600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  <a:sym typeface="+mn-ea"/>
                  </a:rPr>
                  <a:t>在大规模无标注语料上训练语言模型</a:t>
                </a:r>
                <a:endParaRPr lang="en-US" sz="1600" b="0" u="none" strike="noStrike">
                  <a:solidFill>
                    <a:schemeClr val="tx1"/>
                  </a:solidFill>
                  <a:effectLst/>
                  <a:uFillTx/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endParaRPr lang="en-US" altLang="en-US" sz="1600" b="0" u="none" strike="noStrike">
                  <a:solidFill>
                    <a:schemeClr val="tx1"/>
                  </a:solidFill>
                  <a:effectLst/>
                  <a:uFillTx/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r>
                  <a:rPr lang="zh-CN" altLang="en-US" sz="1600" b="1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语言建模目标</a:t>
                </a:r>
                <a:r>
                  <a:rPr lang="en-US" altLang="zh-CN" sz="1600" b="1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：</a:t>
                </a:r>
                <a:r>
                  <a:rPr lang="zh-CN" altLang="en-US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在给定无标注</a:t>
                </a:r>
                <a:r>
                  <a:rPr lang="en-US" altLang="zh-CN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token</a:t>
                </a:r>
                <a:r>
                  <a:rPr lang="zh-CN" altLang="en-US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序列</a:t>
                </a:r>
                <a14:m>
                  <m:oMath xmlns:m="http://schemas.openxmlformats.org/officeDocument/2006/math">
                    <m:r>
                      <a:rPr lang="en-US" altLang="zh-CN" sz="1600" b="0" i="1" u="none" strike="noStrike"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微软雅黑" charset="0"/>
                        <a:cs typeface="DejaVu Math TeX Gyre" panose="02000503000000000000" charset="0"/>
                      </a:rPr>
                      <m:t>𝑈</m:t>
                    </m:r>
                    <m:r>
                      <a:rPr lang="en-US" altLang="zh-CN" sz="1600" b="0" i="1" u="none" strike="noStrike"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={</m:t>
                    </m:r>
                    <m:sSub>
                      <m:sSubPr>
                        <m:ctrlPr>
                          <a:rPr lang="en-US" altLang="zh-CN" sz="1600" b="0" i="1" u="none" strike="noStrike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600" b="0" i="1" u="none" strike="noStrike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u="none" strike="noStrike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u="none" strike="noStrike"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,...,</m:t>
                    </m:r>
                    <m:sSub>
                      <m:sSubPr>
                        <m:ctrlPr>
                          <a:rPr lang="en-US" altLang="zh-CN" sz="1600" b="0" i="1" u="none" strike="noStrike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600" b="0" i="1" u="none" strike="noStrike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u="none" strike="noStrike"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𝑛</m:t>
                        </m:r>
                      </m:sub>
                    </m:sSub>
                    <m:r>
                      <a:rPr lang="en-US" altLang="zh-CN" sz="1600" b="0" i="1" u="none" strike="noStrike"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}</m:t>
                    </m:r>
                  </m:oMath>
                </a14:m>
                <a:r>
                  <a:rPr lang="en-US" altLang="zh-CN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，</a:t>
                </a:r>
                <a:r>
                  <a:rPr lang="zh-CN" altLang="en-US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优化给定无标注</a:t>
                </a:r>
                <a:r>
                  <a:rPr lang="en-US" altLang="zh-CN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：</a:t>
                </a:r>
                <a:endParaRPr lang="zh-CN" altLang="en-US" sz="1600" b="0" u="none" strike="noStrike">
                  <a:solidFill>
                    <a:schemeClr val="tx1"/>
                  </a:solidFill>
                  <a:effectLst/>
                  <a:uFillTx/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u="none" strike="noStrike"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altLang="zh-CN" sz="1600" b="0" i="1" u="none" strike="noStrike"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微软雅黑" charset="0"/>
                          <a:cs typeface="DejaVu Math TeX Gyre" panose="02000503000000000000" charset="0"/>
                        </a:rPr>
                        <m:t>𝑈</m:t>
                      </m:r>
                      <m:r>
                        <a:rPr lang="en-US" altLang="zh-CN" sz="1600" b="0" i="1" u="none" strike="noStrike">
                          <a:solidFill>
                            <a:schemeClr val="tx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𝑙𝑜𝑔</m:t>
                          </m:r>
                          <m: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 </m:t>
                          </m:r>
                          <m: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𝑃</m:t>
                          </m:r>
                          <m: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  <m: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altLang="zh-CN" sz="1600" b="0" i="1" u="none" strike="noStrike"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;</m:t>
                          </m:r>
                          <m:r>
                            <a:rPr lang="en-US" altLang="zh-CN" sz="160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𝜃</m:t>
                          </m:r>
                          <m:r>
                            <a:rPr lang="en-US" altLang="zh-CN" sz="1600" i="1" u="none" strike="noStrike">
                              <a:solidFill>
                                <a:schemeClr val="tx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1600" b="0" u="none" strike="noStrike">
                  <a:solidFill>
                    <a:schemeClr val="tx1"/>
                  </a:solidFill>
                  <a:effectLst/>
                  <a:uFillTx/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r>
                  <a:rPr lang="zh-CN" altLang="en-US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即给定前</a:t>
                </a:r>
                <a:r>
                  <a:rPr lang="en-US" altLang="zh-CN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k</a:t>
                </a:r>
                <a:r>
                  <a:rPr lang="zh-CN" altLang="en-US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个</a:t>
                </a:r>
                <a:r>
                  <a:rPr lang="en-US" altLang="zh-CN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token，</a:t>
                </a:r>
                <a:r>
                  <a:rPr lang="zh-CN" altLang="en-US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优化第</a:t>
                </a:r>
                <a:r>
                  <a:rPr lang="en-US" altLang="zh-CN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i</a:t>
                </a:r>
                <a:r>
                  <a:rPr lang="zh-CN" altLang="en-US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个</a:t>
                </a:r>
                <a:r>
                  <a:rPr lang="en-US" altLang="zh-CN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token</a:t>
                </a:r>
                <a:r>
                  <a:rPr lang="zh-CN" altLang="en-US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的概率</a:t>
                </a:r>
                <a:endParaRPr lang="zh-CN" altLang="en-US" sz="1600" b="0" u="none" strike="noStrike">
                  <a:solidFill>
                    <a:schemeClr val="tx1"/>
                  </a:solidFill>
                  <a:effectLst/>
                  <a:uFillTx/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endParaRPr lang="zh-CN" altLang="en-US" sz="1600" b="0" u="none" strike="noStrike">
                  <a:solidFill>
                    <a:schemeClr val="tx1"/>
                  </a:solidFill>
                  <a:effectLst/>
                  <a:uFillTx/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r>
                  <a:rPr lang="zh-CN" altLang="en-US" sz="1600" b="1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模型</a:t>
                </a:r>
                <a:r>
                  <a:rPr lang="en-US" altLang="zh-CN" sz="1600" b="1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：</a:t>
                </a:r>
                <a:r>
                  <a:rPr lang="zh-CN" altLang="en-US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多层</a:t>
                </a:r>
                <a:r>
                  <a:rPr lang="en-US" altLang="zh-CN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Transformer Decoder，</a:t>
                </a:r>
                <a:r>
                  <a:rPr lang="zh-CN" altLang="en-US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输出层为线性层变换</a:t>
                </a:r>
                <a:r>
                  <a:rPr lang="en-US" altLang="zh-CN" sz="1600" b="0" u="none" strike="noStrike">
                    <a:solidFill>
                      <a:schemeClr val="tx1"/>
                    </a:solidFill>
                    <a:effectLst/>
                    <a:uFillTx/>
                    <a:latin typeface="微软雅黑" charset="0"/>
                    <a:ea typeface="微软雅黑" charset="0"/>
                    <a:cs typeface="微软雅黑" charset="0"/>
                  </a:rPr>
                  <a:t>+softmax</a:t>
                </a:r>
                <a:endParaRPr lang="en-US" altLang="zh-CN" sz="1600" b="0" u="none" strike="noStrike">
                  <a:solidFill>
                    <a:schemeClr val="tx1"/>
                  </a:solidFill>
                  <a:effectLst/>
                  <a:uFillTx/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80" y="2346325"/>
                <a:ext cx="4064000" cy="256667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945630" y="2346325"/>
                <a:ext cx="4274185" cy="2737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latin typeface="微软雅黑" charset="0"/>
                    <a:ea typeface="微软雅黑" charset="0"/>
                    <a:cs typeface="微软雅黑" charset="0"/>
                  </a:rPr>
                  <a:t>输入</a:t>
                </a:r>
                <a:r>
                  <a:rPr lang="en-US" altLang="zh-CN" b="1">
                    <a:latin typeface="微软雅黑" charset="0"/>
                    <a:ea typeface="微软雅黑" charset="0"/>
                    <a:cs typeface="微软雅黑" charset="0"/>
                  </a:rPr>
                  <a:t>：</a:t>
                </a:r>
                <a:r>
                  <a:rPr lang="zh-CN" altLang="en-US">
                    <a:latin typeface="微软雅黑" charset="0"/>
                    <a:ea typeface="微软雅黑" charset="0"/>
                    <a:cs typeface="微软雅黑" charset="0"/>
                  </a:rPr>
                  <a:t>标注数据集</a:t>
                </a:r>
                <a:r>
                  <a:rPr lang="en-US" altLang="zh-CN">
                    <a:latin typeface="微软雅黑" charset="0"/>
                    <a:ea typeface="微软雅黑" charset="0"/>
                    <a:cs typeface="微软雅黑" charset="0"/>
                  </a:rPr>
                  <a:t>C，</a:t>
                </a:r>
                <a:r>
                  <a:rPr lang="zh-CN" altLang="en-US">
                    <a:latin typeface="微软雅黑" charset="0"/>
                    <a:ea typeface="微软雅黑" charset="0"/>
                    <a:cs typeface="微软雅黑" charset="0"/>
                  </a:rPr>
                  <a:t>每个样本为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𝑚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charset="0"/>
                        <a:cs typeface="DejaVu Math TeX Gyre" panose="02000503000000000000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zh-CN" altLang="en-US">
                    <a:latin typeface="微软雅黑" charset="0"/>
                    <a:ea typeface="微软雅黑" charset="0"/>
                    <a:cs typeface="微软雅黑" charset="0"/>
                  </a:rPr>
                  <a:t>的标注数据集</a:t>
                </a:r>
                <a:endParaRPr lang="zh-CN" altLang="en-US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endParaRPr lang="zh-CN" altLang="en-US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r>
                  <a:rPr lang="zh-CN" altLang="en-US">
                    <a:latin typeface="微软雅黑" charset="0"/>
                    <a:ea typeface="微软雅黑" charset="0"/>
                    <a:cs typeface="微软雅黑" charset="0"/>
                  </a:rPr>
                  <a:t>将序列通过预备训练模型最终隐藏层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𝑙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𝑚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zh-CN" altLang="en-US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endParaRPr lang="en-US" altLang="zh-CN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r>
                  <a:rPr lang="zh-CN" altLang="en-US" b="1">
                    <a:latin typeface="微软雅黑" charset="0"/>
                    <a:ea typeface="微软雅黑" charset="0"/>
                    <a:cs typeface="微软雅黑" charset="0"/>
                  </a:rPr>
                  <a:t>添加线性输出层</a:t>
                </a:r>
                <a:r>
                  <a:rPr lang="en-US" altLang="zh-CN" b="1">
                    <a:latin typeface="微软雅黑" charset="0"/>
                    <a:ea typeface="微软雅黑" charset="0"/>
                    <a:cs typeface="微软雅黑" charset="0"/>
                  </a:rPr>
                  <a:t>：</a:t>
                </a:r>
                <a:endParaRPr lang="en-US" altLang="zh-CN" b="1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charset="0"/>
                          <a:cs typeface="DejaVu Math TeX Gyre" panose="02000503000000000000" charset="0"/>
                        </a:rPr>
                        <m:t>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charset="0"/>
                          <a:cs typeface="DejaVu Math TeX Gyre" panose="02000503000000000000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,...,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𝑚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charset="0"/>
                          <a:cs typeface="DejaVu Math TeX Gyre" panose="02000503000000000000" charset="0"/>
                        </a:rPr>
                        <m:t>𝑠𝑜𝑓𝑡𝑚𝑎𝑥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𝑙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𝑚</m:t>
                          </m:r>
                        </m:sup>
                      </m:sSubSup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endParaRPr lang="zh-CN" altLang="en-US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r>
                  <a:rPr lang="zh-CN" altLang="en-US" b="1">
                    <a:latin typeface="微软雅黑" charset="0"/>
                    <a:ea typeface="微软雅黑" charset="0"/>
                    <a:cs typeface="微软雅黑" charset="0"/>
                  </a:rPr>
                  <a:t>优化目标</a:t>
                </a:r>
                <a:r>
                  <a:rPr lang="en-US" altLang="zh-CN" b="1">
                    <a:latin typeface="微软雅黑" charset="0"/>
                    <a:ea typeface="微软雅黑" charset="0"/>
                    <a:cs typeface="微软雅黑" charset="0"/>
                  </a:rPr>
                  <a:t>：</a:t>
                </a:r>
                <a:endParaRPr lang="en-US" altLang="zh-CN" b="1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(∁)=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𝑙𝑜𝑔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charset="0"/>
                              <a:cs typeface="DejaVu Math TeX Gyre" panose="02000503000000000000" charset="0"/>
                            </a:rPr>
                            <m:t>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宋体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,...,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charset="0"/>
                                  <a:cs typeface="DejaVu Math TeX Gyre" panose="02000503000000000000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endParaRPr lang="en-US" altLang="zh-CN"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630" y="2346325"/>
                <a:ext cx="4274185" cy="273748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8"/>
          <p:cNvSpPr/>
          <p:nvPr/>
        </p:nvSpPr>
        <p:spPr>
          <a:xfrm>
            <a:off x="713105" y="5636895"/>
            <a:ext cx="10506710" cy="857885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978535" y="5757545"/>
                <a:ext cx="10240645" cy="614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latin typeface="微软雅黑" charset="0"/>
                    <a:ea typeface="微软雅黑" charset="0"/>
                    <a:cs typeface="微软雅黑" charset="0"/>
                  </a:rPr>
                  <a:t>辅助目标</a:t>
                </a:r>
                <a:r>
                  <a:rPr lang="en-US" altLang="zh-CN" sz="2000" b="1">
                    <a:latin typeface="微软雅黑" charset="0"/>
                    <a:ea typeface="微软雅黑" charset="0"/>
                    <a:cs typeface="微软雅黑" charset="0"/>
                  </a:rPr>
                  <a:t>：</a:t>
                </a:r>
                <a:endParaRPr lang="en-US" altLang="zh-CN" sz="2000" b="1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r>
                  <a:rPr lang="zh-CN" altLang="en-US">
                    <a:latin typeface="微软雅黑" charset="0"/>
                    <a:ea typeface="微软雅黑" charset="0"/>
                    <a:cs typeface="微软雅黑" charset="0"/>
                  </a:rPr>
                  <a:t>微调时可选加入语言建模损失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>
                    <a:latin typeface="微软雅黑" charset="0"/>
                    <a:ea typeface="微软雅黑" charset="0"/>
                    <a:cs typeface="微软雅黑" charset="0"/>
                  </a:rPr>
                  <a:t>，</a:t>
                </a:r>
                <a:r>
                  <a:rPr lang="zh-CN" altLang="en-US">
                    <a:latin typeface="微软雅黑" charset="0"/>
                    <a:ea typeface="微软雅黑" charset="0"/>
                    <a:cs typeface="微软雅黑" charset="0"/>
                  </a:rPr>
                  <a:t>则总损失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charset="0"/>
                        <a:cs typeface="DejaVu Math TeX Gyre" panose="02000503000000000000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𝒞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)+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𝜆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charset="0"/>
                            <a:cs typeface="DejaVu Math TeX Gyre" panose="02000503000000000000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𝒞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，</m:t>
                    </m:r>
                  </m:oMath>
                </a14:m>
                <a:r>
                  <a:rPr lang="zh-CN" altLang="en-US">
                    <a:latin typeface="微软雅黑" charset="0"/>
                    <a:ea typeface="微软雅黑" charset="0"/>
                    <a:cs typeface="微软雅黑" charset="0"/>
                  </a:rPr>
                  <a:t>有助于提高泛化能力</a:t>
                </a:r>
                <a:r>
                  <a:rPr lang="en-US" altLang="zh-CN">
                    <a:latin typeface="微软雅黑" charset="0"/>
                    <a:ea typeface="微软雅黑" charset="0"/>
                    <a:cs typeface="微软雅黑" charset="0"/>
                  </a:rPr>
                  <a:t>，</a:t>
                </a:r>
                <a:r>
                  <a:rPr lang="zh-CN" altLang="en-US">
                    <a:latin typeface="微软雅黑" charset="0"/>
                    <a:ea typeface="微软雅黑" charset="0"/>
                    <a:cs typeface="微软雅黑" charset="0"/>
                  </a:rPr>
                  <a:t>并且加速收敛</a:t>
                </a:r>
                <a:endParaRPr lang="zh-CN" altLang="en-US"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535" y="5757545"/>
                <a:ext cx="10240645" cy="61404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/>
          <p:nvPr/>
        </p:nvSpPr>
        <p:spPr>
          <a:xfrm>
            <a:off x="431799" y="388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微软雅黑" charset="0"/>
                <a:ea typeface="微软雅黑" charset="0"/>
              </a:rPr>
              <a:t>任务适配</a:t>
            </a:r>
            <a:r>
              <a:rPr lang="en-US" altLang="zh-CN" sz="3600" b="1" dirty="0">
                <a:solidFill>
                  <a:srgbClr val="0070C0"/>
                </a:solidFill>
                <a:latin typeface="微软雅黑" charset="0"/>
                <a:ea typeface="微软雅黑" charset="0"/>
              </a:rPr>
              <a:t>：</a:t>
            </a:r>
            <a:r>
              <a:rPr lang="zh-CN" altLang="en-US" sz="3600" b="1" dirty="0">
                <a:solidFill>
                  <a:srgbClr val="0070C0"/>
                </a:solidFill>
                <a:latin typeface="微软雅黑" charset="0"/>
                <a:ea typeface="微软雅黑" charset="0"/>
              </a:rPr>
              <a:t>输入变换策略</a:t>
            </a:r>
            <a:endParaRPr lang="zh-CN" altLang="en-US" sz="3600" b="1" dirty="0">
              <a:solidFill>
                <a:srgbClr val="0070C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AutoShape 8"/>
          <p:cNvSpPr/>
          <p:nvPr/>
        </p:nvSpPr>
        <p:spPr>
          <a:xfrm>
            <a:off x="177800" y="1791335"/>
            <a:ext cx="2754630" cy="4545965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endParaRPr lang="en-US" altLang="zh-CN" dirty="0">
              <a:solidFill>
                <a:schemeClr val="accent1">
                  <a:lumMod val="40000"/>
                  <a:lumOff val="6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3185160" y="1791335"/>
            <a:ext cx="2754630" cy="4545965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5" name="AutoShape 8"/>
          <p:cNvSpPr/>
          <p:nvPr/>
        </p:nvSpPr>
        <p:spPr>
          <a:xfrm>
            <a:off x="6192520" y="1791335"/>
            <a:ext cx="2754630" cy="4545965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7" name="AutoShape 8"/>
          <p:cNvSpPr/>
          <p:nvPr/>
        </p:nvSpPr>
        <p:spPr>
          <a:xfrm>
            <a:off x="9199880" y="1791335"/>
            <a:ext cx="2754630" cy="4545965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endParaRPr lang="en-US" altLang="zh-CN" dirty="0">
              <a:latin typeface="微软雅黑" charset="0"/>
              <a:ea typeface="微软雅黑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1635" y="2098430"/>
            <a:ext cx="1783715" cy="346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i="0" u="none" strike="noStrike"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</a:rPr>
              <a:t>01   </a:t>
            </a:r>
            <a:r>
              <a:rPr lang="zh-CN" altLang="en-US" sz="2250" b="1" i="0" u="none" strike="noStrike"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</a:rPr>
              <a:t>文本蕴含</a:t>
            </a:r>
            <a:endParaRPr lang="zh-CN" altLang="en-US" sz="2250" b="1" i="0" u="none" strike="noStrike">
              <a:solidFill>
                <a:schemeClr val="tx1"/>
              </a:solidFill>
              <a:effectLst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5495" y="2097795"/>
            <a:ext cx="1987550" cy="346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i="0" u="none" strike="noStrike"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</a:rPr>
              <a:t>02   </a:t>
            </a:r>
            <a:r>
              <a:rPr lang="zh-CN" altLang="en-US" sz="2250" b="1" i="0" u="none" strike="noStrike"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</a:rPr>
              <a:t>语意相似度</a:t>
            </a:r>
            <a:endParaRPr lang="zh-CN" altLang="en-US" sz="2250" b="1" i="0" u="none" strike="noStrike">
              <a:solidFill>
                <a:schemeClr val="tx1"/>
              </a:solidFill>
              <a:effectLst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51435" y="2098430"/>
            <a:ext cx="1128395" cy="346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i="0" u="none" strike="noStrike"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</a:rPr>
              <a:t>03   </a:t>
            </a:r>
            <a:r>
              <a:rPr lang="zh-CN" altLang="en-US" sz="2250" b="1" i="0" u="none" strike="noStrike"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</a:rPr>
              <a:t>问答</a:t>
            </a:r>
            <a:endParaRPr lang="zh-CN" altLang="en-US" sz="2250" b="1" i="0" u="none" strike="noStrike">
              <a:solidFill>
                <a:schemeClr val="tx1"/>
              </a:solidFill>
              <a:effectLst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395295" y="2098430"/>
            <a:ext cx="1939290" cy="346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i="0" u="none" strike="noStrike"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</a:rPr>
              <a:t>04   </a:t>
            </a:r>
            <a:r>
              <a:rPr lang="zh-CN" altLang="en-US" sz="2250" b="1" i="0" u="none" strike="noStrike"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</a:rPr>
              <a:t>文本分类</a:t>
            </a:r>
            <a:r>
              <a:rPr lang="en-US" sz="2250" b="1" i="0" u="none" strike="noStrike"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</a:rPr>
              <a:t>   </a:t>
            </a:r>
            <a:endParaRPr lang="en-US" sz="2250" b="1" i="0" u="none" strike="noStrike">
              <a:solidFill>
                <a:schemeClr val="tx1"/>
              </a:solidFill>
              <a:effectLst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4965" y="2757805"/>
            <a:ext cx="2577465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输入格式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：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Premise + $ +Hypothesis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将前提和假设拼接为一个连续序列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用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’$’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作为分割符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75965" y="2757805"/>
            <a:ext cx="2663825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输入格式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：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Sentence1 + $ + Sentence 2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Sentence2 + $ + Sentence 2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将两个句子序列分别单独进行处理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得到的两个特征在被输入线性输出层之前被按元素方式添加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11900" y="2757805"/>
            <a:ext cx="2577465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输入格式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：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Context + Question + $ + Answeri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将每个答案与内容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问题进行拼接构成一条输入序列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单独通过模型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模型对每个序列输出标量分数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选取分数最高的作为答案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371965" y="2757805"/>
            <a:ext cx="2577465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微软雅黑" charset="0"/>
                <a:ea typeface="微软雅黑" charset="0"/>
                <a:cs typeface="+mj-ea"/>
              </a:rPr>
              <a:t>输入格式</a:t>
            </a:r>
            <a:r>
              <a:rPr lang="en-US" altLang="zh-CN">
                <a:latin typeface="微软雅黑" charset="0"/>
                <a:ea typeface="微软雅黑" charset="0"/>
                <a:cs typeface="+mj-ea"/>
              </a:rPr>
              <a:t>：</a:t>
            </a:r>
            <a:endParaRPr lang="en-US" altLang="zh-CN">
              <a:latin typeface="微软雅黑" charset="0"/>
              <a:ea typeface="微软雅黑" charset="0"/>
              <a:cs typeface="+mj-ea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+mj-ea"/>
              </a:rPr>
              <a:t>直接输入文本</a:t>
            </a:r>
            <a:r>
              <a:rPr lang="en-US" altLang="zh-CN">
                <a:latin typeface="微软雅黑" charset="0"/>
                <a:ea typeface="微软雅黑" charset="0"/>
                <a:cs typeface="+mj-ea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+mj-ea"/>
              </a:rPr>
              <a:t>无需特殊处理</a:t>
            </a:r>
            <a:endParaRPr lang="zh-CN" altLang="en-US">
              <a:latin typeface="微软雅黑" charset="0"/>
              <a:ea typeface="微软雅黑" charset="0"/>
              <a:cs typeface="+mj-ea"/>
            </a:endParaRPr>
          </a:p>
          <a:p>
            <a:endParaRPr lang="en-US" altLang="zh-CN">
              <a:latin typeface="微软雅黑" charset="0"/>
              <a:ea typeface="微软雅黑" charset="0"/>
              <a:cs typeface="+mj-ea"/>
            </a:endParaRPr>
          </a:p>
          <a:p>
            <a:endParaRPr lang="zh-CN" altLang="en-US">
              <a:latin typeface="微软雅黑" charset="0"/>
              <a:ea typeface="微软雅黑" charset="0"/>
              <a:cs typeface="+mj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4790" y="1023620"/>
            <a:ext cx="11634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核心思想</a:t>
            </a:r>
            <a:r>
              <a:rPr lang="en-US" altLang="zh-CN" sz="18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：</a:t>
            </a:r>
            <a:endParaRPr lang="en-US" altLang="zh-CN" sz="18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sz="1800"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微调时最小化架构修改，通过输入格式变换适配不同任务类型，所有任务共享同一个Transformer+线性输出层</a:t>
            </a:r>
            <a:endParaRPr lang="zh-CN" altLang="zh-CN" sz="1800">
              <a:solidFill>
                <a:schemeClr val="tx1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23620"/>
            <a:ext cx="12192000" cy="5292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5"/>
          <p:cNvSpPr/>
          <p:nvPr/>
        </p:nvSpPr>
        <p:spPr>
          <a:xfrm>
            <a:off x="2080260" y="1856740"/>
            <a:ext cx="8188960" cy="22679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实验结果</a:t>
            </a:r>
            <a:endParaRPr lang="en-US" altLang="zh-CN" sz="4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</a:rPr>
              <a:t>实验：无监督预训练</a:t>
            </a:r>
            <a:endParaRPr lang="zh-CN" alt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563812" y="1318794"/>
            <a:ext cx="11383546" cy="2110206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无监督预训练：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数据集：</a:t>
            </a:r>
            <a:r>
              <a:rPr lang="en-US" altLang="zh-CN" dirty="0" err="1"/>
              <a:t>BooksCorpus</a:t>
            </a:r>
            <a:r>
              <a:rPr lang="en-US" altLang="zh-CN" dirty="0"/>
              <a:t> dataset(</a:t>
            </a:r>
            <a:r>
              <a:rPr lang="zh-CN" altLang="en-US" dirty="0"/>
              <a:t>包含超过</a:t>
            </a:r>
            <a:r>
              <a:rPr lang="en-US" altLang="zh-CN" dirty="0"/>
              <a:t>7000</a:t>
            </a:r>
            <a:r>
              <a:rPr lang="zh-CN" altLang="en-US" dirty="0"/>
              <a:t>本未出版的特别书籍</a:t>
            </a:r>
            <a:r>
              <a:rPr lang="en-US" altLang="zh-CN" dirty="0"/>
              <a:t>)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实验结果：</a:t>
            </a:r>
            <a:r>
              <a:rPr lang="en-US" altLang="zh-CN" dirty="0"/>
              <a:t>18.4</a:t>
            </a:r>
            <a:r>
              <a:rPr lang="zh-CN" altLang="en-US" dirty="0"/>
              <a:t>的极低词级困惑度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对比方法：</a:t>
            </a:r>
            <a:r>
              <a:rPr lang="en-US" altLang="zh-CN" dirty="0" err="1"/>
              <a:t>ELMo</a:t>
            </a:r>
            <a:r>
              <a:rPr lang="zh-CN" altLang="en-US" dirty="0"/>
              <a:t>（同样方法但训练在</a:t>
            </a:r>
            <a:r>
              <a:rPr lang="en-US" altLang="zh-CN" dirty="0"/>
              <a:t>1B Word Benchmark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数据集包含长段落的连续文本，使得模型能够学习基于长距离信息的建模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</a:rPr>
              <a:t>实验：有监督微调</a:t>
            </a:r>
            <a:endParaRPr lang="zh-CN" alt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563812" y="1318793"/>
            <a:ext cx="11383546" cy="3325395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自然语言推理（</a:t>
            </a:r>
            <a:r>
              <a:rPr lang="en-US" altLang="zh-CN" b="1" dirty="0"/>
              <a:t>NLI</a:t>
            </a:r>
            <a:r>
              <a:rPr lang="zh-CN" altLang="en-US" b="1" dirty="0"/>
              <a:t>）：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数据集：</a:t>
            </a:r>
            <a:r>
              <a:rPr lang="en-US" altLang="zh-CN" dirty="0"/>
              <a:t>5</a:t>
            </a:r>
            <a:r>
              <a:rPr lang="zh-CN" altLang="en-US" dirty="0"/>
              <a:t>个多样数据集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SNLI</a:t>
            </a:r>
            <a:r>
              <a:rPr lang="zh-CN" altLang="en-US" dirty="0"/>
              <a:t>：图像字幕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 MNLI</a:t>
            </a:r>
            <a:r>
              <a:rPr lang="zh-CN" altLang="en-US" dirty="0"/>
              <a:t>：转录语音、流行小说、政府报告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 QNLI</a:t>
            </a:r>
            <a:r>
              <a:rPr lang="zh-CN" altLang="en-US" dirty="0"/>
              <a:t>：维基百科文章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 </a:t>
            </a:r>
            <a:r>
              <a:rPr lang="en-US" altLang="zh-CN" dirty="0" err="1"/>
              <a:t>SciTail</a:t>
            </a:r>
            <a:r>
              <a:rPr lang="zh-CN" altLang="en-US" dirty="0"/>
              <a:t>：科学考试题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 RTE</a:t>
            </a:r>
            <a:r>
              <a:rPr lang="zh-CN" altLang="en-US" dirty="0"/>
              <a:t>：新闻文章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指标：准确率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2596" y="3429000"/>
            <a:ext cx="8104762" cy="271428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86990" y="3006827"/>
            <a:ext cx="76466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chemeClr val="tx1"/>
                </a:solidFill>
                <a:latin typeface="Noto Sans SC"/>
                <a:ea typeface="Noto Sans SC"/>
              </a:rPr>
              <a:t>关键观察：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在</a:t>
            </a:r>
            <a:r>
              <a:rPr lang="zh-CN" altLang="zh-CN" dirty="0">
                <a:solidFill>
                  <a:schemeClr val="tx1"/>
                </a:solidFill>
                <a:latin typeface="Noto Sans SC"/>
                <a:ea typeface="Noto Sans SC"/>
              </a:rPr>
              <a:t>NLI任务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大部分</a:t>
            </a:r>
            <a:r>
              <a:rPr lang="zh-CN" altLang="zh-CN" dirty="0">
                <a:solidFill>
                  <a:schemeClr val="tx1"/>
                </a:solidFill>
                <a:latin typeface="Noto Sans SC"/>
                <a:ea typeface="Noto Sans SC"/>
              </a:rPr>
              <a:t>超越专门设计架构的模型，预训练带来的语义理解能力是关键优势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</a:rPr>
              <a:t>实验：有监督微调</a:t>
            </a:r>
            <a:endParaRPr lang="zh-CN" alt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563812" y="1318794"/>
            <a:ext cx="11383546" cy="1953796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问答与常识推理：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数据集：</a:t>
            </a:r>
            <a:r>
              <a:rPr lang="en-US" altLang="zh-CN" dirty="0"/>
              <a:t>2</a:t>
            </a:r>
            <a:r>
              <a:rPr lang="zh-CN" altLang="en-US" dirty="0"/>
              <a:t>个数据集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RACE</a:t>
            </a:r>
            <a:r>
              <a:rPr lang="zh-CN" altLang="en-US" dirty="0"/>
              <a:t>：中学和高中英语考试的篇章及配套问题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 Story Cloze Test</a:t>
            </a:r>
            <a:r>
              <a:rPr lang="zh-CN" altLang="en-US" dirty="0"/>
              <a:t>：该任务需要从两个选项中为故事选择正确结局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结果：</a:t>
            </a:r>
            <a:r>
              <a:rPr lang="en-US" altLang="zh-CN" dirty="0"/>
              <a:t>Story Cloze </a:t>
            </a:r>
            <a:r>
              <a:rPr lang="zh-CN" altLang="en-US" dirty="0"/>
              <a:t>绝对提升 </a:t>
            </a:r>
            <a:r>
              <a:rPr lang="en-US" altLang="zh-CN" dirty="0"/>
              <a:t>8.9%</a:t>
            </a:r>
            <a:r>
              <a:rPr lang="zh-CN" altLang="en-US" dirty="0"/>
              <a:t>，</a:t>
            </a:r>
            <a:r>
              <a:rPr lang="en-US" altLang="zh-CN" dirty="0"/>
              <a:t>RACE </a:t>
            </a:r>
            <a:r>
              <a:rPr lang="zh-CN" altLang="en-US" dirty="0"/>
              <a:t>整体提升 </a:t>
            </a:r>
            <a:r>
              <a:rPr lang="en-US" altLang="zh-CN" dirty="0"/>
              <a:t>5.7%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12" y="3585411"/>
            <a:ext cx="7942857" cy="251428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506669" y="3934326"/>
            <a:ext cx="3595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证明了我们的模型能有效处理长距离上下文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</a:rPr>
              <a:t>实验：有监督微调</a:t>
            </a:r>
            <a:endParaRPr lang="zh-CN" alt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563812" y="1318794"/>
            <a:ext cx="4946651" cy="2350838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语义相似度（需要预测两个句子是否在语义上等价）：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数据集：</a:t>
            </a:r>
            <a:r>
              <a:rPr lang="en-US" altLang="zh-CN" dirty="0"/>
              <a:t>3</a:t>
            </a:r>
            <a:r>
              <a:rPr lang="zh-CN" altLang="en-US" dirty="0"/>
              <a:t>个数据集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zh-CN" altLang="en-US" dirty="0"/>
              <a:t>微软复述语料库（</a:t>
            </a:r>
            <a:r>
              <a:rPr lang="en-US" altLang="zh-CN" dirty="0"/>
              <a:t>MRPC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 Quora </a:t>
            </a:r>
            <a:r>
              <a:rPr lang="zh-CN" altLang="en-US" dirty="0"/>
              <a:t>问题对（</a:t>
            </a:r>
            <a:r>
              <a:rPr lang="en-US" altLang="zh-CN" dirty="0"/>
              <a:t>QQP</a:t>
            </a:r>
            <a:r>
              <a:rPr lang="zh-CN" altLang="en-US" dirty="0"/>
              <a:t>）数据集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zh-CN" altLang="en-US" dirty="0"/>
              <a:t>语义文本相似度基准（</a:t>
            </a:r>
            <a:r>
              <a:rPr lang="en-US" altLang="zh-CN" dirty="0"/>
              <a:t>STS-B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结果：在 </a:t>
            </a:r>
            <a:r>
              <a:rPr lang="en-US" altLang="zh-CN" dirty="0"/>
              <a:t>STS-B </a:t>
            </a:r>
            <a:r>
              <a:rPr lang="zh-CN" altLang="en-US" dirty="0"/>
              <a:t>上获得 </a:t>
            </a:r>
            <a:r>
              <a:rPr lang="en-US" altLang="zh-CN" dirty="0"/>
              <a:t>1 </a:t>
            </a:r>
            <a:r>
              <a:rPr lang="zh-CN" altLang="en-US" dirty="0"/>
              <a:t>个百分点的绝对提升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	QQP </a:t>
            </a:r>
            <a:r>
              <a:rPr lang="zh-CN" altLang="en-US" dirty="0"/>
              <a:t>上的性能差距尤为显著，绝对提升了 </a:t>
            </a:r>
            <a:r>
              <a:rPr lang="en-US" altLang="zh-CN" dirty="0"/>
              <a:t>4.2%</a:t>
            </a:r>
            <a:endParaRPr lang="en-US" altLang="zh-CN" dirty="0"/>
          </a:p>
        </p:txBody>
      </p:sp>
      <p:sp>
        <p:nvSpPr>
          <p:cNvPr id="3" name="AutoShape 8"/>
          <p:cNvSpPr/>
          <p:nvPr/>
        </p:nvSpPr>
        <p:spPr>
          <a:xfrm>
            <a:off x="6096000" y="1318794"/>
            <a:ext cx="5803232" cy="2350838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分类：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数据集：</a:t>
            </a:r>
            <a:r>
              <a:rPr lang="en-US" altLang="zh-CN" dirty="0"/>
              <a:t>2</a:t>
            </a:r>
            <a:r>
              <a:rPr lang="zh-CN" altLang="en-US" dirty="0"/>
              <a:t>个数据集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zh-CN" altLang="en-US" dirty="0"/>
              <a:t>语言可接受性语料库（</a:t>
            </a:r>
            <a:r>
              <a:rPr lang="en-US" altLang="zh-CN" dirty="0" err="1"/>
              <a:t>CoLA</a:t>
            </a:r>
            <a:r>
              <a:rPr lang="zh-CN" altLang="en-US" dirty="0"/>
              <a:t>）：专家对句子语法合法判断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zh-CN" altLang="en-US" dirty="0"/>
              <a:t>斯坦福情感树库（</a:t>
            </a:r>
            <a:r>
              <a:rPr lang="en-US" altLang="zh-CN" dirty="0"/>
              <a:t>SST-2</a:t>
            </a:r>
            <a:r>
              <a:rPr lang="zh-CN" altLang="en-US" dirty="0"/>
              <a:t>）：二分类任务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结果：</a:t>
            </a:r>
            <a:r>
              <a:rPr lang="zh-CN" altLang="it-IT" dirty="0"/>
              <a:t>在 </a:t>
            </a:r>
            <a:r>
              <a:rPr lang="it-IT" altLang="zh-CN" dirty="0"/>
              <a:t>CoLA </a:t>
            </a:r>
            <a:r>
              <a:rPr lang="zh-CN" altLang="it-IT" dirty="0"/>
              <a:t>上取得 </a:t>
            </a:r>
            <a:r>
              <a:rPr lang="it-IT" altLang="zh-CN" dirty="0"/>
              <a:t>45.4 </a:t>
            </a:r>
            <a:r>
              <a:rPr lang="zh-CN" altLang="it-IT" dirty="0"/>
              <a:t>分</a:t>
            </a:r>
            <a:r>
              <a:rPr lang="zh-CN" altLang="en-US" dirty="0"/>
              <a:t>，取得巨大飞跃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SST-2</a:t>
            </a:r>
            <a:r>
              <a:rPr lang="zh-CN" altLang="en-US" dirty="0"/>
              <a:t>与当前最优结果相当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203" y="3741822"/>
            <a:ext cx="7942857" cy="2942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</a:rPr>
              <a:t>实验：分析</a:t>
            </a:r>
            <a:endParaRPr lang="zh-CN" alt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5895475" y="1471194"/>
            <a:ext cx="5462336" cy="2350838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零样本行为：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实验内容：不进行微调看能否展现处较好的效果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结果：随着训练稳步提升，这些启发式方法的性能表现稳定，表明生成式预训练支持学习多种与任务相关的功能</a:t>
            </a:r>
            <a:endParaRPr lang="en-US" altLang="zh-CN" dirty="0"/>
          </a:p>
        </p:txBody>
      </p:sp>
      <p:sp>
        <p:nvSpPr>
          <p:cNvPr id="8" name="AutoShape 8"/>
          <p:cNvSpPr/>
          <p:nvPr/>
        </p:nvSpPr>
        <p:spPr>
          <a:xfrm>
            <a:off x="716212" y="1471194"/>
            <a:ext cx="4946651" cy="2350838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迁移层数带来的影响：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数据集：在</a:t>
            </a:r>
            <a:r>
              <a:rPr lang="en-US" altLang="zh-CN" dirty="0" err="1"/>
              <a:t>MultiNLI</a:t>
            </a:r>
            <a:r>
              <a:rPr lang="zh-CN" altLang="en-US" dirty="0"/>
              <a:t>和</a:t>
            </a:r>
            <a:r>
              <a:rPr lang="en-US" altLang="zh-CN" dirty="0"/>
              <a:t>RACE</a:t>
            </a:r>
            <a:r>
              <a:rPr lang="zh-CN" altLang="en-US" dirty="0"/>
              <a:t>数据集上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结果：迁移嵌入层能提升性能，且每个</a:t>
            </a:r>
            <a:r>
              <a:rPr lang="en-US" altLang="zh-CN" dirty="0"/>
              <a:t>Transformer</a:t>
            </a:r>
            <a:r>
              <a:rPr lang="zh-CN" altLang="en-US" dirty="0"/>
              <a:t>层都能带来额外收益</a:t>
            </a:r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903" y="1471194"/>
            <a:ext cx="8857143" cy="3790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</a:rPr>
              <a:t>实验：消融实验</a:t>
            </a:r>
            <a:endParaRPr lang="zh-CN" alt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697832" y="1471194"/>
            <a:ext cx="11177336" cy="2350838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三项不同消融实验：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微调不使用辅助语言建模（在自然语言推理和</a:t>
            </a:r>
            <a:r>
              <a:rPr lang="en-US" altLang="zh-CN" dirty="0"/>
              <a:t>QQP</a:t>
            </a:r>
            <a:r>
              <a:rPr lang="zh-CN" altLang="en-US" dirty="0"/>
              <a:t>任务上有帮助）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说明：较大的数据集能从辅助目标中获益，而较小的数据集则不能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/>
              <a:t>Transformer</a:t>
            </a:r>
            <a:r>
              <a:rPr lang="zh-CN" altLang="en-US" dirty="0"/>
              <a:t>和</a:t>
            </a:r>
            <a:r>
              <a:rPr lang="en-US" altLang="zh-CN" dirty="0"/>
              <a:t>LSTM</a:t>
            </a:r>
            <a:r>
              <a:rPr lang="zh-CN" altLang="en-US" dirty="0"/>
              <a:t>框架比较（使用</a:t>
            </a:r>
            <a:r>
              <a:rPr lang="en-US" altLang="zh-CN" dirty="0"/>
              <a:t>LSTM</a:t>
            </a:r>
            <a:r>
              <a:rPr lang="zh-CN" altLang="en-US" dirty="0"/>
              <a:t>替代</a:t>
            </a:r>
            <a:r>
              <a:rPr lang="en-US" altLang="zh-CN" dirty="0"/>
              <a:t>Transformer</a:t>
            </a:r>
            <a:r>
              <a:rPr lang="zh-CN" altLang="en-US" dirty="0"/>
              <a:t>时，平均得分下降了</a:t>
            </a:r>
            <a:r>
              <a:rPr lang="en-US" altLang="zh-CN" dirty="0"/>
              <a:t>5.6</a:t>
            </a:r>
            <a:r>
              <a:rPr lang="zh-CN" altLang="en-US" dirty="0"/>
              <a:t>分）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未经预训练、直接在监督目标任务上训练的</a:t>
            </a:r>
            <a:r>
              <a:rPr lang="en-US" altLang="zh-CN" dirty="0"/>
              <a:t>Transformer</a:t>
            </a:r>
            <a:r>
              <a:rPr lang="zh-CN" altLang="en-US" dirty="0"/>
              <a:t>架构（缺乏预训练会损害所有任务的性能，与完整模型相比性能下降了</a:t>
            </a:r>
            <a:r>
              <a:rPr lang="en-US" altLang="zh-CN" dirty="0"/>
              <a:t>14.8%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1665" y="4109645"/>
            <a:ext cx="8476190" cy="17428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5"/>
          <p:cNvSpPr/>
          <p:nvPr/>
        </p:nvSpPr>
        <p:spPr>
          <a:xfrm>
            <a:off x="1389380" y="1856740"/>
            <a:ext cx="9570720" cy="22679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局限性和改进</a:t>
            </a:r>
            <a:endParaRPr lang="en-US" altLang="zh-CN" sz="4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局限性和改进</a:t>
            </a:r>
            <a:endParaRPr 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AutoShape 8"/>
          <p:cNvSpPr/>
          <p:nvPr/>
        </p:nvSpPr>
        <p:spPr>
          <a:xfrm>
            <a:off x="565149" y="1263650"/>
            <a:ext cx="7562851" cy="2165350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方法的局限性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小数据集表现受限：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zh-CN" altLang="en-US" dirty="0"/>
              <a:t>辅助语言建模的收益有条件，大数据集有帮助，小数据集没有帮助甚至略降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单向</a:t>
            </a:r>
            <a:r>
              <a:rPr lang="en-US" altLang="zh-CN" dirty="0"/>
              <a:t>Transformer</a:t>
            </a:r>
            <a:r>
              <a:rPr lang="zh-CN" altLang="en-US" dirty="0"/>
              <a:t>表达瓶颈：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GPT-1</a:t>
            </a:r>
            <a:r>
              <a:rPr lang="zh-CN" altLang="en-US" dirty="0"/>
              <a:t>是 </a:t>
            </a:r>
            <a:r>
              <a:rPr lang="en-US" altLang="zh-CN" dirty="0"/>
              <a:t>Decoder-only</a:t>
            </a:r>
            <a:r>
              <a:rPr lang="zh-CN" altLang="en-US" dirty="0"/>
              <a:t>、单向自回归</a:t>
            </a:r>
            <a:endParaRPr lang="en-US" altLang="zh-CN" dirty="0"/>
          </a:p>
        </p:txBody>
      </p:sp>
      <p:sp>
        <p:nvSpPr>
          <p:cNvPr id="4" name="AutoShape 8"/>
          <p:cNvSpPr/>
          <p:nvPr/>
        </p:nvSpPr>
        <p:spPr>
          <a:xfrm>
            <a:off x="565149" y="3796030"/>
            <a:ext cx="7562851" cy="2471420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我的改进想法</a:t>
            </a:r>
            <a:endParaRPr lang="zh-CN" altLang="en-US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增大模型规模，增加数据量数据规模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扩大上下文窗口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改进位置编码方式</a:t>
            </a:r>
            <a:r>
              <a:rPr lang="en-US" altLang="zh-CN" dirty="0"/>
              <a:t>，</a:t>
            </a:r>
            <a:r>
              <a:rPr lang="zh-CN" altLang="en-US" dirty="0"/>
              <a:t>可以使用</a:t>
            </a:r>
            <a:r>
              <a:rPr lang="en-US" altLang="zh-CN" dirty="0"/>
              <a:t>RoPE、</a:t>
            </a:r>
            <a:r>
              <a:rPr lang="zh-CN" altLang="en-US" dirty="0"/>
              <a:t>双向编码等</a:t>
            </a:r>
            <a:r>
              <a:rPr lang="zh-CN" altLang="en-US" dirty="0"/>
              <a:t>方式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2879</Words>
  <Application>WPS 文字</Application>
  <PresentationFormat>宽屏</PresentationFormat>
  <Paragraphs>213</Paragraphs>
  <Slides>17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2" baseType="lpstr">
      <vt:lpstr>Arial</vt:lpstr>
      <vt:lpstr>宋体</vt:lpstr>
      <vt:lpstr>Wingdings</vt:lpstr>
      <vt:lpstr>Arial</vt:lpstr>
      <vt:lpstr>微软雅黑</vt:lpstr>
      <vt:lpstr>汉仪旗黑</vt:lpstr>
      <vt:lpstr>Noto Sans SC</vt:lpstr>
      <vt:lpstr>Thonburi</vt:lpstr>
      <vt:lpstr>微软雅黑</vt:lpstr>
      <vt:lpstr>Poppins</vt:lpstr>
      <vt:lpstr>Times New Roman</vt:lpstr>
      <vt:lpstr>Cambria Math</vt:lpstr>
      <vt:lpstr>DejaVu Math TeX Gyre</vt:lpstr>
      <vt:lpstr>宋体</vt:lpstr>
      <vt:lpstr>Arial Unicode MS</vt:lpstr>
      <vt:lpstr>汉仪书宋二KW</vt:lpstr>
      <vt:lpstr>Arial Black</vt:lpstr>
      <vt:lpstr>黑体</vt:lpstr>
      <vt:lpstr>汉仪中黑KW</vt:lpstr>
      <vt:lpstr>Kingsoft Math</vt:lpstr>
      <vt:lpstr>Noto Sans SC</vt:lpstr>
      <vt:lpstr>Poppins</vt:lpstr>
      <vt:lpstr>Wingdings</vt:lpstr>
      <vt:lpstr>苹方-简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魏军</dc:creator>
  <cp:lastModifiedBy>WPS_1647091957</cp:lastModifiedBy>
  <cp:revision>374</cp:revision>
  <dcterms:created xsi:type="dcterms:W3CDTF">2026-06-16T08:31:06Z</dcterms:created>
  <dcterms:modified xsi:type="dcterms:W3CDTF">2026-06-16T08:31:06Z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DBD46E13368454606007316A2F35FB17_43</vt:lpwstr>
  </property>
  <property fmtid="{D5CDD505-2E9C-101B-9397-08002B2CF9AE}" pid="3" name="KSOProductBuildVer">
    <vt:lpwstr>2052-12.1.22553.22553</vt:lpwstr>
  </property>
</Properties>
</file>