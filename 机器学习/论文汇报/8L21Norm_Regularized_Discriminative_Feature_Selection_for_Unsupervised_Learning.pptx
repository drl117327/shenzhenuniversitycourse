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403" r:id="rId5"/>
    <p:sldId id="393" r:id="rId6"/>
    <p:sldId id="643" r:id="rId7"/>
    <p:sldId id="647" r:id="rId8"/>
    <p:sldId id="646" r:id="rId9"/>
    <p:sldId id="648" r:id="rId10"/>
    <p:sldId id="649" r:id="rId11"/>
    <p:sldId id="1220" r:id="rId12"/>
    <p:sldId id="1221" r:id="rId13"/>
    <p:sldId id="654" r:id="rId14"/>
    <p:sldId id="1222" r:id="rId15"/>
    <p:sldId id="1223" r:id="rId16"/>
    <p:sldId id="1224" r:id="rId17"/>
    <p:sldId id="1219" r:id="rId18"/>
    <p:sldId id="658" r:id="rId19"/>
    <p:sldId id="1225" r:id="rId20"/>
    <p:sldId id="122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53" userDrawn="1">
          <p15:clr>
            <a:srgbClr val="747775"/>
          </p15:clr>
        </p15:guide>
        <p15:guide id="2" pos="283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A"/>
    <a:srgbClr val="165DFF"/>
    <a:srgbClr val="FF7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3829" autoAdjust="0"/>
  </p:normalViewPr>
  <p:slideViewPr>
    <p:cSldViewPr snapToGrid="0" showGuides="1">
      <p:cViewPr varScale="1">
        <p:scale>
          <a:sx n="53" d="100"/>
          <a:sy n="53" d="100"/>
        </p:scale>
        <p:origin x="68" y="1296"/>
      </p:cViewPr>
      <p:guideLst>
        <p:guide orient="horz" pos="1653"/>
        <p:guide pos="2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cs-C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7268E1E-0E44-426D-905E-8AD9B19D2182}" type="datetimeFigureOut">
              <a:rPr lang="cs-CZ" smtClean="0"/>
            </a:fld>
            <a:endParaRPr lang="cs-C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71B2431-D351-4C6E-A3CF-9DFAC0E3E050}" type="slidenum">
              <a:rPr lang="cs-CZ" smtClean="0"/>
            </a:fld>
            <a:endParaRPr lang="cs-CZ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dirty="0"/>
              <a:t>1.7.2013</a:t>
            </a:r>
            <a:endParaRPr lang="cs-C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《机器学习》课程的主成分分析，也就是PCA这一章节。PCA是机器学习领域中最经典、最基础，也是应用最广泛的无监督降维算法。在接下来的四节课里，我们将一起深入探讨PCA的核心思想、数学原理、算法实现以及实际应用。希望通过这四节课的学习，大家能够彻底搞懂PCA的“为什么、是什么、怎么推、怎么用以及怎么避坑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dirty="0"/>
              <a:t>‹#›</a:t>
            </a:r>
            <a:endParaRPr lang="cs-CZ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66763"/>
            <a:ext cx="6821487" cy="3838575"/>
          </a:xfrm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56324" name="灯片编号占位符 3"/>
          <p:cNvSpPr txBox="1">
            <a:spLocks noGrp="1"/>
          </p:cNvSpPr>
          <p:nvPr/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9048" tIns="49524" rIns="99048" bIns="49524" anchor="b"/>
          <a:lstStyle/>
          <a:p>
            <a:pPr algn="r"/>
            <a:fld id="{832A61E9-A767-4ED6-A42F-DF9F225EC9C5}" type="slidenum">
              <a:rPr kumimoji="1" lang="zh-CN" altLang="en-US" sz="1300" smtClean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</a:rPr>
            </a:fld>
            <a:endParaRPr kumimoji="1" lang="en-US" altLang="zh-CN" sz="1300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 dirty="0"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 dirty="0"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 dirty="0"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lang="zh-CN" altLang="en-US" dirty="0"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0"/>
    </mc:Choice>
    <mc:Fallback>
      <p:transition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22DE-872A-4FED-AB0B-502B88775D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70C0">
                <a:lumMod val="10000"/>
                <a:lumOff val="90000"/>
              </a:srgbClr>
            </a:gs>
            <a:gs pos="100000">
              <a:srgbClr val="0070C0">
                <a:lumMod val="30000"/>
                <a:lumOff val="7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 dirty="0"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 dirty="0"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 lang="zh-CN" altLang="en-US" dirty="0"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 lang="zh-CN" altLang="en-US" dirty="0"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fld id="{00000000-1234-1234-1234-123412341234}" type="slidenum">
              <a:rPr lang="en-US" altLang="zh-CN" smtClean="0"/>
            </a:fld>
            <a:endParaRPr lang="zh-CN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8020" y="108839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80260" y="1856740"/>
            <a:ext cx="8188960" cy="15316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altLang="zh-CN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653540" y="3995420"/>
            <a:ext cx="90424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3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1540" y="437642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542540" y="431292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时间：</a:t>
            </a:r>
            <a:r>
              <a:rPr lang="en-US" altLang="zh-CN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4</a:t>
            </a:r>
            <a:r>
              <a:rPr lang="zh-CN" altLang="en-US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altLang="zh-CN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14</a:t>
            </a:r>
            <a:r>
              <a:rPr lang="zh-CN" altLang="en-US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1600" b="0" i="0" u="none" strike="noStrike" dirty="0">
              <a:solidFill>
                <a:srgbClr val="0070C0"/>
              </a:solidFill>
              <a:latin typeface="+mj-ea"/>
              <a:ea typeface="+mj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6990" y="437642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507990" y="431292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组号：</a:t>
            </a:r>
            <a:r>
              <a:rPr lang="en-US" altLang="zh-CN" sz="1600" b="0" i="0" u="none" strike="noStrike" dirty="0">
                <a:solidFill>
                  <a:srgbClr val="0070C0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8</a:t>
            </a:r>
            <a:endParaRPr lang="en-US" altLang="zh-CN" sz="1600" b="0" i="0" u="none" strike="noStrike" dirty="0">
              <a:solidFill>
                <a:srgbClr val="0070C0"/>
              </a:solidFill>
              <a:latin typeface="+mj-ea"/>
              <a:ea typeface="+mj-ea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7540" y="437642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37905" y="4376420"/>
            <a:ext cx="223456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rgbClr val="0070C0"/>
                </a:solidFill>
                <a:latin typeface="+mj-ea"/>
                <a:ea typeface="+mj-ea"/>
              </a:rPr>
              <a:t>成员：邓瑞霖</a:t>
            </a:r>
            <a:r>
              <a:rPr lang="en-US" altLang="zh-CN" sz="1600" dirty="0">
                <a:solidFill>
                  <a:srgbClr val="0070C0"/>
                </a:solidFill>
                <a:latin typeface="+mj-ea"/>
                <a:ea typeface="+mj-ea"/>
              </a:rPr>
              <a:t>、</a:t>
            </a:r>
            <a:r>
              <a:rPr lang="zh-CN" altLang="en-US" sz="1600" dirty="0">
                <a:solidFill>
                  <a:srgbClr val="0070C0"/>
                </a:solidFill>
                <a:latin typeface="+mj-ea"/>
                <a:ea typeface="+mj-ea"/>
              </a:rPr>
              <a:t>李圣元</a:t>
            </a:r>
            <a:endParaRPr lang="zh-CN" altLang="en-US" sz="160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75660" y="2357120"/>
            <a:ext cx="488188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AutoShape 5"/>
              <p:cNvSpPr/>
              <p:nvPr/>
            </p:nvSpPr>
            <p:spPr>
              <a:xfrm>
                <a:off x="2207260" y="1983740"/>
                <a:ext cx="8188960" cy="153162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ctr" anchorCtr="0"/>
              <a:lstStyle/>
              <a:p>
                <a:pPr indent="0" algn="ctr">
                  <a:lnSpc>
                    <a:spcPct val="125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lang="en-US" altLang="zh-CN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ℓ</m:t>
                        </m:r>
                      </m:e>
                      <m:sub>
                        <m:r>
                          <a:rPr lang="en-US" altLang="zh-CN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𝟐</m:t>
                        </m:r>
                        <m:r>
                          <a:rPr lang="en-US" altLang="zh-CN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,</m:t>
                        </m:r>
                        <m:r>
                          <a:rPr lang="en-US" altLang="zh-CN" sz="4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Noto Sans SC" panose="020B0200000000000000" charset="-122"/>
                            <a:sym typeface="Noto Sans SC" panose="020B0200000000000000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4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-Norm Regularized Discriminative </a:t>
                </a:r>
                <a:endParaRPr lang="en-US" altLang="zh-CN" sz="4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endParaRPr>
              </a:p>
              <a:p>
                <a:pPr indent="0" algn="ctr">
                  <a:lnSpc>
                    <a:spcPct val="125000"/>
                  </a:lnSpc>
                  <a:defRPr/>
                </a:pPr>
                <a:r>
                  <a:rPr lang="en-US" altLang="zh-CN" sz="4000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Noto Sans SC" panose="020B0200000000000000" charset="-122"/>
                    <a:sym typeface="Noto Sans SC" panose="020B0200000000000000" charset="-122"/>
                  </a:rPr>
                  <a:t>Feature Selection for Unsupervised Learning</a:t>
                </a:r>
                <a:endParaRPr lang="en-US" altLang="zh-CN" sz="40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</mc:Choice>
        <mc:Fallback>
          <p:sp>
            <p:nvSpPr>
              <p:cNvPr id="6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260" y="1983740"/>
                <a:ext cx="8188960" cy="1531620"/>
              </a:xfrm>
              <a:prstGeom prst="rect">
                <a:avLst/>
              </a:prstGeom>
              <a:blipFill rotWithShape="1">
                <a:blip r:embed="rId9"/>
                <a:stretch>
                  <a:fillRect l="-16292" t="-5680" r="-19471" b="-5763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5126990" y="363315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0">
                <a:solidFill>
                  <a:srgbClr val="006621"/>
                </a:solidFill>
                <a:latin typeface="Arial" panose="020B0604020202090204"/>
                <a:ea typeface="Arial" panose="020B0604020202090204"/>
              </a:rPr>
              <a:t> </a:t>
            </a:r>
            <a:endParaRPr lang="en-US" altLang="zh-CN" sz="1600" b="0" i="0">
              <a:solidFill>
                <a:srgbClr val="006621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/>
          <p:cNvSpPr/>
          <p:nvPr/>
        </p:nvSpPr>
        <p:spPr>
          <a:xfrm>
            <a:off x="431799" y="261620"/>
            <a:ext cx="617357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Poppins"/>
              </a:rPr>
              <a:t>目录大纲</a:t>
            </a:r>
            <a:endParaRPr 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38705" y="1531620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chemeClr val="accent5">
                    <a:lumMod val="75000"/>
                  </a:schemeClr>
                </a:solidFill>
              </a:rPr>
              <a:t>1. </a:t>
            </a:r>
            <a:r>
              <a:rPr lang="zh-CN" altLang="en-US" sz="3600">
                <a:solidFill>
                  <a:schemeClr val="accent5">
                    <a:lumMod val="75000"/>
                  </a:schemeClr>
                </a:solidFill>
              </a:rPr>
              <a:t>背景介绍</a:t>
            </a:r>
            <a:endParaRPr lang="zh-CN" altLang="en-US" sz="360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3600">
                <a:solidFill>
                  <a:schemeClr val="accent5">
                    <a:lumMod val="75000"/>
                  </a:schemeClr>
                </a:solidFill>
              </a:rPr>
              <a:t>2. </a:t>
            </a:r>
            <a:r>
              <a:rPr lang="zh-CN" altLang="en-US" sz="3600">
                <a:solidFill>
                  <a:schemeClr val="accent5">
                    <a:lumMod val="75000"/>
                  </a:schemeClr>
                </a:solidFill>
              </a:rPr>
              <a:t>问题与动机</a:t>
            </a:r>
            <a:endParaRPr lang="zh-CN" altLang="en-US" sz="360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3600">
                <a:solidFill>
                  <a:schemeClr val="accent5">
                    <a:lumMod val="75000"/>
                  </a:schemeClr>
                </a:solidFill>
              </a:rPr>
              <a:t>3. </a:t>
            </a:r>
            <a:r>
              <a:rPr lang="zh-CN" altLang="en-US" sz="3600">
                <a:solidFill>
                  <a:schemeClr val="accent5">
                    <a:lumMod val="75000"/>
                  </a:schemeClr>
                </a:solidFill>
              </a:rPr>
              <a:t>解决方法</a:t>
            </a:r>
            <a:endParaRPr lang="zh-CN" altLang="en-US" sz="360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3600">
                <a:solidFill>
                  <a:schemeClr val="accent5">
                    <a:lumMod val="75000"/>
                  </a:schemeClr>
                </a:solidFill>
              </a:rPr>
              <a:t>4. </a:t>
            </a:r>
            <a:r>
              <a:rPr lang="zh-CN" altLang="en-US" sz="3600">
                <a:solidFill>
                  <a:schemeClr val="accent5">
                    <a:lumMod val="75000"/>
                  </a:schemeClr>
                </a:solidFill>
              </a:rPr>
              <a:t>实验结果</a:t>
            </a:r>
            <a:endParaRPr lang="zh-CN" altLang="en-US" sz="360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sz="3600">
                <a:solidFill>
                  <a:schemeClr val="accent5">
                    <a:lumMod val="75000"/>
                  </a:schemeClr>
                </a:solidFill>
              </a:rPr>
              <a:t>5. </a:t>
            </a:r>
            <a:r>
              <a:rPr lang="zh-CN" altLang="en-US" sz="3600">
                <a:solidFill>
                  <a:schemeClr val="accent5">
                    <a:lumMod val="75000"/>
                  </a:schemeClr>
                </a:solidFill>
              </a:rPr>
              <a:t>局限性与改进</a:t>
            </a:r>
            <a:endParaRPr lang="zh-CN" altLang="en-US" sz="3600">
              <a:solidFill>
                <a:schemeClr val="accent5">
                  <a:lumMod val="75000"/>
                </a:schemeClr>
              </a:solidFill>
            </a:endParaRPr>
          </a:p>
          <a:p>
            <a:endParaRPr lang="zh-CN" altLang="en-US" sz="360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2080260" y="1856740"/>
            <a:ext cx="8188960" cy="22679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背景介绍</a:t>
            </a:r>
            <a:endParaRPr lang="en-US" altLang="zh-CN" sz="4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背景介绍</a:t>
            </a:r>
            <a:endParaRPr 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6" name="AutoShape 8"/>
          <p:cNvSpPr/>
          <p:nvPr/>
        </p:nvSpPr>
        <p:spPr>
          <a:xfrm>
            <a:off x="431800" y="1003300"/>
            <a:ext cx="5861050" cy="4324350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  <a:buNone/>
            </a:pPr>
            <a:r>
              <a:rPr lang="zh-CN" altLang="en-US" sz="1600" b="1" dirty="0">
                <a:latin typeface="+mj-ea"/>
                <a:ea typeface="+mj-ea"/>
              </a:rPr>
              <a:t>研究领域大背景</a:t>
            </a:r>
            <a:endParaRPr lang="zh-CN" altLang="en-US" sz="1600" b="1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+mj-ea"/>
                <a:ea typeface="+mj-ea"/>
              </a:rPr>
              <a:t>该领域主要研究特征选择。旨在从高维特征集中选择出最具区分度的特征子集，以便对数据进行紧凑且准确的表示。</a:t>
            </a:r>
            <a:endParaRPr lang="zh-CN" altLang="en-US" sz="1600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+mj-ea"/>
                <a:ea typeface="+mj-ea"/>
              </a:rPr>
              <a:t>特征选择</a:t>
            </a:r>
            <a:r>
              <a:rPr lang="zh-CN" altLang="en-US" sz="1600" b="1" dirty="0">
                <a:latin typeface="+mj-ea"/>
                <a:ea typeface="+mj-ea"/>
              </a:rPr>
              <a:t>的作用</a:t>
            </a:r>
            <a:r>
              <a:rPr lang="en-US" altLang="zh-CN" sz="1600" b="1" dirty="0">
                <a:latin typeface="+mj-ea"/>
                <a:ea typeface="+mj-ea"/>
              </a:rPr>
              <a:t>：</a:t>
            </a:r>
            <a:endParaRPr lang="zh-CN" altLang="en-US" sz="1600" b="1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+mj-ea"/>
                <a:ea typeface="+mj-ea"/>
              </a:rPr>
              <a:t>1. </a:t>
            </a:r>
            <a:r>
              <a:rPr lang="zh-CN" altLang="en-US" sz="1600" dirty="0">
                <a:latin typeface="+mj-ea"/>
                <a:ea typeface="+mj-ea"/>
              </a:rPr>
              <a:t>显著降低被选特征子集的维度</a:t>
            </a:r>
            <a:endParaRPr lang="zh-CN" altLang="en-US" sz="1600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+mj-ea"/>
                <a:ea typeface="+mj-ea"/>
              </a:rPr>
              <a:t>2. </a:t>
            </a:r>
            <a:r>
              <a:rPr lang="zh-CN" altLang="en-US" sz="1600" dirty="0">
                <a:latin typeface="+mj-ea"/>
                <a:ea typeface="+mj-ea"/>
              </a:rPr>
              <a:t>消除噪声特征，提供更好的数据表示</a:t>
            </a:r>
            <a:endParaRPr lang="zh-CN" altLang="en-US" sz="1600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600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600" b="1" dirty="0">
                <a:latin typeface="+mj-ea"/>
                <a:ea typeface="+mj-ea"/>
              </a:rPr>
              <a:t>存在的问题</a:t>
            </a:r>
            <a:r>
              <a:rPr lang="en-US" altLang="zh-CN" sz="1600" b="1" dirty="0">
                <a:latin typeface="+mj-ea"/>
                <a:ea typeface="+mj-ea"/>
              </a:rPr>
              <a:t>：</a:t>
            </a:r>
            <a:endParaRPr lang="en-US" altLang="zh-CN" sz="1600" b="1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+mj-ea"/>
                <a:ea typeface="+mj-ea"/>
              </a:rPr>
              <a:t>在无监督学习场景下进行特征选择。因为缺乏标签信息，相比有监督学习，选择出具有区分度的特征要困难得多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12" name="AutoShape 8"/>
          <p:cNvSpPr/>
          <p:nvPr/>
        </p:nvSpPr>
        <p:spPr>
          <a:xfrm>
            <a:off x="6508750" y="1003300"/>
            <a:ext cx="5416550" cy="4324350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  <a:buNone/>
            </a:pPr>
            <a:r>
              <a:rPr lang="zh-CN" altLang="en-US" sz="1600" b="1" dirty="0">
                <a:latin typeface="+mj-ea"/>
                <a:ea typeface="+mj-ea"/>
              </a:rPr>
              <a:t>现有方法与进展</a:t>
            </a:r>
            <a:endParaRPr lang="en-US" altLang="zh-CN" sz="1600" b="1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1600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+mj-ea"/>
                <a:ea typeface="+mj-ea"/>
              </a:rPr>
              <a:t>传统无监督特征选择方法：</a:t>
            </a:r>
            <a:r>
              <a:rPr lang="en-US" altLang="zh-CN" sz="1600" dirty="0">
                <a:latin typeface="+mj-ea"/>
                <a:ea typeface="+mj-ea"/>
              </a:rPr>
              <a:t> </a:t>
            </a:r>
            <a:r>
              <a:rPr lang="zh-CN" altLang="en-US" sz="1600" dirty="0">
                <a:latin typeface="+mj-ea"/>
                <a:ea typeface="+mj-ea"/>
              </a:rPr>
              <a:t>通常基于</a:t>
            </a:r>
            <a:r>
              <a:rPr lang="en-US" altLang="zh-CN" sz="1600" dirty="0">
                <a:latin typeface="+mj-ea"/>
                <a:ea typeface="+mj-ea"/>
              </a:rPr>
              <a:t>“</a:t>
            </a:r>
            <a:r>
              <a:rPr lang="zh-CN" altLang="en-US" sz="1600" dirty="0">
                <a:latin typeface="+mj-ea"/>
                <a:ea typeface="+mj-ea"/>
              </a:rPr>
              <a:t>保留整体特征集的数据分布</a:t>
            </a:r>
            <a:r>
              <a:rPr lang="en-US" altLang="zh-CN" sz="1600" dirty="0">
                <a:latin typeface="+mj-ea"/>
                <a:ea typeface="+mj-ea"/>
              </a:rPr>
              <a:t>，</a:t>
            </a:r>
            <a:r>
              <a:rPr lang="zh-CN" altLang="en-US" sz="1600" dirty="0">
                <a:latin typeface="+mj-ea"/>
                <a:ea typeface="+mj-ea"/>
              </a:rPr>
              <a:t>如流形结构</a:t>
            </a:r>
            <a:r>
              <a:rPr lang="en-US" altLang="zh-CN" sz="1600" dirty="0">
                <a:latin typeface="+mj-ea"/>
                <a:ea typeface="+mj-ea"/>
              </a:rPr>
              <a:t>”</a:t>
            </a:r>
            <a:r>
              <a:rPr lang="zh-CN" altLang="en-US" sz="1600" dirty="0">
                <a:latin typeface="+mj-ea"/>
                <a:ea typeface="+mj-ea"/>
              </a:rPr>
              <a:t>的准则来选择特征。</a:t>
            </a:r>
            <a:endParaRPr lang="zh-CN" altLang="en-US" sz="1600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+mj-ea"/>
                <a:ea typeface="+mj-ea"/>
              </a:rPr>
              <a:t>大多数传统方法：</a:t>
            </a:r>
            <a:r>
              <a:rPr lang="en-US" altLang="zh-CN" sz="1600" dirty="0">
                <a:latin typeface="+mj-ea"/>
                <a:ea typeface="+mj-ea"/>
              </a:rPr>
              <a:t> </a:t>
            </a:r>
            <a:r>
              <a:rPr lang="zh-CN" altLang="en-US" sz="1600" dirty="0">
                <a:latin typeface="+mj-ea"/>
                <a:ea typeface="+mj-ea"/>
              </a:rPr>
              <a:t>倾向于独立地评估每个特征的重要性，然后逐一选择</a:t>
            </a:r>
            <a:r>
              <a:rPr lang="en-US" altLang="zh-CN" sz="1600" dirty="0">
                <a:latin typeface="+mj-ea"/>
                <a:ea typeface="+mj-ea"/>
              </a:rPr>
              <a:t>。</a:t>
            </a:r>
            <a:endParaRPr lang="zh-CN" altLang="en-US" sz="1600" dirty="0"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+mj-ea"/>
                <a:ea typeface="+mj-ea"/>
              </a:rPr>
              <a:t>较新的方法：</a:t>
            </a:r>
            <a:r>
              <a:rPr lang="en-US" altLang="zh-CN" sz="1600" dirty="0">
                <a:latin typeface="+mj-ea"/>
                <a:ea typeface="+mj-ea"/>
              </a:rPr>
              <a:t> </a:t>
            </a:r>
            <a:r>
              <a:rPr lang="zh-CN" altLang="en-US" sz="1600" dirty="0">
                <a:latin typeface="+mj-ea"/>
                <a:ea typeface="+mj-ea"/>
              </a:rPr>
              <a:t>研究人员应用了两步法（如谱回归）来进行特征选择</a:t>
            </a:r>
            <a:endParaRPr lang="zh-CN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/>
          <p:nvPr/>
        </p:nvSpPr>
        <p:spPr>
          <a:xfrm>
            <a:off x="2080260" y="1856740"/>
            <a:ext cx="8188960" cy="22679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问题与动机</a:t>
            </a:r>
            <a:endParaRPr lang="en-US" altLang="zh-CN" sz="4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问题与动机</a:t>
            </a:r>
            <a:endParaRPr 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4" name="AutoShape 8"/>
          <p:cNvSpPr/>
          <p:nvPr/>
        </p:nvSpPr>
        <p:spPr>
          <a:xfrm>
            <a:off x="419099" y="1079500"/>
            <a:ext cx="6337301" cy="1822450"/>
          </a:xfrm>
          <a:prstGeom prst="roundRect">
            <a:avLst>
              <a:gd name="adj" fmla="val 7150"/>
            </a:avLst>
          </a:prstGeom>
          <a:solidFill>
            <a:srgbClr val="0070C0">
              <a:alpha val="5000"/>
            </a:srgbClr>
          </a:solidFill>
          <a:ln w="12700" cap="flat" cmpd="sng">
            <a:noFill/>
            <a:prstDash val="sysDash"/>
            <a:round/>
          </a:ln>
        </p:spPr>
        <p:txBody>
          <a:bodyPr vert="horz" wrap="square" lIns="63500" tIns="63500" rIns="63500" bIns="63500" rtlCol="0" anchor="ctr"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+mj-ea"/>
                <a:ea typeface="+mj-ea"/>
              </a:rPr>
              <a:t>现有方法面临的问题</a:t>
            </a:r>
            <a:endParaRPr lang="zh-CN" altLang="en-US" sz="1600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j-ea"/>
                <a:ea typeface="+mj-ea"/>
              </a:rPr>
              <a:t>1. </a:t>
            </a:r>
            <a:r>
              <a:rPr lang="zh-CN" altLang="en-US" sz="1600" dirty="0">
                <a:latin typeface="+mj-ea"/>
                <a:ea typeface="+mj-ea"/>
              </a:rPr>
              <a:t>忽略判别信息</a:t>
            </a:r>
            <a:endParaRPr lang="zh-CN" altLang="en-US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j-ea"/>
                <a:ea typeface="+mj-ea"/>
              </a:rPr>
              <a:t>2. </a:t>
            </a:r>
            <a:r>
              <a:rPr lang="zh-CN" altLang="en-US" sz="1600" dirty="0">
                <a:latin typeface="+mj-ea"/>
                <a:ea typeface="+mj-ea"/>
              </a:rPr>
              <a:t>忽略数据间的相关性</a:t>
            </a:r>
            <a:endParaRPr lang="zh-CN" altLang="en-US" sz="1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j-ea"/>
                <a:ea typeface="+mj-ea"/>
              </a:rPr>
              <a:t>3. </a:t>
            </a:r>
            <a:r>
              <a:rPr lang="zh-CN" altLang="en-US" sz="1600" dirty="0">
                <a:latin typeface="+mj-ea"/>
                <a:ea typeface="+mj-ea"/>
              </a:rPr>
              <a:t>优化过程不够直接统一</a:t>
            </a:r>
            <a:endParaRPr lang="zh-CN" altLang="en-US" sz="1600" dirty="0"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AutoShape 8"/>
              <p:cNvSpPr/>
              <p:nvPr/>
            </p:nvSpPr>
            <p:spPr>
              <a:xfrm>
                <a:off x="327889" y="3086100"/>
                <a:ext cx="6498296" cy="2692400"/>
              </a:xfrm>
              <a:prstGeom prst="roundRect">
                <a:avLst>
                  <a:gd name="adj" fmla="val 7150"/>
                </a:avLst>
              </a:prstGeom>
              <a:solidFill>
                <a:srgbClr val="0070C0">
                  <a:alpha val="5000"/>
                </a:srgbClr>
              </a:solidFill>
              <a:ln w="12700" cap="flat" cmpd="sng">
                <a:noFill/>
                <a:prstDash val="sysDash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b="1" dirty="0"/>
                  <a:t>本文动机与核心问题</a:t>
                </a:r>
                <a:endParaRPr lang="zh-CN" altLang="en-US" sz="1600" b="1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1600" dirty="0">
                    <a:latin typeface="+mj-ea"/>
                    <a:ea typeface="+mj-ea"/>
                  </a:rPr>
                  <a:t>核心问题：在缺乏标签信息的无监督场景下，如何克服现有方法的局限，选出既具有强判别能力，又考虑了特征间相关性的最优特征子集</a:t>
                </a:r>
                <a:endParaRPr lang="en-US" altLang="zh-CN" sz="1600" dirty="0">
                  <a:latin typeface="+mj-ea"/>
                  <a:ea typeface="+mj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1600" dirty="0">
                    <a:latin typeface="+mj-ea"/>
                    <a:ea typeface="+mj-ea"/>
                  </a:rPr>
                  <a:t>解决方法：提出了一种全新的无监督特征选择算法（</a:t>
                </a:r>
                <a:r>
                  <a:rPr lang="en-US" altLang="zh-CN" sz="1600" dirty="0">
                    <a:latin typeface="+mj-ea"/>
                    <a:ea typeface="+mj-ea"/>
                  </a:rPr>
                  <a:t>UDFS</a:t>
                </a:r>
                <a:r>
                  <a:rPr lang="zh-CN" altLang="en-US" sz="1600" dirty="0">
                    <a:latin typeface="+mj-ea"/>
                    <a:ea typeface="+mj-ea"/>
                  </a:rPr>
                  <a:t>）</a:t>
                </a:r>
                <a:endParaRPr lang="en-US" altLang="zh-CN" sz="1600" dirty="0">
                  <a:latin typeface="+mj-ea"/>
                  <a:ea typeface="+mj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1600" dirty="0">
                    <a:latin typeface="+mj-ea"/>
                    <a:ea typeface="+mj-ea"/>
                  </a:rPr>
                  <a:t>构建一个联合框架，将判别分析和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ℓ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b="0" dirty="0">
                    <a:latin typeface="+mj-ea"/>
                    <a:ea typeface="+mj-ea"/>
                  </a:rPr>
                  <a:t>范数最小化结合起来</a:t>
                </a:r>
                <a:endParaRPr lang="en-US" altLang="zh-CN" sz="1600" b="0" dirty="0">
                  <a:latin typeface="+mj-ea"/>
                  <a:ea typeface="+mj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zh-CN" dirty="0"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5" name="AutoShap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89" y="3086100"/>
                <a:ext cx="6498296" cy="2692400"/>
              </a:xfrm>
              <a:prstGeom prst="roundRect">
                <a:avLst>
                  <a:gd name="adj" fmla="val 7150"/>
                </a:avLst>
              </a:prstGeom>
              <a:blipFill rotWithShape="1">
                <a:blip r:embed="rId1"/>
                <a:stretch>
                  <a:fillRect l="-4" r="9"/>
                </a:stretch>
              </a:blipFill>
              <a:ln w="12700" cap="flat" cmpd="sng">
                <a:noFill/>
                <a:prstDash val="sysDash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5639823" y="2973334"/>
            <a:ext cx="6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altLang="zh-CN" b="0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5"/>
          <p:cNvSpPr/>
          <p:nvPr/>
        </p:nvSpPr>
        <p:spPr>
          <a:xfrm>
            <a:off x="2080260" y="1856740"/>
            <a:ext cx="8188960" cy="22679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解决方法</a:t>
            </a:r>
            <a:endParaRPr lang="en-US" altLang="zh-CN" sz="4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解决方法</a:t>
            </a:r>
            <a:endParaRPr 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18625" y="1146886"/>
                <a:ext cx="5116976" cy="3046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有监督学习中</a:t>
                </a:r>
                <a:r>
                  <a:rPr lang="en-US" altLang="zh-CN" sz="1600" dirty="0"/>
                  <a:t>：</a:t>
                </a:r>
                <a:endParaRPr lang="en-US" altLang="zh-CN" sz="1600" dirty="0"/>
              </a:p>
              <a:p>
                <a:r>
                  <a:rPr lang="zh-CN" altLang="en-US" sz="1600" dirty="0"/>
                  <a:t>假设有</a:t>
                </a:r>
                <a:r>
                  <a:rPr lang="en-US" altLang="zh-CN" sz="1600" dirty="0"/>
                  <a:t>n</a:t>
                </a:r>
                <a:r>
                  <a:rPr lang="zh-CN" altLang="en-US" sz="1600" dirty="0"/>
                  <a:t>个样本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b="0" dirty="0"/>
                  <a:t>有</a:t>
                </a:r>
                <a:r>
                  <a:rPr lang="en-US" altLang="zh-CN" sz="1600" b="0" dirty="0"/>
                  <a:t>c</a:t>
                </a:r>
                <a:r>
                  <a:rPr lang="zh-CN" altLang="en-US" sz="1600" b="0" dirty="0"/>
                  <a:t>个类别，定义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∈</m:t>
                    </m:r>
                    <m:r>
                      <m:rPr>
                        <m:lit/>
                      </m:rP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{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0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1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}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𝑐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×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b="0" dirty="0"/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1600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1600" b="0" dirty="0"/>
                  <a:t>类别</a:t>
                </a:r>
                <a:endParaRPr lang="en-US" altLang="zh-CN" sz="1600" dirty="0"/>
              </a:p>
              <a:p>
                <a:r>
                  <a:rPr lang="zh-CN" altLang="en-US" sz="1600" dirty="0">
                    <a:cs typeface="DejaVu Math TeX Gyre" panose="02000503000000000000" charset="0"/>
                  </a:rPr>
                  <a:t>类内散度矩阵：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naryPr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=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𝑛</m:t>
                        </m:r>
                      </m:sup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𝜇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smtClean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𝜇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𝑇</m:t>
                            </m:r>
                          </m:sup>
                        </m:sSup>
                      </m:e>
                    </m:nary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𝑋</m:t>
                        </m:r>
                      </m:e>
                    </m:acc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𝑋</m:t>
                            </m:r>
                          </m:e>
                        </m:acc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1600" i="1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r>
                  <a:rPr lang="zh-CN" altLang="en-US" sz="1600" dirty="0">
                    <a:cs typeface="DejaVu Math TeX Gyre" panose="02000503000000000000" charset="0"/>
                  </a:rPr>
                  <a:t>类间散度矩阵：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𝑏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naryPr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𝑖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=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𝑐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𝜇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𝜇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𝑇</m:t>
                            </m:r>
                          </m:sup>
                        </m:sSup>
                      </m:e>
                    </m:nary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𝐺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𝑋</m:t>
                            </m:r>
                          </m:e>
                        </m:acc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1600" i="1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r>
                  <a:rPr lang="zh-CN" altLang="en-US" sz="1600" dirty="0">
                    <a:latin typeface="DejaVu Math TeX Gyre" panose="02000503000000000000" charset="0"/>
                    <a:cs typeface="DejaVu Math TeX Gyre" panose="02000503000000000000" charset="0"/>
                  </a:rPr>
                  <a:t>其中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𝑋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−</m:t>
                    </m:r>
                    <m:f>
                      <m:f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n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𝟏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𝟏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𝐓</m:t>
                        </m:r>
                      </m:sup>
                    </m:sSup>
                  </m:oMath>
                </a14:m>
                <a:r>
                  <a:rPr lang="en-US" altLang="zh-CN" sz="1600" b="0" dirty="0">
                    <a:latin typeface="DejaVu Math TeX Gyre" panose="02000503000000000000" charset="0"/>
                    <a:cs typeface="DejaVu Math TeX Gyre" panose="02000503000000000000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𝐺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𝑌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𝑌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𝑌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/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b="0" dirty="0">
                    <a:latin typeface="DejaVu Math TeX Gyre" panose="02000503000000000000" charset="0"/>
                    <a:cs typeface="DejaVu Math TeX Gyre" panose="02000503000000000000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cs typeface="DejaVu Math TeX Gyre" panose="02000503000000000000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1600" b="0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endParaRPr lang="en-US" altLang="zh-CN" b="0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endParaRPr lang="en-US" altLang="zh-CN" b="0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endParaRPr lang="en-US" altLang="zh-CN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endParaRPr lang="en-US" altLang="zh-CN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25" y="1146886"/>
                <a:ext cx="5116976" cy="3046731"/>
              </a:xfrm>
              <a:prstGeom prst="rect">
                <a:avLst/>
              </a:prstGeom>
              <a:blipFill rotWithShape="1">
                <a:blip r:embed="rId1"/>
                <a:stretch>
                  <a:fillRect l="-10" t="-2" b="-6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079202" y="3339026"/>
            <a:ext cx="1530985" cy="340995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 algn="l"/>
            <a:endParaRPr lang="en-US" altLang="zh-CN" i="1">
              <a:latin typeface="DejaVu Math TeX Gyre" panose="02000503000000000000" charset="0"/>
              <a:cs typeface="DejaVu Math TeX Gyre" panose="0200050300000000000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614183" y="820420"/>
                <a:ext cx="4987268" cy="7355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无监督学习：</a:t>
                </a:r>
                <a:endParaRPr lang="en-US" altLang="zh-CN" sz="1600" dirty="0"/>
              </a:p>
              <a:p>
                <a:r>
                  <a:rPr lang="zh-CN" altLang="en-US" sz="1600" dirty="0"/>
                  <a:t>对于每个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Cambria Math" panose="02040503050406030204" pitchFamily="18" charset="0"/>
                  </a:rPr>
                  <a:t>与其</a:t>
                </a:r>
                <a:r>
                  <a:rPr lang="en-US" altLang="zh-CN" sz="1600" dirty="0">
                    <a:latin typeface="Cambria Math" panose="02040503050406030204" pitchFamily="18" charset="0"/>
                  </a:rPr>
                  <a:t>k</a:t>
                </a:r>
                <a:r>
                  <a:rPr lang="zh-CN" altLang="en-US" sz="1600" dirty="0">
                    <a:latin typeface="Cambria Math" panose="02040503050406030204" pitchFamily="18" charset="0"/>
                  </a:rPr>
                  <a:t>个最近邻居构造成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:r>
                  <a:rPr lang="zh-CN" altLang="en-US" sz="1600" dirty="0">
                    <a:latin typeface="Cambria Math" panose="02040503050406030204" pitchFamily="18" charset="0"/>
                  </a:rPr>
                  <a:t>则局部散度矩阵：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US" altLang="zh-CN" sz="1600" b="0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sz="1600" b="0" dirty="0"/>
                  <a:t>类间</a:t>
                </a:r>
                <a14:m>
                  <m:oMath xmlns:m="http://schemas.openxmlformats.org/officeDocument/2006/math">
                    <m:r>
                      <a:rPr lang="zh-CN" altLang="en-US" sz="1600" i="1" dirty="0">
                        <a:latin typeface="Cambria Math" panose="02040503050406030204" pitchFamily="18" charset="0"/>
                      </a:rPr>
                      <m:t>散度</m:t>
                    </m:r>
                    <m:r>
                      <a:rPr lang="zh-CN" altLang="en-US" sz="1600" i="1" dirty="0" smtClean="0">
                        <a:latin typeface="Cambria Math" panose="02040503050406030204" pitchFamily="18" charset="0"/>
                      </a:rPr>
                      <m:t>矩阵</m:t>
                    </m:r>
                    <m:r>
                      <a:rPr lang="zh-CN" altLang="en-US" sz="1600" i="1" dirty="0">
                        <a:latin typeface="Cambria Math" panose="02040503050406030204" pitchFamily="18" charset="0"/>
                      </a:rPr>
                      <m:t>：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US" altLang="zh-CN" sz="1600" b="0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sz="1600" b="0" dirty="0">
                    <a:latin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:r>
                  <a:rPr lang="zh-CN" altLang="en-US" sz="1600" b="0" dirty="0">
                    <a:latin typeface="Cambria Math" panose="02040503050406030204" pitchFamily="18" charset="0"/>
                  </a:rPr>
                  <a:t>选择矩阵</a:t>
                </a:r>
                <a:r>
                  <a:rPr lang="en-US" altLang="zh-CN" sz="1600" b="0" dirty="0">
                    <a:latin typeface="Cambria Math" panose="02040503050406030204" pitchFamily="18" charset="0"/>
                  </a:rPr>
                  <a:t>:</a:t>
                </a:r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:endParaRPr lang="en-US" altLang="zh-CN" sz="160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𝑝𝑞</m:t>
                          </m:r>
                        </m:sub>
                      </m:sSub>
                      <m:d>
                        <m:dPr>
                          <m:begChr m:val="{"/>
                          <m:endChr m:val="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 &amp;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:r>
                  <a:rPr lang="zh-CN" altLang="en-US" sz="1600" dirty="0">
                    <a:latin typeface="Cambria Math" panose="02040503050406030204" pitchFamily="18" charset="0"/>
                  </a:rPr>
                  <a:t>假设一个线性分类器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𝕕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𝕔</m:t>
                        </m:r>
                      </m:sup>
                    </m:sSup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600" b="0" dirty="0">
                    <a:latin typeface="Cambria Math" panose="02040503050406030204" pitchFamily="18" charset="0"/>
                  </a:rPr>
                  <a:t>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:r>
                  <a:rPr lang="zh-CN" altLang="en-US" sz="1600" dirty="0">
                    <a:latin typeface="Cambria Math" panose="02040503050406030204" pitchFamily="18" charset="0"/>
                  </a:rPr>
                  <a:t>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altLang="zh-CN" sz="1600" b="0" dirty="0">
                  <a:latin typeface="Cambria Math" panose="02040503050406030204" pitchFamily="18" charset="0"/>
                </a:endParaRPr>
              </a:p>
              <a:p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endParaRPr lang="en-US" altLang="zh-CN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183" y="820420"/>
                <a:ext cx="4987268" cy="73552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箭头: 右 9"/>
          <p:cNvSpPr/>
          <p:nvPr/>
        </p:nvSpPr>
        <p:spPr>
          <a:xfrm>
            <a:off x="5600700" y="1905000"/>
            <a:ext cx="920750" cy="908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解决方法</a:t>
            </a:r>
            <a:endParaRPr 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50849" y="1016000"/>
                <a:ext cx="6394451" cy="3094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W</a:t>
                </a:r>
                <a:r>
                  <a:rPr lang="zh-CN" altLang="en-US" sz="1600" dirty="0"/>
                  <a:t>的学习方法：</a:t>
                </a:r>
                <a:endParaRPr lang="en-US" altLang="zh-CN" sz="1600" dirty="0"/>
              </a:p>
              <a:p>
                <a:r>
                  <a:rPr lang="zh-CN" altLang="en-US" sz="1600" dirty="0"/>
                  <a:t>引入局部判别分数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zh-CN" altLang="en-US" sz="1600" dirty="0"/>
                  <a:t>优化目标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𝑚𝑖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zh-CN" sz="1600" b="0" i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lit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d>
                                  <m:d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lit/>
                      </m:rPr>
                      <a:rPr lang="en-US" altLang="zh-CN" sz="1600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m:rPr>
                        <m:lit/>
                      </m:rPr>
                      <a:rPr lang="en-US" altLang="zh-CN" sz="16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lit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600" b="0" dirty="0"/>
              </a:p>
              <a:p>
                <a:r>
                  <a:rPr lang="en-US" altLang="zh-CN" sz="1600" dirty="0"/>
                  <a:t>UDPS</a:t>
                </a:r>
                <a:r>
                  <a:rPr lang="zh-CN" altLang="en-US" sz="1600" dirty="0"/>
                  <a:t>的目标函数</a:t>
                </a:r>
                <a:r>
                  <a:rPr lang="en-US" altLang="zh-CN" sz="1600" dirty="0"/>
                  <a:t>:</a:t>
                </a:r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b="0" dirty="0"/>
              </a:p>
              <a:p>
                <a:endParaRPr lang="zh-CN" altLang="en-US" sz="16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49" y="1016000"/>
                <a:ext cx="6394451" cy="3094501"/>
              </a:xfrm>
              <a:prstGeom prst="rect">
                <a:avLst/>
              </a:prstGeom>
              <a:blipFill rotWithShape="1">
                <a:blip r:embed="rId1"/>
                <a:stretch>
                  <a:fillRect l="-10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39272" y="1150292"/>
            <a:ext cx="4706028" cy="1474265"/>
          </a:xfrm>
          <a:prstGeom prst="rect">
            <a:avLst/>
          </a:prstGeom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4785" y="3067405"/>
            <a:ext cx="4680000" cy="8184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1829" y="3880388"/>
            <a:ext cx="4680000" cy="5420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5779" y="4490289"/>
            <a:ext cx="4680000" cy="2167377"/>
          </a:xfrm>
          <a:prstGeom prst="rect">
            <a:avLst/>
          </a:prstGeom>
        </p:spPr>
      </p:pic>
      <p:cxnSp>
        <p:nvCxnSpPr>
          <p:cNvPr id="19" name="直接箭头连接符 18"/>
          <p:cNvCxnSpPr/>
          <p:nvPr/>
        </p:nvCxnSpPr>
        <p:spPr>
          <a:xfrm>
            <a:off x="4297785" y="4813300"/>
            <a:ext cx="18744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6337300" y="4581328"/>
                <a:ext cx="3307829" cy="343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/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</a:rPr>
                      <m:t>已经</m:t>
                    </m:r>
                  </m:oMath>
                </a14:m>
                <a:r>
                  <a:rPr lang="zh-CN" altLang="en-US" sz="1600" b="0" dirty="0"/>
                  <a:t>标准化，故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600" b="0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300" y="4581328"/>
                <a:ext cx="3307829" cy="343043"/>
              </a:xfrm>
              <a:prstGeom prst="rect">
                <a:avLst/>
              </a:prstGeom>
              <a:blipFill rotWithShape="1">
                <a:blip r:embed="rId6"/>
                <a:stretch>
                  <a:fillRect t="-128" r="3" b="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箭头连接符 22"/>
          <p:cNvCxnSpPr/>
          <p:nvPr/>
        </p:nvCxnSpPr>
        <p:spPr>
          <a:xfrm>
            <a:off x="4297785" y="5295900"/>
            <a:ext cx="19823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6280150" y="5024580"/>
                <a:ext cx="2859501" cy="41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1600" i="1">
                          <a:latin typeface="Cambria Math" panose="02040503050406030204" pitchFamily="18" charset="0"/>
                        </a:rPr>
                        <m:t>λI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150" y="5024580"/>
                <a:ext cx="2859501" cy="418384"/>
              </a:xfrm>
              <a:prstGeom prst="rect">
                <a:avLst/>
              </a:prstGeom>
              <a:blipFill rotWithShape="1">
                <a:blip r:embed="rId7"/>
                <a:stretch>
                  <a:fillRect t="-110" r="3" b="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箭头连接符 27"/>
          <p:cNvCxnSpPr/>
          <p:nvPr/>
        </p:nvCxnSpPr>
        <p:spPr>
          <a:xfrm>
            <a:off x="4375150" y="5829300"/>
            <a:ext cx="1905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6280150" y="5481677"/>
                <a:ext cx="3496923" cy="696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</a:rPr>
                      <m:t>λI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altLang="zh-CN" sz="1600" dirty="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endParaRPr lang="en-US" altLang="zh-CN" sz="1600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zh-CN" sz="1600" b="0" dirty="0"/>
                  <a:t> </a:t>
                </a:r>
                <a:endParaRPr lang="en-US" altLang="zh-CN" sz="1600" b="0" dirty="0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150" y="5481677"/>
                <a:ext cx="3496923" cy="696344"/>
              </a:xfrm>
              <a:prstGeom prst="rect">
                <a:avLst/>
              </a:prstGeom>
              <a:blipFill rotWithShape="1">
                <a:blip r:embed="rId8"/>
                <a:stretch>
                  <a:fillRect t="-51" r="18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接箭头连接符 31"/>
          <p:cNvCxnSpPr/>
          <p:nvPr/>
        </p:nvCxnSpPr>
        <p:spPr>
          <a:xfrm>
            <a:off x="4346575" y="6494433"/>
            <a:ext cx="1990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6325497" y="6118418"/>
                <a:ext cx="6096000" cy="9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600" b="0" dirty="0"/>
                  <a:t> </a:t>
                </a:r>
                <a:endParaRPr lang="en-US" altLang="zh-CN" sz="16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600" b="0" dirty="0"/>
                  <a:t> </a:t>
                </a:r>
                <a:endParaRPr lang="en-US" altLang="zh-CN" sz="1600" dirty="0"/>
              </a:p>
              <a:p>
                <a:endParaRPr lang="zh-CN" altLang="en-US" sz="1600" dirty="0"/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497" y="6118418"/>
                <a:ext cx="6096000" cy="942566"/>
              </a:xfrm>
              <a:prstGeom prst="rect">
                <a:avLst/>
              </a:prstGeom>
              <a:blipFill rotWithShape="1">
                <a:blip r:embed="rId9"/>
                <a:stretch>
                  <a:fillRect l="-4" t="-20" r="4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箭头: 右 37"/>
          <p:cNvSpPr/>
          <p:nvPr/>
        </p:nvSpPr>
        <p:spPr>
          <a:xfrm>
            <a:off x="6559550" y="3023834"/>
            <a:ext cx="1403350" cy="3399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28611" y="2464371"/>
            <a:ext cx="3312000" cy="559463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59250" y="3021342"/>
            <a:ext cx="4284000" cy="753670"/>
          </a:xfrm>
          <a:prstGeom prst="rect">
            <a:avLst/>
          </a:prstGeom>
        </p:spPr>
      </p:pic>
      <p:sp>
        <p:nvSpPr>
          <p:cNvPr id="44" name="矩形 43"/>
          <p:cNvSpPr/>
          <p:nvPr/>
        </p:nvSpPr>
        <p:spPr>
          <a:xfrm>
            <a:off x="10521950" y="2571750"/>
            <a:ext cx="685800" cy="355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cxnSp>
        <p:nvCxnSpPr>
          <p:cNvPr id="47" name="直接箭头连接符 46"/>
          <p:cNvCxnSpPr>
            <a:stCxn id="44" idx="0"/>
          </p:cNvCxnSpPr>
          <p:nvPr/>
        </p:nvCxnSpPr>
        <p:spPr>
          <a:xfrm flipH="1" flipV="1">
            <a:off x="10521950" y="1765300"/>
            <a:ext cx="342900" cy="806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/>
              <p:cNvSpPr txBox="1"/>
              <p:nvPr/>
            </p:nvSpPr>
            <p:spPr>
              <a:xfrm>
                <a:off x="6896100" y="1215100"/>
                <a:ext cx="6210300" cy="789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p>
                                <m:s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1600" b="0" dirty="0"/>
              </a:p>
            </p:txBody>
          </p:sp>
        </mc:Choice>
        <mc:Fallback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100" y="1215100"/>
                <a:ext cx="6210300" cy="789640"/>
              </a:xfrm>
              <a:prstGeom prst="rect">
                <a:avLst/>
              </a:prstGeom>
              <a:blipFill rotWithShape="1">
                <a:blip r:embed="rId12"/>
                <a:stretch>
                  <a:fillRect t="-44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/>
          <p:cNvSpPr/>
          <p:nvPr/>
        </p:nvSpPr>
        <p:spPr>
          <a:xfrm>
            <a:off x="2715258" y="2739594"/>
            <a:ext cx="1501142" cy="3675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30" grpId="0"/>
      <p:bldP spid="37" grpId="0"/>
      <p:bldP spid="38" grpId="0" animBg="1"/>
      <p:bldP spid="44" grpId="0" animBg="1"/>
      <p:bldP spid="50" grpId="0"/>
      <p:bldP spid="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算法优化</a:t>
            </a:r>
            <a:endParaRPr 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5300" y="136525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目标函数：</a:t>
            </a:r>
            <a:endParaRPr lang="zh-CN" alt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9779" y="1239406"/>
            <a:ext cx="3312000" cy="5594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95300" y="1974850"/>
                <a:ext cx="7670735" cy="6545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对于任意两个非</a:t>
                </a:r>
                <a:r>
                  <a:rPr lang="en-US" altLang="zh-CN" sz="1600" dirty="0"/>
                  <a:t>0</a:t>
                </a:r>
                <a:r>
                  <a:rPr lang="zh-CN" altLang="en-US" sz="1600" dirty="0"/>
                  <a:t>常数</a:t>
                </a:r>
                <a:r>
                  <a:rPr lang="en-US" altLang="zh-CN" sz="1600" dirty="0"/>
                  <a:t>a</a:t>
                </a:r>
                <a:r>
                  <a:rPr lang="zh-CN" altLang="en-US" sz="1600" dirty="0"/>
                  <a:t>和</a:t>
                </a:r>
                <a:r>
                  <a:rPr lang="en-US" altLang="zh-CN" sz="1600" dirty="0"/>
                  <a:t>b</a:t>
                </a:r>
                <a:r>
                  <a:rPr lang="zh-CN" altLang="en-US" sz="1600" dirty="0"/>
                  <a:t>有：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</m:oMath>
                </a14:m>
                <a:endParaRPr lang="en-US" altLang="zh-CN" sz="1600" b="0" dirty="0"/>
              </a:p>
              <a:p>
                <a:r>
                  <a:rPr lang="zh-CN" altLang="en-US" sz="1600" b="0" dirty="0"/>
                  <a:t>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bSup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sz="1600" b="0" dirty="0"/>
                  <a:t>为非</a:t>
                </a:r>
                <a:r>
                  <a:rPr lang="en-US" altLang="zh-CN" sz="1600" b="0" dirty="0"/>
                  <a:t>0</a:t>
                </a:r>
                <a:r>
                  <a:rPr lang="zh-CN" altLang="en-US" sz="1600" b="0" dirty="0"/>
                  <a:t>向量，如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1600" i="1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6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sz="1600" i="1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6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altLang="zh-CN" sz="1600" b="0" dirty="0"/>
              </a:p>
              <a:p>
                <a:endParaRPr lang="en-US" altLang="zh-CN" sz="16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𝑇𝑟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en-US" altLang="zh-CN" sz="1600" b="0" dirty="0"/>
              </a:p>
              <a:p>
                <a:r>
                  <a:rPr lang="zh-CN" altLang="en-US" sz="1600" b="0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b="0" dirty="0"/>
                  <a:t>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6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b="0" i="1" dirty="0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dirty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1600" b="0" dirty="0"/>
              </a:p>
              <a:p>
                <a:r>
                  <a:rPr lang="zh-CN" altLang="en-US" sz="1600" b="0" dirty="0"/>
                  <a:t>则</a:t>
                </a:r>
                <a:endParaRPr lang="en-US" altLang="zh-CN" sz="16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𝑇𝑟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𝑇𝑟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𝑇𝑟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𝑇𝑟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1600" dirty="0"/>
              </a:p>
              <a:p>
                <a:r>
                  <a:rPr lang="zh-CN" altLang="en-US" sz="1600" dirty="0"/>
                  <a:t>故存在以下不等式</a:t>
                </a:r>
                <a:endParaRPr lang="en-US" altLang="zh-CN" sz="160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Tr</m:t>
                        </m:r>
                      </m:fName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𝛾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m:rPr>
                            <m:lit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||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m:rPr>
                                <m:lit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lit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lit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Sup>
                                  <m:sSub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Sup>
                                  <m:sSub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lit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Sup>
                                  <m:sSub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lit/>
                                      </m:r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||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e>
                    </m:d>
                  </m:oMath>
                </a14:m>
                <a:r>
                  <a:rPr lang="en-US" altLang="zh-CN" sz="1600" dirty="0"/>
                  <a:t> </a:t>
                </a:r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</a:rPr>
                            <m:t>Tr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lit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||</m:t>
                          </m:r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lit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m:rPr>
                                  <m:lit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lit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lit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1600" dirty="0"/>
              </a:p>
              <a:p>
                <a:endParaRPr lang="zh-CN" altLang="en-US" sz="1600" dirty="0"/>
              </a:p>
              <a:p>
                <a:endParaRPr lang="en-US" altLang="zh-CN" sz="1600" b="0" dirty="0"/>
              </a:p>
              <a:p>
                <a:endParaRPr lang="en-US" altLang="zh-CN" sz="1600" b="0" dirty="0"/>
              </a:p>
              <a:p>
                <a:endParaRPr lang="en-US" altLang="zh-CN" sz="1600" b="0" dirty="0"/>
              </a:p>
              <a:p>
                <a:endParaRPr lang="en-US" altLang="zh-CN" sz="1600" b="0" dirty="0"/>
              </a:p>
              <a:p>
                <a:endParaRPr lang="en-US" altLang="zh-CN" sz="1600" b="0" dirty="0"/>
              </a:p>
              <a:p>
                <a:endParaRPr lang="zh-CN" altLang="en-US" sz="1600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1974850"/>
                <a:ext cx="7670735" cy="6545125"/>
              </a:xfrm>
              <a:prstGeom prst="rect">
                <a:avLst/>
              </a:prstGeom>
              <a:blipFill rotWithShape="1">
                <a:blip r:embed="rId2"/>
                <a:stretch>
                  <a:fillRect r="7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/>
          <p:cNvCxnSpPr/>
          <p:nvPr/>
        </p:nvCxnSpPr>
        <p:spPr>
          <a:xfrm flipV="1">
            <a:off x="6248400" y="1798869"/>
            <a:ext cx="787400" cy="804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032514" y="538415"/>
                <a:ext cx="6096000" cy="1567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lit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lit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lit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lit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lit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lit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||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lit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lit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lit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lit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lit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lit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16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</a:rPr>
                            <m:t>Tr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lit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lit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>
                              <a:latin typeface="Cambria Math" panose="02040503050406030204" pitchFamily="18" charset="0"/>
                            </a:rPr>
                            <m:t>Tr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lit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||</m:t>
                          </m:r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lit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1600" dirty="0"/>
              </a:p>
              <a:p>
                <a:endParaRPr lang="en-US" altLang="zh-CN" sz="1600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2514" y="538415"/>
                <a:ext cx="6096000" cy="1567032"/>
              </a:xfrm>
              <a:prstGeom prst="rect">
                <a:avLst/>
              </a:prstGeom>
              <a:blipFill rotWithShape="1">
                <a:blip r:embed="rId3"/>
                <a:stretch>
                  <a:fillRect t="-36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96" y="2281428"/>
            <a:ext cx="4304154" cy="44034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5"/>
          <p:cNvSpPr/>
          <p:nvPr/>
        </p:nvSpPr>
        <p:spPr>
          <a:xfrm>
            <a:off x="2080260" y="1856740"/>
            <a:ext cx="8188960" cy="22679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实验结果</a:t>
            </a:r>
            <a:endParaRPr lang="en-US" altLang="zh-CN" sz="4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0128" y="268696"/>
            <a:ext cx="6093994" cy="733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datasets</a:t>
            </a:r>
            <a:endParaRPr lang="en-US" altLang="zh-CN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0128" y="1218987"/>
            <a:ext cx="74735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6</a:t>
            </a:r>
            <a:r>
              <a:rPr lang="zh-CN" altLang="en-US" sz="1800" dirty="0"/>
              <a:t> </a:t>
            </a:r>
            <a:r>
              <a:rPr lang="en-US" altLang="zh-CN" sz="1800" dirty="0"/>
              <a:t>public datasets</a:t>
            </a:r>
            <a:endParaRPr lang="en-US" altLang="zh-CN" sz="18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 b="1" dirty="0"/>
              <a:t>UMIST4, FERET5</a:t>
            </a:r>
            <a:r>
              <a:rPr lang="en-US" altLang="zh-CN" sz="1600" dirty="0"/>
              <a:t> and </a:t>
            </a:r>
            <a:r>
              <a:rPr lang="en-US" altLang="zh-CN" sz="1600" b="1" dirty="0"/>
              <a:t>YALEB</a:t>
            </a:r>
            <a:r>
              <a:rPr lang="en-US" altLang="zh-CN" sz="1600" dirty="0"/>
              <a:t> </a:t>
            </a:r>
            <a:r>
              <a:rPr lang="zh-CN" altLang="en-US" sz="1600" dirty="0"/>
              <a:t>，</a:t>
            </a:r>
            <a:r>
              <a:rPr lang="en-US" altLang="zh-CN" sz="1600" dirty="0"/>
              <a:t>three face image datasets(</a:t>
            </a:r>
            <a:r>
              <a:rPr lang="zh-CN" altLang="en-US" sz="1600" dirty="0"/>
              <a:t>面部图像数据集</a:t>
            </a:r>
            <a:r>
              <a:rPr lang="en-US" altLang="zh-CN" sz="1600" dirty="0"/>
              <a:t>)</a:t>
            </a:r>
            <a:endParaRPr lang="en-US" altLang="zh-CN" sz="16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800" b="1" dirty="0"/>
              <a:t>USF </a:t>
            </a:r>
            <a:r>
              <a:rPr lang="en-US" altLang="zh-CN" sz="1800" b="1" dirty="0" err="1"/>
              <a:t>HumanID</a:t>
            </a:r>
            <a:r>
              <a:rPr lang="en-US" altLang="zh-CN" sz="1800" b="1" dirty="0"/>
              <a:t> </a:t>
            </a:r>
            <a:r>
              <a:rPr lang="en-US" altLang="zh-CN" sz="1800" dirty="0"/>
              <a:t>, one gait image dataset(</a:t>
            </a:r>
            <a:r>
              <a:rPr lang="zh-CN" altLang="en-US" sz="1800" dirty="0"/>
              <a:t>步态图像数据集</a:t>
            </a:r>
            <a:r>
              <a:rPr lang="en-US" altLang="zh-CN" sz="1800" dirty="0"/>
              <a:t>)</a:t>
            </a:r>
            <a:endParaRPr lang="en-US" altLang="zh-CN" sz="18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800" b="1" dirty="0"/>
              <a:t>Isoley1</a:t>
            </a:r>
            <a:r>
              <a:rPr lang="en-US" altLang="zh-CN" sz="1800" dirty="0"/>
              <a:t> , one spoken letter recognition data(</a:t>
            </a:r>
            <a:r>
              <a:rPr lang="zh-CN" altLang="en-US" sz="1800" dirty="0"/>
              <a:t>口语字母识别数据</a:t>
            </a:r>
            <a:r>
              <a:rPr lang="en-US" altLang="zh-CN" sz="1800" dirty="0"/>
              <a:t>)</a:t>
            </a:r>
            <a:endParaRPr lang="en-US" altLang="zh-CN" sz="18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800" b="1" dirty="0"/>
              <a:t>USPS</a:t>
            </a:r>
            <a:r>
              <a:rPr lang="en-US" altLang="zh-CN" sz="1800" dirty="0"/>
              <a:t> , one hand written digit image dataset(</a:t>
            </a:r>
            <a:r>
              <a:rPr lang="zh-CN" altLang="en-US" sz="1800" dirty="0"/>
              <a:t>手写数字图像数据集</a:t>
            </a:r>
            <a:r>
              <a:rPr lang="en-US" altLang="zh-CN" sz="1800" dirty="0"/>
              <a:t>)</a:t>
            </a:r>
            <a:endParaRPr lang="zh-CN" altLang="en-US" sz="1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206" y="797363"/>
            <a:ext cx="3771429" cy="171428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0128" y="3062329"/>
            <a:ext cx="6093994" cy="733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评价指标</a:t>
            </a:r>
            <a:endParaRPr lang="en-US" altLang="zh-CN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97832" y="4114800"/>
                <a:ext cx="7202374" cy="1674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Accuracy</a:t>
                </a:r>
                <a:r>
                  <a:rPr lang="zh-CN" altLang="en-US" sz="1600" dirty="0"/>
                  <a:t>（</a:t>
                </a:r>
                <a:r>
                  <a:rPr lang="en-US" altLang="zh-CN" sz="1600" dirty="0"/>
                  <a:t>ACC</a:t>
                </a:r>
                <a:r>
                  <a:rPr lang="zh-CN" altLang="en-US" sz="1600" dirty="0"/>
                  <a:t>，准确率）</a:t>
                </a:r>
                <a:endParaRPr lang="zh-CN" altLang="en-US" sz="16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𝐴𝐶𝐶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zh-CN" altLang="en-US" sz="160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𝑚𝑎𝑝</m:t>
                                  </m:r>
                                  <m:d>
                                    <m:dPr>
                                      <m:ctrlPr>
                                        <a:rPr lang="zh-CN" alt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60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60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sz="1600" dirty="0"/>
              </a:p>
              <a:p>
                <a:r>
                  <a:rPr lang="en-US" altLang="zh-CN" sz="1600" dirty="0"/>
                  <a:t>Normalized Mutual Information</a:t>
                </a:r>
                <a:r>
                  <a:rPr lang="zh-CN" altLang="en-US" sz="1600" dirty="0"/>
                  <a:t>（</a:t>
                </a:r>
                <a:r>
                  <a:rPr lang="en-US" altLang="zh-CN" sz="1600" dirty="0"/>
                  <a:t>NMI</a:t>
                </a:r>
                <a:r>
                  <a:rPr lang="zh-CN" altLang="en-US" sz="1600" dirty="0"/>
                  <a:t>，归一化互信息）</a:t>
                </a:r>
                <a:endParaRPr lang="zh-CN" altLang="en-US" sz="16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𝑁𝑀𝐼</m:t>
                      </m:r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d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32" y="4114800"/>
                <a:ext cx="7202374" cy="1674113"/>
              </a:xfrm>
              <a:prstGeom prst="rect">
                <a:avLst/>
              </a:prstGeom>
              <a:blipFill rotWithShape="1">
                <a:blip r:embed="rId2"/>
                <a:stretch>
                  <a:fillRect l="-8" r="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83441" y="4848358"/>
            <a:ext cx="4012770" cy="1085214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>
            <a:off x="5711687" y="5353878"/>
            <a:ext cx="530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3887436" y="5353878"/>
            <a:ext cx="644807" cy="579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 flipV="1">
            <a:off x="5215558" y="5665127"/>
            <a:ext cx="322404" cy="536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036882" y="5954153"/>
            <a:ext cx="1701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之间的互信息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5040670" y="6202017"/>
            <a:ext cx="13420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的信息熵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2397" y="419212"/>
            <a:ext cx="6093994" cy="733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对比方法</a:t>
            </a:r>
            <a:endParaRPr lang="en-US" altLang="zh-CN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7832" y="1356888"/>
            <a:ext cx="1139767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All Features: adopts all the features for clustering</a:t>
            </a:r>
            <a:r>
              <a:rPr lang="zh-CN" altLang="en-US" dirty="0"/>
              <a:t>（不加任何处理）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Max Variance: selects the features corresponding to the maximum variances.</a:t>
            </a:r>
            <a:r>
              <a:rPr lang="zh-CN" altLang="en-US" dirty="0"/>
              <a:t>（只挑选方差最大的特征 ）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Laplacian Score: selects the features most consistent with the Gaussian Laplacian matrix.</a:t>
            </a:r>
            <a:r>
              <a:rPr lang="zh-CN" altLang="en-US" dirty="0"/>
              <a:t>（挑选最能保持数据局部高斯结构的特征）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Feature Ranking: selects features using spectral regression.</a:t>
            </a:r>
            <a:r>
              <a:rPr lang="zh-CN" altLang="en-US" dirty="0"/>
              <a:t>（谱回归技术）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MCFS: selects features using spectral regression with L1-norm regularization</a:t>
            </a:r>
            <a:r>
              <a:rPr lang="zh-CN" altLang="en-US" dirty="0"/>
              <a:t>（结合了谱回归和</a:t>
            </a:r>
            <a:r>
              <a:rPr lang="en-US" altLang="zh-CN" dirty="0"/>
              <a:t>L1-</a:t>
            </a:r>
            <a:r>
              <a:rPr lang="zh-CN" altLang="en-US" dirty="0"/>
              <a:t>范数正则化）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32397" y="3062329"/>
            <a:ext cx="6093994" cy="733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实验结果</a:t>
            </a:r>
            <a:endParaRPr lang="en-US" altLang="zh-CN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2397" y="3817339"/>
            <a:ext cx="79944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通过在 </a:t>
            </a:r>
            <a:r>
              <a:rPr lang="en-US" altLang="zh-CN" dirty="0"/>
              <a:t>ACC</a:t>
            </a:r>
            <a:r>
              <a:rPr lang="zh-CN" altLang="en-US" dirty="0"/>
              <a:t>（准确率）和 </a:t>
            </a:r>
            <a:r>
              <a:rPr lang="en-US" altLang="zh-CN" dirty="0"/>
              <a:t>NMI</a:t>
            </a:r>
            <a:r>
              <a:rPr lang="zh-CN" altLang="en-US" dirty="0"/>
              <a:t>（归一化互信息）两个指标上的较量，</a:t>
            </a:r>
            <a:r>
              <a:rPr lang="en-US" altLang="zh-CN" dirty="0"/>
              <a:t>UDFS </a:t>
            </a:r>
            <a:r>
              <a:rPr lang="zh-CN" altLang="en-US" dirty="0"/>
              <a:t>展现出了全面的压制力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/>
              <a:t>整体超越：在所有 </a:t>
            </a:r>
            <a:r>
              <a:rPr lang="en-US" altLang="zh-CN" dirty="0"/>
              <a:t>6 </a:t>
            </a:r>
            <a:r>
              <a:rPr lang="zh-CN" altLang="en-US" dirty="0"/>
              <a:t>个数据集上，</a:t>
            </a:r>
            <a:r>
              <a:rPr lang="en-US" altLang="zh-CN" dirty="0"/>
              <a:t>UDFS </a:t>
            </a:r>
            <a:r>
              <a:rPr lang="zh-CN" altLang="en-US" dirty="0"/>
              <a:t>的表现均稳居第一，击败了当时最先进的 </a:t>
            </a:r>
            <a:r>
              <a:rPr lang="en-US" altLang="zh-CN" dirty="0"/>
              <a:t>MCFS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/>
              <a:t>显著的提升幅度：在多个数据集上</a:t>
            </a:r>
            <a:r>
              <a:rPr lang="en-US" altLang="zh-CN" dirty="0"/>
              <a:t>ACC</a:t>
            </a:r>
            <a:r>
              <a:rPr lang="zh-CN" altLang="en-US" dirty="0"/>
              <a:t>和</a:t>
            </a:r>
            <a:r>
              <a:rPr lang="en-US" altLang="zh-CN" dirty="0"/>
              <a:t>NMI</a:t>
            </a:r>
            <a:r>
              <a:rPr lang="zh-CN" altLang="en-US" dirty="0"/>
              <a:t>指标提升效果显著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556" y="3817339"/>
            <a:ext cx="7156174" cy="177142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062" y="4000684"/>
            <a:ext cx="8057143" cy="17047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2397" y="419212"/>
            <a:ext cx="6093994" cy="733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在什么场景下表现最好</a:t>
            </a:r>
            <a:endParaRPr lang="en-US" altLang="zh-CN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2397" y="1248229"/>
            <a:ext cx="595868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UDFS </a:t>
            </a:r>
            <a:r>
              <a:rPr lang="zh-CN" altLang="en-US" dirty="0"/>
              <a:t>在以下复杂场景中均表现出了卓越的适应性</a:t>
            </a:r>
            <a:r>
              <a:rPr lang="en-US" altLang="zh-CN" dirty="0"/>
              <a:t>: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/>
              <a:t>高维度的图像识别</a:t>
            </a:r>
            <a:r>
              <a:rPr lang="en-US" altLang="zh-CN" dirty="0"/>
              <a:t>(FERET, USF </a:t>
            </a:r>
            <a:r>
              <a:rPr lang="en-US" altLang="zh-CN" dirty="0" err="1"/>
              <a:t>HumanID</a:t>
            </a:r>
            <a:r>
              <a:rPr lang="en-US" altLang="zh-CN" dirty="0"/>
              <a:t>)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/>
              <a:t>受噪声干扰严重的非线性流形数据</a:t>
            </a:r>
            <a:r>
              <a:rPr lang="en-US" altLang="zh-CN" dirty="0"/>
              <a:t>(YALEB)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dirty="0"/>
              <a:t>音频声学特征</a:t>
            </a:r>
            <a:r>
              <a:rPr lang="en-US" altLang="zh-CN" dirty="0"/>
              <a:t>(</a:t>
            </a:r>
            <a:r>
              <a:rPr lang="en-US" altLang="zh-CN" dirty="0" err="1"/>
              <a:t>Isolet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zh-CN" altLang="en-US" dirty="0"/>
              <a:t>无论是面部结构、走路姿势，还是声音波形特征，都能稳健地发挥作用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32397" y="2742055"/>
            <a:ext cx="6093994" cy="733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为什么好</a:t>
            </a:r>
            <a:endParaRPr lang="en-US" altLang="zh-CN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2397" y="3745671"/>
            <a:ext cx="11473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b="1" dirty="0"/>
              <a:t>全局联合分析</a:t>
            </a:r>
            <a:r>
              <a:rPr lang="en-US" altLang="zh-CN" b="1" dirty="0"/>
              <a:t>(Analyzes features jointly)</a:t>
            </a:r>
            <a:r>
              <a:rPr lang="zh-CN" altLang="en-US" dirty="0"/>
              <a:t>：</a:t>
            </a:r>
            <a:r>
              <a:rPr lang="en-US" altLang="zh-CN" dirty="0"/>
              <a:t>UDFS </a:t>
            </a:r>
            <a:r>
              <a:rPr lang="zh-CN" altLang="en-US" dirty="0"/>
              <a:t>采用了批处理模式（</a:t>
            </a:r>
            <a:r>
              <a:rPr lang="en-US" altLang="zh-CN" dirty="0"/>
              <a:t>batch-model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b="1" dirty="0"/>
              <a:t>判别信息</a:t>
            </a:r>
            <a:r>
              <a:rPr lang="en-US" altLang="zh-CN" b="1" dirty="0"/>
              <a:t>+</a:t>
            </a:r>
            <a:r>
              <a:rPr lang="zh-CN" altLang="en-US" b="1" dirty="0"/>
              <a:t>局部数据分布结构</a:t>
            </a:r>
            <a:r>
              <a:rPr lang="en-US" altLang="zh-CN" b="1" dirty="0"/>
              <a:t>(utilizes discriminative information and local structure)</a:t>
            </a:r>
            <a:r>
              <a:rPr lang="zh-CN" altLang="en-US" dirty="0"/>
              <a:t>：</a:t>
            </a:r>
            <a:r>
              <a:rPr lang="en-US" altLang="zh-CN" dirty="0"/>
              <a:t>UDFS</a:t>
            </a:r>
            <a:r>
              <a:rPr lang="zh-CN" altLang="en-US" dirty="0"/>
              <a:t>在保持局部结构的同时，榨取出判别信息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5"/>
          <p:cNvSpPr/>
          <p:nvPr/>
        </p:nvSpPr>
        <p:spPr>
          <a:xfrm>
            <a:off x="1389380" y="1856740"/>
            <a:ext cx="9570720" cy="22679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15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局限性和改进</a:t>
            </a:r>
            <a:endParaRPr lang="en-US" altLang="zh-CN" sz="4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431799" y="261620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局限性和改进</a:t>
            </a:r>
            <a:endParaRPr 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AutoShape 8"/>
              <p:cNvSpPr/>
              <p:nvPr/>
            </p:nvSpPr>
            <p:spPr>
              <a:xfrm>
                <a:off x="565150" y="1263650"/>
                <a:ext cx="8735695" cy="2350770"/>
              </a:xfrm>
              <a:prstGeom prst="roundRect">
                <a:avLst>
                  <a:gd name="adj" fmla="val 7150"/>
                </a:avLst>
              </a:prstGeom>
              <a:solidFill>
                <a:srgbClr val="0070C0">
                  <a:alpha val="5000"/>
                </a:srgbClr>
              </a:solidFill>
              <a:ln w="12700" cap="flat" cmpd="sng">
                <a:noFill/>
                <a:prstDash val="sysDash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b="1" dirty="0"/>
                  <a:t>方法的局限性</a:t>
                </a:r>
                <a:endParaRPr lang="en-US" altLang="zh-CN" sz="1600" b="1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1600" b="1" dirty="0"/>
                  <a:t>固定的局部图结构：</a:t>
                </a:r>
                <a:r>
                  <a:rPr lang="zh-CN" altLang="en-US" sz="1600" dirty="0"/>
                  <a:t>论文强制将所有算法（</a:t>
                </a:r>
                <a:r>
                  <a:rPr lang="en-US" altLang="zh-CN" sz="1600" dirty="0"/>
                  <a:t>LS, MCFS, UDFS</a:t>
                </a:r>
                <a:r>
                  <a:rPr lang="zh-CN" altLang="en-US" sz="1600" dirty="0"/>
                  <a:t>）的近邻数设定为</a:t>
                </a:r>
                <a:r>
                  <a:rPr lang="en-US" altLang="zh-CN" sz="1600" dirty="0"/>
                  <a:t>k=5</a:t>
                </a:r>
                <a:r>
                  <a:rPr lang="zh-CN" altLang="en-US" sz="1600" dirty="0"/>
                  <a:t>，可能这恰好是 </a:t>
                </a:r>
                <a:r>
                  <a:rPr lang="en-US" altLang="zh-CN" sz="1600" dirty="0"/>
                  <a:t>UDFS </a:t>
                </a:r>
                <a:r>
                  <a:rPr lang="zh-CN" altLang="en-US" sz="1600" dirty="0"/>
                  <a:t>表现较优的区域，但并非对所有基准模型都是最优的</a:t>
                </a:r>
                <a:endParaRPr lang="en-US" altLang="zh-CN" sz="16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1600" b="1" dirty="0"/>
                  <a:t>数据规模与维度小：</a:t>
                </a:r>
                <a:r>
                  <a:rPr lang="zh-CN" altLang="en-US" sz="1600" dirty="0"/>
                  <a:t>最大的</a:t>
                </a:r>
                <a:r>
                  <a:rPr lang="en-US" altLang="zh-CN" sz="1600" dirty="0"/>
                  <a:t>USPS</a:t>
                </a:r>
                <a:r>
                  <a:rPr lang="zh-CN" altLang="en-US" sz="1600" dirty="0"/>
                  <a:t>仅有 </a:t>
                </a:r>
                <a:r>
                  <a:rPr lang="en-US" altLang="zh-CN" sz="1600" dirty="0"/>
                  <a:t>9298 </a:t>
                </a:r>
                <a:r>
                  <a:rPr lang="zh-CN" altLang="en-US" sz="1600" dirty="0"/>
                  <a:t>个样本，维度最高</a:t>
                </a:r>
                <a:r>
                  <a:rPr lang="en-US" altLang="zh-CN" sz="1600" dirty="0"/>
                  <a:t>USF </a:t>
                </a:r>
                <a:r>
                  <a:rPr lang="en-US" altLang="zh-CN" sz="1600" dirty="0" err="1"/>
                  <a:t>HumanID</a:t>
                </a:r>
                <a:r>
                  <a:rPr lang="en-US" altLang="zh-CN" sz="1600" dirty="0"/>
                  <a:t> </a:t>
                </a:r>
                <a:r>
                  <a:rPr lang="zh-CN" altLang="en-US" sz="1600" dirty="0"/>
                  <a:t>仅 </a:t>
                </a:r>
                <a:r>
                  <a:rPr lang="en-US" altLang="zh-CN" sz="1600" dirty="0"/>
                  <a:t>2816 </a:t>
                </a:r>
                <a:r>
                  <a:rPr lang="zh-CN" altLang="en-US" sz="1600" dirty="0"/>
                  <a:t>维</a:t>
                </a:r>
                <a:endParaRPr lang="en-US" altLang="zh-CN" sz="16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1600" b="1" dirty="0"/>
                  <a:t>算力瓶颈：</a:t>
                </a:r>
                <a:r>
                  <a:rPr lang="zh-CN" altLang="en-US" sz="1600" dirty="0"/>
                  <a:t>时间复杂度</a:t>
                </a:r>
                <a:r>
                  <a:rPr lang="en-US" altLang="zh-CN" sz="1600" dirty="0"/>
                  <a:t>O</a:t>
                </a:r>
                <a:r>
                  <a:rPr lang="zh-CN" altLang="en-US" sz="1600" dirty="0"/>
                  <a:t>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AutoShap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50" y="1263650"/>
                <a:ext cx="8735695" cy="2350770"/>
              </a:xfrm>
              <a:prstGeom prst="roundRect">
                <a:avLst>
                  <a:gd name="adj" fmla="val 7150"/>
                </a:avLst>
              </a:prstGeom>
              <a:blipFill rotWithShape="1">
                <a:blip r:embed="rId1"/>
                <a:stretch>
                  <a:fillRect/>
                </a:stretch>
              </a:blipFill>
              <a:ln w="12700" cap="flat" cmpd="sng">
                <a:noFill/>
                <a:prstDash val="sysDash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AutoShape 8"/>
              <p:cNvSpPr/>
              <p:nvPr/>
            </p:nvSpPr>
            <p:spPr>
              <a:xfrm>
                <a:off x="925195" y="1401445"/>
                <a:ext cx="10187940" cy="3362960"/>
              </a:xfrm>
              <a:prstGeom prst="roundRect">
                <a:avLst>
                  <a:gd name="adj" fmla="val 7150"/>
                </a:avLst>
              </a:prstGeom>
              <a:solidFill>
                <a:srgbClr val="0070C0">
                  <a:alpha val="5000"/>
                </a:srgbClr>
              </a:solidFill>
              <a:ln w="12700" cap="flat" cmpd="sng">
                <a:noFill/>
                <a:prstDash val="sysDash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b="1" dirty="0"/>
                  <a:t>我的改进想法</a:t>
                </a:r>
                <a:endParaRPr lang="en-US" altLang="zh-CN" sz="1600" b="1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1600" dirty="0"/>
                  <a:t>想解决的问题：如何彻底绕过</a:t>
                </a:r>
                <a:r>
                  <a:rPr lang="en-US" altLang="zh-CN" sz="1600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的特征分解瓶颈，实现端到端的加速？</a:t>
                </a:r>
                <a:endParaRPr lang="en-US" altLang="zh-CN" sz="16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1600" dirty="0"/>
                  <a:t>建模的思想：放弃解析解，使用自动微分：原始</a:t>
                </a:r>
                <a:r>
                  <a:rPr lang="en-US" altLang="zh-CN" sz="1600" dirty="0"/>
                  <a:t>UDFS</a:t>
                </a:r>
                <a:r>
                  <a:rPr lang="zh-CN" altLang="en-US" sz="1600" dirty="0"/>
                  <a:t>为了求解析解，被迫构造了</a:t>
                </a:r>
                <a:r>
                  <a:rPr lang="en-US" altLang="zh-CN" sz="1600" dirty="0"/>
                  <a:t>M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/>
                  <a:t>并强行求特征值。在 </a:t>
                </a:r>
                <a:r>
                  <a:rPr lang="en-US" altLang="zh-CN" sz="1600" dirty="0" err="1"/>
                  <a:t>PyTorch</a:t>
                </a:r>
                <a:r>
                  <a:rPr lang="en-US" altLang="zh-CN" sz="1600" dirty="0"/>
                  <a:t> </a:t>
                </a:r>
                <a:r>
                  <a:rPr lang="zh-CN" altLang="en-US" sz="1600" dirty="0"/>
                  <a:t>中，我们完全可以保留原始带有 </a:t>
                </a:r>
                <a:r>
                  <a:rPr lang="en-US" altLang="zh-CN" sz="1600" dirty="0"/>
                  <a:t>L2,1-</a:t>
                </a:r>
                <a:r>
                  <a:rPr lang="zh-CN" altLang="en-US" sz="1600" dirty="0"/>
                  <a:t>范数的非平滑目标函数，将其定义为自定义 </a:t>
                </a:r>
                <a:r>
                  <a:rPr lang="en-US" altLang="zh-CN" sz="1600" dirty="0"/>
                  <a:t>Loss</a:t>
                </a:r>
                <a:r>
                  <a:rPr lang="zh-CN" altLang="en-US" sz="1600" dirty="0"/>
                  <a:t>：</a:t>
                </a:r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1600" i="0" smtClean="0">
                          <a:latin typeface="Cambria Math" panose="02040503050406030204" pitchFamily="18" charset="0"/>
                        </a:rPr>
                        <m:t>Trace</m:t>
                      </m:r>
                      <m:d>
                        <m:dPr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zh-CN" altLang="en-US" sz="160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𝑀𝑊</m:t>
                          </m:r>
                        </m:e>
                      </m:d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m:rPr>
                          <m:lit/>
                        </m:rPr>
                        <a:rPr lang="zh-CN" altLang="en-US" sz="16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lit/>
                            </m:rP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600" dirty="0"/>
              </a:p>
              <a:p>
                <a:r>
                  <a:rPr lang="zh-CN" altLang="en-US" sz="1600" dirty="0"/>
                  <a:t>      利用基于梯度的优化器在 </a:t>
                </a:r>
                <a:r>
                  <a:rPr lang="en-US" altLang="zh-CN" sz="1600" dirty="0"/>
                  <a:t>GPU </a:t>
                </a:r>
                <a:r>
                  <a:rPr lang="zh-CN" altLang="en-US" sz="1600" dirty="0"/>
                  <a:t>上更新 </a:t>
                </a:r>
                <a:r>
                  <a:rPr lang="en-US" altLang="zh-CN" sz="1600" dirty="0"/>
                  <a:t>W</a:t>
                </a:r>
                <a:r>
                  <a:rPr lang="zh-CN" altLang="en-US" sz="1600" dirty="0"/>
                  <a:t>，从而将复杂度从 </a:t>
                </a:r>
                <a:r>
                  <a:rPr lang="en-US" altLang="zh-CN" sz="1600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1600" dirty="0"/>
                  <a:t>) </a:t>
                </a:r>
                <a:r>
                  <a:rPr lang="zh-CN" altLang="en-US" sz="1600" dirty="0"/>
                  <a:t>暴力特征分解降维至 </a:t>
                </a:r>
                <a:r>
                  <a:rPr lang="en-US" altLang="zh-CN" sz="1600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600" dirty="0"/>
                  <a:t>)</a:t>
                </a:r>
                <a:r>
                  <a:rPr lang="zh-CN" altLang="en-US" sz="1600" dirty="0"/>
                  <a:t>级别的矩阵乘法</a:t>
                </a:r>
                <a:endParaRPr lang="en-US" altLang="zh-CN" sz="16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sz="1600" dirty="0"/>
                  <a:t>当前</a:t>
                </a:r>
                <a:r>
                  <a:rPr lang="en-US" altLang="zh-CN" sz="1600" dirty="0"/>
                  <a:t>Deep Feature Selection</a:t>
                </a:r>
                <a:r>
                  <a:rPr lang="zh-CN" altLang="en-US" sz="1600" dirty="0"/>
                  <a:t>网络架构：核心思想都是：用基于自动微分的正则化截断（</a:t>
                </a:r>
                <a:r>
                  <a:rPr lang="en-US" altLang="zh-CN" sz="1600" dirty="0"/>
                  <a:t>L1 / L2,1</a:t>
                </a:r>
                <a:r>
                  <a:rPr lang="zh-CN" altLang="en-US" sz="1600" dirty="0"/>
                  <a:t>），完全取代了传统的基于谱图理论和特征值分解的闭式解算法</a:t>
                </a:r>
                <a:endParaRPr lang="en-US" altLang="zh-CN" sz="1600" dirty="0"/>
              </a:p>
            </p:txBody>
          </p:sp>
        </mc:Choice>
        <mc:Fallback>
          <p:sp>
            <p:nvSpPr>
              <p:cNvPr id="2" name="AutoShap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95" y="1401445"/>
                <a:ext cx="10187940" cy="3362960"/>
              </a:xfrm>
              <a:prstGeom prst="roundRect">
                <a:avLst>
                  <a:gd name="adj" fmla="val 7150"/>
                </a:avLst>
              </a:prstGeom>
              <a:blipFill rotWithShape="1">
                <a:blip r:embed="rId1"/>
                <a:stretch>
                  <a:fillRect/>
                </a:stretch>
              </a:blipFill>
              <a:ln w="12700" cap="flat" cmpd="sng">
                <a:noFill/>
                <a:prstDash val="sysDash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4"/>
          <p:cNvSpPr/>
          <p:nvPr/>
        </p:nvSpPr>
        <p:spPr>
          <a:xfrm>
            <a:off x="925094" y="526315"/>
            <a:ext cx="5267961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0070C0"/>
                </a:solidFill>
                <a:latin typeface="+mj-lt"/>
                <a:ea typeface="微软雅黑" panose="020B0503020204020204" pitchFamily="34" charset="-122"/>
                <a:sym typeface="Poppins"/>
              </a:rPr>
              <a:t>局限性和改进</a:t>
            </a:r>
            <a:endParaRPr lang="en-US" sz="3600" b="1" dirty="0">
              <a:solidFill>
                <a:srgbClr val="0070C0"/>
              </a:solidFill>
              <a:latin typeface="+mj-lt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940175" y="2532380"/>
            <a:ext cx="406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>
                <a:ln/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Thanks</a:t>
            </a:r>
            <a:endParaRPr lang="en-US" altLang="zh-CN" sz="8000">
              <a:ln/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4970</Words>
  <Application>WPS 文字</Application>
  <PresentationFormat>宽屏</PresentationFormat>
  <Paragraphs>221</Paragraphs>
  <Slides>18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3" baseType="lpstr">
      <vt:lpstr>Arial</vt:lpstr>
      <vt:lpstr>宋体</vt:lpstr>
      <vt:lpstr>Wingdings</vt:lpstr>
      <vt:lpstr>Arial</vt:lpstr>
      <vt:lpstr>微软雅黑</vt:lpstr>
      <vt:lpstr>汉仪旗黑</vt:lpstr>
      <vt:lpstr>Noto Sans SC</vt:lpstr>
      <vt:lpstr>Thonburi</vt:lpstr>
      <vt:lpstr>Cambria Math</vt:lpstr>
      <vt:lpstr>Poppins</vt:lpstr>
      <vt:lpstr>Times New Roman</vt:lpstr>
      <vt:lpstr>DejaVu Math TeX Gyre</vt:lpstr>
      <vt:lpstr>Kingsoft Math</vt:lpstr>
      <vt:lpstr>宋体</vt:lpstr>
      <vt:lpstr>Arial Unicode MS</vt:lpstr>
      <vt:lpstr>汉仪书宋二KW</vt:lpstr>
      <vt:lpstr>Arial Black</vt:lpstr>
      <vt:lpstr>黑体</vt:lpstr>
      <vt:lpstr>汉仪中黑KW</vt:lpstr>
      <vt:lpstr>Noto Sans SC</vt:lpstr>
      <vt:lpstr>Poppins</vt:lpstr>
      <vt:lpstr>Wingdings</vt:lpstr>
      <vt:lpstr>微软雅黑</vt:lpstr>
      <vt:lpstr>苹方-简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魏军</dc:creator>
  <cp:lastModifiedBy>WPS_1647091957</cp:lastModifiedBy>
  <cp:revision>382</cp:revision>
  <dcterms:created xsi:type="dcterms:W3CDTF">2026-04-14T13:21:10Z</dcterms:created>
  <dcterms:modified xsi:type="dcterms:W3CDTF">2026-04-14T13:21:10Z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59D4CD4E471CD5AF0F38DE69152064F4_43</vt:lpwstr>
  </property>
  <property fmtid="{D5CDD505-2E9C-101B-9397-08002B2CF9AE}" pid="3" name="KSOProductBuildVer">
    <vt:lpwstr>2052-12.1.22553.22553</vt:lpwstr>
  </property>
</Properties>
</file>