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4" d="100"/>
          <a:sy n="104" d="100"/>
        </p:scale>
        <p:origin x="96" y="76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drl117327.github.io/campus-circle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drl117327.github.io/campus-circle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drl117327.github.io/campus-circl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DB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2743200" cy="274320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54864" cy="3200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F172A"/>
                </a:solidFill>
                <a:latin typeface="微软雅黑"/>
              </a:defRPr>
            </a:pPr>
            <a:r>
              <a:t>CampusCircle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563EB"/>
                </a:solidFill>
                <a:latin typeface="微软雅黑"/>
              </a:defRPr>
            </a:pPr>
            <a:r>
              <a:t>校  园  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383280"/>
            <a:ext cx="8229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669"/>
                </a:solidFill>
                <a:latin typeface="微软雅黑"/>
              </a:defRPr>
            </a:pPr>
            <a:r>
              <a:t>校园生活交友平台  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023360"/>
            <a:ext cx="4572000" cy="6350"/>
          </a:xfrm>
          <a:prstGeom prst="rect">
            <a:avLst/>
          </a:prstGeom>
          <a:solidFill>
            <a:srgbClr val="475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201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669"/>
                </a:solidFill>
                <a:latin typeface="微软雅黑"/>
              </a:defRPr>
            </a:pPr>
            <a:r>
              <a:t>邓瑞霖（2024150040）  ＆  李圣元（2024150118）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612640"/>
            <a:ext cx="91440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669"/>
                </a:solidFill>
                <a:latin typeface="微软雅黑"/>
              </a:defRPr>
            </a:pPr>
            <a:r>
              <a:rPr lang="zh-CN"/>
              <a:t>汇报时间</a:t>
            </a:r>
            <a:r>
              <a:rPr lang="en-US" altLang="zh-CN"/>
              <a:t>：2026.7.1</a:t>
            </a:r>
            <a:endParaRPr lang="en-US" altLang="zh-CN"/>
          </a:p>
        </p:txBody>
      </p:sp>
      <p:sp>
        <p:nvSpPr>
          <p:cNvPr id="13" name="TextBox 12"/>
          <p:cNvSpPr txBox="1"/>
          <p:nvPr/>
        </p:nvSpPr>
        <p:spPr>
          <a:xfrm>
            <a:off x="2011680" y="4949825"/>
            <a:ext cx="91440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微软雅黑"/>
              </a:defRPr>
            </a:pPr>
            <a:r>
              <a:rPr lang="zh-CN" sz="1300">
                <a:solidFill>
                  <a:schemeClr val="tx1"/>
                </a:solidFill>
              </a:rPr>
              <a:t>项目地址</a:t>
            </a:r>
            <a:r>
              <a:rPr lang="en-US" altLang="zh-CN" sz="1300"/>
              <a:t>：</a:t>
            </a:r>
            <a:r>
              <a:rPr sz="1300"/>
              <a:t>🔗</a:t>
            </a:r>
            <a:r>
              <a:rPr sz="1300">
                <a:hlinkClick r:id="rId1" action="ppaction://hlinkfile"/>
              </a:rPr>
              <a:t> drl117327.github.io/campus-circle/</a:t>
            </a:r>
            <a:endParaRPr sz="1300"/>
          </a:p>
        </p:txBody>
      </p:sp>
      <p:sp>
        <p:nvSpPr>
          <p:cNvPr id="14" name="Rectangle 13"/>
          <p:cNvSpPr/>
          <p:nvPr/>
        </p:nvSpPr>
        <p:spPr>
          <a:xfrm>
            <a:off x="0" y="6839712"/>
            <a:ext cx="1219169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22473" y="1391920"/>
            <a:ext cx="7315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微软雅黑"/>
              </a:defRPr>
            </a:pPr>
            <a:r>
              <a:t>项目背景与目标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669"/>
                </a:solidFill>
                <a:latin typeface="微软雅黑"/>
              </a:defRPr>
            </a:pPr>
            <a:r>
              <a:t>BACKGROUND &amp;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669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3200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20" y="22860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563EB"/>
                </a:solidFill>
                <a:latin typeface="微软雅黑"/>
              </a:defRPr>
            </a:pPr>
            <a: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微软雅黑"/>
              </a:defRPr>
            </a:pPr>
            <a:r>
              <a:t>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65176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669"/>
                </a:solidFill>
                <a:latin typeface="微软雅黑"/>
              </a:defRPr>
            </a:pPr>
            <a:r>
              <a:t>面向学生的微博/小红书式</a:t>
            </a:r>
            <a:br/>
            <a:r>
              <a:t>校园社交平台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011680"/>
            <a:ext cx="3200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22860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563EB"/>
                </a:solidFill>
                <a:latin typeface="微软雅黑"/>
              </a:defRPr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微软雅黑"/>
              </a:defRPr>
            </a:pPr>
            <a:r>
              <a:t>理念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74720"/>
            <a:ext cx="265176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669"/>
                </a:solidFill>
                <a:latin typeface="微软雅黑"/>
              </a:defRPr>
            </a:pPr>
            <a:r>
              <a:t>零依赖 — 纯原生 HTML5 + CSS3 +JavaScript，不引入任何框架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011680"/>
            <a:ext cx="3200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22860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563EB"/>
                </a:solidFill>
                <a:latin typeface="微软雅黑"/>
              </a:defRPr>
            </a:pPr>
            <a: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微软雅黑"/>
              </a:defRPr>
            </a:pPr>
            <a:r>
              <a:t>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474720"/>
            <a:ext cx="265176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669"/>
                </a:solidFill>
                <a:latin typeface="微软雅黑"/>
              </a:defRPr>
            </a:pPr>
            <a:r>
              <a:t>内容浏览 → 动态发布 → 社交互动→ 平台管理，全链路覆盖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微软雅黑"/>
              </a:defRPr>
            </a:pPr>
            <a:r>
              <a:t>💡 核心命题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349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微软雅黑"/>
              </a:defRPr>
            </a:pPr>
            <a:r>
              <a:t>用最纯粹的 Web 技术（零框架依赖），构建一个功能完备、体验流畅的校园社交平台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1346200"/>
            <a:ext cx="7315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微软雅黑"/>
              </a:defRPr>
            </a:pPr>
            <a:r>
              <a:t>用户角色与核心流程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669"/>
                </a:solidFill>
                <a:latin typeface="微软雅黑"/>
              </a:defRPr>
            </a:pPr>
            <a:r>
              <a:t>USER ROLES &amp; FLOWS — 3 类角色 × 6 条流程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669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3200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微软雅黑"/>
              </a:defRPr>
            </a:pPr>
            <a:r>
              <a:t>👁️  游 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40"/>
              </a:spcAft>
              <a:defRPr sz="1300">
                <a:solidFill>
                  <a:srgbClr val="475669"/>
                </a:solidFill>
                <a:latin typeface="微软雅黑"/>
              </a:defRPr>
            </a:pPr>
            <a:r>
              <a:t>→ 浏览全站公开动态流</a:t>
            </a:r>
          </a:p>
          <a:p>
            <a:pPr>
              <a:spcAft>
                <a:spcPts val="1040"/>
              </a:spcAft>
              <a:defRPr sz="1300">
                <a:solidFill>
                  <a:srgbClr val="475669"/>
                </a:solidFill>
                <a:latin typeface="微软雅黑"/>
              </a:defRPr>
            </a:pPr>
            <a:r>
              <a:t>→ 查看动态详情</a:t>
            </a:r>
          </a:p>
          <a:p>
            <a:pPr>
              <a:spcAft>
                <a:spcPts val="1040"/>
              </a:spcAft>
              <a:defRPr sz="1300">
                <a:solidFill>
                  <a:srgbClr val="475669"/>
                </a:solidFill>
                <a:latin typeface="微软雅黑"/>
              </a:defRPr>
            </a:pPr>
            <a:r>
              <a:t>→ 注册 / 登录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011680"/>
            <a:ext cx="3200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微软雅黑"/>
              </a:defRPr>
            </a:pPr>
            <a:r>
              <a:t>👤  注册用户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91465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40"/>
              </a:spcAft>
              <a:defRPr sz="1300">
                <a:solidFill>
                  <a:srgbClr val="475669"/>
                </a:solidFill>
                <a:latin typeface="微软雅黑"/>
              </a:defRPr>
            </a:pPr>
            <a:r>
              <a:t>→ 发布图文动态（Markdown + 投票）</a:t>
            </a:r>
          </a:p>
          <a:p>
            <a:pPr>
              <a:spcAft>
                <a:spcPts val="1040"/>
              </a:spcAft>
              <a:defRPr sz="1300">
                <a:solidFill>
                  <a:srgbClr val="475669"/>
                </a:solidFill>
                <a:latin typeface="微软雅黑"/>
              </a:defRPr>
            </a:pPr>
            <a:r>
              <a:t>→ 点赞 · 评论 · 关注 · 私信 · 群组</a:t>
            </a:r>
          </a:p>
          <a:p>
            <a:pPr>
              <a:spcAft>
                <a:spcPts val="1040"/>
              </a:spcAft>
              <a:defRPr sz="1300">
                <a:solidFill>
                  <a:srgbClr val="475669"/>
                </a:solidFill>
                <a:latin typeface="微软雅黑"/>
              </a:defRPr>
            </a:pPr>
            <a:r>
              <a:t>→ 个人管理（资料 / 仪表盘 / 签到）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011680"/>
            <a:ext cx="3200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  <a:latin typeface="微软雅黑"/>
              </a:defRPr>
            </a:pPr>
            <a:r>
              <a:t>🛡️  管理员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260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40"/>
              </a:spcAft>
              <a:defRPr sz="1300">
                <a:solidFill>
                  <a:srgbClr val="475669"/>
                </a:solidFill>
                <a:latin typeface="微软雅黑"/>
              </a:defRPr>
            </a:pPr>
            <a:r>
              <a:t>→ 查看全部用户列表</a:t>
            </a:r>
          </a:p>
          <a:p>
            <a:pPr>
              <a:spcAft>
                <a:spcPts val="1040"/>
              </a:spcAft>
              <a:defRPr sz="1300">
                <a:solidFill>
                  <a:srgbClr val="475669"/>
                </a:solidFill>
                <a:latin typeface="微软雅黑"/>
              </a:defRPr>
            </a:pPr>
            <a:r>
              <a:t>→ 封禁 / 解封用户</a:t>
            </a:r>
          </a:p>
          <a:p>
            <a:pPr>
              <a:spcAft>
                <a:spcPts val="1040"/>
              </a:spcAft>
              <a:defRPr sz="1300">
                <a:solidFill>
                  <a:srgbClr val="475669"/>
                </a:solidFill>
                <a:latin typeface="微软雅黑"/>
              </a:defRPr>
            </a:pPr>
            <a:r>
              <a:t>→ 重置用户个人资料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63EB"/>
                </a:solidFill>
                <a:latin typeface="微软雅黑"/>
              </a:defRPr>
            </a:pPr>
            <a:r>
              <a:t>🔒 分层权限控制：游客可浏览公开内容，互动操作（点赞/评论/关注）需登录；管理面板仅管理员可见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1417320"/>
            <a:ext cx="7315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微软雅黑"/>
              </a:defRPr>
            </a:pPr>
            <a:r>
              <a:t>技术选型与理由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669"/>
                </a:solidFill>
                <a:latin typeface="微软雅黑"/>
              </a:defRPr>
            </a:pPr>
            <a:r>
              <a:t>TECH STACK — 零依赖 · 全原生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669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240280"/>
            <a:ext cx="182880" cy="182880"/>
          </a:xfrm>
          <a:prstGeom prst="ellipse">
            <a:avLst/>
          </a:prstGeom>
          <a:solidFill>
            <a:srgbClr val="E44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44D26"/>
                </a:solidFill>
                <a:latin typeface="微软雅黑"/>
              </a:defRPr>
            </a:pPr>
            <a:r>
              <a:t>HTML5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031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669"/>
                </a:solidFill>
                <a:latin typeface="微软雅黑"/>
              </a:defRPr>
            </a:pPr>
            <a:r>
              <a:t>语义化标签 · FileReader ·</a:t>
            </a:r>
            <a:br/>
            <a:r>
              <a:t>IntersectionObserver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154680"/>
            <a:ext cx="182880" cy="182880"/>
          </a:xfrm>
          <a:prstGeom prst="ellipse">
            <a:avLst/>
          </a:prstGeom>
          <a:solidFill>
            <a:srgbClr val="15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72B6"/>
                </a:solidFill>
                <a:latin typeface="微软雅黑"/>
              </a:defRPr>
            </a:pPr>
            <a:r>
              <a:t>CSS3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669"/>
                </a:solidFill>
                <a:latin typeface="微软雅黑"/>
              </a:defRPr>
            </a:pPr>
            <a:r>
              <a:t>CSS Variables 主题切换 · Grid/Flexbox</a:t>
            </a:r>
            <a:br/>
            <a:r>
              <a:t>@keyframes · 纯 CSS 图表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069080"/>
            <a:ext cx="182880" cy="182880"/>
          </a:xfrm>
          <a:prstGeom prst="ellipse">
            <a:avLst/>
          </a:prstGeom>
          <a:solidFill>
            <a:srgbClr val="F7D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DF1E"/>
                </a:solidFill>
                <a:latin typeface="微软雅黑"/>
              </a:defRPr>
            </a:pPr>
            <a:r>
              <a:t>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9319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669"/>
                </a:solidFill>
                <a:latin typeface="微软雅黑"/>
              </a:defRPr>
            </a:pPr>
            <a:r>
              <a:t>SPA 路由 · 事件驱动 · 正则解析</a:t>
            </a:r>
            <a:br/>
            <a:r>
              <a:t>Markdown 引擎 · DOM 封装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983480"/>
            <a:ext cx="182880" cy="1828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微软雅黑"/>
              </a:defRPr>
            </a:pPr>
            <a:r>
              <a:t>localStorage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846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669"/>
                </a:solidFill>
                <a:latin typeface="微软雅黑"/>
              </a:defRPr>
            </a:pPr>
            <a:r>
              <a:t>7 张数据表 · 命名空间隔离</a:t>
            </a:r>
            <a:br/>
            <a:r>
              <a:t>JSON 序列化 · 即开即用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5897880"/>
            <a:ext cx="182880" cy="1828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微软雅黑"/>
              </a:defRPr>
            </a:pPr>
            <a:r>
              <a:t>Canvas + Base64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7607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669"/>
                </a:solidFill>
                <a:latin typeface="微软雅黑"/>
              </a:defRPr>
            </a:pPr>
            <a:r>
              <a:t>前端图片压缩 (800px / JPEG 0.7)</a:t>
            </a:r>
            <a:br/>
            <a:r>
              <a:t>零后端存储依赖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10312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23774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微软雅黑"/>
              </a:defRPr>
            </a:pPr>
            <a:r>
              <a:t>ZERO</a:t>
            </a:r>
            <a:br/>
            <a:r>
              <a:t>DEPENDENCY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6576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669"/>
                </a:solidFill>
                <a:latin typeface="微软雅黑"/>
              </a:defRPr>
            </a:pPr>
            <a:r>
              <a:t>单 HTML 文件</a:t>
            </a:r>
            <a:br/>
            <a:r>
              <a:t>承载全部代码</a:t>
            </a:r>
            <a:br/>
            <a:br/>
            <a:r>
              <a:t>无框架</a:t>
            </a:r>
            <a:br/>
            <a:r>
              <a:t>无库</a:t>
            </a:r>
            <a:br/>
            <a:r>
              <a:t>无构建工具</a:t>
            </a:r>
            <a:br/>
            <a:br/>
            <a:r>
              <a:t>纯原生实现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0199" y="1430904"/>
            <a:ext cx="7315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微软雅黑"/>
              </a:defRPr>
            </a:pPr>
            <a:r>
              <a:t>系统架构设计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669"/>
                </a:solidFill>
                <a:latin typeface="微软雅黑"/>
              </a:defRPr>
            </a:pPr>
            <a:r>
              <a:t>ARCHITECTURE — 三层布局 + 7 表数据模型 + SPA 路由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669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95960" y="1857375"/>
            <a:ext cx="10734040" cy="70294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45335"/>
            <a:ext cx="10689590" cy="514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TOPBAR  顶栏 — 搜索框 · 通知铃铛 · 主题切换 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2286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微软雅黑"/>
              </a:defRPr>
            </a:pPr>
            <a:r>
              <a:t>SIDEBAR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1920240" cy="167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0"/>
              </a:spcAft>
              <a:defRPr sz="1100">
                <a:solidFill>
                  <a:srgbClr val="475669"/>
                </a:solidFill>
                <a:latin typeface="微软雅黑"/>
              </a:defRPr>
            </a:pPr>
            <a:r>
              <a:t>· 导航菜单</a:t>
            </a:r>
          </a:p>
          <a:p>
            <a:pPr>
              <a:spcAft>
                <a:spcPts val="880"/>
              </a:spcAft>
              <a:defRPr sz="1100">
                <a:solidFill>
                  <a:srgbClr val="475669"/>
                </a:solidFill>
                <a:latin typeface="微软雅黑"/>
              </a:defRPr>
            </a:pPr>
            <a:r>
              <a:t>· 用户信息卡片</a:t>
            </a:r>
          </a:p>
          <a:p>
            <a:pPr>
              <a:spcAft>
                <a:spcPts val="880"/>
              </a:spcAft>
              <a:defRPr sz="1100">
                <a:solidFill>
                  <a:srgbClr val="475669"/>
                </a:solidFill>
                <a:latin typeface="微软雅黑"/>
              </a:defRPr>
            </a:pPr>
            <a:r>
              <a:t>· 状态驱动显隐</a:t>
            </a:r>
          </a:p>
          <a:p>
            <a:pPr>
              <a:spcAft>
                <a:spcPts val="880"/>
              </a:spcAft>
              <a:defRPr sz="1100">
                <a:solidFill>
                  <a:srgbClr val="475669"/>
                </a:solidFill>
                <a:latin typeface="微软雅黑"/>
              </a:defRPr>
            </a:pPr>
            <a:r>
              <a:t>· 移动端自动收起</a:t>
            </a:r>
          </a:p>
          <a:p>
            <a:pPr>
              <a:spcAft>
                <a:spcPts val="880"/>
              </a:spcAft>
              <a:defRPr sz="1100">
                <a:solidFill>
                  <a:srgbClr val="475669"/>
                </a:solidFill>
                <a:latin typeface="微软雅黑"/>
              </a:defRPr>
            </a:pPr>
            <a:r>
              <a:rPr lang="en-US"/>
              <a:t>· </a:t>
            </a:r>
            <a:r>
              <a:rPr lang="zh-CN" altLang="en-US"/>
              <a:t>签到</a:t>
            </a:r>
            <a:endParaRPr lang="zh-CN" altLang="en-US"/>
          </a:p>
          <a:p>
            <a:pPr>
              <a:spcAft>
                <a:spcPts val="880"/>
              </a:spcAft>
              <a:defRPr sz="1100">
                <a:solidFill>
                  <a:srgbClr val="475669"/>
                </a:solidFill>
                <a:latin typeface="微软雅黑"/>
              </a:defRPr>
            </a:pPr>
            <a:r>
              <a:rPr lang="en-US" altLang="zh-CN"/>
              <a:t>· </a:t>
            </a:r>
            <a:r>
              <a:rPr lang="zh-CN" altLang="en-US"/>
              <a:t>用户头像以及用户状态</a:t>
            </a:r>
            <a:endParaRPr lang="zh-CN" altLang="en-US"/>
          </a:p>
        </p:txBody>
      </p:sp>
      <p:sp>
        <p:nvSpPr>
          <p:cNvPr id="12" name="Rectangle 11"/>
          <p:cNvSpPr/>
          <p:nvPr/>
        </p:nvSpPr>
        <p:spPr>
          <a:xfrm>
            <a:off x="3017520" y="2560320"/>
            <a:ext cx="8412480" cy="32004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MAIN CONTENT  主内容区 (max-width: 880px)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2004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40"/>
              </a:spcAft>
              <a:defRPr sz="1300">
                <a:solidFill>
                  <a:srgbClr val="475669"/>
                </a:solidFill>
                <a:latin typeface="微软雅黑"/>
              </a:defRPr>
            </a:pPr>
            <a:r>
              <a:t>▸ navigate(page, data) — SPA 路由五步调度：权限校验 → 页面切换 (fadeIn) → 导航高亮 → 内容渲染 → 移动端适配</a:t>
            </a:r>
          </a:p>
          <a:p>
            <a:pPr>
              <a:spcAft>
                <a:spcPts val="1040"/>
              </a:spcAft>
              <a:defRPr sz="1300">
                <a:solidFill>
                  <a:srgbClr val="475669"/>
                </a:solidFill>
                <a:latin typeface="微软雅黑"/>
              </a:defRPr>
            </a:pPr>
            <a:r>
              <a:t>▸ 7 张 localStorage 数据表：users / posts / messages / notifications / checkins / groups / drafts</a:t>
            </a:r>
          </a:p>
          <a:p>
            <a:pPr>
              <a:spcAft>
                <a:spcPts val="1040"/>
              </a:spcAft>
              <a:defRPr sz="1300">
                <a:solidFill>
                  <a:srgbClr val="475669"/>
                </a:solidFill>
                <a:latin typeface="微软雅黑"/>
              </a:defRPr>
            </a:pPr>
            <a:r>
              <a:t>▸ 分层权限：页面级拦截（跳转登录）  +  操作级守卫（toast 提示，不打断浏览流）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080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微软雅黑"/>
              </a:defRPr>
            </a:pPr>
            <a:r>
              <a:t>📦 数据流：JS 对象 → JSON.stringify → localStorage 键值对 → JSON.parse → DOM 渲染，全程无服务器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820" y="1292860"/>
            <a:ext cx="9417685" cy="5106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6025" y="1389380"/>
            <a:ext cx="7315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微软雅黑"/>
              </a:defRPr>
            </a:pPr>
            <a:r>
              <a:t>核心功能① — 用户认证系统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669"/>
                </a:solidFill>
                <a:latin typeface="微软雅黑"/>
              </a:defRPr>
            </a:pPr>
            <a:r>
              <a:t>AUTHENTICATION — 注册 → 登录 → 记住我 → 忘记密码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669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42316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240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微软雅黑"/>
              </a:defRPr>
            </a:pPr>
            <a:r>
              <a:t>📝 学号注册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669"/>
                </a:solidFill>
                <a:latin typeface="微软雅黑"/>
              </a:defRPr>
            </a:pPr>
            <a:r>
              <a:t>8-12 位数字正则校验 + 唯一性检查</a:t>
            </a:r>
            <a:br/>
            <a:r>
              <a:t>兴趣标签 Chip 组件（上限 10 个）</a:t>
            </a:r>
            <a:br/>
            <a:r>
              <a:t>头像上传：FileReader → Canvas 压缩 → Base64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97764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794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微软雅黑"/>
              </a:defRPr>
            </a:pPr>
            <a:r>
              <a:t>🔐 登录增强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206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669"/>
                </a:solidFill>
                <a:latin typeface="微软雅黑"/>
              </a:defRPr>
            </a:pPr>
            <a:r>
              <a:t>"记住我" localStorage 持久化 + 封禁自动清除</a:t>
            </a:r>
            <a:br/>
            <a:r>
              <a:t>"密码可见" 👁 ↔ 🙈 一键切换</a:t>
            </a:r>
            <a:br/>
            <a:r>
              <a:t>"忘记密码" 模态引导 → 联系管理员重置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212079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5532119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53492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微软雅黑"/>
              </a:defRPr>
            </a:pPr>
            <a:r>
              <a:t>⚡ 实时校验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76071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669"/>
                </a:solidFill>
                <a:latin typeface="微软雅黑"/>
              </a:defRPr>
            </a:pPr>
            <a:r>
              <a:t>每个字段绑定 input 事件，即时反馈错误信息</a:t>
            </a:r>
            <a:br/>
            <a:r>
              <a:t>密码 6-20 字符 + 两次输入一致性比对</a:t>
            </a:r>
            <a:br/>
            <a:r>
              <a:t>昵称 2-20 字符 trim() 校验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400" y="149225"/>
            <a:ext cx="4010025" cy="68580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075" y="640080"/>
            <a:ext cx="5629275" cy="5876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0199" y="1393761"/>
            <a:ext cx="7315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微软雅黑"/>
              </a:defRPr>
            </a:pPr>
            <a:r>
              <a:t>核心功能② — 动态发布与浏览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669"/>
                </a:solidFill>
                <a:latin typeface="微软雅黑"/>
              </a:defRPr>
            </a:pPr>
            <a:r>
              <a:t>PUBLISH &amp; BROWSE — Markdown + 投票 + 话题 + @提及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669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📝 图文正文 + 自建 Markdown 渲染引擎</a:t>
            </a:r>
            <a:br/>
            <a:r>
              <a:t>   9 条正则管道，"先转义后渲染"防 XSS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74720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📊 投票动态：2-6 个选项，实时百分比条形图</a:t>
            </a:r>
            <a:br/>
            <a:r>
              <a:t>   CSS 驱动的进度条动画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37760"/>
            <a:ext cx="4572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#️⃣</a:t>
            </a:r>
            <a:r>
              <a:rPr lang="en-US"/>
              <a:t> </a:t>
            </a:r>
            <a:r>
              <a:t> 话题标签：正则 /#(\S+)/g 自动提取</a:t>
            </a:r>
            <a:br/>
            <a:r>
              <a:t>   渲染时高亮显示为可点击 Chip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03120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🖼️ 图片上传：Canvas 压缩 (800px / JPEG 0.7)</a:t>
            </a:r>
            <a:br/>
            <a:r>
              <a:t>   上限 9 张，Grid 三列自适应预览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474720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5661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👁️ 可见范围：公开 / 仅好友 / 仅自己</a:t>
            </a:r>
            <a:br/>
            <a:r>
              <a:t>   三级权限过滤 + getFilteredPosts() 数据筛选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846320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937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💾 草稿箱：input 事件自动保存 + 恢复 / 清除</a:t>
            </a:r>
            <a:br/>
            <a:r>
              <a:t>   发布成功后自动清理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989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9488"/>
                </a:solidFill>
                <a:latin typeface="微软雅黑"/>
              </a:defRPr>
            </a:pPr>
            <a:r>
              <a:t>🔒 安全防线：软删除 (isDeleted) + 动态编辑 (模态回填 + updatedAt 标记) + 仅作者/管理员可见删除按钮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195" y="1417320"/>
            <a:ext cx="9392285" cy="5092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7926" y="1396727"/>
            <a:ext cx="7315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微软雅黑"/>
              </a:defRPr>
            </a:pPr>
            <a:r>
              <a:t>核心功能③ — 社交互动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669"/>
                </a:solidFill>
                <a:latin typeface="微软雅黑"/>
              </a:defRPr>
            </a:pPr>
            <a:r>
              <a:t>SOCIAL — 关注 · 点赞 · 评论 · 私信 · 群组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669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32004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微软雅黑"/>
              </a:defRPr>
            </a:pPr>
            <a:r>
              <a:t>👥 关注 / 取关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三态按钮（+关注 / 已关注 / 取消关注）</a:t>
            </a:r>
            <a:br/>
            <a:r>
              <a:t>粉丝 &amp; 关注列表模态框展示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031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03120"/>
            <a:ext cx="32004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微软雅黑"/>
              </a:defRPr>
            </a:pPr>
            <a:r>
              <a:t>❤️ 点赞 &amp; 💬 评论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34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弹性动画反馈 · ❤️ 红色激活态</a:t>
            </a:r>
            <a:br/>
            <a:r>
              <a:t>评论支持 Markdown + @提及 + Enter 快捷发送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031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03120"/>
            <a:ext cx="32004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微软雅黑"/>
              </a:defRPr>
            </a:pPr>
            <a:r>
              <a:t>💬 私信系统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34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左右两栏布局 · 气泡式消息</a:t>
            </a:r>
            <a:br/>
            <a:r>
              <a:t>我方蓝底右对齐 / 对方灰底左对齐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32004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480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微软雅黑"/>
              </a:defRPr>
            </a:pPr>
            <a:r>
              <a:t>👪 群组系统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三列卡片布局 · 创建/加入/退出/邀请</a:t>
            </a:r>
            <a:br/>
            <a:r>
              <a:t>群聊上限 200 条，Enter 快捷发送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420624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206240"/>
            <a:ext cx="32004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4480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微软雅黑"/>
              </a:defRPr>
            </a:pPr>
            <a:r>
              <a:t>🔔 通知中心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937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6 种事件源 · 红色未读徽章 (99+)</a:t>
            </a:r>
            <a:br/>
            <a:r>
              <a:t>点击跳转目标 · 自动去重防自通知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063" y="1341695"/>
            <a:ext cx="7315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微软雅黑"/>
              </a:defRPr>
            </a:pPr>
            <a:r>
              <a:t>高级功能一览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51560"/>
            <a:ext cx="100584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669"/>
                </a:solidFill>
                <a:latin typeface="微软雅黑"/>
              </a:defRPr>
            </a:pPr>
            <a:r>
              <a:t>ADVANCED FEATURES — 8+ 项增强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669"/>
                </a:solidFill>
                <a:latin typeface="微软雅黑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📊  数据仪表盘 — 纯 CSS 柱状图（近 7 天 + 近 6 月趋势），零图表库依赖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0312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402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🌓  主题切换 — 20 个 CSS 变量驱动，浅色 / 夜间模式一键切换 · localStorage 持久化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10312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🔍  全局搜索 — 双维度（用户 + 动态）· 关键词 &lt;mark&gt; 黄色高亮 · Ctrl+K 快捷键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118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😀  表情选择器 — 64 个 emoji，8×8 网格面板，光标位置精确插入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47472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6118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🏆  成就徽章 — 8 种成就（发布/点赞/评论/签到 等），实时计算自动颁发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347472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6118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✅  每日签到 — 连续天数追踪，7 天 &amp; 30 天里程碑系统通知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9834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📅  年度回顾 — 全屏遮罩模态 · 2×2 统计网格 · 签到数据汇总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484632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9834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📱  响应式布局 — 三级断点（桌面 / 平板 / 手机），侧边栏自动收起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484632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9834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📢  跑马灯 — 首页 @keyframes 无限循环滚动 · 热度 Top 5 动态摘要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9515" y="1388110"/>
            <a:ext cx="7315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微软雅黑"/>
              </a:defRPr>
            </a:pPr>
            <a:r>
              <a:t>管理员面板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669"/>
                </a:solidFill>
                <a:latin typeface="微软雅黑"/>
              </a:defRPr>
            </a:pPr>
            <a:r>
              <a:t>ADMIN PANEL — 用户治理三件套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669"/>
                </a:solidFill>
                <a:latin typeface="微软雅黑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200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377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F4444"/>
                </a:solidFill>
                <a:latin typeface="微软雅黑"/>
              </a:defRPr>
            </a:pPr>
            <a:r>
              <a:t>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微软雅黑"/>
              </a:defRPr>
            </a:pPr>
            <a:r>
              <a:t>封禁用户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切换 isBanned 字段</a:t>
            </a:r>
            <a:br/>
            <a:r>
              <a:t>被封禁用户无法登录</a:t>
            </a:r>
            <a:br/>
            <a:r>
              <a:t>自动清除"记住我"记录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03120"/>
            <a:ext cx="3200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377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D9488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微软雅黑"/>
              </a:defRPr>
            </a:pPr>
            <a:r>
              <a:t>解封用户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747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恢复 isBanned = false</a:t>
            </a:r>
            <a:br/>
            <a:r>
              <a:t>用户可正常登录使用</a:t>
            </a:r>
            <a:br/>
            <a:r>
              <a:t>通知用户账号已恢复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03120"/>
            <a:ext cx="3200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377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59E0B"/>
                </a:solidFill>
                <a:latin typeface="微软雅黑"/>
              </a:defRPr>
            </a:pPr>
            <a: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微软雅黑"/>
              </a:defRPr>
            </a:pPr>
            <a:r>
              <a:t>重置资料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4747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清空昵称/简介/兴趣标签</a:t>
            </a:r>
            <a:br/>
            <a:r>
              <a:t>头像恢复为默认值</a:t>
            </a:r>
            <a:br/>
            <a:r>
              <a:t>弹出确认模态防误操作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10743565" cy="16383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微软雅黑"/>
              </a:defRPr>
            </a:pPr>
            <a:r>
              <a:t>🛡️ 安全防护设计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40"/>
              </a:spcAft>
              <a:defRPr sz="1300">
                <a:solidFill>
                  <a:srgbClr val="475669"/>
                </a:solidFill>
                <a:latin typeface="微软雅黑"/>
              </a:defRPr>
            </a:pPr>
            <a:r>
              <a:t>· 管理员账户标注 👑 黄色徽章，自身不可被封禁或重置</a:t>
            </a:r>
          </a:p>
          <a:p>
            <a:pPr>
              <a:spcAft>
                <a:spcPts val="1040"/>
              </a:spcAft>
              <a:defRPr sz="1300">
                <a:solidFill>
                  <a:srgbClr val="475669"/>
                </a:solidFill>
                <a:latin typeface="微软雅黑"/>
              </a:defRPr>
            </a:pPr>
            <a:r>
              <a:t>· 响应式表格（overflow-x: auto），移动端横向滚动浏览</a:t>
            </a:r>
          </a:p>
          <a:p>
            <a:pPr>
              <a:spcAft>
                <a:spcPts val="1040"/>
              </a:spcAft>
              <a:defRPr sz="1300">
                <a:solidFill>
                  <a:srgbClr val="475669"/>
                </a:solidFill>
                <a:latin typeface="微软雅黑"/>
              </a:defRPr>
            </a:pPr>
            <a:r>
              <a:t>· 仅 isAdmin === true 用户可见管理面板入口，navigate() 入口处双重校验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60730"/>
            <a:ext cx="10557510" cy="57238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747" y="1371600"/>
            <a:ext cx="7315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微软雅黑"/>
              </a:defRPr>
            </a:pPr>
            <a:r>
              <a:t>项目亮点与创新点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669"/>
                </a:solidFill>
                <a:latin typeface="微软雅黑"/>
              </a:defRPr>
            </a:pPr>
            <a:r>
              <a:t>HIGHLIGHTS — 5 大创新，让项目与众不同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669"/>
                </a:solidFill>
                <a:latin typeface="微软雅黑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280" y="2286000"/>
            <a:ext cx="2003425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563EB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微软雅黑"/>
              </a:defRPr>
            </a:pPr>
            <a:r>
              <a:t>零依赖全原生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5760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669"/>
                </a:solidFill>
                <a:latin typeface="微软雅黑"/>
              </a:defRPr>
            </a:pPr>
            <a:r>
              <a:t>单 HTML 文件承载全部代码</a:t>
            </a:r>
            <a:br/>
            <a:r>
              <a:t>无框架 / 无库 / 无构建工具</a:t>
            </a:r>
            <a:br/>
            <a:r>
              <a:t>展示深厚的前端基本功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10312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7010" y="2286000"/>
            <a:ext cx="2003425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D9488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108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微软雅黑"/>
              </a:defRPr>
            </a:pPr>
            <a:r>
              <a:t>纯 CSS 数据图表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65760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669"/>
                </a:solidFill>
                <a:latin typeface="微软雅黑"/>
              </a:defRPr>
            </a:pPr>
            <a:r>
              <a:t>仪表盘柱状图不使用 Canvas</a:t>
            </a:r>
            <a:br/>
            <a:r>
              <a:t>纯 div + Flexbox + CSS transition</a:t>
            </a:r>
            <a:br/>
            <a:r>
              <a:t>代码精巧，思路独特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10312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5075" y="2286000"/>
            <a:ext cx="1962785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7C3AED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108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微软雅黑"/>
              </a:defRPr>
            </a:pPr>
            <a:r>
              <a:t>自建 Markdown 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65760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669"/>
                </a:solidFill>
                <a:latin typeface="微软雅黑"/>
              </a:defRPr>
            </a:pPr>
            <a:r>
              <a:t>从零实现 9 条正则管道</a:t>
            </a:r>
            <a:br/>
            <a:r>
              <a:t>"先转义后渲染"安全防线</a:t>
            </a:r>
            <a:br/>
            <a:r>
              <a:t>输出可直接安全嵌入 DOM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210312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9010" y="2286000"/>
            <a:ext cx="2003425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59E0B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108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微软雅黑"/>
              </a:defRPr>
            </a:pPr>
            <a:r>
              <a:t>Canvas 前端压缩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65760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669"/>
                </a:solidFill>
                <a:latin typeface="微软雅黑"/>
              </a:defRPr>
            </a:pPr>
            <a:r>
              <a:t>上传即压缩 (800px / JPEG 0.7)</a:t>
            </a:r>
            <a:br/>
            <a:r>
              <a:t>显著降低 Base64 存储开销</a:t>
            </a:r>
            <a:br/>
            <a:r>
              <a:t>5MB localStorage 空间高效利用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10312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3585" y="2286000"/>
            <a:ext cx="1962785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563EB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3108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微软雅黑"/>
              </a:defRPr>
            </a:pPr>
            <a:r>
              <a:t>SPA 路由 + 权限体系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365760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669"/>
                </a:solidFill>
                <a:latin typeface="微软雅黑"/>
              </a:defRPr>
            </a:pPr>
            <a:r>
              <a:t>navigate() 五步调度</a:t>
            </a:r>
            <a:br/>
            <a:r>
              <a:t>白名单 + 分级拦截</a:t>
            </a:r>
            <a:br/>
            <a:r>
              <a:t>工业级路由设计思路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59294" y="1419161"/>
            <a:ext cx="7315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微软雅黑"/>
              </a:defRPr>
            </a:pPr>
            <a:r>
              <a:t>项目成果展示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669"/>
                </a:solidFill>
                <a:latin typeface="微软雅黑"/>
              </a:defRPr>
            </a:pPr>
            <a:r>
              <a:t>RESULTS — 完整可交互，已在线部署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669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rPr>
                <a:solidFill>
                  <a:schemeClr val="bg1"/>
                </a:solidFill>
              </a:rPr>
              <a:t>🔗  </a:t>
            </a:r>
            <a:r>
              <a:rPr>
                <a:solidFill>
                  <a:schemeClr val="bg1"/>
                </a:solidFill>
                <a:hlinkClick r:id="rId1" action="ppaction://hlinkfile"/>
              </a:rPr>
              <a:t>https://drl117327.github.io/campus-circle/</a:t>
            </a:r>
            <a:endParaRPr>
              <a:solidFill>
                <a:schemeClr val="bg1"/>
              </a:solidFill>
              <a:hlinkClick r:id="rId1" action="ppaction://hlinkfile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5029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微软雅黑"/>
              </a:defRPr>
            </a:pPr>
            <a:r>
              <a:t>✅ 首页浏览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29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全站动态流 / 热门推荐 / 无限滚动 / 跑马灯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016885"/>
            <a:ext cx="5212715" cy="82359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微软雅黑"/>
              </a:defRPr>
            </a:pPr>
            <a:r>
              <a:t>✅ 用户系统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29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注册 / 登录 / 个人主页 / 管理面板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5029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微软雅黑"/>
              </a:defRPr>
            </a:pPr>
            <a:r>
              <a:t>✅ 动态模块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图文发布 / Markdown / 投票 / 话题标签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003040"/>
            <a:ext cx="5212715" cy="84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微软雅黑"/>
              </a:defRPr>
            </a:pPr>
            <a:r>
              <a:t>✅ 社交互动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关注 / 点赞 / 评论 / 私信 / 群组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029200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1206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563EB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760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必做模块</a:t>
            </a:r>
            <a:br/>
            <a:r>
              <a:t>100% 完成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5029200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51206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563EB"/>
                </a:solidFill>
                <a:latin typeface="微软雅黑"/>
              </a:defRPr>
            </a:pPr>
            <a:r>
              <a:t>8+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760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额外增强</a:t>
            </a:r>
            <a:br/>
            <a:r>
              <a:t>功能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5029200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51206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563EB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760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数据表</a:t>
            </a:r>
            <a:br/>
            <a:r>
              <a:t>localStorage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5029200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0" y="51206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563EB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5760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通知</a:t>
            </a:r>
            <a:br/>
            <a:r>
              <a:t>事件源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22473" y="1386840"/>
            <a:ext cx="7315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微软雅黑"/>
              </a:defRPr>
            </a:pPr>
            <a:r>
              <a:t>改进方向与未来规划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669"/>
                </a:solidFill>
                <a:latin typeface="微软雅黑"/>
              </a:defRPr>
            </a:pPr>
            <a:r>
              <a:t>FUTURE — 从课堂项目到产品级平台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669"/>
                </a:solidFill>
                <a:latin typeface="微软雅黑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200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563EB"/>
                </a:solidFill>
                <a:latin typeface="微软雅黑"/>
              </a:defRPr>
            </a:pPr>
            <a:r>
              <a:t>🗄️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微软雅黑"/>
              </a:defRPr>
            </a:pPr>
            <a:r>
              <a:t>存储升级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localStorage (5MB) → IndexedDB</a:t>
            </a:r>
            <a:br/>
            <a:r>
              <a:t>更大容量 + 结构化查询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03120"/>
            <a:ext cx="3200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3774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7C3AED"/>
                </a:solidFill>
                <a:latin typeface="微软雅黑"/>
              </a:defRPr>
            </a:pPr>
            <a:r>
              <a:t>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微软雅黑"/>
              </a:defRPr>
            </a:pPr>
            <a:r>
              <a:t>实时通信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引入 WebSocket / SSE</a:t>
            </a:r>
            <a:br/>
            <a:r>
              <a:t>多端实时推送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03120"/>
            <a:ext cx="3200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3774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D9488"/>
                </a:solidFill>
                <a:latin typeface="微软雅黑"/>
              </a:defRPr>
            </a:pPr>
            <a: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9488"/>
                </a:solidFill>
                <a:latin typeface="微软雅黑"/>
              </a:defRPr>
            </a:pPr>
            <a:r>
              <a:t>智能推荐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基于兴趣标签的协同过滤</a:t>
            </a:r>
            <a:br/>
            <a:r>
              <a:t>告别时间倒序排列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3200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46634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59E0B"/>
                </a:solidFill>
                <a:latin typeface="微软雅黑"/>
              </a:defRPr>
            </a:pPr>
            <a: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03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微软雅黑"/>
              </a:defRPr>
            </a:pPr>
            <a:r>
              <a:t>PWA 支持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760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Service Worker 离线缓存</a:t>
            </a:r>
            <a:br/>
            <a:r>
              <a:t>提升移动端体验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4389120"/>
            <a:ext cx="3200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46634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EF4444"/>
                </a:solidFill>
                <a:latin typeface="微软雅黑"/>
              </a:defRPr>
            </a:pPr>
            <a:r>
              <a:t>🖥️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303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微软雅黑"/>
              </a:defRPr>
            </a:pPr>
            <a:r>
              <a:t>后端接入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760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API + 数据库 → 多端同步</a:t>
            </a:r>
            <a:br/>
            <a:r>
              <a:t>突破单浏览器限制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389120"/>
            <a:ext cx="3200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46634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475669"/>
                </a:solidFill>
                <a:latin typeface="微软雅黑"/>
              </a:defRPr>
            </a:pPr>
            <a:r>
              <a:t>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03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75669"/>
                </a:solidFill>
                <a:latin typeface="微软雅黑"/>
              </a:defRPr>
            </a:pPr>
            <a:r>
              <a:t>测试 &amp; 无障碍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760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E2E 自动化测试 (Cypress)</a:t>
            </a:r>
            <a:br/>
            <a:r>
              <a:t>ARIA 标签 + 键盘导航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DB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39712"/>
            <a:ext cx="1219169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0972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微软雅黑"/>
              </a:defRPr>
            </a:pPr>
            <a:r>
              <a:t>CampusCircle  校园圈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563EB"/>
                </a:solidFill>
                <a:latin typeface="微软雅黑"/>
              </a:defRPr>
            </a:pPr>
            <a:r>
              <a:t>校园社交，从课堂起步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651760"/>
            <a:ext cx="2103120" cy="12700"/>
          </a:xfrm>
          <a:prstGeom prst="rect">
            <a:avLst/>
          </a:prstGeom>
          <a:solidFill>
            <a:srgbClr val="475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3017520"/>
            <a:ext cx="7589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3200400"/>
            <a:ext cx="6675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75669"/>
                </a:solidFill>
                <a:latin typeface="微软雅黑"/>
              </a:defRPr>
            </a:pPr>
            <a:r>
              <a:t>一个用纯原生前端技术打造的、功能完备的校园社交平台</a:t>
            </a:r>
            <a:br/>
            <a:br/>
            <a:r>
              <a:t>覆盖 3 类角色 × 6 条流程 × 4 大模块 × 8+ 增强功能</a:t>
            </a:r>
            <a:br/>
            <a:r>
              <a:t>零依赖不是限制，而是对 Web 基础的深度掌握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563EB"/>
                </a:solidFill>
                <a:latin typeface="微软雅黑"/>
              </a:defRPr>
            </a:pPr>
            <a:r>
              <a:t>🔗  </a:t>
            </a:r>
            <a:r>
              <a:rPr>
                <a:hlinkClick r:id="rId1" action="ppaction://hlinkfile"/>
              </a:rPr>
              <a:t>drl117327.github.io/campus-circle/</a:t>
            </a:r>
            <a:endParaRPr>
              <a:hlinkClick r:id="rId1" action="ppaction://hlinkfil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4018</Words>
  <Application>WPS 演示</Application>
  <PresentationFormat>宽屏</PresentationFormat>
  <Paragraphs>365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Apple Color Emoji</vt:lpstr>
      <vt:lpstr>微软雅黑</vt:lpstr>
      <vt:lpstr>Arial Unicode MS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WPS_1647091957</cp:lastModifiedBy>
  <cp:revision>8</cp:revision>
  <dcterms:created xsi:type="dcterms:W3CDTF">2026-06-27T09:06:43Z</dcterms:created>
  <dcterms:modified xsi:type="dcterms:W3CDTF">2026-06-27T09:06:43Z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8F57F7F69A5B4C7928923F6A83E57BA2_43</vt:lpwstr>
  </property>
  <property fmtid="{D5CDD505-2E9C-101B-9397-08002B2CF9AE}" pid="3" name="KSOProductBuildVer">
    <vt:lpwstr>2052-12.1.22553.22553</vt:lpwstr>
  </property>
</Properties>
</file>